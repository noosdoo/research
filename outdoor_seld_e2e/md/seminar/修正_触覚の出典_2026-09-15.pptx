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4">
            <a:extLst>
              <a:ext uri="{FF2B5EF4-FFF2-40B4-BE49-F238E27FC236}">
                <a16:creationId xmlns:a16="http://schemas.microsoft.com/office/drawing/2014/main" id="{A76BCAC1-813C-484B-53E5-8611DD5B3147}"/>
              </a:ext>
            </a:extLst>
          </p:cNvPr>
          <p:cNvSpPr/>
          <p:nvPr/>
        </p:nvSpPr>
        <p:spPr>
          <a:xfrm>
            <a:off x="942698" y="1389737"/>
            <a:ext cx="5080000" cy="4561125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31">
            <a:extLst>
              <a:ext uri="{FF2B5EF4-FFF2-40B4-BE49-F238E27FC236}">
                <a16:creationId xmlns:a16="http://schemas.microsoft.com/office/drawing/2014/main" id="{609EE17A-423C-BAA6-13EA-32F07BA70E3F}"/>
              </a:ext>
            </a:extLst>
          </p:cNvPr>
          <p:cNvSpPr/>
          <p:nvPr/>
        </p:nvSpPr>
        <p:spPr>
          <a:xfrm>
            <a:off x="6273800" y="1351845"/>
            <a:ext cx="5080000" cy="4561125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5DF66AED-D553-63DF-0483-18C55F6A6606}"/>
              </a:ext>
            </a:extLst>
          </p:cNvPr>
          <p:cNvSpPr/>
          <p:nvPr/>
        </p:nvSpPr>
        <p:spPr>
          <a:xfrm>
            <a:off x="1171333" y="3411074"/>
            <a:ext cx="46188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4B32C21B-ECA3-6D64-A77B-95C4687C297E}"/>
              </a:ext>
            </a:extLst>
          </p:cNvPr>
          <p:cNvSpPr/>
          <p:nvPr/>
        </p:nvSpPr>
        <p:spPr>
          <a:xfrm>
            <a:off x="1172095" y="3022957"/>
            <a:ext cx="4618800" cy="3888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8ED4A9CA-FC01-EB21-5076-6A3BF74EEE7E}"/>
              </a:ext>
            </a:extLst>
          </p:cNvPr>
          <p:cNvSpPr/>
          <p:nvPr/>
        </p:nvSpPr>
        <p:spPr>
          <a:xfrm>
            <a:off x="1172400" y="2657357"/>
            <a:ext cx="46188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9060105-93F9-2FF5-DA43-2E788103582F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7910F5A-E52C-BA2F-3164-F931EE2CD45A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BDEF8D4-AA76-0ECD-4FE4-CD03A754BCAA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4D50BA-D550-99F6-F34D-4CF68E085691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5887CB8-FD4B-ACA2-5204-26C4AD4FBDA4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A3E66B6-815B-5CF0-A375-79A0F00C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760"/>
          </a:xfrm>
        </p:spPr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BB350A72-9C75-A302-401C-94CDD6B1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760"/>
          </a:xfrm>
        </p:spPr>
        <p:txBody>
          <a:bodyPr/>
          <a:lstStyle/>
          <a:p>
            <a:fld id="{4E9148DC-F7ED-4428-85F4-2C78C4B0CFB7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B112EEB0-1FD7-F9A9-1BFF-2D3179EAFAD9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②③触覚の先行調査と前方の記録</a:t>
            </a:r>
          </a:p>
        </p:txBody>
      </p:sp>
      <p:sp>
        <p:nvSpPr>
          <p:cNvPr id="40" name="Rounded Rectangle 97">
            <a:extLst>
              <a:ext uri="{FF2B5EF4-FFF2-40B4-BE49-F238E27FC236}">
                <a16:creationId xmlns:a16="http://schemas.microsoft.com/office/drawing/2014/main" id="{B68FFBF5-FBF6-C3D6-580C-52AD052BF508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3" name="Rounded Rectangle 96">
            <a:extLst>
              <a:ext uri="{FF2B5EF4-FFF2-40B4-BE49-F238E27FC236}">
                <a16:creationId xmlns:a16="http://schemas.microsoft.com/office/drawing/2014/main" id="{5473E350-E640-3146-397B-B1FEE71892DB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5" name="Rounded Rectangle 95">
            <a:extLst>
              <a:ext uri="{FF2B5EF4-FFF2-40B4-BE49-F238E27FC236}">
                <a16:creationId xmlns:a16="http://schemas.microsoft.com/office/drawing/2014/main" id="{5FA346B2-FC9B-27C0-57B7-F3F615120219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実録の計画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7" name="Rounded Rectangle 94">
            <a:extLst>
              <a:ext uri="{FF2B5EF4-FFF2-40B4-BE49-F238E27FC236}">
                <a16:creationId xmlns:a16="http://schemas.microsoft.com/office/drawing/2014/main" id="{FA5E49E3-F927-F466-0F18-D5A3A40BB0E2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振り返り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49" name="Rounded Rectangle 93">
            <a:extLst>
              <a:ext uri="{FF2B5EF4-FFF2-40B4-BE49-F238E27FC236}">
                <a16:creationId xmlns:a16="http://schemas.microsoft.com/office/drawing/2014/main" id="{918D4FBA-B460-2CF3-0C4C-955864CC254B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2" name="Rounded Rectangle 92">
            <a:extLst>
              <a:ext uri="{FF2B5EF4-FFF2-40B4-BE49-F238E27FC236}">
                <a16:creationId xmlns:a16="http://schemas.microsoft.com/office/drawing/2014/main" id="{A85DAC6D-EFCD-5E94-B7C4-6E70A2BA70FB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DD4E02-259F-5FBD-6838-B70C3FB67D37}"/>
              </a:ext>
            </a:extLst>
          </p:cNvPr>
          <p:cNvSpPr txBox="1"/>
          <p:nvPr/>
        </p:nvSpPr>
        <p:spPr>
          <a:xfrm>
            <a:off x="1168400" y="1529646"/>
            <a:ext cx="4622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②</a:t>
            </a: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触覚で方向は、どこまで伝わるのか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476D0E10-BF28-1B2E-5042-103A1A8B592E}"/>
              </a:ext>
            </a:extLst>
          </p:cNvPr>
          <p:cNvSpPr txBox="1"/>
          <p:nvPr/>
        </p:nvSpPr>
        <p:spPr>
          <a:xfrm>
            <a:off x="1173467" y="2015870"/>
            <a:ext cx="4622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腰の振動ベルトで測った先行研究の値</a:t>
            </a:r>
            <a:r>
              <a:rPr 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(Cholewiak et al., 2004)</a:t>
            </a:r>
            <a:endParaRPr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54E17B2A-344E-FB34-7831-9958090ED77E}"/>
              </a:ext>
            </a:extLst>
          </p:cNvPr>
          <p:cNvSpPr/>
          <p:nvPr/>
        </p:nvSpPr>
        <p:spPr>
          <a:xfrm>
            <a:off x="1171554" y="2352557"/>
            <a:ext cx="4618800" cy="304800"/>
          </a:xfrm>
          <a:prstGeom prst="rect">
            <a:avLst/>
          </a:prstGeom>
          <a:solidFill>
            <a:srgbClr val="F2F3F5"/>
          </a:solidFill>
          <a:ln w="9525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5CC45FC3-FE90-D5C6-7C82-A6D963DC4F46}"/>
              </a:ext>
            </a:extLst>
          </p:cNvPr>
          <p:cNvSpPr txBox="1"/>
          <p:nvPr/>
        </p:nvSpPr>
        <p:spPr>
          <a:xfrm>
            <a:off x="1274000" y="2403357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並べ方</a:t>
            </a:r>
            <a:endParaRPr sz="14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4B1875B5-EE79-C15C-5525-DDEB468D8C85}"/>
              </a:ext>
            </a:extLst>
          </p:cNvPr>
          <p:cNvSpPr txBox="1"/>
          <p:nvPr/>
        </p:nvSpPr>
        <p:spPr>
          <a:xfrm>
            <a:off x="3864800" y="2403357"/>
            <a:ext cx="1905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方向を当てられた割合</a:t>
            </a:r>
            <a:endParaRPr sz="14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A197697D-8B82-B215-35D0-E074DAA39551}"/>
              </a:ext>
            </a:extLst>
          </p:cNvPr>
          <p:cNvSpPr txBox="1"/>
          <p:nvPr/>
        </p:nvSpPr>
        <p:spPr>
          <a:xfrm>
            <a:off x="1274000" y="2732307"/>
            <a:ext cx="254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8個・間隔107mm</a:t>
            </a: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1439445B-7D0C-4AC8-7EE5-EE9106FE861C}"/>
              </a:ext>
            </a:extLst>
          </p:cNvPr>
          <p:cNvSpPr txBox="1"/>
          <p:nvPr/>
        </p:nvSpPr>
        <p:spPr>
          <a:xfrm>
            <a:off x="4118800" y="2722353"/>
            <a:ext cx="1651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98%</a:t>
            </a: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9AF1C6A3-157A-5FE4-193E-2D19C1CE9202}"/>
              </a:ext>
            </a:extLst>
          </p:cNvPr>
          <p:cNvSpPr txBox="1"/>
          <p:nvPr/>
        </p:nvSpPr>
        <p:spPr>
          <a:xfrm>
            <a:off x="1274000" y="3142007"/>
            <a:ext cx="254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12個・間隔72mm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D98677F6-7422-282F-CC6B-6F53DC41BD5A}"/>
              </a:ext>
            </a:extLst>
          </p:cNvPr>
          <p:cNvSpPr txBox="1"/>
          <p:nvPr/>
        </p:nvSpPr>
        <p:spPr>
          <a:xfrm>
            <a:off x="4118800" y="3134240"/>
            <a:ext cx="1651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74%</a:t>
            </a: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9B3D57C6-C684-C94F-5853-D08110084058}"/>
              </a:ext>
            </a:extLst>
          </p:cNvPr>
          <p:cNvSpPr txBox="1"/>
          <p:nvPr/>
        </p:nvSpPr>
        <p:spPr>
          <a:xfrm>
            <a:off x="1147000" y="3515736"/>
            <a:ext cx="4622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間隔が狭くなると急に落ちる</a:t>
            </a:r>
            <a:endParaRPr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5C771EB0-61AA-5866-AE17-D2A796629937}"/>
              </a:ext>
            </a:extLst>
          </p:cNvPr>
          <p:cNvSpPr txBox="1"/>
          <p:nvPr/>
        </p:nvSpPr>
        <p:spPr>
          <a:xfrm>
            <a:off x="1173467" y="3895470"/>
            <a:ext cx="4724400" cy="198310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首回りは35〜40cmしかないので、8方向にすると</a:t>
            </a:r>
            <a:endParaRPr lang="en-US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間隔45〜50mm。</a:t>
            </a: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これは腰で74%に落ちた間隔より狭く、首は腰より鈍い。</a:t>
            </a:r>
            <a:endParaRPr lang="en-US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algn="l">
              <a:lnSpc>
                <a:spcPct val="140000"/>
              </a:lnSpc>
            </a:pP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>
              <a:lnSpc>
                <a:spcPct val="140000"/>
              </a:lnSpc>
            </a:pPr>
            <a:r>
              <a:rPr lang="ja-JP" altLang="en-US" sz="1600" dirty="0">
                <a:solidFill>
                  <a:srgbClr val="222838"/>
                </a:solidFill>
                <a:latin typeface="Meiryo"/>
                <a:ea typeface="メイリオ"/>
              </a:rPr>
              <a:t>→ 首元は</a:t>
            </a:r>
            <a:r>
              <a:rPr lang="en-US" altLang="ja-JP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4〜6</a:t>
            </a: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方向</a:t>
            </a:r>
            <a:r>
              <a:rPr lang="ja-JP" altLang="en-US" sz="1600" dirty="0">
                <a:solidFill>
                  <a:srgbClr val="222838"/>
                </a:solidFill>
                <a:latin typeface="Meiryo"/>
                <a:ea typeface="メイリオ"/>
              </a:rPr>
              <a:t>が現実的</a:t>
            </a:r>
          </a:p>
        </p:txBody>
      </p:sp>
      <p:sp>
        <p:nvSpPr>
          <p:cNvPr id="58" name="TextBox 33">
            <a:extLst>
              <a:ext uri="{FF2B5EF4-FFF2-40B4-BE49-F238E27FC236}">
                <a16:creationId xmlns:a16="http://schemas.microsoft.com/office/drawing/2014/main" id="{B05AAA3D-AF79-BCA4-772D-925598153286}"/>
              </a:ext>
            </a:extLst>
          </p:cNvPr>
          <p:cNvSpPr txBox="1"/>
          <p:nvPr/>
        </p:nvSpPr>
        <p:spPr>
          <a:xfrm>
            <a:off x="6502400" y="1529646"/>
            <a:ext cx="46228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③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前方も記録する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66" name="TextBox 37">
            <a:extLst>
              <a:ext uri="{FF2B5EF4-FFF2-40B4-BE49-F238E27FC236}">
                <a16:creationId xmlns:a16="http://schemas.microsoft.com/office/drawing/2014/main" id="{42457662-B924-DAC2-6008-A719AAA838C2}"/>
              </a:ext>
            </a:extLst>
          </p:cNvPr>
          <p:cNvSpPr txBox="1"/>
          <p:nvPr/>
        </p:nvSpPr>
        <p:spPr>
          <a:xfrm>
            <a:off x="6564426" y="2139246"/>
            <a:ext cx="4687774" cy="32265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変えるのは記録紙だけ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前方のイベントも</a:t>
            </a:r>
            <a:r>
              <a:rPr lang="en-US" altLang="ja-JP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</a:t>
            </a: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行書く。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採点では既定で除外する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別の列に入れて別集計。前提として前方は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通知の対象外。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ja-JP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実録</a:t>
            </a:r>
            <a:r>
              <a:rPr lang="en-US" altLang="ja-JP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110</a:t>
            </a: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本の内訳は動かさない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録る前に決めた配分はそのまま。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endParaRPr lang="ja-JP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ja-JP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録らなければ二度と取れない</a:t>
            </a:r>
            <a:endParaRPr lang="en-US" altLang="ja-JP" sz="1600"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解析の段階なら後から外せるが、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録音は撮り直せない。</a:t>
            </a:r>
            <a:endParaRPr lang="en-US" altLang="ja-JP" sz="16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