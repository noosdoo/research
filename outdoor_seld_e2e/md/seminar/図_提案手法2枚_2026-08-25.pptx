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160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spc="250">
                <a:solidFill>
                  <a:srgbClr val="222838"/>
                </a:solidFill>
                <a:latin typeface="Meiryo"/>
                <a:ea typeface="メイリオ"/>
              </a:rPr>
              <a:t>提案手法①　―　2層の構成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600" y="6426200"/>
            <a:ext cx="1143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2026/08/30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00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05600" y="6375400"/>
            <a:ext cx="8128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6375400"/>
            <a:ext cx="11176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1295400"/>
            <a:ext cx="104140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0">
                <a:solidFill>
                  <a:srgbClr val="595F6E"/>
                </a:solidFill>
                <a:latin typeface="Meiryo"/>
                <a:ea typeface="メイリオ"/>
              </a:rPr>
              <a:t>音を聞いて</a:t>
            </a:r>
            <a:r>
              <a:rPr sz="1350" b="1">
                <a:solidFill>
                  <a:srgbClr val="222838"/>
                </a:solidFill>
                <a:latin typeface="Meiryo"/>
                <a:ea typeface="メイリオ"/>
              </a:rPr>
              <a:t>「何が・どこに」を出す層</a:t>
            </a:r>
            <a:r>
              <a:rPr sz="1350" b="0">
                <a:solidFill>
                  <a:srgbClr val="595F6E"/>
                </a:solidFill>
                <a:latin typeface="Meiryo"/>
                <a:ea typeface="メイリオ"/>
              </a:rPr>
              <a:t>と、それを</a:t>
            </a:r>
            <a:r>
              <a:rPr sz="1350" b="1">
                <a:solidFill>
                  <a:srgbClr val="222838"/>
                </a:solidFill>
                <a:latin typeface="Meiryo"/>
                <a:ea typeface="メイリオ"/>
              </a:rPr>
              <a:t>「いつ・どの強さで伝えるか」に変える層</a:t>
            </a:r>
            <a:r>
              <a:rPr sz="1350" b="0">
                <a:solidFill>
                  <a:srgbClr val="595F6E"/>
                </a:solidFill>
                <a:latin typeface="Meiryo"/>
                <a:ea typeface="メイリオ"/>
              </a:rPr>
              <a:t>に分けた。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9000" y="1778000"/>
            <a:ext cx="1905000" cy="508000"/>
          </a:xfrm>
          <a:prstGeom prst="rect">
            <a:avLst/>
          </a:prstGeom>
          <a:solidFill>
            <a:srgbClr val="F4F5F7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000" y="1905000"/>
            <a:ext cx="1905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50" b="1">
                <a:solidFill>
                  <a:srgbClr val="222838"/>
                </a:solidFill>
                <a:latin typeface="Meiryo"/>
                <a:ea typeface="メイリオ"/>
              </a:rPr>
              <a:t>入力：FOA 4ch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41500" y="2286000"/>
            <a:ext cx="0" cy="228600"/>
          </a:xfrm>
          <a:prstGeom prst="line">
            <a:avLst/>
          </a:prstGeom>
          <a:ln w="15240">
            <a:solidFill>
              <a:srgbClr val="C9C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89000" y="2514600"/>
            <a:ext cx="10414000" cy="96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9000" y="2514600"/>
            <a:ext cx="63500" cy="965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8400" y="2667000"/>
            <a:ext cx="4191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222838"/>
                </a:solidFill>
                <a:latin typeface="Meiryo"/>
                <a:ea typeface="メイリオ"/>
              </a:rPr>
              <a:t>知覚層（SELD＋SDE）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1900" y="2971800"/>
            <a:ext cx="5080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8クラスの検出・方向・距離を0.1秒ごとに推定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0" y="2692400"/>
            <a:ext cx="3175000" cy="609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0" y="2768600"/>
            <a:ext cx="3175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>
                <a:solidFill>
                  <a:srgbClr val="8A8F9A"/>
                </a:solidFill>
                <a:latin typeface="Meiryo"/>
                <a:ea typeface="メイリオ"/>
              </a:rPr>
              <a:t>出す情報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0" y="2997200"/>
            <a:ext cx="3175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50" b="1">
                <a:solidFill>
                  <a:srgbClr val="7E6F98"/>
                </a:solidFill>
                <a:latin typeface="Meiryo"/>
                <a:ea typeface="メイリオ"/>
              </a:rPr>
              <a:t>種類 ・ 方位 ・ 距離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1000" y="2679700"/>
            <a:ext cx="203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F9A"/>
                </a:solidFill>
                <a:latin typeface="Meiryo"/>
                <a:ea typeface="メイリオ"/>
              </a:rPr>
              <a:t>本研究で距離の出力を1軸追加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841500" y="3479800"/>
            <a:ext cx="0" cy="228600"/>
          </a:xfrm>
          <a:prstGeom prst="line">
            <a:avLst/>
          </a:prstGeom>
          <a:ln w="15240">
            <a:solidFill>
              <a:srgbClr val="C9C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0800000">
            <a:off x="1765300" y="3657600"/>
            <a:ext cx="152400" cy="114300"/>
          </a:xfrm>
          <a:prstGeom prst="triangle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9000" y="3759200"/>
            <a:ext cx="10414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9000" y="3759200"/>
            <a:ext cx="63500" cy="11430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8400" y="3911600"/>
            <a:ext cx="4191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222838"/>
                </a:solidFill>
                <a:latin typeface="Meiryo"/>
                <a:ea typeface="メイリオ"/>
              </a:rPr>
              <a:t>通知層（3段階）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1900" y="4216400"/>
            <a:ext cx="5080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このまま進むとどこまで近づくかを予測し、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至近警告 / 注意 / 抑制に振り分ける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000" y="3937000"/>
            <a:ext cx="3175000" cy="787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00" y="4013200"/>
            <a:ext cx="3175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>
                <a:solidFill>
                  <a:srgbClr val="8A8F9A"/>
                </a:solidFill>
                <a:latin typeface="Meiryo"/>
                <a:ea typeface="メイリオ"/>
              </a:rPr>
              <a:t>出す情報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0" y="4241800"/>
            <a:ext cx="3175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50" b="1">
                <a:solidFill>
                  <a:srgbClr val="E0A526"/>
                </a:solidFill>
                <a:latin typeface="Meiryo"/>
                <a:ea typeface="メイリオ"/>
              </a:rPr>
              <a:t>至近警告 ・ 注意 ・ 抑制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61000" y="3924300"/>
            <a:ext cx="203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F9A"/>
                </a:solidFill>
                <a:latin typeface="Meiryo"/>
                <a:ea typeface="メイリオ"/>
              </a:rPr>
              <a:t>本研究の中核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841500" y="4902200"/>
            <a:ext cx="0" cy="228600"/>
          </a:xfrm>
          <a:prstGeom prst="line">
            <a:avLst/>
          </a:prstGeom>
          <a:ln w="15240">
            <a:solidFill>
              <a:srgbClr val="C9C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10800000">
            <a:off x="1765300" y="5080000"/>
            <a:ext cx="152400" cy="114300"/>
          </a:xfrm>
          <a:prstGeom prst="triangle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9000" y="5181600"/>
            <a:ext cx="10414000" cy="96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9000" y="5181600"/>
            <a:ext cx="63500" cy="9652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8400" y="5334000"/>
            <a:ext cx="4191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222838"/>
                </a:solidFill>
                <a:latin typeface="Meiryo"/>
                <a:ea typeface="メイリオ"/>
              </a:rPr>
              <a:t>首元振動デバイス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1900" y="5638800"/>
            <a:ext cx="5080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鳴る位置で方向を、鳴り方で危険度を伝える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00" y="5359400"/>
            <a:ext cx="3175000" cy="609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0000" y="5435600"/>
            <a:ext cx="3175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>
                <a:solidFill>
                  <a:srgbClr val="8A8F9A"/>
                </a:solidFill>
                <a:latin typeface="Meiryo"/>
                <a:ea typeface="メイリオ"/>
              </a:rPr>
              <a:t>出す情報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0000" y="5664200"/>
            <a:ext cx="3175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50" b="1">
                <a:solidFill>
                  <a:srgbClr val="595F6E"/>
                </a:solidFill>
                <a:latin typeface="Meiryo"/>
                <a:ea typeface="メイリオ"/>
              </a:rPr>
              <a:t>首元の振動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61000" y="5346700"/>
            <a:ext cx="203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F9A"/>
                </a:solidFill>
                <a:latin typeface="Meiryo"/>
                <a:ea typeface="メイリオ"/>
              </a:rPr>
              <a:t>構想・未実装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9000" y="5740400"/>
            <a:ext cx="76200" cy="5588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5200" y="5740400"/>
            <a:ext cx="103378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93800" y="5842000"/>
            <a:ext cx="9906000" cy="381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50" b="0">
                <a:solidFill>
                  <a:srgbClr val="595F6E"/>
                </a:solidFill>
                <a:latin typeface="Meiryo"/>
                <a:ea typeface="メイリオ"/>
              </a:rPr>
              <a:t>危険のたびに全部鳴らすと使い物にならない。</a:t>
            </a:r>
            <a:r>
              <a:rPr sz="1350" b="1">
                <a:solidFill>
                  <a:srgbClr val="222838"/>
                </a:solidFill>
                <a:latin typeface="Meiryo"/>
                <a:ea typeface="メイリオ"/>
              </a:rPr>
              <a:t>通知の頻度そのものを設計対象にしている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160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spc="250">
                <a:solidFill>
                  <a:srgbClr val="222838"/>
                </a:solidFill>
                <a:latin typeface="Meiryo"/>
                <a:ea typeface="メイリオ"/>
              </a:rPr>
              <a:t>提案手法②　―　通知層（最接近の予測で出し分け）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600" y="6426200"/>
            <a:ext cx="1143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2026/08/30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00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05600" y="6375400"/>
            <a:ext cx="8128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6375400"/>
            <a:ext cx="11176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1295400"/>
            <a:ext cx="104140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0">
                <a:solidFill>
                  <a:srgbClr val="595F6E"/>
                </a:solidFill>
                <a:latin typeface="Meiryo"/>
                <a:ea typeface="メイリオ"/>
              </a:rPr>
              <a:t>距離のしきい値ではなく、</a:t>
            </a:r>
            <a:r>
              <a:rPr sz="1350" b="1">
                <a:solidFill>
                  <a:srgbClr val="222838"/>
                </a:solidFill>
                <a:latin typeface="Meiryo"/>
                <a:ea typeface="メイリオ"/>
              </a:rPr>
              <a:t>このまま進むとどこまで近づくか（最接近）を予測</a:t>
            </a:r>
            <a:r>
              <a:rPr sz="1350" b="0">
                <a:solidFill>
                  <a:srgbClr val="595F6E"/>
                </a:solidFill>
                <a:latin typeface="Meiryo"/>
                <a:ea typeface="メイリオ"/>
              </a:rPr>
              <a:t>して段を決める。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9000" y="1752600"/>
            <a:ext cx="5080000" cy="218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7600" y="1981200"/>
            <a:ext cx="10668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Meiryo"/>
                <a:ea typeface="メイリオ"/>
              </a:rPr>
              <a:t>至近警告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5200" y="1993900"/>
            <a:ext cx="35052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予測最接近 1.0m以内 ・ 2.5秒以内</a:t>
            </a:r>
          </a:p>
          <a:p>
            <a:pPr algn="l">
              <a:lnSpc>
                <a:spcPct val="128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が4フレーム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2641600"/>
            <a:ext cx="10668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0A526"/>
                </a:solidFill>
                <a:latin typeface="Meiryo"/>
                <a:ea typeface="メイリオ"/>
              </a:rPr>
              <a:t>注意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5200" y="2654300"/>
            <a:ext cx="35052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予測最接近 2.0m以内 ・ 4秒以内</a:t>
            </a:r>
          </a:p>
          <a:p>
            <a:pPr algn="l">
              <a:lnSpc>
                <a:spcPct val="128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が4フレーム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302000"/>
            <a:ext cx="10668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2E7D5B"/>
                </a:solidFill>
                <a:latin typeface="Meiryo"/>
                <a:ea typeface="メイリオ"/>
              </a:rPr>
              <a:t>抑制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35200" y="3314700"/>
            <a:ext cx="35052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横を通り過ぎるだけの対象</a:t>
            </a:r>
          </a:p>
          <a:p>
            <a:pPr algn="l">
              <a:lnSpc>
                <a:spcPct val="128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は鳴らさない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800" y="4089400"/>
            <a:ext cx="4978400" cy="1219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1">
                <a:solidFill>
                  <a:srgbClr val="595F6E"/>
                </a:solidFill>
                <a:latin typeface="Meiryo"/>
                <a:ea typeface="メイリオ"/>
              </a:rPr>
              <a:t>※ 予測が出せないときの保険</a:t>
            </a: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　 推定距離 1.5m（至近警告）/ 3.2m（注意）を切ったら2フレームで通知</a:t>
            </a: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※ 距離を使うのは 車の走行音・キックボード・バイク の3クラス</a:t>
            </a: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　 サイレンなど残り5クラスは距離を使わず、検出したら通知</a:t>
            </a:r>
          </a:p>
          <a:p>
            <a:pPr algn="l">
              <a:lnSpc>
                <a:spcPct val="142000"/>
              </a:lnSpc>
            </a:pPr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※ 同じ物体かは前フレームとの方位±60°で近似判定（物体追跡ではない）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9200" y="1752600"/>
            <a:ext cx="50038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9200" y="1905000"/>
            <a:ext cx="50038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50" b="1">
                <a:solidFill>
                  <a:srgbClr val="222838"/>
                </a:solidFill>
                <a:latin typeface="Meiryo"/>
                <a:ea typeface="メイリオ"/>
              </a:rPr>
              <a:t>同じ「近づいてくる」でも、鳴らすべき相手は片方だけ</a:t>
            </a:r>
          </a:p>
        </p:txBody>
      </p:sp>
      <p:sp>
        <p:nvSpPr>
          <p:cNvPr id="25" name="Oval 24"/>
          <p:cNvSpPr/>
          <p:nvPr/>
        </p:nvSpPr>
        <p:spPr>
          <a:xfrm>
            <a:off x="7137400" y="4368800"/>
            <a:ext cx="762000" cy="762000"/>
          </a:xfrm>
          <a:prstGeom prst="ellipse">
            <a:avLst/>
          </a:prstGeom>
          <a:noFill/>
          <a:ln w="12700">
            <a:solidFill>
              <a:srgbClr val="C9CB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81800" y="4013200"/>
            <a:ext cx="1473200" cy="1473200"/>
          </a:xfrm>
          <a:prstGeom prst="ellipse">
            <a:avLst/>
          </a:prstGeom>
          <a:noFill/>
          <a:ln w="12700">
            <a:solidFill>
              <a:srgbClr val="C9CB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54900" y="4686300"/>
            <a:ext cx="127000" cy="127000"/>
          </a:xfrm>
          <a:prstGeom prst="ellipse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3400" y="4902200"/>
            <a:ext cx="1270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歩行者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31000" y="2590800"/>
            <a:ext cx="4267200" cy="0"/>
          </a:xfrm>
          <a:prstGeom prst="line">
            <a:avLst/>
          </a:prstGeom>
          <a:ln w="25400">
            <a:solidFill>
              <a:srgbClr val="2E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6200000">
            <a:off x="6654800" y="2514600"/>
            <a:ext cx="152400" cy="152400"/>
          </a:xfrm>
          <a:prstGeom prst="triangl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140700" y="2527300"/>
            <a:ext cx="127000" cy="1270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7518400" y="2590800"/>
            <a:ext cx="685800" cy="2159000"/>
          </a:xfrm>
          <a:prstGeom prst="line">
            <a:avLst/>
          </a:prstGeom>
          <a:ln w="10160">
            <a:solidFill>
              <a:srgbClr val="C9CBD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0045700" y="2527300"/>
            <a:ext cx="127000" cy="1270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7518400" y="2590800"/>
            <a:ext cx="2590800" cy="2159000"/>
          </a:xfrm>
          <a:prstGeom prst="line">
            <a:avLst/>
          </a:prstGeom>
          <a:ln w="10160">
            <a:solidFill>
              <a:srgbClr val="C9CBD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823200" y="2184400"/>
            <a:ext cx="3352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50" b="1">
                <a:solidFill>
                  <a:srgbClr val="2E7D5B"/>
                </a:solidFill>
                <a:latin typeface="Meiryo"/>
                <a:ea typeface="メイリオ"/>
              </a:rPr>
              <a:t>横を通り過ぎる → 鳴らさない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3200" y="2692400"/>
            <a:ext cx="203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2E7D5B"/>
                </a:solidFill>
                <a:latin typeface="Meiryo"/>
                <a:ea typeface="メイリオ"/>
              </a:rPr>
              <a:t>方位が横に流れる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483600" y="4749800"/>
            <a:ext cx="2514600" cy="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16200000">
            <a:off x="8407400" y="4673600"/>
            <a:ext cx="152400" cy="152400"/>
          </a:xfrm>
          <a:prstGeom prst="triangl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59900" y="4686300"/>
            <a:ext cx="127000" cy="1270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756900" y="4686300"/>
            <a:ext cx="127000" cy="1270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23200" y="4318000"/>
            <a:ext cx="3352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50" b="1">
                <a:solidFill>
                  <a:srgbClr val="C0392B"/>
                </a:solidFill>
                <a:latin typeface="Meiryo"/>
                <a:ea typeface="メイリオ"/>
              </a:rPr>
              <a:t>正面に来る → 至近警告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3200" y="4876800"/>
            <a:ext cx="3352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C0392B"/>
                </a:solidFill>
                <a:latin typeface="Meiryo"/>
                <a:ea typeface="メイリオ"/>
              </a:rPr>
              <a:t>方位が変わらないまま近づく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9200" y="5232400"/>
            <a:ext cx="5003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>
                <a:solidFill>
                  <a:srgbClr val="8A8F9A"/>
                </a:solidFill>
                <a:latin typeface="Meiryo"/>
                <a:ea typeface="メイリオ"/>
              </a:rPr>
              <a:t>点線の円 ＝ 保険の距離しきい値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99200" y="5740400"/>
            <a:ext cx="76200" cy="5588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75400" y="5740400"/>
            <a:ext cx="49276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78600" y="5842000"/>
            <a:ext cx="4546600" cy="381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>
                <a:solidFill>
                  <a:srgbClr val="595F6E"/>
                </a:solidFill>
                <a:latin typeface="Meiryo"/>
                <a:ea typeface="メイリオ"/>
              </a:rPr>
              <a:t>方位が変わらないまま近づく相手＝</a:t>
            </a:r>
            <a:r>
              <a:rPr sz="1250" b="1">
                <a:solidFill>
                  <a:srgbClr val="C0392B"/>
                </a:solidFill>
                <a:latin typeface="Meiryo"/>
                <a:ea typeface="メイリオ"/>
              </a:rPr>
              <a:t>衝突コース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