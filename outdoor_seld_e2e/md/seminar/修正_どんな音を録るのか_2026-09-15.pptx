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51">
            <a:extLst>
              <a:ext uri="{FF2B5EF4-FFF2-40B4-BE49-F238E27FC236}">
                <a16:creationId xmlns:a16="http://schemas.microsoft.com/office/drawing/2014/main" id="{8C3E9802-23EA-560F-31A8-ED147C4C9806}"/>
              </a:ext>
            </a:extLst>
          </p:cNvPr>
          <p:cNvSpPr/>
          <p:nvPr/>
        </p:nvSpPr>
        <p:spPr>
          <a:xfrm>
            <a:off x="889000" y="5283200"/>
            <a:ext cx="10414000" cy="457200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80A4C50-64B1-23F3-8050-E3E27F74473C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907AC57-48AB-3002-4723-0C132D8B8925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3B9B957-2A98-6DA3-7636-11A198DA0730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39002E3-A296-84E4-4952-15910B42FB10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669AB3B-C15F-F08F-2999-C2C721AC6057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EAB1FE-2E33-2FDB-3CD6-6B38B4063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49D872C1-71A6-DF58-BCF4-8B9DBEA9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5BE1C6EC-737B-8C16-099C-4587F438D2E7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どんな音を、どれだけ録るのか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7D79233-B679-AD6E-2A3F-12F92E8F2D02}"/>
              </a:ext>
            </a:extLst>
          </p:cNvPr>
          <p:cNvSpPr txBox="1"/>
          <p:nvPr/>
        </p:nvSpPr>
        <p:spPr>
          <a:xfrm>
            <a:off x="889000" y="1270000"/>
            <a:ext cx="1041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検出対象の8種類を、屋外で計210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クリップ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分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録音。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DEF9D00A-69FE-4F38-1238-CD378B2A2A81}"/>
              </a:ext>
            </a:extLst>
          </p:cNvPr>
          <p:cNvSpPr/>
          <p:nvPr/>
        </p:nvSpPr>
        <p:spPr>
          <a:xfrm>
            <a:off x="889000" y="1625600"/>
            <a:ext cx="8128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サイレン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2006D783-4D33-4B8B-3514-DCA635719061}"/>
              </a:ext>
            </a:extLst>
          </p:cNvPr>
          <p:cNvSpPr/>
          <p:nvPr/>
        </p:nvSpPr>
        <p:spPr>
          <a:xfrm>
            <a:off x="1803400" y="1625600"/>
            <a:ext cx="11176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クラクション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E0EC8CF0-B8EC-7281-ABCD-7F67BE62EA51}"/>
              </a:ext>
            </a:extLst>
          </p:cNvPr>
          <p:cNvSpPr/>
          <p:nvPr/>
        </p:nvSpPr>
        <p:spPr>
          <a:xfrm>
            <a:off x="3022600" y="1625600"/>
            <a:ext cx="8128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バック音</a:t>
            </a: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93FA362E-F05A-7BF7-FA62-F32F6B398ECC}"/>
              </a:ext>
            </a:extLst>
          </p:cNvPr>
          <p:cNvSpPr/>
          <p:nvPr/>
        </p:nvSpPr>
        <p:spPr>
          <a:xfrm>
            <a:off x="3937000" y="1625600"/>
            <a:ext cx="9652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自転車ベル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DDC986E-DF66-17E2-C30E-D9B7213270B3}"/>
              </a:ext>
            </a:extLst>
          </p:cNvPr>
          <p:cNvSpPr/>
          <p:nvPr/>
        </p:nvSpPr>
        <p:spPr>
          <a:xfrm>
            <a:off x="5003800" y="1625600"/>
            <a:ext cx="3556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311A80DF-E5CE-828E-96B4-868348C79531}"/>
              </a:ext>
            </a:extLst>
          </p:cNvPr>
          <p:cNvSpPr/>
          <p:nvPr/>
        </p:nvSpPr>
        <p:spPr>
          <a:xfrm>
            <a:off x="5461000" y="1625600"/>
            <a:ext cx="9652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踏切・列車</a:t>
            </a:r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DD0F50E1-3826-A9A5-C7C2-4C87A5D5B521}"/>
              </a:ext>
            </a:extLst>
          </p:cNvPr>
          <p:cNvSpPr/>
          <p:nvPr/>
        </p:nvSpPr>
        <p:spPr>
          <a:xfrm>
            <a:off x="6527800" y="1625600"/>
            <a:ext cx="11176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キックボード</a:t>
            </a: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AFD5A96F-0C5A-E3DA-573B-905DBF24AA05}"/>
              </a:ext>
            </a:extLst>
          </p:cNvPr>
          <p:cNvSpPr/>
          <p:nvPr/>
        </p:nvSpPr>
        <p:spPr>
          <a:xfrm>
            <a:off x="7747000" y="1625600"/>
            <a:ext cx="6604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0" rIns="38100" bIns="0" rtlCol="0" anchor="ctr"/>
          <a:lstStyle/>
          <a:p>
            <a:pPr algn="ctr"/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バイク</a:t>
            </a:r>
          </a:p>
        </p:txBody>
      </p:sp>
      <p:sp>
        <p:nvSpPr>
          <p:cNvPr id="35" name="Rectangle 19">
            <a:extLst>
              <a:ext uri="{FF2B5EF4-FFF2-40B4-BE49-F238E27FC236}">
                <a16:creationId xmlns:a16="http://schemas.microsoft.com/office/drawing/2014/main" id="{2D68F91A-3FFF-A7B8-F7EA-1796574412D1}"/>
              </a:ext>
            </a:extLst>
          </p:cNvPr>
          <p:cNvSpPr/>
          <p:nvPr/>
        </p:nvSpPr>
        <p:spPr>
          <a:xfrm>
            <a:off x="889000" y="2159000"/>
            <a:ext cx="10414000" cy="3302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6B2ABF49-2727-5F75-ABD0-EC131902BC41}"/>
              </a:ext>
            </a:extLst>
          </p:cNvPr>
          <p:cNvSpPr txBox="1"/>
          <p:nvPr/>
        </p:nvSpPr>
        <p:spPr>
          <a:xfrm>
            <a:off x="1066800" y="2202622"/>
            <a:ext cx="1651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rgbClr val="FFFFFF"/>
                </a:solidFill>
                <a:latin typeface="Meiryo"/>
                <a:ea typeface="メイリオ"/>
              </a:rPr>
              <a:t>区分</a:t>
            </a:r>
            <a:endParaRPr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40" name="TextBox 21">
            <a:extLst>
              <a:ext uri="{FF2B5EF4-FFF2-40B4-BE49-F238E27FC236}">
                <a16:creationId xmlns:a16="http://schemas.microsoft.com/office/drawing/2014/main" id="{009989A9-6748-68D8-5162-2C7EB79DBEBF}"/>
              </a:ext>
            </a:extLst>
          </p:cNvPr>
          <p:cNvSpPr txBox="1"/>
          <p:nvPr/>
        </p:nvSpPr>
        <p:spPr>
          <a:xfrm>
            <a:off x="2823801" y="2202622"/>
            <a:ext cx="880198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rgbClr val="FFFFFF"/>
                </a:solidFill>
                <a:latin typeface="Meiryo"/>
                <a:ea typeface="メイリオ"/>
              </a:rPr>
              <a:t>本数</a:t>
            </a:r>
            <a:endParaRPr b="1" dirty="0">
              <a:solidFill>
                <a:srgbClr val="FFFFFF"/>
              </a:solidFill>
              <a:latin typeface="Meiryo"/>
              <a:ea typeface="メイリオ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EDE19FE9-AD68-4A44-5BE9-391D8DF48B83}"/>
              </a:ext>
            </a:extLst>
          </p:cNvPr>
          <p:cNvSpPr txBox="1"/>
          <p:nvPr/>
        </p:nvSpPr>
        <p:spPr>
          <a:xfrm>
            <a:off x="3810000" y="2202622"/>
            <a:ext cx="6985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Meiryo"/>
                <a:ea typeface="メイリオ"/>
              </a:rPr>
              <a:t>中身</a:t>
            </a:r>
          </a:p>
        </p:txBody>
      </p:sp>
      <p:sp>
        <p:nvSpPr>
          <p:cNvPr id="45" name="Rectangle 23">
            <a:extLst>
              <a:ext uri="{FF2B5EF4-FFF2-40B4-BE49-F238E27FC236}">
                <a16:creationId xmlns:a16="http://schemas.microsoft.com/office/drawing/2014/main" id="{D724EFF9-2609-E886-7D4E-766B60D810F1}"/>
              </a:ext>
            </a:extLst>
          </p:cNvPr>
          <p:cNvSpPr/>
          <p:nvPr/>
        </p:nvSpPr>
        <p:spPr>
          <a:xfrm>
            <a:off x="889000" y="2489200"/>
            <a:ext cx="10414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4A74767F-7FC5-6F64-96F2-1769830D9DA8}"/>
              </a:ext>
            </a:extLst>
          </p:cNvPr>
          <p:cNvSpPr txBox="1"/>
          <p:nvPr/>
        </p:nvSpPr>
        <p:spPr>
          <a:xfrm>
            <a:off x="1066800" y="2565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A </a:t>
            </a: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走行車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49" name="TextBox 25">
            <a:extLst>
              <a:ext uri="{FF2B5EF4-FFF2-40B4-BE49-F238E27FC236}">
                <a16:creationId xmlns:a16="http://schemas.microsoft.com/office/drawing/2014/main" id="{99E41E0D-4E5C-F346-B247-93F9D0FA6AF2}"/>
              </a:ext>
            </a:extLst>
          </p:cNvPr>
          <p:cNvSpPr txBox="1"/>
          <p:nvPr/>
        </p:nvSpPr>
        <p:spPr>
          <a:xfrm>
            <a:off x="2823801" y="2565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C0392B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672C6882-07AD-3A83-F8D5-AFD77440B317}"/>
              </a:ext>
            </a:extLst>
          </p:cNvPr>
          <p:cNvSpPr txBox="1"/>
          <p:nvPr/>
        </p:nvSpPr>
        <p:spPr>
          <a:xfrm>
            <a:off x="3810000" y="2565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横2.0〜3.2mを10本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(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うち後方から6本以上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)</a:t>
            </a:r>
            <a:r>
              <a:rPr lang="en-US" sz="140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横5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.0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〜15mを10本</a:t>
            </a:r>
          </a:p>
        </p:txBody>
      </p:sp>
      <p:sp>
        <p:nvSpPr>
          <p:cNvPr id="54" name="Rectangle 27">
            <a:extLst>
              <a:ext uri="{FF2B5EF4-FFF2-40B4-BE49-F238E27FC236}">
                <a16:creationId xmlns:a16="http://schemas.microsoft.com/office/drawing/2014/main" id="{CC00E256-7344-48B2-393F-68546F3EE3A8}"/>
              </a:ext>
            </a:extLst>
          </p:cNvPr>
          <p:cNvSpPr/>
          <p:nvPr/>
        </p:nvSpPr>
        <p:spPr>
          <a:xfrm>
            <a:off x="889000" y="2870200"/>
            <a:ext cx="10414000" cy="381000"/>
          </a:xfrm>
          <a:prstGeom prst="rect">
            <a:avLst/>
          </a:prstGeom>
          <a:solidFill>
            <a:srgbClr val="F2F3F5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6" name="TextBox 28">
            <a:extLst>
              <a:ext uri="{FF2B5EF4-FFF2-40B4-BE49-F238E27FC236}">
                <a16:creationId xmlns:a16="http://schemas.microsoft.com/office/drawing/2014/main" id="{E720FA0B-90CA-7D8E-23DA-05C65F8EFBCB}"/>
              </a:ext>
            </a:extLst>
          </p:cNvPr>
          <p:cNvSpPr txBox="1"/>
          <p:nvPr/>
        </p:nvSpPr>
        <p:spPr>
          <a:xfrm>
            <a:off x="1066800" y="2946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222838"/>
                </a:solidFill>
                <a:latin typeface="Meiryo"/>
                <a:ea typeface="メイリオ"/>
              </a:rPr>
              <a:t>B 弱点</a:t>
            </a:r>
          </a:p>
        </p:txBody>
      </p:sp>
      <p:sp>
        <p:nvSpPr>
          <p:cNvPr id="58" name="TextBox 29">
            <a:extLst>
              <a:ext uri="{FF2B5EF4-FFF2-40B4-BE49-F238E27FC236}">
                <a16:creationId xmlns:a16="http://schemas.microsoft.com/office/drawing/2014/main" id="{E8563ECC-3540-A01D-2D3A-B4982B5C6068}"/>
              </a:ext>
            </a:extLst>
          </p:cNvPr>
          <p:cNvSpPr txBox="1"/>
          <p:nvPr/>
        </p:nvSpPr>
        <p:spPr>
          <a:xfrm>
            <a:off x="2823801" y="2946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60" name="TextBox 30">
            <a:extLst>
              <a:ext uri="{FF2B5EF4-FFF2-40B4-BE49-F238E27FC236}">
                <a16:creationId xmlns:a16="http://schemas.microsoft.com/office/drawing/2014/main" id="{095B3FB4-103E-F6D5-AEF1-FCDB236736A4}"/>
              </a:ext>
            </a:extLst>
          </p:cNvPr>
          <p:cNvSpPr txBox="1"/>
          <p:nvPr/>
        </p:nvSpPr>
        <p:spPr>
          <a:xfrm>
            <a:off x="3810000" y="2946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EV・HVの接近5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停車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→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発進5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自転車の至近通過5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見通し不良の角5</a:t>
            </a:r>
          </a:p>
        </p:txBody>
      </p:sp>
      <p:sp>
        <p:nvSpPr>
          <p:cNvPr id="62" name="Rectangle 31">
            <a:extLst>
              <a:ext uri="{FF2B5EF4-FFF2-40B4-BE49-F238E27FC236}">
                <a16:creationId xmlns:a16="http://schemas.microsoft.com/office/drawing/2014/main" id="{AF02891C-BB1A-4C6A-B65F-8F0D93A56609}"/>
              </a:ext>
            </a:extLst>
          </p:cNvPr>
          <p:cNvSpPr/>
          <p:nvPr/>
        </p:nvSpPr>
        <p:spPr>
          <a:xfrm>
            <a:off x="889000" y="3251200"/>
            <a:ext cx="10414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4" name="TextBox 32">
            <a:extLst>
              <a:ext uri="{FF2B5EF4-FFF2-40B4-BE49-F238E27FC236}">
                <a16:creationId xmlns:a16="http://schemas.microsoft.com/office/drawing/2014/main" id="{82528B6E-4A8E-5C63-DAAA-DA45229093E5}"/>
              </a:ext>
            </a:extLst>
          </p:cNvPr>
          <p:cNvSpPr txBox="1"/>
          <p:nvPr/>
        </p:nvSpPr>
        <p:spPr>
          <a:xfrm>
            <a:off x="1066800" y="3327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C </a:t>
            </a:r>
            <a:r>
              <a:rPr sz="1600" b="1" dirty="0" err="1">
                <a:solidFill>
                  <a:srgbClr val="222838"/>
                </a:solidFill>
                <a:latin typeface="Meiryo"/>
                <a:ea typeface="メイリオ"/>
              </a:rPr>
              <a:t>負例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66" name="TextBox 33">
            <a:extLst>
              <a:ext uri="{FF2B5EF4-FFF2-40B4-BE49-F238E27FC236}">
                <a16:creationId xmlns:a16="http://schemas.microsoft.com/office/drawing/2014/main" id="{AAD6826B-83D3-56D3-0EC4-A701BF0BD026}"/>
              </a:ext>
            </a:extLst>
          </p:cNvPr>
          <p:cNvSpPr txBox="1"/>
          <p:nvPr/>
        </p:nvSpPr>
        <p:spPr>
          <a:xfrm>
            <a:off x="2823801" y="3327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68" name="TextBox 34">
            <a:extLst>
              <a:ext uri="{FF2B5EF4-FFF2-40B4-BE49-F238E27FC236}">
                <a16:creationId xmlns:a16="http://schemas.microsoft.com/office/drawing/2014/main" id="{D11E7972-B00F-57E6-A7FD-F771E8959895}"/>
              </a:ext>
            </a:extLst>
          </p:cNvPr>
          <p:cNvSpPr txBox="1"/>
          <p:nvPr/>
        </p:nvSpPr>
        <p:spPr>
          <a:xfrm>
            <a:off x="3810000" y="3327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静穏6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繁華街・工事6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雨上がり4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風あり4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＝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鳴ってはいけない場面</a:t>
            </a:r>
            <a:endParaRPr sz="1400" b="0" dirty="0">
              <a:solidFill>
                <a:srgbClr val="595F6E"/>
              </a:solidFill>
              <a:latin typeface="Meiryo"/>
              <a:ea typeface="メイリオ"/>
            </a:endParaRPr>
          </a:p>
        </p:txBody>
      </p:sp>
      <p:sp>
        <p:nvSpPr>
          <p:cNvPr id="70" name="Rectangle 35">
            <a:extLst>
              <a:ext uri="{FF2B5EF4-FFF2-40B4-BE49-F238E27FC236}">
                <a16:creationId xmlns:a16="http://schemas.microsoft.com/office/drawing/2014/main" id="{8DEF1CAA-E695-D28C-4A52-19B555C4ADC6}"/>
              </a:ext>
            </a:extLst>
          </p:cNvPr>
          <p:cNvSpPr/>
          <p:nvPr/>
        </p:nvSpPr>
        <p:spPr>
          <a:xfrm>
            <a:off x="889000" y="3632200"/>
            <a:ext cx="10414000" cy="381000"/>
          </a:xfrm>
          <a:prstGeom prst="rect">
            <a:avLst/>
          </a:prstGeom>
          <a:solidFill>
            <a:srgbClr val="F2F3F5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TextBox 36">
            <a:extLst>
              <a:ext uri="{FF2B5EF4-FFF2-40B4-BE49-F238E27FC236}">
                <a16:creationId xmlns:a16="http://schemas.microsoft.com/office/drawing/2014/main" id="{3552971B-A95B-7FEE-EE09-6D42AEDAE182}"/>
              </a:ext>
            </a:extLst>
          </p:cNvPr>
          <p:cNvSpPr txBox="1"/>
          <p:nvPr/>
        </p:nvSpPr>
        <p:spPr>
          <a:xfrm>
            <a:off x="1066800" y="3708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222838"/>
                </a:solidFill>
                <a:latin typeface="Meiryo"/>
                <a:ea typeface="メイリオ"/>
              </a:rPr>
              <a:t>D 警告音</a:t>
            </a:r>
            <a:endParaRPr sz="1600"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74" name="TextBox 37">
            <a:extLst>
              <a:ext uri="{FF2B5EF4-FFF2-40B4-BE49-F238E27FC236}">
                <a16:creationId xmlns:a16="http://schemas.microsoft.com/office/drawing/2014/main" id="{D3E5CC15-D1C9-1AB7-D90A-CF24791031F6}"/>
              </a:ext>
            </a:extLst>
          </p:cNvPr>
          <p:cNvSpPr txBox="1"/>
          <p:nvPr/>
        </p:nvSpPr>
        <p:spPr>
          <a:xfrm>
            <a:off x="2823801" y="3708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C0392B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76" name="TextBox 38">
            <a:extLst>
              <a:ext uri="{FF2B5EF4-FFF2-40B4-BE49-F238E27FC236}">
                <a16:creationId xmlns:a16="http://schemas.microsoft.com/office/drawing/2014/main" id="{B9777156-8857-65A6-54D3-B0E1403D7741}"/>
              </a:ext>
            </a:extLst>
          </p:cNvPr>
          <p:cNvSpPr txBox="1"/>
          <p:nvPr/>
        </p:nvSpPr>
        <p:spPr>
          <a:xfrm>
            <a:off x="3810000" y="3708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実在の踏切8 / バック音の統制4 / サイレンの遭遇待ち4 / クラクションの統制4</a:t>
            </a:r>
          </a:p>
        </p:txBody>
      </p:sp>
      <p:sp>
        <p:nvSpPr>
          <p:cNvPr id="78" name="Rectangle 39">
            <a:extLst>
              <a:ext uri="{FF2B5EF4-FFF2-40B4-BE49-F238E27FC236}">
                <a16:creationId xmlns:a16="http://schemas.microsoft.com/office/drawing/2014/main" id="{AA613053-1B8C-E1F9-96D5-607E2737A874}"/>
              </a:ext>
            </a:extLst>
          </p:cNvPr>
          <p:cNvSpPr/>
          <p:nvPr/>
        </p:nvSpPr>
        <p:spPr>
          <a:xfrm>
            <a:off x="889000" y="4013200"/>
            <a:ext cx="10414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0" name="TextBox 40">
            <a:extLst>
              <a:ext uri="{FF2B5EF4-FFF2-40B4-BE49-F238E27FC236}">
                <a16:creationId xmlns:a16="http://schemas.microsoft.com/office/drawing/2014/main" id="{7C07A3DE-621B-4CCC-0270-670F41D4B19D}"/>
              </a:ext>
            </a:extLst>
          </p:cNvPr>
          <p:cNvSpPr txBox="1"/>
          <p:nvPr/>
        </p:nvSpPr>
        <p:spPr>
          <a:xfrm>
            <a:off x="1066800" y="4089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222838"/>
                </a:solidFill>
                <a:latin typeface="Meiryo"/>
                <a:ea typeface="メイリオ"/>
              </a:rPr>
              <a:t>E キックボード</a:t>
            </a:r>
          </a:p>
        </p:txBody>
      </p:sp>
      <p:sp>
        <p:nvSpPr>
          <p:cNvPr id="82" name="TextBox 41">
            <a:extLst>
              <a:ext uri="{FF2B5EF4-FFF2-40B4-BE49-F238E27FC236}">
                <a16:creationId xmlns:a16="http://schemas.microsoft.com/office/drawing/2014/main" id="{EF8EC077-5734-8B32-76CB-C61D4FCCA861}"/>
              </a:ext>
            </a:extLst>
          </p:cNvPr>
          <p:cNvSpPr txBox="1"/>
          <p:nvPr/>
        </p:nvSpPr>
        <p:spPr>
          <a:xfrm>
            <a:off x="2823801" y="4089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eiryo"/>
                <a:ea typeface="メイリオ"/>
              </a:rPr>
              <a:t>20</a:t>
            </a:r>
          </a:p>
        </p:txBody>
      </p:sp>
      <p:sp>
        <p:nvSpPr>
          <p:cNvPr id="84" name="TextBox 42">
            <a:extLst>
              <a:ext uri="{FF2B5EF4-FFF2-40B4-BE49-F238E27FC236}">
                <a16:creationId xmlns:a16="http://schemas.microsoft.com/office/drawing/2014/main" id="{828C5AB1-2D72-6877-4C42-E13A20532B72}"/>
              </a:ext>
            </a:extLst>
          </p:cNvPr>
          <p:cNvSpPr txBox="1"/>
          <p:nvPr/>
        </p:nvSpPr>
        <p:spPr>
          <a:xfrm>
            <a:off x="3810000" y="4089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横1.0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/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1.2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/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1.5m × 速度2段 × 左右＝12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後方4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前方4</a:t>
            </a:r>
          </a:p>
        </p:txBody>
      </p:sp>
      <p:sp>
        <p:nvSpPr>
          <p:cNvPr id="86" name="Rectangle 43">
            <a:extLst>
              <a:ext uri="{FF2B5EF4-FFF2-40B4-BE49-F238E27FC236}">
                <a16:creationId xmlns:a16="http://schemas.microsoft.com/office/drawing/2014/main" id="{645874D3-F13D-87CD-2CD6-4943936AFA96}"/>
              </a:ext>
            </a:extLst>
          </p:cNvPr>
          <p:cNvSpPr/>
          <p:nvPr/>
        </p:nvSpPr>
        <p:spPr>
          <a:xfrm>
            <a:off x="889000" y="4394200"/>
            <a:ext cx="10414000" cy="381000"/>
          </a:xfrm>
          <a:prstGeom prst="rect">
            <a:avLst/>
          </a:prstGeom>
          <a:solidFill>
            <a:srgbClr val="F2F3F5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8" name="TextBox 44">
            <a:extLst>
              <a:ext uri="{FF2B5EF4-FFF2-40B4-BE49-F238E27FC236}">
                <a16:creationId xmlns:a16="http://schemas.microsoft.com/office/drawing/2014/main" id="{B017CCD6-04EB-3337-875E-C1A2EDC49683}"/>
              </a:ext>
            </a:extLst>
          </p:cNvPr>
          <p:cNvSpPr txBox="1"/>
          <p:nvPr/>
        </p:nvSpPr>
        <p:spPr>
          <a:xfrm>
            <a:off x="1066800" y="4470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222838"/>
                </a:solidFill>
                <a:latin typeface="Meiryo"/>
                <a:ea typeface="メイリオ"/>
              </a:rPr>
              <a:t>F バイク</a:t>
            </a:r>
          </a:p>
        </p:txBody>
      </p:sp>
      <p:sp>
        <p:nvSpPr>
          <p:cNvPr id="90" name="TextBox 45">
            <a:extLst>
              <a:ext uri="{FF2B5EF4-FFF2-40B4-BE49-F238E27FC236}">
                <a16:creationId xmlns:a16="http://schemas.microsoft.com/office/drawing/2014/main" id="{C638E041-644C-DA9D-7981-0615C05A7E2B}"/>
              </a:ext>
            </a:extLst>
          </p:cNvPr>
          <p:cNvSpPr txBox="1"/>
          <p:nvPr/>
        </p:nvSpPr>
        <p:spPr>
          <a:xfrm>
            <a:off x="2823801" y="4470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 dirty="0">
                <a:solidFill>
                  <a:srgbClr val="C0392B"/>
                </a:solidFill>
                <a:latin typeface="Meiryo"/>
                <a:ea typeface="メイリオ"/>
              </a:rPr>
              <a:t>10</a:t>
            </a:r>
          </a:p>
        </p:txBody>
      </p:sp>
      <p:sp>
        <p:nvSpPr>
          <p:cNvPr id="92" name="TextBox 46">
            <a:extLst>
              <a:ext uri="{FF2B5EF4-FFF2-40B4-BE49-F238E27FC236}">
                <a16:creationId xmlns:a16="http://schemas.microsoft.com/office/drawing/2014/main" id="{64EBC833-F2AE-7EBE-97FD-E8A1740AD31B}"/>
              </a:ext>
            </a:extLst>
          </p:cNvPr>
          <p:cNvSpPr txBox="1"/>
          <p:nvPr/>
        </p:nvSpPr>
        <p:spPr>
          <a:xfrm>
            <a:off x="3810000" y="4470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交通量の多い道での待ち受け</a:t>
            </a:r>
            <a:r>
              <a:rPr lang="ja-JP" altLang="en-US" sz="1400" dirty="0">
                <a:solidFill>
                  <a:srgbClr val="595F6E"/>
                </a:solidFill>
                <a:latin typeface="Meiryo"/>
                <a:ea typeface="メイリオ"/>
              </a:rPr>
              <a:t>録音</a:t>
            </a:r>
            <a:endParaRPr sz="1400" b="0" dirty="0">
              <a:solidFill>
                <a:srgbClr val="595F6E"/>
              </a:solidFill>
              <a:latin typeface="Meiryo"/>
              <a:ea typeface="メイリオ"/>
            </a:endParaRPr>
          </a:p>
        </p:txBody>
      </p:sp>
      <p:sp>
        <p:nvSpPr>
          <p:cNvPr id="94" name="Rectangle 47">
            <a:extLst>
              <a:ext uri="{FF2B5EF4-FFF2-40B4-BE49-F238E27FC236}">
                <a16:creationId xmlns:a16="http://schemas.microsoft.com/office/drawing/2014/main" id="{F6CE4415-F16D-EE6B-D180-7E0E59BA591E}"/>
              </a:ext>
            </a:extLst>
          </p:cNvPr>
          <p:cNvSpPr/>
          <p:nvPr/>
        </p:nvSpPr>
        <p:spPr>
          <a:xfrm>
            <a:off x="889000" y="4775200"/>
            <a:ext cx="10414000" cy="381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48">
            <a:extLst>
              <a:ext uri="{FF2B5EF4-FFF2-40B4-BE49-F238E27FC236}">
                <a16:creationId xmlns:a16="http://schemas.microsoft.com/office/drawing/2014/main" id="{D6C03400-CC98-196C-39EB-5EB083C0F64C}"/>
              </a:ext>
            </a:extLst>
          </p:cNvPr>
          <p:cNvSpPr txBox="1"/>
          <p:nvPr/>
        </p:nvSpPr>
        <p:spPr>
          <a:xfrm>
            <a:off x="1066800" y="4851400"/>
            <a:ext cx="1651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222838"/>
                </a:solidFill>
                <a:latin typeface="Meiryo"/>
                <a:ea typeface="メイリオ"/>
              </a:rPr>
              <a:t>歩行対比</a:t>
            </a:r>
          </a:p>
        </p:txBody>
      </p:sp>
      <p:sp>
        <p:nvSpPr>
          <p:cNvPr id="98" name="TextBox 49">
            <a:extLst>
              <a:ext uri="{FF2B5EF4-FFF2-40B4-BE49-F238E27FC236}">
                <a16:creationId xmlns:a16="http://schemas.microsoft.com/office/drawing/2014/main" id="{6338124B-C745-5ED0-7CBC-B007CD3FB48D}"/>
              </a:ext>
            </a:extLst>
          </p:cNvPr>
          <p:cNvSpPr txBox="1"/>
          <p:nvPr/>
        </p:nvSpPr>
        <p:spPr>
          <a:xfrm>
            <a:off x="2823801" y="4851400"/>
            <a:ext cx="880198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eiryo"/>
                <a:ea typeface="メイリオ"/>
              </a:rPr>
              <a:t>100</a:t>
            </a:r>
          </a:p>
        </p:txBody>
      </p:sp>
      <p:sp>
        <p:nvSpPr>
          <p:cNvPr id="100" name="TextBox 50">
            <a:extLst>
              <a:ext uri="{FF2B5EF4-FFF2-40B4-BE49-F238E27FC236}">
                <a16:creationId xmlns:a16="http://schemas.microsoft.com/office/drawing/2014/main" id="{3525DBFC-FD84-AB67-9B0B-EB84C9D13ECB}"/>
              </a:ext>
            </a:extLst>
          </p:cNvPr>
          <p:cNvSpPr txBox="1"/>
          <p:nvPr/>
        </p:nvSpPr>
        <p:spPr>
          <a:xfrm>
            <a:off x="3810000" y="4851400"/>
            <a:ext cx="698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5条件×10反復を、止まって録る</a:t>
            </a:r>
            <a:r>
              <a:rPr lang="en-US" sz="1400" b="0" dirty="0">
                <a:solidFill>
                  <a:srgbClr val="595F6E"/>
                </a:solidFill>
                <a:latin typeface="Meiryo"/>
                <a:ea typeface="メイリオ"/>
              </a:rPr>
              <a:t> / </a:t>
            </a:r>
            <a:r>
              <a:rPr sz="1400" b="0" dirty="0" err="1">
                <a:solidFill>
                  <a:srgbClr val="595F6E"/>
                </a:solidFill>
                <a:latin typeface="Meiryo"/>
                <a:ea typeface="メイリオ"/>
              </a:rPr>
              <a:t>歩いて録るの対で比較</a:t>
            </a:r>
            <a:endParaRPr sz="1400" b="0" dirty="0">
              <a:solidFill>
                <a:srgbClr val="595F6E"/>
              </a:solidFill>
              <a:latin typeface="Meiryo"/>
              <a:ea typeface="メイリオ"/>
            </a:endParaRPr>
          </a:p>
        </p:txBody>
      </p:sp>
      <p:sp>
        <p:nvSpPr>
          <p:cNvPr id="106" name="TextBox 53">
            <a:extLst>
              <a:ext uri="{FF2B5EF4-FFF2-40B4-BE49-F238E27FC236}">
                <a16:creationId xmlns:a16="http://schemas.microsoft.com/office/drawing/2014/main" id="{E6A1E034-6BC8-6579-AB86-D8EE36B77D6A}"/>
              </a:ext>
            </a:extLst>
          </p:cNvPr>
          <p:cNvSpPr txBox="1"/>
          <p:nvPr/>
        </p:nvSpPr>
        <p:spPr>
          <a:xfrm>
            <a:off x="1117600" y="5384800"/>
            <a:ext cx="1003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これに加えて、鳴ってはいけない場面の連続録音を100分以上。「</a:t>
            </a:r>
            <a:r>
              <a:rPr sz="1400" b="0" dirty="0">
                <a:solidFill>
                  <a:srgbClr val="595F6E"/>
                </a:solidFill>
                <a:latin typeface="Meiryo"/>
                <a:ea typeface="メイリオ"/>
              </a:rPr>
              <a:t>1時間あたり何回の誤警告か」を出すために必要。</a:t>
            </a:r>
          </a:p>
        </p:txBody>
      </p:sp>
      <p:sp>
        <p:nvSpPr>
          <p:cNvPr id="87" name="Rounded Rectangle 97">
            <a:extLst>
              <a:ext uri="{FF2B5EF4-FFF2-40B4-BE49-F238E27FC236}">
                <a16:creationId xmlns:a16="http://schemas.microsoft.com/office/drawing/2014/main" id="{B9B1C097-97E6-522B-638A-43CD9729C434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91" name="Rounded Rectangle 96">
            <a:extLst>
              <a:ext uri="{FF2B5EF4-FFF2-40B4-BE49-F238E27FC236}">
                <a16:creationId xmlns:a16="http://schemas.microsoft.com/office/drawing/2014/main" id="{620FB9EF-F137-A50D-A6FE-78D1B8BEE288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95" name="Rounded Rectangle 95">
            <a:extLst>
              <a:ext uri="{FF2B5EF4-FFF2-40B4-BE49-F238E27FC236}">
                <a16:creationId xmlns:a16="http://schemas.microsoft.com/office/drawing/2014/main" id="{4993C720-78EF-6756-4CA5-5BFAD3A330C1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実録の計画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99" name="Rounded Rectangle 94">
            <a:extLst>
              <a:ext uri="{FF2B5EF4-FFF2-40B4-BE49-F238E27FC236}">
                <a16:creationId xmlns:a16="http://schemas.microsoft.com/office/drawing/2014/main" id="{EB7AC4C1-B3DA-40B4-E047-D5279F277834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振り返り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03" name="Rounded Rectangle 93">
            <a:extLst>
              <a:ext uri="{FF2B5EF4-FFF2-40B4-BE49-F238E27FC236}">
                <a16:creationId xmlns:a16="http://schemas.microsoft.com/office/drawing/2014/main" id="{01DFE06B-082B-988C-274D-F47121221D25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07" name="Rounded Rectangle 92">
            <a:extLst>
              <a:ext uri="{FF2B5EF4-FFF2-40B4-BE49-F238E27FC236}">
                <a16:creationId xmlns:a16="http://schemas.microsoft.com/office/drawing/2014/main" id="{8FAB9977-BD74-3135-88B9-97BB9D6A38EA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