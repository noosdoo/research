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す り 抜 け と 対 向 を 、 ど う 区 別 す る 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夏ゼミで「三角関数で区別する」とお答えした件。方位の変化率で分ける。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1778000"/>
            <a:ext cx="482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7E6F98"/>
                </a:solidFill>
                <a:latin typeface="Meiryo"/>
                <a:ea typeface="メイリオ"/>
              </a:rPr>
              <a:t>装着者から見た「方向」の変わり方</a:t>
            </a:r>
          </a:p>
        </p:txBody>
      </p:sp>
      <p:sp>
        <p:nvSpPr>
          <p:cNvPr id="16" name="Oval 15"/>
          <p:cNvSpPr/>
          <p:nvPr/>
        </p:nvSpPr>
        <p:spPr>
          <a:xfrm>
            <a:off x="3352800" y="4470400"/>
            <a:ext cx="152400" cy="152400"/>
          </a:xfrm>
          <a:prstGeom prst="ellipse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0000" y="4673600"/>
            <a:ext cx="1778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装着者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5029" y="2565400"/>
            <a:ext cx="27940" cy="187960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3352800" y="2463800"/>
            <a:ext cx="152400" cy="152400"/>
          </a:xfrm>
          <a:prstGeom prst="triangle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55800" y="2336800"/>
            <a:ext cx="13208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5000"/>
              </a:lnSpc>
            </a:pPr>
            <a:r>
              <a:rPr sz="1150" b="1">
                <a:solidFill>
                  <a:srgbClr val="1E222C"/>
                </a:solidFill>
                <a:latin typeface="Meiryo"/>
                <a:ea typeface="メイリオ"/>
              </a:rPr>
              <a:t>対向型</a:t>
            </a:r>
          </a:p>
          <a:p>
            <a:pPr algn="r">
              <a:lnSpc>
                <a:spcPct val="125000"/>
              </a:lnSpc>
            </a:pPr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方位が変わらない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9200" y="3403600"/>
            <a:ext cx="4318000" cy="2032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5105400" y="3327400"/>
            <a:ext cx="152400" cy="152400"/>
          </a:xfrm>
          <a:prstGeom prst="triangl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6800" y="2921000"/>
            <a:ext cx="2159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E6F98"/>
                </a:solidFill>
                <a:latin typeface="Meiryo"/>
                <a:ea typeface="メイリオ"/>
              </a:rPr>
              <a:t>すり抜け型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方位が速く変わる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1651000" y="3416300"/>
            <a:ext cx="1778000" cy="1130300"/>
          </a:xfrm>
          <a:prstGeom prst="line">
            <a:avLst/>
          </a:prstGeom>
          <a:ln w="10160">
            <a:solidFill>
              <a:srgbClr val="C9C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717800" y="3416300"/>
            <a:ext cx="711200" cy="1130300"/>
          </a:xfrm>
          <a:prstGeom prst="line">
            <a:avLst/>
          </a:prstGeom>
          <a:ln w="10160">
            <a:solidFill>
              <a:srgbClr val="C9C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429000" y="3416300"/>
            <a:ext cx="711200" cy="1130300"/>
          </a:xfrm>
          <a:prstGeom prst="line">
            <a:avLst/>
          </a:prstGeom>
          <a:ln w="10160">
            <a:solidFill>
              <a:srgbClr val="C9C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29000" y="3416300"/>
            <a:ext cx="1778000" cy="1130300"/>
          </a:xfrm>
          <a:prstGeom prst="line">
            <a:avLst/>
          </a:prstGeom>
          <a:ln w="10160">
            <a:solidFill>
              <a:srgbClr val="C9C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9000" y="4876800"/>
            <a:ext cx="4826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判定に使うのは、最接近の 2.5〜1.5 秒前の区間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6800" y="1778000"/>
            <a:ext cx="10160" cy="33528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04000" y="1778000"/>
            <a:ext cx="4699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4000" y="1905000"/>
            <a:ext cx="4699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救済ルートを1本足した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3つが4フレーム続いたら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2235200"/>
            <a:ext cx="304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4200" y="22479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方位がほとんど変わらない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4200" y="2489200"/>
            <a:ext cx="4368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|dθ/dt| ≤ 0.10 rad/s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794000"/>
            <a:ext cx="304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4200" y="28067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距離が縮んでいる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4200" y="3048000"/>
            <a:ext cx="4368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頑健な傾きがマイナス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3352800"/>
            <a:ext cx="304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4200" y="33655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15m 以内にいる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4200" y="3606800"/>
            <a:ext cx="4368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距離ゲート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04000" y="3937000"/>
            <a:ext cx="4699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4000" y="4064000"/>
            <a:ext cx="4699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船の衝突回避と同じ原則。方位が変わらないまま近づいてくる相手は、衝突コースにいる。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000" y="53848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000" y="5511800"/>
            <a:ext cx="1651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7E6F98"/>
                </a:solidFill>
                <a:latin typeface="Meiryo"/>
                <a:ea typeface="メイリオ"/>
              </a:rPr>
              <a:t>なぜ15mで切るか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16200" y="5511800"/>
            <a:ext cx="86868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方位の変化率は距離の2乗に反比例する。遠くをまっすぐ通り過ぎる安全な車も「方位が変わらない」ように見えるため、距離で切らないと遠い車まで強い警告になる。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そ の 結 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危ない車には強く鳴るようになり、鳴らすべきでない対向車では黙るようになった。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38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40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42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044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8800" y="1701800"/>
            <a:ext cx="609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9A9EA8"/>
                </a:solidFill>
                <a:latin typeface="Meiryo"/>
                <a:ea typeface="メイリオ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9200" y="1701800"/>
            <a:ext cx="609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9A9EA8"/>
                </a:solidFill>
                <a:latin typeface="Meiryo"/>
                <a:ea typeface="メイリオ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9600" y="1701800"/>
            <a:ext cx="609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9A9EA8"/>
                </a:solidFill>
                <a:latin typeface="Meiryo"/>
                <a:ea typeface="メイリオ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3600" y="1943100"/>
            <a:ext cx="64008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9000" y="22098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000" y="23368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危ない車（最接近 1.5m 以内）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強い警告が届いた割合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27051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対向型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9200" y="27432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n=460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88248" y="2819400"/>
            <a:ext cx="576072" cy="2794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24748" y="27686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4470" y="2762250"/>
            <a:ext cx="139700" cy="1397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4048" y="28956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5284" y="25654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7E6F98"/>
                </a:solidFill>
                <a:latin typeface="Meiryo"/>
                <a:ea typeface="メイリオ"/>
              </a:rPr>
              <a:t>+9 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2200" y="26543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1E222C"/>
                </a:solidFill>
                <a:latin typeface="Meiryo"/>
                <a:ea typeface="メイリオ"/>
              </a:rPr>
              <a:t>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600" y="32385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すり抜け型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9200" y="32766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n=43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2215" y="3352800"/>
            <a:ext cx="1024128" cy="2794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68715" y="33020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86494" y="3295650"/>
            <a:ext cx="139700" cy="1397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8015" y="34290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3280" y="30988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7E6F98"/>
                </a:solidFill>
                <a:latin typeface="Meiryo"/>
                <a:ea typeface="メイリオ"/>
              </a:rPr>
              <a:t>+16 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2200" y="31877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1E222C"/>
                </a:solidFill>
                <a:latin typeface="Meiryo"/>
                <a:ea typeface="メイリオ"/>
              </a:rPr>
              <a:t>93%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000" y="38608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000" y="39878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鳴らすべきでない車（最接近 3.2m 超）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黙っていられた割合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7600" y="43561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対向型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9200" y="43942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15864" y="4470400"/>
            <a:ext cx="2432303" cy="2794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52364" y="44196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78317" y="4413250"/>
            <a:ext cx="139700" cy="1397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1664" y="45466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1015" y="42164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7E6F98"/>
                </a:solidFill>
                <a:latin typeface="Meiryo"/>
                <a:ea typeface="メイリオ"/>
              </a:rPr>
              <a:t>+38 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2200" y="43053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1E222C"/>
                </a:solidFill>
                <a:latin typeface="Meiryo"/>
                <a:ea typeface="メイリオ"/>
              </a:rPr>
              <a:t>71%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7600" y="48895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9A9EA8"/>
                </a:solidFill>
                <a:latin typeface="Meiryo"/>
                <a:ea typeface="メイリオ"/>
              </a:rPr>
              <a:t>すり抜け型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9200" y="49276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n=501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72096" y="5003800"/>
            <a:ext cx="128015" cy="27940"/>
          </a:xfrm>
          <a:prstGeom prst="rect">
            <a:avLst/>
          </a:prstGeom>
          <a:solidFill>
            <a:srgbClr val="9A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08596" y="49530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30261" y="4946650"/>
            <a:ext cx="139700" cy="139700"/>
          </a:xfrm>
          <a:prstGeom prst="ellipse">
            <a:avLst/>
          </a:prstGeom>
          <a:solidFill>
            <a:srgbClr val="9A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87896" y="50800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5104" y="47498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+2 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82200" y="48387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9A9EA8"/>
                </a:solidFill>
                <a:latin typeface="Meiryo"/>
                <a:ea typeface="メイリオ"/>
              </a:rPr>
              <a:t>64%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9000" y="54864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7600" y="5664200"/>
            <a:ext cx="4826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7E6F98"/>
                </a:solidFill>
                <a:latin typeface="Meiryo"/>
                <a:ea typeface="メイリオ"/>
              </a:rPr>
              <a:t>読み取り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方位の変化率を使う経路を足したことが、両方の型で効いた。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99200" y="5689600"/>
            <a:ext cx="10160" cy="4572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04000" y="5664200"/>
            <a:ext cx="4699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9A9EA8"/>
                </a:solidFill>
                <a:latin typeface="Meiryo"/>
                <a:ea typeface="メイリオ"/>
              </a:rPr>
              <a:t>残っている弱点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すり抜けていく安全な車での無駄鳴りは、ほぼ変わっていない。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7600" y="6324600"/>
            <a:ext cx="10160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合成データ・調整用の検証セット（1,800本）での値。確定評価とは別枠。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触 覚 デ モ を 動 か し 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「Joy-conとUnityで作ってみては」という助言を、そのまま実行した。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9000" y="1778000"/>
            <a:ext cx="4953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1905000"/>
            <a:ext cx="495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実機で振動した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9/2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000" y="23241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" y="2235200"/>
            <a:ext cx="4749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SwitchのJoy-con と Unity 6.6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" y="2451100"/>
            <a:ext cx="4749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ハンダごて不要・部品の購入ゼロ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00" y="27813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2200" y="2692400"/>
            <a:ext cx="4749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本物のモデル出力5本＋自作シナリオ3本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200" y="2908300"/>
            <a:ext cx="4749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対向とすり抜けの場面も含む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000" y="32385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2200" y="3149600"/>
            <a:ext cx="4749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強＝4連打／中＝2発／警告音＝単発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200" y="3365500"/>
            <a:ext cx="4749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パルスの数で危険度を表す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8400" y="1778000"/>
            <a:ext cx="10160" cy="24130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0" y="1778000"/>
            <a:ext cx="4699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距離だけを変えた3本のシナリオ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5600" y="2641600"/>
            <a:ext cx="4572000" cy="127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6900" y="2527300"/>
            <a:ext cx="25400" cy="2286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8600" y="2260600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2.0m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819400"/>
            <a:ext cx="1574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強く鳴る（4連打）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46633" y="2527300"/>
            <a:ext cx="25400" cy="2286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78333" y="2260600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2.8m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1933" y="2819400"/>
            <a:ext cx="1574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中くらい（2発）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83900" y="2527300"/>
            <a:ext cx="25400" cy="228600"/>
          </a:xfrm>
          <a:prstGeom prst="rect">
            <a:avLst/>
          </a:prstGeom>
          <a:solidFill>
            <a:srgbClr val="9A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2260600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9A9EA8"/>
                </a:solidFill>
                <a:latin typeface="Meiryo"/>
                <a:ea typeface="メイリオ"/>
              </a:rPr>
              <a:t>3.5m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9200" y="2819400"/>
            <a:ext cx="1574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鳴らさない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3352800"/>
            <a:ext cx="4699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同じ場面で最接近距離だけを変え、鳴り方が切り替わるところを体で確かめた。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9000" y="45212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000" y="46482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この先に作る首元デバイス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構想・未実装</a:t>
            </a:r>
          </a:p>
        </p:txBody>
      </p:sp>
      <p:sp>
        <p:nvSpPr>
          <p:cNvPr id="41" name="Oval 40"/>
          <p:cNvSpPr/>
          <p:nvPr/>
        </p:nvSpPr>
        <p:spPr>
          <a:xfrm>
            <a:off x="2006600" y="5181600"/>
            <a:ext cx="1879600" cy="762000"/>
          </a:xfrm>
          <a:prstGeom prst="ellipse">
            <a:avLst/>
          </a:prstGeom>
          <a:noFill/>
          <a:ln w="82550">
            <a:solidFill>
              <a:srgbClr val="1E2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14600" y="5372100"/>
            <a:ext cx="863600" cy="381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14600" y="5461000"/>
            <a:ext cx="86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首</a:t>
            </a:r>
          </a:p>
        </p:txBody>
      </p:sp>
      <p:sp>
        <p:nvSpPr>
          <p:cNvPr id="44" name="Oval 43"/>
          <p:cNvSpPr/>
          <p:nvPr/>
        </p:nvSpPr>
        <p:spPr>
          <a:xfrm>
            <a:off x="1981200" y="5588000"/>
            <a:ext cx="152400" cy="1524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286000" y="5816600"/>
            <a:ext cx="152400" cy="1524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870200" y="5892800"/>
            <a:ext cx="152400" cy="1524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54400" y="5816600"/>
            <a:ext cx="152400" cy="152400"/>
          </a:xfrm>
          <a:prstGeom prst="ellipse">
            <a:avLst/>
          </a:prstGeom>
          <a:solidFill>
            <a:srgbClr val="7E6F98"/>
          </a:solidFill>
          <a:ln w="1524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59200" y="5588000"/>
            <a:ext cx="152400" cy="1524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03400" y="4876800"/>
            <a:ext cx="2286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歩く向き（前）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0000" y="5257800"/>
            <a:ext cx="6223000" cy="660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1E222C"/>
                </a:solidFill>
                <a:latin typeface="Meiryo"/>
                <a:ea typeface="メイリオ"/>
              </a:rPr>
              <a:t>振動子5個と4chマイクを、同じバンドに載せる。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「マイクから見た右」と「体から見た右」が一致するので、頭の向きを測るセンサーが要らない。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ど ん な 音 を 、 ど れ だ け 録 る の 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検出対象の8種類を、屋外で計210回ぶん録る。内訳は録る前に固定してある。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1676400"/>
            <a:ext cx="1041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spc="60">
                <a:solidFill>
                  <a:srgbClr val="595F6E"/>
                </a:solidFill>
                <a:latin typeface="Meiryo"/>
                <a:ea typeface="メイリオ"/>
              </a:rPr>
              <a:t>サイレン　クラクション　バック音　自転車ベル　車　踏切・列車　キックボード　バイク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000" y="2057400"/>
            <a:ext cx="10414000" cy="1778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21590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E222C"/>
                </a:solidFill>
                <a:latin typeface="Meiryo"/>
                <a:ea typeface="メイリオ"/>
              </a:rPr>
              <a:t>区分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4200" y="2159000"/>
            <a:ext cx="76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>
                <a:solidFill>
                  <a:srgbClr val="1E222C"/>
                </a:solidFill>
                <a:latin typeface="Meiryo"/>
                <a:ea typeface="メイリオ"/>
              </a:rPr>
              <a:t>本数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200" y="21590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E222C"/>
                </a:solidFill>
                <a:latin typeface="Meiryo"/>
                <a:ea typeface="メイリオ"/>
              </a:rPr>
              <a:t>中身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00" y="24384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800" y="2565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A 走行車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4200" y="2540000"/>
            <a:ext cx="76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25654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横2.0〜3.2mを10本（うち後方から6本以上）／横5〜15mを10本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2946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B 弱点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4200" y="2921000"/>
            <a:ext cx="76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29464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EV・HVの接近5／停車→発進5／自転車の至近通過5／見通し不良の角5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800" y="3327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C 負例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4200" y="3302000"/>
            <a:ext cx="76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0" y="33274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静穏6／繁華街・工事6／雨上がり4／風あり4　＝鳴ってはいけない場面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800" y="3708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D 固定・機会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4200" y="3683000"/>
            <a:ext cx="76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7200" y="37084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実在の踏切8／バック音の統制4／サイレン等の遭遇待ち8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800" y="4089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E キックボード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4200" y="4064000"/>
            <a:ext cx="76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40894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横1.0/1.2/1.5m × 速度2段 × 左右＝12／後方4／前方4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" y="4470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F バイク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4200" y="4445000"/>
            <a:ext cx="76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7200" y="44704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交通量の多い道での待ち受け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6800" y="4851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歩行対比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4200" y="4826000"/>
            <a:ext cx="76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67200" y="4851400"/>
            <a:ext cx="685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5条件×10反復を、止まって録る／歩いて録るの対で比較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000" y="5257800"/>
            <a:ext cx="10414000" cy="1778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6800" y="5410200"/>
            <a:ext cx="1041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これに加えて、鳴ってはいけない場面の連続録音を100分以上。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「1時間あたり何回の誤警告か」を出すために要る。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ど こ で 、 ど ん な 条 件 で 録 る の 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場所を変えないと録れない音があり、天候の条件も決めてある。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9000" y="1778000"/>
            <a:ext cx="4826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1905000"/>
            <a:ext cx="4826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6か所を回る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000" y="23241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" y="22352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静かな道（交通量の少ない住宅路）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000" y="26289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2200" y="25400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交通量の多い道（車・バイク）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000" y="29337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2200" y="28448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繁華街（雑踏＝鳴ってはいけない場面）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000" y="32385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2200" y="31496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工事現場の近く（高い騒音）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000" y="35433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200" y="34544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見通しの悪い角（塀のある交差点）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000" y="38481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2200" y="37592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実在の踏切（時刻表どおり＝確実）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6800" y="1778000"/>
            <a:ext cx="10160" cy="25400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04000" y="1778000"/>
            <a:ext cx="4699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4000" y="1905000"/>
            <a:ext cx="4699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録るときの決めごと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2235200"/>
            <a:ext cx="889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中止の基準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000" y="2425700"/>
            <a:ext cx="4699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風速3m/s超と雨の日は録らない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2743200"/>
            <a:ext cx="889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装着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933700"/>
            <a:ext cx="4699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ヘルメットに装着。全テイク静止で統一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4000" y="3251200"/>
            <a:ext cx="889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録音設定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4000" y="3441700"/>
            <a:ext cx="4699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家で全部固定し、現地で押すのは録音ボタンだけ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3759200"/>
            <a:ext cx="889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記録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3949700"/>
            <a:ext cx="4699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1テイクごとに車種・速度・横距離・騒音計の値を紙に書く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9000" y="47244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9000" y="48514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車を記録するときの位置関係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速度：徐行〜約30km/h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67000" y="5384800"/>
            <a:ext cx="7112000" cy="127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67000" y="5765800"/>
            <a:ext cx="7112000" cy="127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69000" y="5435600"/>
            <a:ext cx="609600" cy="279400"/>
          </a:xfrm>
          <a:prstGeom prst="rect">
            <a:avLst/>
          </a:prstGeom>
          <a:noFill/>
          <a:ln w="15240">
            <a:solidFill>
              <a:srgbClr val="1E2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00" b="1">
                <a:solidFill>
                  <a:srgbClr val="1E222C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4800" y="54356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E222C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6200" y="5765800"/>
            <a:ext cx="17780" cy="3810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810000" y="6146800"/>
            <a:ext cx="165100" cy="165100"/>
          </a:xfrm>
          <a:prstGeom prst="ellipse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89400" y="5816600"/>
            <a:ext cx="533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7E6F98"/>
                </a:solidFill>
                <a:latin typeface="Meiryo"/>
                <a:ea typeface="メイリオ"/>
              </a:rPr>
              <a:t>横距離 2.0〜3.2m（鳴るべき車）／ 5〜15m（鳴ってはいけない車）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67000" y="6350000"/>
            <a:ext cx="279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装着者（頭上に4方向マイク・静止）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収 録 の 流 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1テイクあたり6つの手順。この骨格を全210回で共通にする。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9000" y="1854200"/>
            <a:ext cx="10414000" cy="1778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200" y="20066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① 前日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2606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15分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" y="2514600"/>
            <a:ext cx="1524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設定を家で全部固定する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0000" y="2006600"/>
            <a:ext cx="10160" cy="9652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2400" y="20066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② 到着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2400" y="22606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2分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2400" y="2514600"/>
            <a:ext cx="1524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定位置に立つ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2006600"/>
            <a:ext cx="10160" cy="9652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9600" y="20066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③ 儀式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600" y="22606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90秒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2514600"/>
            <a:ext cx="1524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手拍子・騒音計・ベル4方位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94400" y="2006600"/>
            <a:ext cx="10160" cy="9652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6800" y="20066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④ 本番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6800" y="22606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20〜30秒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6800" y="2514600"/>
            <a:ext cx="1524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無言。1通過＝1テイク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1600" y="2006600"/>
            <a:ext cx="10160" cy="9652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4000" y="20066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⑤ 直後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4000" y="22606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30秒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4000" y="2514600"/>
            <a:ext cx="1524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5秒数えてから声で記録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8800" y="2006600"/>
            <a:ext cx="10160" cy="9652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20066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⑥ 確認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2606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5分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514600"/>
            <a:ext cx="1524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その場で再生して品質確認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9000" y="30988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9000" y="3683000"/>
            <a:ext cx="4953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9000" y="3810000"/>
            <a:ext cx="495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③ 儀式の中身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90秒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000" y="4140200"/>
            <a:ext cx="25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7E6F98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8400" y="41402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手拍子を1回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8400" y="43688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録音と動画の時刻を合わせる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000" y="4648200"/>
            <a:ext cx="25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7E6F98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8400" y="46482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騒音計と並べて無言で60秒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8400" y="48768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何デシベルだったかの基準を取る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" y="5156200"/>
            <a:ext cx="25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7E6F98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8400" y="51562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E222C"/>
                </a:solidFill>
                <a:latin typeface="Meiryo"/>
                <a:ea typeface="メイリオ"/>
              </a:rPr>
              <a:t>ベルを前後左右から1打ずつ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8400" y="53848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マイクの正面と体の正面のズレを測る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48400" y="3683000"/>
            <a:ext cx="10160" cy="16510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04000" y="3683000"/>
            <a:ext cx="4699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4000" y="3810000"/>
            <a:ext cx="4699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帰宅後、その日のうちに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04000" y="42291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07200" y="4140200"/>
            <a:ext cx="4495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録音を学習データと同じ形式に変換する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04000" y="45593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07200" y="4470400"/>
            <a:ext cx="4495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1件ずつの10秒クリップに切り出す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04000" y="48895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07200" y="4800600"/>
            <a:ext cx="4495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紙の記録を表に打ち込む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04000" y="52197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07200" y="5130800"/>
            <a:ext cx="4495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検査スクリプトで形式ミスを機械的に見つける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9000" y="54864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9000" y="5613400"/>
            <a:ext cx="10414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E222C"/>
                </a:solidFill>
                <a:latin typeface="Meiryo"/>
                <a:ea typeface="メイリオ"/>
              </a:rPr>
              <a:t>この流れは9/1に手元で通し確認まで済ませてある。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機材が届いたその日から本番に入れる。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機 材 購 入 の 相 談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実環境で210回録るために、満たさなければならない条件が5つある。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9000" y="1879600"/>
            <a:ext cx="4572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2006600"/>
            <a:ext cx="457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購入をお願いしたい品目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000" y="24257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" y="23368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Zoom H3-VR（4方向マイク）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" y="2552700"/>
            <a:ext cx="4368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本体。右の条件を満たす唯一の機種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00" y="294005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2200" y="285115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騒音計（平均音量が出るもの）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200" y="3067050"/>
            <a:ext cx="4368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学内でお借りできれば購入は不要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000" y="34544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2200" y="33655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小物（ハーネス・変換金具ほか）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200" y="3581400"/>
            <a:ext cx="43688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自費でもまかなえる範囲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" y="4826000"/>
            <a:ext cx="457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※ 見積りは別紙でご用意しています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8200" y="1879600"/>
            <a:ext cx="10160" cy="34036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26200" y="1879600"/>
            <a:ext cx="48768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6200" y="2006600"/>
            <a:ext cx="4876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この機種を選んだ理由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ZOOMの現行10機種を確認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6200" y="24257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3368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上下を含む4方向で録れる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5527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ステレオでは高さの軸が無く、学習データと形式が合わない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26200" y="28321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7432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96kHz で録れる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9591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バックする車が出す40kHzの超音波を、同じ録音で拾うため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6200" y="32385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1496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音量の自動調整を切れる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3655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録音中に変わると、何デシベルだったかを計算できない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26200" y="36449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5560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身に着けて持ち歩ける重さ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7719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6か所を歩いて回る。公道では三脚を立てられない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26200" y="4051300"/>
            <a:ext cx="88900" cy="1778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962400"/>
            <a:ext cx="467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E222C"/>
                </a:solidFill>
                <a:latin typeface="Meiryo"/>
                <a:ea typeface="メイリオ"/>
              </a:rPr>
              <a:t>マイクが較正済み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178300"/>
            <a:ext cx="4673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自作だと、誤差がモデルのせいかマイクのせいか分からない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26200" y="4419600"/>
            <a:ext cx="48768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6200" y="4546600"/>
            <a:ext cx="487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4方向で8機種が外れ、残る1機種は576gで重い。</a:t>
            </a:r>
            <a:r>
              <a:rPr sz="1050" b="1">
                <a:solidFill>
                  <a:srgbClr val="1E222C"/>
                </a:solidFill>
                <a:latin typeface="Meiryo"/>
                <a:ea typeface="メイリオ"/>
              </a:rPr>
              <a:t>該当はH3-VRだけ。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