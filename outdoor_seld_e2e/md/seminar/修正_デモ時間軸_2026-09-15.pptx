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033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50">
                <a:solidFill>
                  <a:srgbClr val="222838"/>
                </a:solidFill>
                <a:latin typeface="Meiryo"/>
                <a:ea typeface="メイリオ"/>
              </a:rPr>
              <a:t>④　同 じ 場 面 で 、 鳴 る 車 と 鳴 ら な い 車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9000" y="1270000"/>
            <a:ext cx="10414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8A8F9A"/>
                </a:solidFill>
                <a:latin typeface="Meiryo"/>
                <a:ea typeface="メイリオ"/>
              </a:rPr>
              <a:t>助言どおりJoy-conとUnityで作り、9/2に実機で振動した。1本のクリップの中に、鳴る車と鳴らない車が両方入っている。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89000" y="170180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7600" y="1625600"/>
            <a:ext cx="127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使ったもの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3000" y="1625600"/>
            <a:ext cx="889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SwitchのJoy-con と Unity 6.6（ハンダごて不要・部品購入ゼロ）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1981200"/>
            <a:ext cx="762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1905000"/>
            <a:ext cx="127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1">
                <a:solidFill>
                  <a:srgbClr val="222838"/>
                </a:solidFill>
                <a:latin typeface="Meiryo"/>
                <a:ea typeface="メイリオ"/>
              </a:rPr>
              <a:t>伝え方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13000" y="1905000"/>
            <a:ext cx="8890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強＝4連打 ／ 中＝2発 ／ 警告音＝単発のパルス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463800"/>
            <a:ext cx="8331200" cy="1016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920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0s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944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5544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2s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568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2168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4s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192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8792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6s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0816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5416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8s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74400" y="2413000"/>
            <a:ext cx="10160" cy="63500"/>
          </a:xfrm>
          <a:prstGeom prst="rect">
            <a:avLst/>
          </a:prstGeom>
          <a:solidFill>
            <a:srgbClr val="8A8F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20400" y="2209800"/>
            <a:ext cx="508000" cy="177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850" b="0">
                <a:solidFill>
                  <a:srgbClr val="8A8F9A"/>
                </a:solidFill>
                <a:latin typeface="Meiryo"/>
                <a:ea typeface="メイリオ"/>
              </a:rPr>
              <a:t>10s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000" y="2743200"/>
            <a:ext cx="177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車①　正面から来る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" y="2971800"/>
            <a:ext cx="1778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横1.0m・30km/h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09824" y="2819400"/>
            <a:ext cx="1832864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26000" y="2717800"/>
            <a:ext cx="833120" cy="330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42432" y="2717800"/>
            <a:ext cx="2082800" cy="330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8544" y="2717800"/>
            <a:ext cx="25400" cy="330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1856" y="2819400"/>
            <a:ext cx="2999232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76800" y="2781300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eiryo"/>
                <a:ea typeface="メイリオ"/>
              </a:rPr>
              <a:t>注意（中）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93232" y="2781300"/>
            <a:ext cx="19812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Meiryo"/>
                <a:ea typeface="メイリオ"/>
              </a:rPr>
              <a:t>至近警告（強）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33030" y="2540000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79920" y="32512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222838"/>
                </a:solidFill>
                <a:latin typeface="Meiryo"/>
                <a:ea typeface="メイリオ"/>
              </a:rPr>
              <a:t>最接近 1.0m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000" y="4038600"/>
            <a:ext cx="17780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車②　後ろから追い越す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000" y="4267200"/>
            <a:ext cx="1778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横4.5m・40km/h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93136" y="4114800"/>
            <a:ext cx="4582160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58608" y="4013200"/>
            <a:ext cx="2332736" cy="3302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074656" y="4114800"/>
            <a:ext cx="916432" cy="177800"/>
          </a:xfrm>
          <a:prstGeom prst="rect">
            <a:avLst/>
          </a:prstGeom>
          <a:solidFill>
            <a:srgbClr val="E4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09408" y="4076700"/>
            <a:ext cx="2231136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1">
                <a:solidFill>
                  <a:srgbClr val="2E7D5B"/>
                </a:solidFill>
                <a:latin typeface="Meiryo"/>
                <a:ea typeface="メイリオ"/>
              </a:rPr>
              <a:t>抑制（鳴らさない）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815830" y="3835400"/>
            <a:ext cx="17780" cy="68580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2720" y="4546600"/>
            <a:ext cx="152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222838"/>
                </a:solidFill>
                <a:latin typeface="Meiryo"/>
                <a:ea typeface="メイリオ"/>
              </a:rPr>
              <a:t>最接近 4.5m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9000" y="2235200"/>
            <a:ext cx="1778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50" b="0">
                <a:solidFill>
                  <a:srgbClr val="8A8F9A"/>
                </a:solidFill>
                <a:latin typeface="Meiryo"/>
                <a:ea typeface="メイリオ"/>
              </a:rPr>
              <a:t>振動</a:t>
            </a:r>
          </a:p>
        </p:txBody>
      </p:sp>
      <p:sp>
        <p:nvSpPr>
          <p:cNvPr id="46" name="Isosceles Triangle 45"/>
          <p:cNvSpPr/>
          <p:nvPr/>
        </p:nvSpPr>
        <p:spPr>
          <a:xfrm>
            <a:off x="6012180" y="2260600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>
            <a:off x="7761732" y="2260600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Isosceles Triangle 47"/>
          <p:cNvSpPr/>
          <p:nvPr/>
        </p:nvSpPr>
        <p:spPr>
          <a:xfrm>
            <a:off x="7845044" y="2260600"/>
            <a:ext cx="127000" cy="127000"/>
          </a:xfrm>
          <a:prstGeom prst="triangl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37480" y="2032000"/>
            <a:ext cx="16764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950" b="1">
                <a:solidFill>
                  <a:srgbClr val="C0392B"/>
                </a:solidFill>
                <a:latin typeface="Meiryo"/>
                <a:ea typeface="メイリオ"/>
              </a:rPr>
              <a:t>4.0s に最初の振動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75680" y="3657600"/>
            <a:ext cx="1666240" cy="177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75680" y="3454400"/>
            <a:ext cx="166624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000" b="1">
                <a:solidFill>
                  <a:srgbClr val="C0392B"/>
                </a:solidFill>
                <a:latin typeface="Meiryo"/>
                <a:ea typeface="メイリオ"/>
              </a:rPr>
              <a:t>最接近の 2.0 秒前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9000" y="5054600"/>
            <a:ext cx="5080000" cy="711200"/>
          </a:xfrm>
          <a:prstGeom prst="rect">
            <a:avLst/>
          </a:prstGeom>
          <a:solidFill>
            <a:srgbClr val="FD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89000" y="5054600"/>
            <a:ext cx="50800" cy="7112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7600" y="5156200"/>
            <a:ext cx="46990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車①：正面から来る車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方位が変わらないまま近づくので、最接近の2秒前に強く鳴る。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23000" y="5054600"/>
            <a:ext cx="5080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51600" y="5156200"/>
            <a:ext cx="46990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22838"/>
                </a:solidFill>
                <a:latin typeface="Meiryo"/>
                <a:ea typeface="メイリオ"/>
              </a:rPr>
              <a:t>車②：後ろから追い越す車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595F6E"/>
                </a:solidFill>
                <a:latin typeface="Meiryo"/>
                <a:ea typeface="メイリオ"/>
              </a:rPr>
              <a:t>横4.5mを通り過ぎるだけなので、一度も鳴らない。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9000" y="5867400"/>
            <a:ext cx="10414000" cy="203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900" b="0">
                <a:solidFill>
                  <a:srgbClr val="8A8F9A"/>
                </a:solidFill>
                <a:latin typeface="Meiryo"/>
                <a:ea typeface="メイリオ"/>
              </a:rPr>
              <a:t>※ このクリップは正解の軌跡を入力にした動作確認（オラクル）。モデル出力ではない。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6600" y="6426200"/>
            <a:ext cx="1397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2026/09/15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9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近況報告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3942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研究の前提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610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振り返り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754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実録の計画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422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相談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51800" y="6375400"/>
            <a:ext cx="6604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8100" rIns="38100" tIns="0" bIns="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まとめ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