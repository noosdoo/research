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85800" y="1219200"/>
            <a:ext cx="10820400" cy="0"/>
          </a:xfrm>
          <a:prstGeom prst="line">
            <a:avLst/>
          </a:prstGeom>
          <a:ln w="1905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508000"/>
            <a:ext cx="8890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游ゴシック"/>
                <a:ea typeface="游ゴシック"/>
              </a:rPr>
              <a:t>提案手法 ― ２層の仕組み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22400"/>
            <a:ext cx="57404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游ゴシック"/>
                <a:ea typeface="游ゴシック"/>
              </a:rPr>
              <a:t>知覚層(SELD＋SDE)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8クラスの検出・方向・距離を0.1秒ごとに推定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09800"/>
            <a:ext cx="574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A4658"/>
                </a:solidFill>
                <a:latin typeface="游ゴシック"/>
                <a:ea typeface="游ゴシック"/>
              </a:rPr>
              <a:t>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38400"/>
            <a:ext cx="5740400" cy="2235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游ゴシック"/>
                <a:ea typeface="游ゴシック"/>
              </a:rPr>
              <a:t>通知層(3役割) ― 最接近の予測で出し分け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C4432B"/>
                </a:solidFill>
                <a:latin typeface="游ゴシック"/>
                <a:ea typeface="游ゴシック"/>
              </a:rPr>
              <a:t>近距離</a:t>
            </a: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：このまま進むと約1m以内・2.5秒以内に到達 … </a:t>
            </a:r>
            <a:r>
              <a:rPr sz="1250" b="1">
                <a:solidFill>
                  <a:srgbClr val="3A4658"/>
                </a:solidFill>
                <a:latin typeface="游ゴシック"/>
                <a:ea typeface="游ゴシック"/>
              </a:rPr>
              <a:t>4フレーム連続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B37E00"/>
                </a:solidFill>
                <a:latin typeface="游ゴシック"/>
                <a:ea typeface="游ゴシック"/>
              </a:rPr>
              <a:t>中距離</a:t>
            </a: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：約2m以内・4秒以内 … </a:t>
            </a:r>
            <a:r>
              <a:rPr sz="1250" b="1">
                <a:solidFill>
                  <a:srgbClr val="3A4658"/>
                </a:solidFill>
                <a:latin typeface="游ゴシック"/>
                <a:ea typeface="游ゴシック"/>
              </a:rPr>
              <a:t>4フレーム連続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2F7D6D"/>
                </a:solidFill>
                <a:latin typeface="游ゴシック"/>
                <a:ea typeface="游ゴシック"/>
              </a:rPr>
              <a:t>遠距離</a:t>
            </a: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：横を通り過ぎるだけの対象は鳴らさない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※ 既に1.5m/3.2m以内なら距離だけでも鳴らす(保険・2フレーム連続)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対象は</a:t>
            </a:r>
            <a:r>
              <a:rPr sz="1150" b="1">
                <a:solidFill>
                  <a:srgbClr val="66707F"/>
                </a:solidFill>
                <a:latin typeface="游ゴシック"/>
                <a:ea typeface="游ゴシック"/>
              </a:rPr>
              <a:t>車・キックボード・バイク</a:t>
            </a: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。サイレン等5クラスは距離を使わず検出したら通知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24400"/>
            <a:ext cx="574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A4658"/>
                </a:solidFill>
                <a:latin typeface="游ゴシック"/>
                <a:ea typeface="游ゴシック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953000"/>
            <a:ext cx="5740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游ゴシック"/>
                <a:ea typeface="游ゴシック"/>
              </a:rPr>
              <a:t>首元振動デバイス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方向 × 振動でユーザに伝える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16600"/>
            <a:ext cx="574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6233A"/>
                </a:solidFill>
                <a:latin typeface="游ゴシック"/>
                <a:ea typeface="游ゴシック"/>
              </a:rPr>
              <a:t>全部鳴らすと使えない → 通知の頻度そのものを設計対象に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0200" y="1422400"/>
            <a:ext cx="4826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0200" y="1549400"/>
            <a:ext cx="482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16233A"/>
                </a:solidFill>
                <a:latin typeface="游ゴシック"/>
                <a:ea typeface="游ゴシック"/>
              </a:rPr>
              <a:t>同じ「近づいてくる」でも、鳴らすべき相手は片方だけ</a:t>
            </a:r>
          </a:p>
        </p:txBody>
      </p:sp>
      <p:sp>
        <p:nvSpPr>
          <p:cNvPr id="12" name="Oval 11"/>
          <p:cNvSpPr/>
          <p:nvPr/>
        </p:nvSpPr>
        <p:spPr>
          <a:xfrm>
            <a:off x="6883400" y="3479800"/>
            <a:ext cx="1168400" cy="1168400"/>
          </a:xfrm>
          <a:prstGeom prst="ellipse">
            <a:avLst/>
          </a:prstGeom>
          <a:noFill/>
          <a:ln w="12700">
            <a:solidFill>
              <a:srgbClr val="BFC6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88200" y="3784600"/>
            <a:ext cx="558800" cy="558800"/>
          </a:xfrm>
          <a:prstGeom prst="ellipse">
            <a:avLst/>
          </a:prstGeom>
          <a:noFill/>
          <a:ln w="12700">
            <a:solidFill>
              <a:srgbClr val="BFC6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7035800" y="2413000"/>
            <a:ext cx="4191000" cy="0"/>
          </a:xfrm>
          <a:prstGeom prst="line">
            <a:avLst/>
          </a:prstGeom>
          <a:ln w="31750">
            <a:solidFill>
              <a:srgbClr val="2F7D6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67600" y="2413000"/>
            <a:ext cx="3530600" cy="1651000"/>
          </a:xfrm>
          <a:prstGeom prst="line">
            <a:avLst/>
          </a:prstGeom>
          <a:ln w="12700">
            <a:solidFill>
              <a:srgbClr val="BFC6C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34700" y="2349500"/>
            <a:ext cx="127000" cy="1270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7467600" y="2413000"/>
            <a:ext cx="1117600" cy="1651000"/>
          </a:xfrm>
          <a:prstGeom prst="line">
            <a:avLst/>
          </a:prstGeom>
          <a:ln w="12700">
            <a:solidFill>
              <a:srgbClr val="BFC6C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21700" y="2349500"/>
            <a:ext cx="127000" cy="1270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2600" y="2032000"/>
            <a:ext cx="449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2F7D6D"/>
                </a:solidFill>
                <a:latin typeface="游ゴシック"/>
                <a:ea typeface="游ゴシック"/>
              </a:rPr>
              <a:t>横を通り過ぎる → 鳴らさない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1200" y="256540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2F7D6D"/>
                </a:solidFill>
                <a:latin typeface="游ゴシック"/>
                <a:ea typeface="游ゴシック"/>
              </a:rPr>
              <a:t>方位が横に流れる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467600" y="2413000"/>
            <a:ext cx="0" cy="1066800"/>
          </a:xfrm>
          <a:prstGeom prst="line">
            <a:avLst/>
          </a:prstGeom>
          <a:ln w="12700">
            <a:solidFill>
              <a:srgbClr val="667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48400" y="2832100"/>
            <a:ext cx="111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游ゴシック"/>
                <a:ea typeface="游ゴシック"/>
              </a:rPr>
              <a:t>最接近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178800" y="4064000"/>
            <a:ext cx="3048000" cy="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934700" y="4000500"/>
            <a:ext cx="127000" cy="1270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78900" y="4000500"/>
            <a:ext cx="127000" cy="1270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2600" y="3657600"/>
            <a:ext cx="449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C4432B"/>
                </a:solidFill>
                <a:latin typeface="游ゴシック"/>
                <a:ea typeface="游ゴシック"/>
              </a:rPr>
              <a:t>正面に来る → 至近警告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2600" y="4241800"/>
            <a:ext cx="449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C4432B"/>
                </a:solidFill>
                <a:latin typeface="游ゴシック"/>
                <a:ea typeface="游ゴシック"/>
              </a:rPr>
              <a:t>方位が変わらないまま近づく</a:t>
            </a:r>
          </a:p>
        </p:txBody>
      </p:sp>
      <p:sp>
        <p:nvSpPr>
          <p:cNvPr id="28" name="Oval 27"/>
          <p:cNvSpPr/>
          <p:nvPr/>
        </p:nvSpPr>
        <p:spPr>
          <a:xfrm>
            <a:off x="7378700" y="3975100"/>
            <a:ext cx="177800" cy="1778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2600" y="4724400"/>
            <a:ext cx="127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A4658"/>
                </a:solidFill>
                <a:latin typeface="游ゴシック"/>
                <a:ea typeface="游ゴシック"/>
              </a:rPr>
              <a:t>歩行者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800" y="4978400"/>
            <a:ext cx="462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游ゴシック"/>
                <a:ea typeface="游ゴシック"/>
              </a:rPr>
              <a:t>点線の円＝保険として残した距離しきい値(1.5m / 3.2m)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0200" y="5334000"/>
            <a:ext cx="482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A4658"/>
                </a:solidFill>
                <a:latin typeface="游ゴシック"/>
                <a:ea typeface="游ゴシック"/>
              </a:rPr>
              <a:t>船の見張りと同じ原理 ― 方位が変わらず近づく相手が危ない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0200" y="5562600"/>
            <a:ext cx="482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游ゴシック"/>
                <a:ea typeface="游ゴシック"/>
              </a:rPr>
              <a:t>※「変わらない」の許容幅は固定値ではなく距離と速さで決まる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0200" y="5740400"/>
            <a:ext cx="482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游ゴシック"/>
                <a:ea typeface="游ゴシック"/>
              </a:rPr>
              <a:t>（時速50kmの車なら 20m先で毎秒2度以内 / 10m先で毎秒8度以内）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