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④　触 覚 デ モ を 動 か し 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2700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助言どおり Joy-con と Unity で作り、9/2に実機で振動しました。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000" y="16256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9000" y="1625600"/>
            <a:ext cx="5080000" cy="4445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2200" y="1803400"/>
            <a:ext cx="46736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実機で振動した</a:t>
            </a:r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　9/2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7600" y="226060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0800" y="2171700"/>
            <a:ext cx="4445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使ったもの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0800" y="2400300"/>
            <a:ext cx="4445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SwitchのJoy-con と Unity 6.6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ハンダごて不要・部品の購入ゼロ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7600" y="292100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0800" y="2832100"/>
            <a:ext cx="4445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鳴らす中身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0800" y="3060700"/>
            <a:ext cx="4445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自作の場面28本＋評価用データ4本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通知はすべて本物のモデル出力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7600" y="3581400"/>
            <a:ext cx="76200" cy="76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0800" y="3492500"/>
            <a:ext cx="4445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動かし方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0800" y="3721100"/>
            <a:ext cx="4445000" cy="43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←→で場面を切り替え、Space で再生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画面には俯瞰の街と判定が出る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3000" y="1625600"/>
            <a:ext cx="5080000" cy="246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3000" y="1625600"/>
            <a:ext cx="5080000" cy="4445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6200" y="1803400"/>
            <a:ext cx="46736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3つの震え方</a:t>
            </a:r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　実際の長さと間隔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1600" y="2565400"/>
            <a:ext cx="33274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6200" y="2235200"/>
            <a:ext cx="1219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C0392B"/>
                </a:solidFill>
                <a:latin typeface="Meiryo"/>
                <a:ea typeface="メイリオ"/>
              </a:rPr>
              <a:t>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6200" y="2451100"/>
            <a:ext cx="12192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至近警告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21600" y="2260600"/>
            <a:ext cx="474980" cy="304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98840" y="2260600"/>
            <a:ext cx="474980" cy="304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76080" y="2260600"/>
            <a:ext cx="474980" cy="304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3320" y="2260600"/>
            <a:ext cx="474980" cy="304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34600" y="2286000"/>
            <a:ext cx="9652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短く強く4回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1600" y="3200400"/>
            <a:ext cx="33274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6200" y="2870200"/>
            <a:ext cx="1219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E0A526"/>
                </a:solidFill>
                <a:latin typeface="Meiryo"/>
                <a:ea typeface="メイリオ"/>
              </a:rPr>
              <a:t>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6200" y="3086100"/>
            <a:ext cx="12192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注意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1600" y="3048000"/>
            <a:ext cx="388620" cy="152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405620" y="3048000"/>
            <a:ext cx="388620" cy="152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34600" y="2921000"/>
            <a:ext cx="9652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弱く2回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1600" y="3835400"/>
            <a:ext cx="33274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6200" y="3505200"/>
            <a:ext cx="1219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2E7D5B"/>
                </a:solidFill>
                <a:latin typeface="Meiryo"/>
                <a:ea typeface="メイリオ"/>
              </a:rPr>
              <a:t>警告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6200" y="3721100"/>
            <a:ext cx="12192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サイレン等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21600" y="3657600"/>
            <a:ext cx="1295400" cy="1778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34600" y="3556000"/>
            <a:ext cx="9652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長めに1回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3708400"/>
            <a:ext cx="46736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回数で危険度を、長さで種類を</a:t>
            </a: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表しています。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9000" y="4241800"/>
            <a:ext cx="10414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89000" y="4241800"/>
            <a:ext cx="10414000" cy="4445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2200" y="4419600"/>
            <a:ext cx="100076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222838"/>
                </a:solidFill>
                <a:latin typeface="Meiryo"/>
                <a:ea typeface="メイリオ"/>
              </a:rPr>
              <a:t>この先に作る首元デバイス</a:t>
            </a:r>
            <a:r>
              <a:rPr sz="1000" b="0">
                <a:solidFill>
                  <a:srgbClr val="8A8F9A"/>
                </a:solidFill>
                <a:latin typeface="Meiryo"/>
                <a:ea typeface="メイリオ"/>
              </a:rPr>
              <a:t>　構想・未実装</a:t>
            </a:r>
          </a:p>
        </p:txBody>
      </p:sp>
      <p:sp>
        <p:nvSpPr>
          <p:cNvPr id="45" name="Oval 44"/>
          <p:cNvSpPr/>
          <p:nvPr/>
        </p:nvSpPr>
        <p:spPr>
          <a:xfrm>
            <a:off x="2006600" y="4724400"/>
            <a:ext cx="1879600" cy="762000"/>
          </a:xfrm>
          <a:prstGeom prst="ellipse">
            <a:avLst/>
          </a:prstGeom>
          <a:noFill/>
          <a:ln w="88900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489200" y="4902200"/>
            <a:ext cx="914400" cy="406400"/>
          </a:xfrm>
          <a:prstGeom prst="ellipse">
            <a:avLst/>
          </a:prstGeom>
          <a:solidFill>
            <a:srgbClr val="E9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89200" y="5003800"/>
            <a:ext cx="9144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0">
                <a:solidFill>
                  <a:srgbClr val="595F6E"/>
                </a:solidFill>
                <a:latin typeface="Meiryo"/>
                <a:ea typeface="メイリオ"/>
              </a:rPr>
              <a:t>首</a:t>
            </a:r>
          </a:p>
        </p:txBody>
      </p:sp>
      <p:sp>
        <p:nvSpPr>
          <p:cNvPr id="48" name="Oval 47"/>
          <p:cNvSpPr/>
          <p:nvPr/>
        </p:nvSpPr>
        <p:spPr>
          <a:xfrm>
            <a:off x="1981200" y="5130800"/>
            <a:ext cx="152400" cy="152400"/>
          </a:xfrm>
          <a:prstGeom prst="ellipse">
            <a:avLst/>
          </a:prstGeom>
          <a:solidFill>
            <a:srgbClr val="E8E8E8"/>
          </a:solidFill>
          <a:ln w="10160">
            <a:solidFill>
              <a:srgbClr val="8A8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286000" y="5359400"/>
            <a:ext cx="152400" cy="152400"/>
          </a:xfrm>
          <a:prstGeom prst="ellipse">
            <a:avLst/>
          </a:prstGeom>
          <a:solidFill>
            <a:srgbClr val="E8E8E8"/>
          </a:solidFill>
          <a:ln w="10160">
            <a:solidFill>
              <a:srgbClr val="8A8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70200" y="5435600"/>
            <a:ext cx="152400" cy="152400"/>
          </a:xfrm>
          <a:prstGeom prst="ellipse">
            <a:avLst/>
          </a:prstGeom>
          <a:solidFill>
            <a:srgbClr val="E8E8E8"/>
          </a:solidFill>
          <a:ln w="10160">
            <a:solidFill>
              <a:srgbClr val="8A8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454400" y="5359400"/>
            <a:ext cx="152400" cy="152400"/>
          </a:xfrm>
          <a:prstGeom prst="ellipse">
            <a:avLst/>
          </a:prstGeom>
          <a:solidFill>
            <a:srgbClr val="E0A526"/>
          </a:solidFill>
          <a:ln w="2032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759200" y="5130800"/>
            <a:ext cx="152400" cy="152400"/>
          </a:xfrm>
          <a:prstGeom prst="ellipse">
            <a:avLst/>
          </a:prstGeom>
          <a:solidFill>
            <a:srgbClr val="E8E8E8"/>
          </a:solidFill>
          <a:ln w="10160">
            <a:solidFill>
              <a:srgbClr val="8A8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03400" y="4445000"/>
            <a:ext cx="2286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歩く向き（前）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49400" y="5613400"/>
            <a:ext cx="2794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0">
                <a:solidFill>
                  <a:srgbClr val="595F6E"/>
                </a:solidFill>
                <a:latin typeface="Meiryo"/>
                <a:ea typeface="メイリオ"/>
              </a:rPr>
              <a:t>振動子5個＋4chマイクを同じバンドに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80000" y="4902200"/>
            <a:ext cx="6096000" cy="711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鳴っている位置で方向を、鳴り方で危険度を伝えます。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マイクと振動子を同じバンドに載せるので、「マイクから見た右」と「体から見た右」が一致します。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