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44700" y="4127500"/>
            <a:ext cx="85471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47900" y="4229100"/>
            <a:ext cx="2540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222838"/>
                </a:solidFill>
                <a:latin typeface="Meiryo"/>
                <a:ea typeface="メイリオ"/>
              </a:rPr>
              <a:t>記録方法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1800" y="4229100"/>
            <a:ext cx="36068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800" b="0">
                <a:solidFill>
                  <a:srgbClr val="595F6E"/>
                </a:solidFill>
                <a:latin typeface="Meiryo"/>
                <a:ea typeface="メイリオ"/>
              </a:rPr>
              <a:t>速度：徐行〜約30km/h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2500" y="4610100"/>
            <a:ext cx="8191500" cy="685800"/>
          </a:xfrm>
          <a:prstGeom prst="rect">
            <a:avLst/>
          </a:prstGeom>
          <a:solidFill>
            <a:srgbClr val="C2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22500" y="5295900"/>
            <a:ext cx="8191500" cy="76200"/>
          </a:xfrm>
          <a:prstGeom prst="rect">
            <a:avLst/>
          </a:prstGeom>
          <a:solidFill>
            <a:srgbClr val="97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22500" y="5372100"/>
            <a:ext cx="8191500" cy="5334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49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591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433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75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17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959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801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643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27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69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011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53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9500" y="4927600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22500" y="4686300"/>
            <a:ext cx="81915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22500" y="5181600"/>
            <a:ext cx="81915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24100" y="5473700"/>
            <a:ext cx="1143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595F6E"/>
                </a:solidFill>
                <a:latin typeface="Meiryo"/>
                <a:ea typeface="メイリオ"/>
              </a:rPr>
              <a:t>歩道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67100" y="4737100"/>
            <a:ext cx="965200" cy="431800"/>
          </a:xfrm>
          <a:prstGeom prst="round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7100" y="4775200"/>
            <a:ext cx="9652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533900" y="4838700"/>
            <a:ext cx="406400" cy="228600"/>
          </a:xfrm>
          <a:prstGeom prst="rightArrow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8100" y="5600700"/>
            <a:ext cx="203200" cy="2032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59200" y="5511800"/>
            <a:ext cx="381000" cy="381000"/>
          </a:xfrm>
          <a:prstGeom prst="ellipse">
            <a:avLst/>
          </a:prstGeom>
          <a:noFill/>
          <a:ln w="254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949700" y="5219700"/>
            <a:ext cx="0" cy="254000"/>
          </a:xfrm>
          <a:prstGeom prst="line">
            <a:avLst/>
          </a:prstGeom>
          <a:ln w="2286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79900" y="5245100"/>
            <a:ext cx="6210300" cy="711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0392B"/>
                </a:solidFill>
                <a:latin typeface="Meiryo"/>
                <a:ea typeface="メイリオ"/>
              </a:rPr>
              <a:t>横距離 2.0〜3.2m</a:t>
            </a:r>
            <a:r>
              <a:rPr sz="1800" b="0">
                <a:solidFill>
                  <a:srgbClr val="595F6E"/>
                </a:solidFill>
                <a:latin typeface="Meiryo"/>
                <a:ea typeface="メイリオ"/>
              </a:rPr>
              <a:t> ＝ 鳴るべき車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595F6E"/>
                </a:solidFill>
                <a:latin typeface="Meiryo"/>
                <a:ea typeface="メイリオ"/>
              </a:rPr>
              <a:t>　　　　 5〜15m</a:t>
            </a:r>
            <a:r>
              <a:rPr sz="1800" b="0">
                <a:solidFill>
                  <a:srgbClr val="595F6E"/>
                </a:solidFill>
                <a:latin typeface="Meiryo"/>
                <a:ea typeface="メイリオ"/>
              </a:rPr>
              <a:t> ＝ 鳴ってはいけない車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900" y="5651500"/>
            <a:ext cx="3810000" cy="33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222838"/>
                </a:solidFill>
                <a:latin typeface="Meiryo"/>
                <a:ea typeface="メイリオ"/>
              </a:rPr>
              <a:t>装着者（胸部に4chマイク）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600" y="6426200"/>
            <a:ext cx="1397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0" y="6426200"/>
            <a:ext cx="508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800" b="0">
                <a:solidFill>
                  <a:srgbClr val="8A8F9A"/>
                </a:solidFill>
                <a:latin typeface="Meiryo"/>
                <a:ea typeface="メイリオ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