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58800" y="177800"/>
            <a:ext cx="17780" cy="65024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6600" y="584200"/>
            <a:ext cx="381000" cy="762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44600" y="381000"/>
            <a:ext cx="10160000" cy="508000"/>
          </a:xfrm>
          <a:prstGeom prst="rect">
            <a:avLst/>
          </a:prstGeom>
          <a:noFill/>
        </p:spPr>
        <p:txBody>
          <a:bodyPr wrap="square" anchor="t" lIns="25400" rIns="25400" tIns="12700" bIns="12700">
            <a:spAutoFit/>
          </a:bodyPr>
          <a:lstStyle/>
          <a:p>
            <a:pPr algn="l"/>
            <a:r>
              <a:rPr sz="2200" b="1" spc="250">
                <a:solidFill>
                  <a:srgbClr val="222838"/>
                </a:solidFill>
                <a:latin typeface="Meiryo"/>
                <a:ea typeface="メイリオ"/>
              </a:rPr>
              <a:t>9/15 相談会でお願いしたいこと</a:t>
            </a:r>
          </a:p>
        </p:txBody>
      </p:sp>
      <p:sp>
        <p:nvSpPr>
          <p:cNvPr id="5" name="Rectangle 4"/>
          <p:cNvSpPr/>
          <p:nvPr/>
        </p:nvSpPr>
        <p:spPr>
          <a:xfrm>
            <a:off x="558800" y="1143000"/>
            <a:ext cx="11049000" cy="15240"/>
          </a:xfrm>
          <a:prstGeom prst="rect">
            <a:avLst/>
          </a:prstGeom>
          <a:solidFill>
            <a:srgbClr val="2228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6600" y="6426200"/>
            <a:ext cx="1397000" cy="254000"/>
          </a:xfrm>
          <a:prstGeom prst="rect">
            <a:avLst/>
          </a:prstGeom>
          <a:noFill/>
        </p:spPr>
        <p:txBody>
          <a:bodyPr wrap="square" anchor="t" lIns="25400" rIns="25400" tIns="12700" bIns="12700">
            <a:spAutoFit/>
          </a:bodyPr>
          <a:lstStyle/>
          <a:p>
            <a:pPr algn="l"/>
            <a:r>
              <a:rPr sz="1100" b="0">
                <a:solidFill>
                  <a:srgbClr val="8A8F9A"/>
                </a:solidFill>
                <a:latin typeface="Meiryo"/>
                <a:ea typeface="メイリオ"/>
              </a:rPr>
              <a:t>2026/09/15</a:t>
            </a:r>
          </a:p>
        </p:txBody>
      </p:sp>
      <p:sp>
        <p:nvSpPr>
          <p:cNvPr id="7" name="Rectangle 6"/>
          <p:cNvSpPr/>
          <p:nvPr/>
        </p:nvSpPr>
        <p:spPr>
          <a:xfrm>
            <a:off x="3784600" y="6375400"/>
            <a:ext cx="11176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050" b="0">
                <a:solidFill>
                  <a:srgbClr val="8A8F9A"/>
                </a:solidFill>
                <a:latin typeface="Meiryo"/>
                <a:ea typeface="メイリオ"/>
              </a:rPr>
              <a:t>① 機材購入</a:t>
            </a:r>
          </a:p>
        </p:txBody>
      </p:sp>
      <p:sp>
        <p:nvSpPr>
          <p:cNvPr id="8" name="Rectangle 7"/>
          <p:cNvSpPr/>
          <p:nvPr/>
        </p:nvSpPr>
        <p:spPr>
          <a:xfrm>
            <a:off x="5003800" y="6375400"/>
            <a:ext cx="11176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050" b="0">
                <a:solidFill>
                  <a:srgbClr val="8A8F9A"/>
                </a:solidFill>
                <a:latin typeface="Meiryo"/>
                <a:ea typeface="メイリオ"/>
              </a:rPr>
              <a:t>② 規程照会</a:t>
            </a:r>
          </a:p>
        </p:txBody>
      </p:sp>
      <p:sp>
        <p:nvSpPr>
          <p:cNvPr id="9" name="Rectangle 8"/>
          <p:cNvSpPr/>
          <p:nvPr/>
        </p:nvSpPr>
        <p:spPr>
          <a:xfrm>
            <a:off x="6223000" y="6375400"/>
            <a:ext cx="9652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050" b="0">
                <a:solidFill>
                  <a:srgbClr val="8A8F9A"/>
                </a:solidFill>
                <a:latin typeface="Meiryo"/>
                <a:ea typeface="メイリオ"/>
              </a:rPr>
              <a:t>③ 騒音計</a:t>
            </a:r>
          </a:p>
        </p:txBody>
      </p:sp>
      <p:sp>
        <p:nvSpPr>
          <p:cNvPr id="10" name="Rectangle 9"/>
          <p:cNvSpPr/>
          <p:nvPr/>
        </p:nvSpPr>
        <p:spPr>
          <a:xfrm>
            <a:off x="7289800" y="6375400"/>
            <a:ext cx="11176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050" b="0">
                <a:solidFill>
                  <a:srgbClr val="8A8F9A"/>
                </a:solidFill>
                <a:latin typeface="Meiryo"/>
                <a:ea typeface="メイリオ"/>
              </a:rPr>
              <a:t>④ 提出期限</a:t>
            </a:r>
          </a:p>
        </p:txBody>
      </p:sp>
      <p:sp>
        <p:nvSpPr>
          <p:cNvPr id="11" name="TextBox 10"/>
          <p:cNvSpPr txBox="1"/>
          <p:nvPr/>
        </p:nvSpPr>
        <p:spPr>
          <a:xfrm>
            <a:off x="11049000" y="6426200"/>
            <a:ext cx="508000" cy="254000"/>
          </a:xfrm>
          <a:prstGeom prst="rect">
            <a:avLst/>
          </a:prstGeom>
          <a:noFill/>
        </p:spPr>
        <p:txBody>
          <a:bodyPr wrap="square" anchor="t" lIns="25400" rIns="25400" tIns="12700" bIns="12700">
            <a:spAutoFit/>
          </a:bodyPr>
          <a:lstStyle/>
          <a:p>
            <a:pPr algn="r"/>
            <a:r>
              <a:rPr sz="1100" b="0">
                <a:solidFill>
                  <a:srgbClr val="8A8F9A"/>
                </a:solidFill>
                <a:latin typeface="Meiryo"/>
                <a:ea typeface="メイリオ"/>
              </a:rPr>
              <a:t>1</a:t>
            </a:r>
          </a:p>
        </p:txBody>
      </p:sp>
      <p:sp>
        <p:nvSpPr>
          <p:cNvPr id="12" name="TextBox 11"/>
          <p:cNvSpPr txBox="1"/>
          <p:nvPr/>
        </p:nvSpPr>
        <p:spPr>
          <a:xfrm>
            <a:off x="889000" y="1270000"/>
            <a:ext cx="10414000" cy="254000"/>
          </a:xfrm>
          <a:prstGeom prst="rect">
            <a:avLst/>
          </a:prstGeom>
          <a:noFill/>
        </p:spPr>
        <p:txBody>
          <a:bodyPr wrap="square" anchor="t" lIns="25400" rIns="25400" tIns="12700" bIns="12700">
            <a:spAutoFit/>
          </a:bodyPr>
          <a:lstStyle/>
          <a:p>
            <a:pPr algn="l"/>
            <a:r>
              <a:rPr sz="1200" b="0">
                <a:solidFill>
                  <a:srgbClr val="8A8F9A"/>
                </a:solidFill>
                <a:latin typeface="Meiryo"/>
                <a:ea typeface="メイリオ"/>
              </a:rPr>
              <a:t>テーマの変更はありません。今日は下の4件をまとめてご相談させてください。</a:t>
            </a:r>
          </a:p>
        </p:txBody>
      </p:sp>
      <p:sp>
        <p:nvSpPr>
          <p:cNvPr id="13" name="Rectangle 12"/>
          <p:cNvSpPr/>
          <p:nvPr/>
        </p:nvSpPr>
        <p:spPr>
          <a:xfrm>
            <a:off x="889000" y="1625600"/>
            <a:ext cx="10414000" cy="1168400"/>
          </a:xfrm>
          <a:prstGeom prst="rect">
            <a:avLst/>
          </a:prstGeom>
          <a:solidFill>
            <a:srgbClr val="F5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89000" y="1625600"/>
            <a:ext cx="50800" cy="11684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68400" y="1778000"/>
            <a:ext cx="9906000" cy="914400"/>
          </a:xfrm>
          <a:prstGeom prst="rect">
            <a:avLst/>
          </a:prstGeom>
          <a:noFill/>
        </p:spPr>
        <p:txBody>
          <a:bodyPr wrap="square" anchor="t" lIns="25400" rIns="25400" tIns="12700" bIns="12700">
            <a:spAutoFit/>
          </a:bodyPr>
          <a:lstStyle/>
          <a:p>
            <a:pPr algn="l">
              <a:lnSpc>
                <a:spcPct val="145000"/>
              </a:lnSpc>
            </a:pPr>
            <a:r>
              <a:rPr sz="1400" b="0">
                <a:solidFill>
                  <a:srgbClr val="222838"/>
                </a:solidFill>
                <a:latin typeface="Meiryo"/>
                <a:ea typeface="メイリオ"/>
              </a:rPr>
              <a:t>卒業研究の実環境評価として、9月末〜11月に屋外での録音を</a:t>
            </a:r>
            <a:r>
              <a:rPr sz="1400" b="1">
                <a:solidFill>
                  <a:srgbClr val="C0392B"/>
                </a:solidFill>
                <a:latin typeface="Meiryo"/>
                <a:ea typeface="メイリオ"/>
              </a:rPr>
              <a:t>計210回</a:t>
            </a:r>
            <a:r>
              <a:rPr sz="1400" b="0">
                <a:solidFill>
                  <a:srgbClr val="222838"/>
                </a:solidFill>
                <a:latin typeface="Meiryo"/>
                <a:ea typeface="メイリオ"/>
              </a:rPr>
              <a:t>行います。</a:t>
            </a:r>
          </a:p>
          <a:p>
            <a:pPr algn="l">
              <a:lnSpc>
                <a:spcPct val="145000"/>
              </a:lnSpc>
            </a:pPr>
            <a:r>
              <a:rPr sz="1400" b="0">
                <a:solidFill>
                  <a:srgbClr val="222838"/>
                </a:solidFill>
                <a:latin typeface="Meiryo"/>
                <a:ea typeface="メイリオ"/>
              </a:rPr>
              <a:t>そこで使う4方向マイク（Zoom H3-VR・約2.6万円）を、</a:t>
            </a:r>
            <a:r>
              <a:rPr sz="1400" b="1">
                <a:solidFill>
                  <a:srgbClr val="C0392B"/>
                </a:solidFill>
                <a:latin typeface="Meiryo"/>
                <a:ea typeface="メイリオ"/>
              </a:rPr>
              <a:t>レンタルではなく研究費での購入</a:t>
            </a:r>
            <a:r>
              <a:rPr sz="1400" b="0">
                <a:solidFill>
                  <a:srgbClr val="222838"/>
                </a:solidFill>
                <a:latin typeface="Meiryo"/>
                <a:ea typeface="メイリオ"/>
              </a:rPr>
              <a:t>としてお願いできないでしょうか。</a:t>
            </a:r>
          </a:p>
        </p:txBody>
      </p:sp>
      <p:sp>
        <p:nvSpPr>
          <p:cNvPr id="16" name="Rectangle 15"/>
          <p:cNvSpPr/>
          <p:nvPr/>
        </p:nvSpPr>
        <p:spPr>
          <a:xfrm>
            <a:off x="889000" y="2971800"/>
            <a:ext cx="2463800" cy="21590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89000" y="2971800"/>
            <a:ext cx="2463800" cy="4445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66800" y="3200400"/>
            <a:ext cx="330200" cy="330200"/>
          </a:xfrm>
          <a:prstGeom prst="ellipse">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300" b="1">
                <a:solidFill>
                  <a:srgbClr val="FFFFFF"/>
                </a:solidFill>
                <a:latin typeface="Meiryo"/>
                <a:ea typeface="メイリオ"/>
              </a:rPr>
              <a:t>①</a:t>
            </a:r>
          </a:p>
        </p:txBody>
      </p:sp>
      <p:sp>
        <p:nvSpPr>
          <p:cNvPr id="19" name="TextBox 18"/>
          <p:cNvSpPr txBox="1"/>
          <p:nvPr/>
        </p:nvSpPr>
        <p:spPr>
          <a:xfrm>
            <a:off x="1498600" y="3200400"/>
            <a:ext cx="1701800" cy="431800"/>
          </a:xfrm>
          <a:prstGeom prst="rect">
            <a:avLst/>
          </a:prstGeom>
          <a:noFill/>
        </p:spPr>
        <p:txBody>
          <a:bodyPr wrap="square" anchor="t" lIns="25400" rIns="25400" tIns="12700" bIns="12700">
            <a:spAutoFit/>
          </a:bodyPr>
          <a:lstStyle/>
          <a:p>
            <a:pPr algn="l">
              <a:lnSpc>
                <a:spcPct val="125000"/>
              </a:lnSpc>
            </a:pPr>
            <a:r>
              <a:rPr sz="1400" b="1">
                <a:solidFill>
                  <a:srgbClr val="222838"/>
                </a:solidFill>
                <a:latin typeface="Meiryo"/>
                <a:ea typeface="メイリオ"/>
              </a:rPr>
              <a:t>機材の購入</a:t>
            </a:r>
          </a:p>
          <a:p>
            <a:pPr algn="l">
              <a:lnSpc>
                <a:spcPct val="125000"/>
              </a:lnSpc>
            </a:pPr>
            <a:r>
              <a:rPr sz="950" b="0">
                <a:solidFill>
                  <a:srgbClr val="8A8F9A"/>
                </a:solidFill>
                <a:latin typeface="Meiryo"/>
                <a:ea typeface="メイリオ"/>
              </a:rPr>
              <a:t>お願いしたいこと</a:t>
            </a:r>
          </a:p>
        </p:txBody>
      </p:sp>
      <p:sp>
        <p:nvSpPr>
          <p:cNvPr id="20" name="TextBox 19"/>
          <p:cNvSpPr txBox="1"/>
          <p:nvPr/>
        </p:nvSpPr>
        <p:spPr>
          <a:xfrm>
            <a:off x="1092200" y="3810000"/>
            <a:ext cx="2082800" cy="1143000"/>
          </a:xfrm>
          <a:prstGeom prst="rect">
            <a:avLst/>
          </a:prstGeom>
          <a:noFill/>
        </p:spPr>
        <p:txBody>
          <a:bodyPr wrap="square" anchor="t" lIns="25400" rIns="25400" tIns="12700" bIns="12700">
            <a:spAutoFit/>
          </a:bodyPr>
          <a:lstStyle/>
          <a:p>
            <a:pPr algn="l">
              <a:lnSpc>
                <a:spcPct val="145000"/>
              </a:lnSpc>
            </a:pPr>
            <a:r>
              <a:rPr sz="1050" b="0">
                <a:solidFill>
                  <a:srgbClr val="595F6E"/>
                </a:solidFill>
                <a:latin typeface="Meiryo"/>
                <a:ea typeface="メイリオ"/>
              </a:rPr>
              <a:t>4方向マイク Zoom H3-VR ほか</a:t>
            </a:r>
          </a:p>
          <a:p>
            <a:pPr algn="l">
              <a:lnSpc>
                <a:spcPct val="145000"/>
              </a:lnSpc>
            </a:pPr>
            <a:r>
              <a:rPr sz="1050" b="0">
                <a:solidFill>
                  <a:srgbClr val="595F6E"/>
                </a:solidFill>
                <a:latin typeface="Meiryo"/>
                <a:ea typeface="メイリオ"/>
              </a:rPr>
              <a:t>合計 約3〜4万円</a:t>
            </a:r>
          </a:p>
          <a:p>
            <a:pPr algn="l">
              <a:lnSpc>
                <a:spcPct val="145000"/>
              </a:lnSpc>
            </a:pPr>
            <a:r>
              <a:rPr sz="1050" b="0">
                <a:solidFill>
                  <a:srgbClr val="595F6E"/>
                </a:solidFill>
                <a:latin typeface="Meiryo"/>
                <a:ea typeface="メイリオ"/>
              </a:rPr>
              <a:t>→ 承認をいただきたい件</a:t>
            </a:r>
          </a:p>
        </p:txBody>
      </p:sp>
      <p:sp>
        <p:nvSpPr>
          <p:cNvPr id="21" name="Rectangle 20"/>
          <p:cNvSpPr/>
          <p:nvPr/>
        </p:nvSpPr>
        <p:spPr>
          <a:xfrm>
            <a:off x="3543300" y="2971800"/>
            <a:ext cx="2463800" cy="21590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543300" y="2971800"/>
            <a:ext cx="2463800" cy="44450"/>
          </a:xfrm>
          <a:prstGeom prst="rect">
            <a:avLst/>
          </a:prstGeom>
          <a:solidFill>
            <a:srgbClr val="E0A5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721100" y="3200400"/>
            <a:ext cx="330200" cy="330200"/>
          </a:xfrm>
          <a:prstGeom prst="ellipse">
            <a:avLst/>
          </a:prstGeom>
          <a:solidFill>
            <a:srgbClr val="E0A5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300" b="1">
                <a:solidFill>
                  <a:srgbClr val="FFFFFF"/>
                </a:solidFill>
                <a:latin typeface="Meiryo"/>
                <a:ea typeface="メイリオ"/>
              </a:rPr>
              <a:t>②</a:t>
            </a:r>
          </a:p>
        </p:txBody>
      </p:sp>
      <p:sp>
        <p:nvSpPr>
          <p:cNvPr id="24" name="TextBox 23"/>
          <p:cNvSpPr txBox="1"/>
          <p:nvPr/>
        </p:nvSpPr>
        <p:spPr>
          <a:xfrm>
            <a:off x="4152900" y="3200400"/>
            <a:ext cx="1701800" cy="431800"/>
          </a:xfrm>
          <a:prstGeom prst="rect">
            <a:avLst/>
          </a:prstGeom>
          <a:noFill/>
        </p:spPr>
        <p:txBody>
          <a:bodyPr wrap="square" anchor="t" lIns="25400" rIns="25400" tIns="12700" bIns="12700">
            <a:spAutoFit/>
          </a:bodyPr>
          <a:lstStyle/>
          <a:p>
            <a:pPr algn="l">
              <a:lnSpc>
                <a:spcPct val="125000"/>
              </a:lnSpc>
            </a:pPr>
            <a:r>
              <a:rPr sz="1400" b="1">
                <a:solidFill>
                  <a:srgbClr val="222838"/>
                </a:solidFill>
                <a:latin typeface="Meiryo"/>
                <a:ea typeface="メイリオ"/>
              </a:rPr>
              <a:t>規程の照会</a:t>
            </a:r>
          </a:p>
          <a:p>
            <a:pPr algn="l">
              <a:lnSpc>
                <a:spcPct val="125000"/>
              </a:lnSpc>
            </a:pPr>
            <a:r>
              <a:rPr sz="950" b="0">
                <a:solidFill>
                  <a:srgbClr val="8A8F9A"/>
                </a:solidFill>
                <a:latin typeface="Meiryo"/>
                <a:ea typeface="メイリオ"/>
              </a:rPr>
              <a:t>確認したいこと</a:t>
            </a:r>
          </a:p>
        </p:txBody>
      </p:sp>
      <p:sp>
        <p:nvSpPr>
          <p:cNvPr id="25" name="TextBox 24"/>
          <p:cNvSpPr txBox="1"/>
          <p:nvPr/>
        </p:nvSpPr>
        <p:spPr>
          <a:xfrm>
            <a:off x="3746500" y="3810000"/>
            <a:ext cx="2082800" cy="1143000"/>
          </a:xfrm>
          <a:prstGeom prst="rect">
            <a:avLst/>
          </a:prstGeom>
          <a:noFill/>
        </p:spPr>
        <p:txBody>
          <a:bodyPr wrap="square" anchor="t" lIns="25400" rIns="25400" tIns="12700" bIns="12700">
            <a:spAutoFit/>
          </a:bodyPr>
          <a:lstStyle/>
          <a:p>
            <a:pPr algn="l">
              <a:lnSpc>
                <a:spcPct val="145000"/>
              </a:lnSpc>
            </a:pPr>
            <a:r>
              <a:rPr sz="1050" b="0">
                <a:solidFill>
                  <a:srgbClr val="595F6E"/>
                </a:solidFill>
                <a:latin typeface="Meiryo"/>
                <a:ea typeface="メイリオ"/>
              </a:rPr>
              <a:t>公道での録音に、倫理審査や</a:t>
            </a:r>
          </a:p>
          <a:p>
            <a:pPr algn="l">
              <a:lnSpc>
                <a:spcPct val="145000"/>
              </a:lnSpc>
            </a:pPr>
            <a:r>
              <a:rPr sz="1050" b="0">
                <a:solidFill>
                  <a:srgbClr val="595F6E"/>
                </a:solidFill>
                <a:latin typeface="Meiryo"/>
                <a:ea typeface="メイリオ"/>
              </a:rPr>
              <a:t>届け出は必要でしょうか</a:t>
            </a:r>
          </a:p>
          <a:p>
            <a:pPr algn="l">
              <a:lnSpc>
                <a:spcPct val="145000"/>
              </a:lnSpc>
            </a:pPr>
            <a:r>
              <a:rPr sz="1050" b="0">
                <a:solidFill>
                  <a:srgbClr val="595F6E"/>
                </a:solidFill>
                <a:latin typeface="Meiryo"/>
                <a:ea typeface="メイリオ"/>
              </a:rPr>
              <a:t>→ この場で伺えると助かります</a:t>
            </a:r>
          </a:p>
        </p:txBody>
      </p:sp>
      <p:sp>
        <p:nvSpPr>
          <p:cNvPr id="26" name="Rectangle 25"/>
          <p:cNvSpPr/>
          <p:nvPr/>
        </p:nvSpPr>
        <p:spPr>
          <a:xfrm>
            <a:off x="6197600" y="2971800"/>
            <a:ext cx="2463800" cy="21590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97600" y="2971800"/>
            <a:ext cx="2463800" cy="4445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375400" y="3200400"/>
            <a:ext cx="330200" cy="330200"/>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300" b="1">
                <a:solidFill>
                  <a:srgbClr val="FFFFFF"/>
                </a:solidFill>
                <a:latin typeface="Meiryo"/>
                <a:ea typeface="メイリオ"/>
              </a:rPr>
              <a:t>③</a:t>
            </a:r>
          </a:p>
        </p:txBody>
      </p:sp>
      <p:sp>
        <p:nvSpPr>
          <p:cNvPr id="29" name="TextBox 28"/>
          <p:cNvSpPr txBox="1"/>
          <p:nvPr/>
        </p:nvSpPr>
        <p:spPr>
          <a:xfrm>
            <a:off x="6807200" y="3200400"/>
            <a:ext cx="1701800" cy="431800"/>
          </a:xfrm>
          <a:prstGeom prst="rect">
            <a:avLst/>
          </a:prstGeom>
          <a:noFill/>
        </p:spPr>
        <p:txBody>
          <a:bodyPr wrap="square" anchor="t" lIns="25400" rIns="25400" tIns="12700" bIns="12700">
            <a:spAutoFit/>
          </a:bodyPr>
          <a:lstStyle/>
          <a:p>
            <a:pPr algn="l">
              <a:lnSpc>
                <a:spcPct val="125000"/>
              </a:lnSpc>
            </a:pPr>
            <a:r>
              <a:rPr sz="1400" b="1">
                <a:solidFill>
                  <a:srgbClr val="222838"/>
                </a:solidFill>
                <a:latin typeface="Meiryo"/>
                <a:ea typeface="メイリオ"/>
              </a:rPr>
              <a:t>騒音計の借用</a:t>
            </a:r>
          </a:p>
          <a:p>
            <a:pPr algn="l">
              <a:lnSpc>
                <a:spcPct val="125000"/>
              </a:lnSpc>
            </a:pPr>
            <a:r>
              <a:rPr sz="950" b="0">
                <a:solidFill>
                  <a:srgbClr val="8A8F9A"/>
                </a:solidFill>
                <a:latin typeface="Meiryo"/>
                <a:ea typeface="メイリオ"/>
              </a:rPr>
              <a:t>心当たりを伺いたい</a:t>
            </a:r>
          </a:p>
        </p:txBody>
      </p:sp>
      <p:sp>
        <p:nvSpPr>
          <p:cNvPr id="30" name="TextBox 29"/>
          <p:cNvSpPr txBox="1"/>
          <p:nvPr/>
        </p:nvSpPr>
        <p:spPr>
          <a:xfrm>
            <a:off x="6400800" y="3810000"/>
            <a:ext cx="2082800" cy="1143000"/>
          </a:xfrm>
          <a:prstGeom prst="rect">
            <a:avLst/>
          </a:prstGeom>
          <a:noFill/>
        </p:spPr>
        <p:txBody>
          <a:bodyPr wrap="square" anchor="t" lIns="25400" rIns="25400" tIns="12700" bIns="12700">
            <a:spAutoFit/>
          </a:bodyPr>
          <a:lstStyle/>
          <a:p>
            <a:pPr algn="l">
              <a:lnSpc>
                <a:spcPct val="145000"/>
              </a:lnSpc>
            </a:pPr>
            <a:r>
              <a:rPr sz="1050" b="0">
                <a:solidFill>
                  <a:srgbClr val="595F6E"/>
                </a:solidFill>
                <a:latin typeface="Meiryo"/>
                <a:ea typeface="メイリオ"/>
              </a:rPr>
              <a:t>音量の基準合わせに要る計測器</a:t>
            </a:r>
          </a:p>
          <a:p>
            <a:pPr algn="l">
              <a:lnSpc>
                <a:spcPct val="145000"/>
              </a:lnSpc>
            </a:pPr>
            <a:r>
              <a:rPr sz="1050" b="0">
                <a:solidFill>
                  <a:srgbClr val="595F6E"/>
                </a:solidFill>
                <a:latin typeface="Meiryo"/>
                <a:ea typeface="メイリオ"/>
              </a:rPr>
              <a:t>学内で借りられる部署は</a:t>
            </a:r>
          </a:p>
          <a:p>
            <a:pPr algn="l">
              <a:lnSpc>
                <a:spcPct val="145000"/>
              </a:lnSpc>
            </a:pPr>
            <a:r>
              <a:rPr sz="1050" b="0">
                <a:solidFill>
                  <a:srgbClr val="595F6E"/>
                </a:solidFill>
                <a:latin typeface="Meiryo"/>
                <a:ea typeface="メイリオ"/>
              </a:rPr>
              <a:t>→ 無ければ1万円以内で購入</a:t>
            </a:r>
          </a:p>
        </p:txBody>
      </p:sp>
      <p:sp>
        <p:nvSpPr>
          <p:cNvPr id="31" name="Rectangle 30"/>
          <p:cNvSpPr/>
          <p:nvPr/>
        </p:nvSpPr>
        <p:spPr>
          <a:xfrm>
            <a:off x="8851900" y="2971800"/>
            <a:ext cx="2463800" cy="21590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51900" y="2971800"/>
            <a:ext cx="2463800" cy="44450"/>
          </a:xfrm>
          <a:prstGeom prst="rect">
            <a:avLst/>
          </a:prstGeom>
          <a:solidFill>
            <a:srgbClr val="232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029700" y="3200400"/>
            <a:ext cx="330200" cy="330200"/>
          </a:xfrm>
          <a:prstGeom prst="ellipse">
            <a:avLst/>
          </a:prstGeom>
          <a:solidFill>
            <a:srgbClr val="232B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300" b="1">
                <a:solidFill>
                  <a:srgbClr val="FFFFFF"/>
                </a:solidFill>
                <a:latin typeface="Meiryo"/>
                <a:ea typeface="メイリオ"/>
              </a:rPr>
              <a:t>④</a:t>
            </a:r>
          </a:p>
        </p:txBody>
      </p:sp>
      <p:sp>
        <p:nvSpPr>
          <p:cNvPr id="34" name="TextBox 33"/>
          <p:cNvSpPr txBox="1"/>
          <p:nvPr/>
        </p:nvSpPr>
        <p:spPr>
          <a:xfrm>
            <a:off x="9461500" y="3200400"/>
            <a:ext cx="1701800" cy="431800"/>
          </a:xfrm>
          <a:prstGeom prst="rect">
            <a:avLst/>
          </a:prstGeom>
          <a:noFill/>
        </p:spPr>
        <p:txBody>
          <a:bodyPr wrap="square" anchor="t" lIns="25400" rIns="25400" tIns="12700" bIns="12700">
            <a:spAutoFit/>
          </a:bodyPr>
          <a:lstStyle/>
          <a:p>
            <a:pPr algn="l">
              <a:lnSpc>
                <a:spcPct val="125000"/>
              </a:lnSpc>
            </a:pPr>
            <a:r>
              <a:rPr sz="1400" b="1">
                <a:solidFill>
                  <a:srgbClr val="222838"/>
                </a:solidFill>
                <a:latin typeface="Meiryo"/>
                <a:ea typeface="メイリオ"/>
              </a:rPr>
              <a:t>卒論の期限</a:t>
            </a:r>
          </a:p>
          <a:p>
            <a:pPr algn="l">
              <a:lnSpc>
                <a:spcPct val="125000"/>
              </a:lnSpc>
            </a:pPr>
            <a:r>
              <a:rPr sz="950" b="0">
                <a:solidFill>
                  <a:srgbClr val="8A8F9A"/>
                </a:solidFill>
                <a:latin typeface="Meiryo"/>
                <a:ea typeface="メイリオ"/>
              </a:rPr>
              <a:t>教えていただきたい</a:t>
            </a:r>
          </a:p>
        </p:txBody>
      </p:sp>
      <p:sp>
        <p:nvSpPr>
          <p:cNvPr id="35" name="TextBox 34"/>
          <p:cNvSpPr txBox="1"/>
          <p:nvPr/>
        </p:nvSpPr>
        <p:spPr>
          <a:xfrm>
            <a:off x="9055100" y="3810000"/>
            <a:ext cx="2082800" cy="1143000"/>
          </a:xfrm>
          <a:prstGeom prst="rect">
            <a:avLst/>
          </a:prstGeom>
          <a:noFill/>
        </p:spPr>
        <p:txBody>
          <a:bodyPr wrap="square" anchor="t" lIns="25400" rIns="25400" tIns="12700" bIns="12700">
            <a:spAutoFit/>
          </a:bodyPr>
          <a:lstStyle/>
          <a:p>
            <a:pPr algn="l">
              <a:lnSpc>
                <a:spcPct val="145000"/>
              </a:lnSpc>
            </a:pPr>
            <a:r>
              <a:rPr sz="1050" b="0">
                <a:solidFill>
                  <a:srgbClr val="595F6E"/>
                </a:solidFill>
                <a:latin typeface="Meiryo"/>
                <a:ea typeface="メイリオ"/>
              </a:rPr>
              <a:t>正式な提出期限と発表日程</a:t>
            </a:r>
          </a:p>
          <a:p>
            <a:pPr algn="l">
              <a:lnSpc>
                <a:spcPct val="145000"/>
              </a:lnSpc>
            </a:pPr>
            <a:r>
              <a:rPr sz="1050" b="0">
                <a:solidFill>
                  <a:srgbClr val="595F6E"/>
                </a:solidFill>
                <a:latin typeface="Meiryo"/>
                <a:ea typeface="メイリオ"/>
              </a:rPr>
              <a:t>収録・解析の逆算を確定したい</a:t>
            </a:r>
          </a:p>
          <a:p>
            <a:pPr algn="l">
              <a:lnSpc>
                <a:spcPct val="145000"/>
              </a:lnSpc>
            </a:pPr>
            <a:r>
              <a:rPr sz="1050" b="0">
                <a:solidFill>
                  <a:srgbClr val="595F6E"/>
                </a:solidFill>
                <a:latin typeface="Meiryo"/>
                <a:ea typeface="メイリオ"/>
              </a:rPr>
              <a:t>→ 現在は12月末を自分の線に</a:t>
            </a:r>
          </a:p>
        </p:txBody>
      </p:sp>
      <p:sp>
        <p:nvSpPr>
          <p:cNvPr id="36" name="Rectangle 35"/>
          <p:cNvSpPr/>
          <p:nvPr/>
        </p:nvSpPr>
        <p:spPr>
          <a:xfrm>
            <a:off x="889000" y="5308600"/>
            <a:ext cx="10414000" cy="508000"/>
          </a:xfrm>
          <a:prstGeom prst="rect">
            <a:avLst/>
          </a:prstGeom>
          <a:solidFill>
            <a:srgbClr val="F2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92200" y="5435600"/>
            <a:ext cx="10033000" cy="304800"/>
          </a:xfrm>
          <a:prstGeom prst="rect">
            <a:avLst/>
          </a:prstGeom>
          <a:noFill/>
        </p:spPr>
        <p:txBody>
          <a:bodyPr wrap="square" anchor="t" lIns="25400" rIns="25400" tIns="12700" bIns="12700">
            <a:spAutoFit/>
          </a:bodyPr>
          <a:lstStyle/>
          <a:p>
            <a:pPr algn="l"/>
            <a:r>
              <a:rPr sz="1200" b="1">
                <a:solidFill>
                  <a:srgbClr val="222838"/>
                </a:solidFill>
                <a:latin typeface="Meiryo"/>
                <a:ea typeface="メイリオ"/>
              </a:rPr>
              <a:t>承認が要るのは①だけです。</a:t>
            </a:r>
            <a:r>
              <a:rPr sz="1200" b="0">
                <a:solidFill>
                  <a:srgbClr val="595F6E"/>
                </a:solidFill>
                <a:latin typeface="Meiryo"/>
                <a:ea typeface="メイリオ"/>
              </a:rPr>
              <a:t>②③④は、この場で教えていただければそれで片づきます。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58800" y="177800"/>
            <a:ext cx="17780" cy="65024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6600" y="584200"/>
            <a:ext cx="381000" cy="762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44600" y="381000"/>
            <a:ext cx="10160000" cy="508000"/>
          </a:xfrm>
          <a:prstGeom prst="rect">
            <a:avLst/>
          </a:prstGeom>
          <a:noFill/>
        </p:spPr>
        <p:txBody>
          <a:bodyPr wrap="square" anchor="t" lIns="25400" rIns="25400" tIns="12700" bIns="12700">
            <a:spAutoFit/>
          </a:bodyPr>
          <a:lstStyle/>
          <a:p>
            <a:pPr algn="l"/>
            <a:r>
              <a:rPr sz="2200" b="1" spc="250">
                <a:solidFill>
                  <a:srgbClr val="222838"/>
                </a:solidFill>
                <a:latin typeface="Meiryo"/>
                <a:ea typeface="メイリオ"/>
              </a:rPr>
              <a:t>議題①　マイクは「レンタル」ではなく「購入」でお願いしたい</a:t>
            </a:r>
          </a:p>
        </p:txBody>
      </p:sp>
      <p:sp>
        <p:nvSpPr>
          <p:cNvPr id="5" name="Rectangle 4"/>
          <p:cNvSpPr/>
          <p:nvPr/>
        </p:nvSpPr>
        <p:spPr>
          <a:xfrm>
            <a:off x="558800" y="1143000"/>
            <a:ext cx="11049000" cy="15240"/>
          </a:xfrm>
          <a:prstGeom prst="rect">
            <a:avLst/>
          </a:prstGeom>
          <a:solidFill>
            <a:srgbClr val="2228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6600" y="6426200"/>
            <a:ext cx="1397000" cy="254000"/>
          </a:xfrm>
          <a:prstGeom prst="rect">
            <a:avLst/>
          </a:prstGeom>
          <a:noFill/>
        </p:spPr>
        <p:txBody>
          <a:bodyPr wrap="square" anchor="t" lIns="25400" rIns="25400" tIns="12700" bIns="12700">
            <a:spAutoFit/>
          </a:bodyPr>
          <a:lstStyle/>
          <a:p>
            <a:pPr algn="l"/>
            <a:r>
              <a:rPr sz="1100" b="0">
                <a:solidFill>
                  <a:srgbClr val="8A8F9A"/>
                </a:solidFill>
                <a:latin typeface="Meiryo"/>
                <a:ea typeface="メイリオ"/>
              </a:rPr>
              <a:t>2026/09/15</a:t>
            </a:r>
          </a:p>
        </p:txBody>
      </p:sp>
      <p:sp>
        <p:nvSpPr>
          <p:cNvPr id="7" name="Rectangle 6"/>
          <p:cNvSpPr/>
          <p:nvPr/>
        </p:nvSpPr>
        <p:spPr>
          <a:xfrm>
            <a:off x="3784600" y="6375400"/>
            <a:ext cx="1117600" cy="279400"/>
          </a:xfrm>
          <a:prstGeom prst="rect">
            <a:avLst/>
          </a:prstGeom>
          <a:solidFill>
            <a:srgbClr val="232B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050" b="1">
                <a:solidFill>
                  <a:srgbClr val="FFFFFF"/>
                </a:solidFill>
                <a:latin typeface="Meiryo"/>
                <a:ea typeface="メイリオ"/>
              </a:rPr>
              <a:t>① 機材購入</a:t>
            </a:r>
          </a:p>
        </p:txBody>
      </p:sp>
      <p:sp>
        <p:nvSpPr>
          <p:cNvPr id="8" name="Rectangle 7"/>
          <p:cNvSpPr/>
          <p:nvPr/>
        </p:nvSpPr>
        <p:spPr>
          <a:xfrm>
            <a:off x="5003800" y="6375400"/>
            <a:ext cx="11176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050" b="0">
                <a:solidFill>
                  <a:srgbClr val="8A8F9A"/>
                </a:solidFill>
                <a:latin typeface="Meiryo"/>
                <a:ea typeface="メイリオ"/>
              </a:rPr>
              <a:t>② 規程照会</a:t>
            </a:r>
          </a:p>
        </p:txBody>
      </p:sp>
      <p:sp>
        <p:nvSpPr>
          <p:cNvPr id="9" name="Rectangle 8"/>
          <p:cNvSpPr/>
          <p:nvPr/>
        </p:nvSpPr>
        <p:spPr>
          <a:xfrm>
            <a:off x="6223000" y="6375400"/>
            <a:ext cx="9652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050" b="0">
                <a:solidFill>
                  <a:srgbClr val="8A8F9A"/>
                </a:solidFill>
                <a:latin typeface="Meiryo"/>
                <a:ea typeface="メイリオ"/>
              </a:rPr>
              <a:t>③ 騒音計</a:t>
            </a:r>
          </a:p>
        </p:txBody>
      </p:sp>
      <p:sp>
        <p:nvSpPr>
          <p:cNvPr id="10" name="Rectangle 9"/>
          <p:cNvSpPr/>
          <p:nvPr/>
        </p:nvSpPr>
        <p:spPr>
          <a:xfrm>
            <a:off x="7289800" y="6375400"/>
            <a:ext cx="11176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050" b="0">
                <a:solidFill>
                  <a:srgbClr val="8A8F9A"/>
                </a:solidFill>
                <a:latin typeface="Meiryo"/>
                <a:ea typeface="メイリオ"/>
              </a:rPr>
              <a:t>④ 提出期限</a:t>
            </a:r>
          </a:p>
        </p:txBody>
      </p:sp>
      <p:sp>
        <p:nvSpPr>
          <p:cNvPr id="11" name="TextBox 10"/>
          <p:cNvSpPr txBox="1"/>
          <p:nvPr/>
        </p:nvSpPr>
        <p:spPr>
          <a:xfrm>
            <a:off x="11049000" y="6426200"/>
            <a:ext cx="508000" cy="254000"/>
          </a:xfrm>
          <a:prstGeom prst="rect">
            <a:avLst/>
          </a:prstGeom>
          <a:noFill/>
        </p:spPr>
        <p:txBody>
          <a:bodyPr wrap="square" anchor="t" lIns="25400" rIns="25400" tIns="12700" bIns="12700">
            <a:spAutoFit/>
          </a:bodyPr>
          <a:lstStyle/>
          <a:p>
            <a:pPr algn="r"/>
            <a:r>
              <a:rPr sz="1100" b="0">
                <a:solidFill>
                  <a:srgbClr val="8A8F9A"/>
                </a:solidFill>
                <a:latin typeface="Meiryo"/>
                <a:ea typeface="メイリオ"/>
              </a:rPr>
              <a:t>2</a:t>
            </a:r>
          </a:p>
        </p:txBody>
      </p:sp>
      <p:sp>
        <p:nvSpPr>
          <p:cNvPr id="12" name="TextBox 11"/>
          <p:cNvSpPr txBox="1"/>
          <p:nvPr/>
        </p:nvSpPr>
        <p:spPr>
          <a:xfrm>
            <a:off x="889000" y="1270000"/>
            <a:ext cx="10414000" cy="254000"/>
          </a:xfrm>
          <a:prstGeom prst="rect">
            <a:avLst/>
          </a:prstGeom>
          <a:noFill/>
        </p:spPr>
        <p:txBody>
          <a:bodyPr wrap="square" anchor="t" lIns="25400" rIns="25400" tIns="12700" bIns="12700">
            <a:spAutoFit/>
          </a:bodyPr>
          <a:lstStyle/>
          <a:p>
            <a:pPr algn="l"/>
            <a:r>
              <a:rPr sz="1200" b="0">
                <a:solidFill>
                  <a:srgbClr val="8A8F9A"/>
                </a:solidFill>
                <a:latin typeface="Meiryo"/>
                <a:ea typeface="メイリオ"/>
              </a:rPr>
              <a:t>録音は9月末〜11月、天候次第の日程で計210回。手元に1台ある方が、結果として安く・確実になります。</a:t>
            </a:r>
          </a:p>
        </p:txBody>
      </p:sp>
      <p:sp>
        <p:nvSpPr>
          <p:cNvPr id="13" name="Rectangle 12"/>
          <p:cNvSpPr/>
          <p:nvPr/>
        </p:nvSpPr>
        <p:spPr>
          <a:xfrm>
            <a:off x="889000" y="1676400"/>
            <a:ext cx="6413500" cy="7620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66800" y="1778000"/>
            <a:ext cx="279400" cy="279400"/>
          </a:xfrm>
          <a:prstGeom prst="ellipse">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200" b="1">
                <a:solidFill>
                  <a:srgbClr val="FFFFFF"/>
                </a:solidFill>
                <a:latin typeface="Meiryo"/>
                <a:ea typeface="メイリオ"/>
              </a:rPr>
              <a:t>1</a:t>
            </a:r>
          </a:p>
        </p:txBody>
      </p:sp>
      <p:sp>
        <p:nvSpPr>
          <p:cNvPr id="15" name="TextBox 14"/>
          <p:cNvSpPr txBox="1"/>
          <p:nvPr/>
        </p:nvSpPr>
        <p:spPr>
          <a:xfrm>
            <a:off x="1447800" y="1765300"/>
            <a:ext cx="5715000" cy="228600"/>
          </a:xfrm>
          <a:prstGeom prst="rect">
            <a:avLst/>
          </a:prstGeom>
          <a:noFill/>
        </p:spPr>
        <p:txBody>
          <a:bodyPr wrap="square" anchor="t" lIns="25400" rIns="25400" tIns="12700" bIns="12700">
            <a:spAutoFit/>
          </a:bodyPr>
          <a:lstStyle/>
          <a:p>
            <a:pPr algn="l"/>
            <a:r>
              <a:rPr sz="1300" b="1">
                <a:solidFill>
                  <a:srgbClr val="222838"/>
                </a:solidFill>
                <a:latin typeface="Meiryo"/>
                <a:ea typeface="メイリオ"/>
              </a:rPr>
              <a:t>天候で回数が読めない</a:t>
            </a:r>
          </a:p>
        </p:txBody>
      </p:sp>
      <p:sp>
        <p:nvSpPr>
          <p:cNvPr id="16" name="TextBox 15"/>
          <p:cNvSpPr txBox="1"/>
          <p:nvPr/>
        </p:nvSpPr>
        <p:spPr>
          <a:xfrm>
            <a:off x="1447800" y="2019300"/>
            <a:ext cx="5715000" cy="381000"/>
          </a:xfrm>
          <a:prstGeom prst="rect">
            <a:avLst/>
          </a:prstGeom>
          <a:noFill/>
        </p:spPr>
        <p:txBody>
          <a:bodyPr wrap="square" anchor="t" lIns="25400" rIns="25400" tIns="12700" bIns="12700">
            <a:spAutoFit/>
          </a:bodyPr>
          <a:lstStyle/>
          <a:p>
            <a:pPr algn="l">
              <a:lnSpc>
                <a:spcPct val="130000"/>
              </a:lnSpc>
            </a:pPr>
            <a:r>
              <a:rPr sz="1000" b="0">
                <a:solidFill>
                  <a:srgbClr val="595F6E"/>
                </a:solidFill>
                <a:latin typeface="Meiryo"/>
                <a:ea typeface="メイリオ"/>
              </a:rPr>
              <a:t>風速3m/s超と雨天は中止と決めています。台風と秋雨の9〜10月は、借りている期間がまるごと空振りになり得ます。晴れた日に録るには手元にある方が確実です。</a:t>
            </a:r>
          </a:p>
        </p:txBody>
      </p:sp>
      <p:sp>
        <p:nvSpPr>
          <p:cNvPr id="17" name="Rectangle 16"/>
          <p:cNvSpPr/>
          <p:nvPr/>
        </p:nvSpPr>
        <p:spPr>
          <a:xfrm>
            <a:off x="889000" y="2565400"/>
            <a:ext cx="6413500" cy="7620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66800" y="2667000"/>
            <a:ext cx="279400" cy="279400"/>
          </a:xfrm>
          <a:prstGeom prst="ellipse">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200" b="1">
                <a:solidFill>
                  <a:srgbClr val="FFFFFF"/>
                </a:solidFill>
                <a:latin typeface="Meiryo"/>
                <a:ea typeface="メイリオ"/>
              </a:rPr>
              <a:t>2</a:t>
            </a:r>
          </a:p>
        </p:txBody>
      </p:sp>
      <p:sp>
        <p:nvSpPr>
          <p:cNvPr id="19" name="TextBox 18"/>
          <p:cNvSpPr txBox="1"/>
          <p:nvPr/>
        </p:nvSpPr>
        <p:spPr>
          <a:xfrm>
            <a:off x="1447800" y="2654300"/>
            <a:ext cx="5715000" cy="228600"/>
          </a:xfrm>
          <a:prstGeom prst="rect">
            <a:avLst/>
          </a:prstGeom>
          <a:noFill/>
        </p:spPr>
        <p:txBody>
          <a:bodyPr wrap="square" anchor="t" lIns="25400" rIns="25400" tIns="12700" bIns="12700">
            <a:spAutoFit/>
          </a:bodyPr>
          <a:lstStyle/>
          <a:p>
            <a:pPr algn="l"/>
            <a:r>
              <a:rPr sz="1300" b="1">
                <a:solidFill>
                  <a:srgbClr val="222838"/>
                </a:solidFill>
                <a:latin typeface="Meiryo"/>
                <a:ea typeface="メイリオ"/>
              </a:rPr>
              <a:t>総額が逆転しやすい</a:t>
            </a:r>
          </a:p>
        </p:txBody>
      </p:sp>
      <p:sp>
        <p:nvSpPr>
          <p:cNvPr id="20" name="TextBox 19"/>
          <p:cNvSpPr txBox="1"/>
          <p:nvPr/>
        </p:nvSpPr>
        <p:spPr>
          <a:xfrm>
            <a:off x="1447800" y="2908300"/>
            <a:ext cx="5715000" cy="381000"/>
          </a:xfrm>
          <a:prstGeom prst="rect">
            <a:avLst/>
          </a:prstGeom>
          <a:noFill/>
        </p:spPr>
        <p:txBody>
          <a:bodyPr wrap="square" anchor="t" lIns="25400" rIns="25400" tIns="12700" bIns="12700">
            <a:spAutoFit/>
          </a:bodyPr>
          <a:lstStyle/>
          <a:p>
            <a:pPr algn="l">
              <a:lnSpc>
                <a:spcPct val="130000"/>
              </a:lnSpc>
            </a:pPr>
            <a:r>
              <a:rPr sz="1000" b="0">
                <a:solidFill>
                  <a:srgbClr val="595F6E"/>
                </a:solidFill>
                <a:latin typeface="Meiryo"/>
                <a:ea typeface="メイリオ"/>
              </a:rPr>
              <a:t>レンタル3回で13,140円に対し新品は25,909円。天候で1〜2回借り直せばほぼ並び、それ以上は購入の方が安くなります。</a:t>
            </a:r>
          </a:p>
        </p:txBody>
      </p:sp>
      <p:sp>
        <p:nvSpPr>
          <p:cNvPr id="21" name="Rectangle 20"/>
          <p:cNvSpPr/>
          <p:nvPr/>
        </p:nvSpPr>
        <p:spPr>
          <a:xfrm>
            <a:off x="889000" y="3454400"/>
            <a:ext cx="6413500" cy="7620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66800" y="3556000"/>
            <a:ext cx="279400" cy="279400"/>
          </a:xfrm>
          <a:prstGeom prst="ellipse">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200" b="1">
                <a:solidFill>
                  <a:srgbClr val="FFFFFF"/>
                </a:solidFill>
                <a:latin typeface="Meiryo"/>
                <a:ea typeface="メイリオ"/>
              </a:rPr>
              <a:t>3</a:t>
            </a:r>
          </a:p>
        </p:txBody>
      </p:sp>
      <p:sp>
        <p:nvSpPr>
          <p:cNvPr id="23" name="TextBox 22"/>
          <p:cNvSpPr txBox="1"/>
          <p:nvPr/>
        </p:nvSpPr>
        <p:spPr>
          <a:xfrm>
            <a:off x="1447800" y="3543300"/>
            <a:ext cx="5715000" cy="228600"/>
          </a:xfrm>
          <a:prstGeom prst="rect">
            <a:avLst/>
          </a:prstGeom>
          <a:noFill/>
        </p:spPr>
        <p:txBody>
          <a:bodyPr wrap="square" anchor="t" lIns="25400" rIns="25400" tIns="12700" bIns="12700">
            <a:spAutoFit/>
          </a:bodyPr>
          <a:lstStyle/>
          <a:p>
            <a:pPr algn="l"/>
            <a:r>
              <a:rPr sz="1300" b="1">
                <a:solidFill>
                  <a:srgbClr val="222838"/>
                </a:solidFill>
                <a:latin typeface="Meiryo"/>
                <a:ea typeface="メイリオ"/>
              </a:rPr>
              <a:t>測定の条件がそろう</a:t>
            </a:r>
          </a:p>
        </p:txBody>
      </p:sp>
      <p:sp>
        <p:nvSpPr>
          <p:cNvPr id="24" name="TextBox 23"/>
          <p:cNvSpPr txBox="1"/>
          <p:nvPr/>
        </p:nvSpPr>
        <p:spPr>
          <a:xfrm>
            <a:off x="1447800" y="3797300"/>
            <a:ext cx="5715000" cy="381000"/>
          </a:xfrm>
          <a:prstGeom prst="rect">
            <a:avLst/>
          </a:prstGeom>
          <a:noFill/>
        </p:spPr>
        <p:txBody>
          <a:bodyPr wrap="square" anchor="t" lIns="25400" rIns="25400" tIns="12700" bIns="12700">
            <a:spAutoFit/>
          </a:bodyPr>
          <a:lstStyle/>
          <a:p>
            <a:pPr algn="l">
              <a:lnSpc>
                <a:spcPct val="130000"/>
              </a:lnSpc>
            </a:pPr>
            <a:r>
              <a:rPr sz="1000" b="0">
                <a:solidFill>
                  <a:srgbClr val="595F6E"/>
                </a:solidFill>
                <a:latin typeface="Meiryo"/>
                <a:ea typeface="メイリオ"/>
              </a:rPr>
              <a:t>音量の基準合わせ（較正）は、同じ1台なら最初に1回やれば全収録に通ります。レンタルは毎回ちがう個体で、やり直すたびに測定条件が変わります。</a:t>
            </a:r>
          </a:p>
        </p:txBody>
      </p:sp>
      <p:sp>
        <p:nvSpPr>
          <p:cNvPr id="25" name="Rectangle 24"/>
          <p:cNvSpPr/>
          <p:nvPr/>
        </p:nvSpPr>
        <p:spPr>
          <a:xfrm>
            <a:off x="889000" y="4343400"/>
            <a:ext cx="6413500" cy="7620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66800" y="4445000"/>
            <a:ext cx="279400" cy="279400"/>
          </a:xfrm>
          <a:prstGeom prst="ellipse">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200" b="1">
                <a:solidFill>
                  <a:srgbClr val="FFFFFF"/>
                </a:solidFill>
                <a:latin typeface="Meiryo"/>
                <a:ea typeface="メイリオ"/>
              </a:rPr>
              <a:t>4</a:t>
            </a:r>
          </a:p>
        </p:txBody>
      </p:sp>
      <p:sp>
        <p:nvSpPr>
          <p:cNvPr id="27" name="TextBox 26"/>
          <p:cNvSpPr txBox="1"/>
          <p:nvPr/>
        </p:nvSpPr>
        <p:spPr>
          <a:xfrm>
            <a:off x="1447800" y="4432300"/>
            <a:ext cx="5715000" cy="228600"/>
          </a:xfrm>
          <a:prstGeom prst="rect">
            <a:avLst/>
          </a:prstGeom>
          <a:noFill/>
        </p:spPr>
        <p:txBody>
          <a:bodyPr wrap="square" anchor="t" lIns="25400" rIns="25400" tIns="12700" bIns="12700">
            <a:spAutoFit/>
          </a:bodyPr>
          <a:lstStyle/>
          <a:p>
            <a:pPr algn="l"/>
            <a:r>
              <a:rPr sz="1300" b="1">
                <a:solidFill>
                  <a:srgbClr val="222838"/>
                </a:solidFill>
                <a:latin typeface="Meiryo"/>
                <a:ea typeface="メイリオ"/>
              </a:rPr>
              <a:t>修士の測定の基準器になる</a:t>
            </a:r>
          </a:p>
        </p:txBody>
      </p:sp>
      <p:sp>
        <p:nvSpPr>
          <p:cNvPr id="28" name="TextBox 27"/>
          <p:cNvSpPr txBox="1"/>
          <p:nvPr/>
        </p:nvSpPr>
        <p:spPr>
          <a:xfrm>
            <a:off x="1447800" y="4686300"/>
            <a:ext cx="5715000" cy="381000"/>
          </a:xfrm>
          <a:prstGeom prst="rect">
            <a:avLst/>
          </a:prstGeom>
          <a:noFill/>
        </p:spPr>
        <p:txBody>
          <a:bodyPr wrap="square" anchor="t" lIns="25400" rIns="25400" tIns="12700" bIns="12700">
            <a:spAutoFit/>
          </a:bodyPr>
          <a:lstStyle/>
          <a:p>
            <a:pPr algn="l">
              <a:lnSpc>
                <a:spcPct val="130000"/>
              </a:lnSpc>
            </a:pPr>
            <a:r>
              <a:rPr sz="1000" b="0">
                <a:solidFill>
                  <a:srgbClr val="595F6E"/>
                </a:solidFill>
                <a:latin typeface="Meiryo"/>
                <a:ea typeface="メイリオ"/>
              </a:rPr>
              <a:t>修士でデバイスを作ると自前のマイクが要りますが、その正しさは較正済みの機材と同じ場面を録って突き合わせる以外に確かめようがありません。2年半使う備品になります。</a:t>
            </a:r>
          </a:p>
        </p:txBody>
      </p:sp>
      <p:sp>
        <p:nvSpPr>
          <p:cNvPr id="29" name="Rectangle 28"/>
          <p:cNvSpPr/>
          <p:nvPr/>
        </p:nvSpPr>
        <p:spPr>
          <a:xfrm>
            <a:off x="7594600" y="1676400"/>
            <a:ext cx="3708400" cy="34290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94600" y="1676400"/>
            <a:ext cx="3708400" cy="4445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97800" y="1854200"/>
            <a:ext cx="3302000" cy="254000"/>
          </a:xfrm>
          <a:prstGeom prst="rect">
            <a:avLst/>
          </a:prstGeom>
          <a:noFill/>
        </p:spPr>
        <p:txBody>
          <a:bodyPr wrap="square" anchor="t" lIns="25400" rIns="25400" tIns="12700" bIns="12700">
            <a:spAutoFit/>
          </a:bodyPr>
          <a:lstStyle/>
          <a:p>
            <a:pPr algn="l"/>
            <a:r>
              <a:rPr sz="1300" b="1">
                <a:solidFill>
                  <a:srgbClr val="222838"/>
                </a:solidFill>
                <a:latin typeface="Meiryo"/>
                <a:ea typeface="メイリオ"/>
              </a:rPr>
              <a:t>購入をお願いしたい品目</a:t>
            </a:r>
          </a:p>
        </p:txBody>
      </p:sp>
      <p:sp>
        <p:nvSpPr>
          <p:cNvPr id="32" name="Rectangle 31"/>
          <p:cNvSpPr/>
          <p:nvPr/>
        </p:nvSpPr>
        <p:spPr>
          <a:xfrm>
            <a:off x="7797800" y="2159000"/>
            <a:ext cx="3302000" cy="12700"/>
          </a:xfrm>
          <a:prstGeom prst="rect">
            <a:avLst/>
          </a:prstGeom>
          <a:solidFill>
            <a:srgbClr val="C9CB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97800" y="2260600"/>
            <a:ext cx="2260600" cy="228600"/>
          </a:xfrm>
          <a:prstGeom prst="rect">
            <a:avLst/>
          </a:prstGeom>
          <a:noFill/>
        </p:spPr>
        <p:txBody>
          <a:bodyPr wrap="square" anchor="t" lIns="25400" rIns="25400" tIns="12700" bIns="12700">
            <a:spAutoFit/>
          </a:bodyPr>
          <a:lstStyle/>
          <a:p>
            <a:pPr algn="l"/>
            <a:r>
              <a:rPr sz="1050" b="0">
                <a:solidFill>
                  <a:srgbClr val="222838"/>
                </a:solidFill>
                <a:latin typeface="Meiryo"/>
                <a:ea typeface="メイリオ"/>
              </a:rPr>
              <a:t>Zoom H3-VR（4方向マイク）</a:t>
            </a:r>
          </a:p>
        </p:txBody>
      </p:sp>
      <p:sp>
        <p:nvSpPr>
          <p:cNvPr id="34" name="TextBox 33"/>
          <p:cNvSpPr txBox="1"/>
          <p:nvPr/>
        </p:nvSpPr>
        <p:spPr>
          <a:xfrm>
            <a:off x="10007600" y="2260600"/>
            <a:ext cx="1092200" cy="228600"/>
          </a:xfrm>
          <a:prstGeom prst="rect">
            <a:avLst/>
          </a:prstGeom>
          <a:noFill/>
        </p:spPr>
        <p:txBody>
          <a:bodyPr wrap="square" anchor="t" lIns="25400" rIns="25400" tIns="12700" bIns="12700">
            <a:spAutoFit/>
          </a:bodyPr>
          <a:lstStyle/>
          <a:p>
            <a:pPr algn="r"/>
            <a:r>
              <a:rPr sz="1100" b="1">
                <a:solidFill>
                  <a:srgbClr val="222838"/>
                </a:solidFill>
                <a:latin typeface="Meiryo"/>
                <a:ea typeface="メイリオ"/>
              </a:rPr>
              <a:t>約26,000円</a:t>
            </a:r>
          </a:p>
        </p:txBody>
      </p:sp>
      <p:sp>
        <p:nvSpPr>
          <p:cNvPr id="35" name="TextBox 34"/>
          <p:cNvSpPr txBox="1"/>
          <p:nvPr/>
        </p:nvSpPr>
        <p:spPr>
          <a:xfrm>
            <a:off x="7797800" y="2501900"/>
            <a:ext cx="3302000" cy="330200"/>
          </a:xfrm>
          <a:prstGeom prst="rect">
            <a:avLst/>
          </a:prstGeom>
          <a:noFill/>
        </p:spPr>
        <p:txBody>
          <a:bodyPr wrap="square" anchor="t" lIns="25400" rIns="25400" tIns="12700" bIns="12700">
            <a:spAutoFit/>
          </a:bodyPr>
          <a:lstStyle/>
          <a:p>
            <a:pPr algn="l">
              <a:lnSpc>
                <a:spcPct val="125000"/>
              </a:lnSpc>
            </a:pPr>
            <a:r>
              <a:rPr sz="900" b="0">
                <a:solidFill>
                  <a:srgbClr val="8A8F9A"/>
                </a:solidFill>
                <a:latin typeface="Meiryo"/>
                <a:ea typeface="メイリオ"/>
              </a:rPr>
              <a:t>要件を満たす現行機はこれだけ。中古なら約18,000円〜</a:t>
            </a:r>
          </a:p>
        </p:txBody>
      </p:sp>
      <p:sp>
        <p:nvSpPr>
          <p:cNvPr id="36" name="TextBox 35"/>
          <p:cNvSpPr txBox="1"/>
          <p:nvPr/>
        </p:nvSpPr>
        <p:spPr>
          <a:xfrm>
            <a:off x="7797800" y="2921000"/>
            <a:ext cx="2260600" cy="228600"/>
          </a:xfrm>
          <a:prstGeom prst="rect">
            <a:avLst/>
          </a:prstGeom>
          <a:noFill/>
        </p:spPr>
        <p:txBody>
          <a:bodyPr wrap="square" anchor="t" lIns="25400" rIns="25400" tIns="12700" bIns="12700">
            <a:spAutoFit/>
          </a:bodyPr>
          <a:lstStyle/>
          <a:p>
            <a:pPr algn="l"/>
            <a:r>
              <a:rPr sz="1050" b="0">
                <a:solidFill>
                  <a:srgbClr val="222838"/>
                </a:solidFill>
                <a:latin typeface="Meiryo"/>
                <a:ea typeface="メイリオ"/>
              </a:rPr>
              <a:t>騒音計（平均音量が出るもの）</a:t>
            </a:r>
          </a:p>
        </p:txBody>
      </p:sp>
      <p:sp>
        <p:nvSpPr>
          <p:cNvPr id="37" name="TextBox 36"/>
          <p:cNvSpPr txBox="1"/>
          <p:nvPr/>
        </p:nvSpPr>
        <p:spPr>
          <a:xfrm>
            <a:off x="10007600" y="2921000"/>
            <a:ext cx="1092200" cy="228600"/>
          </a:xfrm>
          <a:prstGeom prst="rect">
            <a:avLst/>
          </a:prstGeom>
          <a:noFill/>
        </p:spPr>
        <p:txBody>
          <a:bodyPr wrap="square" anchor="t" lIns="25400" rIns="25400" tIns="12700" bIns="12700">
            <a:spAutoFit/>
          </a:bodyPr>
          <a:lstStyle/>
          <a:p>
            <a:pPr algn="r"/>
            <a:r>
              <a:rPr sz="1100" b="1">
                <a:solidFill>
                  <a:srgbClr val="222838"/>
                </a:solidFill>
                <a:latin typeface="Meiryo"/>
                <a:ea typeface="メイリオ"/>
              </a:rPr>
              <a:t>0〜10,000円</a:t>
            </a:r>
          </a:p>
        </p:txBody>
      </p:sp>
      <p:sp>
        <p:nvSpPr>
          <p:cNvPr id="38" name="TextBox 37"/>
          <p:cNvSpPr txBox="1"/>
          <p:nvPr/>
        </p:nvSpPr>
        <p:spPr>
          <a:xfrm>
            <a:off x="7797800" y="3162300"/>
            <a:ext cx="3302000" cy="330200"/>
          </a:xfrm>
          <a:prstGeom prst="rect">
            <a:avLst/>
          </a:prstGeom>
          <a:noFill/>
        </p:spPr>
        <p:txBody>
          <a:bodyPr wrap="square" anchor="t" lIns="25400" rIns="25400" tIns="12700" bIns="12700">
            <a:spAutoFit/>
          </a:bodyPr>
          <a:lstStyle/>
          <a:p>
            <a:pPr algn="l">
              <a:lnSpc>
                <a:spcPct val="125000"/>
              </a:lnSpc>
            </a:pPr>
            <a:r>
              <a:rPr sz="900" b="0">
                <a:solidFill>
                  <a:srgbClr val="8A8F9A"/>
                </a:solidFill>
                <a:latin typeface="Meiryo"/>
                <a:ea typeface="メイリオ"/>
              </a:rPr>
              <a:t>まず学内で借りられないか照会します</a:t>
            </a:r>
          </a:p>
        </p:txBody>
      </p:sp>
      <p:sp>
        <p:nvSpPr>
          <p:cNvPr id="39" name="TextBox 38"/>
          <p:cNvSpPr txBox="1"/>
          <p:nvPr/>
        </p:nvSpPr>
        <p:spPr>
          <a:xfrm>
            <a:off x="7797800" y="3581400"/>
            <a:ext cx="2260600" cy="228600"/>
          </a:xfrm>
          <a:prstGeom prst="rect">
            <a:avLst/>
          </a:prstGeom>
          <a:noFill/>
        </p:spPr>
        <p:txBody>
          <a:bodyPr wrap="square" anchor="t" lIns="25400" rIns="25400" tIns="12700" bIns="12700">
            <a:spAutoFit/>
          </a:bodyPr>
          <a:lstStyle/>
          <a:p>
            <a:pPr algn="l"/>
            <a:r>
              <a:rPr sz="1050" b="0">
                <a:solidFill>
                  <a:srgbClr val="222838"/>
                </a:solidFill>
                <a:latin typeface="Meiryo"/>
                <a:ea typeface="メイリオ"/>
              </a:rPr>
              <a:t>小物（ハーネス・ブザー・SD等）</a:t>
            </a:r>
          </a:p>
        </p:txBody>
      </p:sp>
      <p:sp>
        <p:nvSpPr>
          <p:cNvPr id="40" name="TextBox 39"/>
          <p:cNvSpPr txBox="1"/>
          <p:nvPr/>
        </p:nvSpPr>
        <p:spPr>
          <a:xfrm>
            <a:off x="10007600" y="3581400"/>
            <a:ext cx="1092200" cy="228600"/>
          </a:xfrm>
          <a:prstGeom prst="rect">
            <a:avLst/>
          </a:prstGeom>
          <a:noFill/>
        </p:spPr>
        <p:txBody>
          <a:bodyPr wrap="square" anchor="t" lIns="25400" rIns="25400" tIns="12700" bIns="12700">
            <a:spAutoFit/>
          </a:bodyPr>
          <a:lstStyle/>
          <a:p>
            <a:pPr algn="r"/>
            <a:r>
              <a:rPr sz="1100" b="1">
                <a:solidFill>
                  <a:srgbClr val="222838"/>
                </a:solidFill>
                <a:latin typeface="Meiryo"/>
                <a:ea typeface="メイリオ"/>
              </a:rPr>
              <a:t>約6,000円</a:t>
            </a:r>
          </a:p>
        </p:txBody>
      </p:sp>
      <p:sp>
        <p:nvSpPr>
          <p:cNvPr id="41" name="TextBox 40"/>
          <p:cNvSpPr txBox="1"/>
          <p:nvPr/>
        </p:nvSpPr>
        <p:spPr>
          <a:xfrm>
            <a:off x="7797800" y="3822700"/>
            <a:ext cx="3302000" cy="330200"/>
          </a:xfrm>
          <a:prstGeom prst="rect">
            <a:avLst/>
          </a:prstGeom>
          <a:noFill/>
        </p:spPr>
        <p:txBody>
          <a:bodyPr wrap="square" anchor="t" lIns="25400" rIns="25400" tIns="12700" bIns="12700">
            <a:spAutoFit/>
          </a:bodyPr>
          <a:lstStyle/>
          <a:p>
            <a:pPr algn="l">
              <a:lnSpc>
                <a:spcPct val="125000"/>
              </a:lnSpc>
            </a:pPr>
            <a:r>
              <a:rPr sz="900" b="0">
                <a:solidFill>
                  <a:srgbClr val="8A8F9A"/>
                </a:solidFill>
                <a:latin typeface="Meiryo"/>
                <a:ea typeface="メイリオ"/>
              </a:rPr>
              <a:t>自費でもまかなえる範囲です</a:t>
            </a:r>
          </a:p>
        </p:txBody>
      </p:sp>
      <p:sp>
        <p:nvSpPr>
          <p:cNvPr id="42" name="Rectangle 41"/>
          <p:cNvSpPr/>
          <p:nvPr/>
        </p:nvSpPr>
        <p:spPr>
          <a:xfrm>
            <a:off x="7797800" y="4165600"/>
            <a:ext cx="3302000" cy="12700"/>
          </a:xfrm>
          <a:prstGeom prst="rect">
            <a:avLst/>
          </a:prstGeom>
          <a:solidFill>
            <a:srgbClr val="C9CB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97800" y="4292600"/>
            <a:ext cx="1651000" cy="254000"/>
          </a:xfrm>
          <a:prstGeom prst="rect">
            <a:avLst/>
          </a:prstGeom>
          <a:noFill/>
        </p:spPr>
        <p:txBody>
          <a:bodyPr wrap="square" anchor="t" lIns="25400" rIns="25400" tIns="12700" bIns="12700">
            <a:spAutoFit/>
          </a:bodyPr>
          <a:lstStyle/>
          <a:p>
            <a:pPr algn="l"/>
            <a:r>
              <a:rPr sz="1200" b="1">
                <a:solidFill>
                  <a:srgbClr val="222838"/>
                </a:solidFill>
                <a:latin typeface="Meiryo"/>
                <a:ea typeface="メイリオ"/>
              </a:rPr>
              <a:t>合計</a:t>
            </a:r>
          </a:p>
        </p:txBody>
      </p:sp>
      <p:sp>
        <p:nvSpPr>
          <p:cNvPr id="44" name="TextBox 43"/>
          <p:cNvSpPr txBox="1"/>
          <p:nvPr/>
        </p:nvSpPr>
        <p:spPr>
          <a:xfrm>
            <a:off x="9448800" y="4279900"/>
            <a:ext cx="1651000" cy="279400"/>
          </a:xfrm>
          <a:prstGeom prst="rect">
            <a:avLst/>
          </a:prstGeom>
          <a:noFill/>
        </p:spPr>
        <p:txBody>
          <a:bodyPr wrap="square" anchor="t" lIns="25400" rIns="25400" tIns="12700" bIns="12700">
            <a:spAutoFit/>
          </a:bodyPr>
          <a:lstStyle/>
          <a:p>
            <a:pPr algn="r"/>
            <a:r>
              <a:rPr sz="1500" b="1">
                <a:solidFill>
                  <a:srgbClr val="C0392B"/>
                </a:solidFill>
                <a:latin typeface="Meiryo"/>
                <a:ea typeface="メイリオ"/>
              </a:rPr>
              <a:t>約3〜4万円</a:t>
            </a:r>
          </a:p>
        </p:txBody>
      </p:sp>
      <p:sp>
        <p:nvSpPr>
          <p:cNvPr id="45" name="TextBox 44"/>
          <p:cNvSpPr txBox="1"/>
          <p:nvPr/>
        </p:nvSpPr>
        <p:spPr>
          <a:xfrm>
            <a:off x="7797800" y="4673600"/>
            <a:ext cx="3302000" cy="381000"/>
          </a:xfrm>
          <a:prstGeom prst="rect">
            <a:avLst/>
          </a:prstGeom>
          <a:noFill/>
        </p:spPr>
        <p:txBody>
          <a:bodyPr wrap="square" anchor="t" lIns="25400" rIns="25400" tIns="12700" bIns="12700">
            <a:spAutoFit/>
          </a:bodyPr>
          <a:lstStyle/>
          <a:p>
            <a:pPr algn="l">
              <a:lnSpc>
                <a:spcPct val="130000"/>
              </a:lnSpc>
            </a:pPr>
            <a:r>
              <a:rPr sz="900" b="0">
                <a:solidFill>
                  <a:srgbClr val="8A8F9A"/>
                </a:solidFill>
                <a:latin typeface="Meiryo"/>
                <a:ea typeface="メイリオ"/>
              </a:rPr>
              <a:t>騒音計は学内で借りられれば0円、小物は自費でもまかなえるので、下がる余地があります。</a:t>
            </a:r>
          </a:p>
        </p:txBody>
      </p:sp>
      <p:sp>
        <p:nvSpPr>
          <p:cNvPr id="46" name="Rectangle 45"/>
          <p:cNvSpPr/>
          <p:nvPr/>
        </p:nvSpPr>
        <p:spPr>
          <a:xfrm>
            <a:off x="889000" y="5257800"/>
            <a:ext cx="10414000" cy="558800"/>
          </a:xfrm>
          <a:prstGeom prst="rect">
            <a:avLst/>
          </a:prstGeom>
          <a:solidFill>
            <a:srgbClr val="FDF7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89000" y="5257800"/>
            <a:ext cx="50800" cy="558800"/>
          </a:xfrm>
          <a:prstGeom prst="rect">
            <a:avLst/>
          </a:prstGeom>
          <a:solidFill>
            <a:srgbClr val="E0A5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17600" y="5397500"/>
            <a:ext cx="10033000" cy="304800"/>
          </a:xfrm>
          <a:prstGeom prst="rect">
            <a:avLst/>
          </a:prstGeom>
          <a:noFill/>
        </p:spPr>
        <p:txBody>
          <a:bodyPr wrap="square" anchor="t" lIns="25400" rIns="25400" tIns="12700" bIns="12700">
            <a:spAutoFit/>
          </a:bodyPr>
          <a:lstStyle/>
          <a:p>
            <a:pPr algn="l"/>
            <a:r>
              <a:rPr sz="1200" b="1">
                <a:solidFill>
                  <a:srgbClr val="222838"/>
                </a:solidFill>
                <a:latin typeface="Meiryo"/>
                <a:ea typeface="メイリオ"/>
              </a:rPr>
              <a:t>比較の要点：</a:t>
            </a:r>
            <a:r>
              <a:rPr sz="1200" b="0">
                <a:solidFill>
                  <a:srgbClr val="595F6E"/>
                </a:solidFill>
                <a:latin typeface="Meiryo"/>
                <a:ea typeface="メイリオ"/>
              </a:rPr>
              <a:t>レンタル3回 13,140円 ＜ 新品 25,909円。ただし天候で1〜2回借り直すとほぼ並びます。実質の差額は1万円前後です。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58800" y="177800"/>
            <a:ext cx="17780" cy="65024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6600" y="584200"/>
            <a:ext cx="381000" cy="762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44600" y="381000"/>
            <a:ext cx="10160000" cy="508000"/>
          </a:xfrm>
          <a:prstGeom prst="rect">
            <a:avLst/>
          </a:prstGeom>
          <a:noFill/>
        </p:spPr>
        <p:txBody>
          <a:bodyPr wrap="square" anchor="t" lIns="25400" rIns="25400" tIns="12700" bIns="12700">
            <a:spAutoFit/>
          </a:bodyPr>
          <a:lstStyle/>
          <a:p>
            <a:pPr algn="l"/>
            <a:r>
              <a:rPr sz="2200" b="1" spc="250">
                <a:solidFill>
                  <a:srgbClr val="222838"/>
                </a:solidFill>
                <a:latin typeface="Meiryo"/>
                <a:ea typeface="メイリオ"/>
              </a:rPr>
              <a:t>議題②　この収録、規程のうえでそのまま進めてよいでしょうか</a:t>
            </a:r>
          </a:p>
        </p:txBody>
      </p:sp>
      <p:sp>
        <p:nvSpPr>
          <p:cNvPr id="5" name="Rectangle 4"/>
          <p:cNvSpPr/>
          <p:nvPr/>
        </p:nvSpPr>
        <p:spPr>
          <a:xfrm>
            <a:off x="558800" y="1143000"/>
            <a:ext cx="11049000" cy="15240"/>
          </a:xfrm>
          <a:prstGeom prst="rect">
            <a:avLst/>
          </a:prstGeom>
          <a:solidFill>
            <a:srgbClr val="2228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6600" y="6426200"/>
            <a:ext cx="1397000" cy="254000"/>
          </a:xfrm>
          <a:prstGeom prst="rect">
            <a:avLst/>
          </a:prstGeom>
          <a:noFill/>
        </p:spPr>
        <p:txBody>
          <a:bodyPr wrap="square" anchor="t" lIns="25400" rIns="25400" tIns="12700" bIns="12700">
            <a:spAutoFit/>
          </a:bodyPr>
          <a:lstStyle/>
          <a:p>
            <a:pPr algn="l"/>
            <a:r>
              <a:rPr sz="1100" b="0">
                <a:solidFill>
                  <a:srgbClr val="8A8F9A"/>
                </a:solidFill>
                <a:latin typeface="Meiryo"/>
                <a:ea typeface="メイリオ"/>
              </a:rPr>
              <a:t>2026/09/15</a:t>
            </a:r>
          </a:p>
        </p:txBody>
      </p:sp>
      <p:sp>
        <p:nvSpPr>
          <p:cNvPr id="7" name="Rectangle 6"/>
          <p:cNvSpPr/>
          <p:nvPr/>
        </p:nvSpPr>
        <p:spPr>
          <a:xfrm>
            <a:off x="3784600" y="6375400"/>
            <a:ext cx="11176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050" b="0">
                <a:solidFill>
                  <a:srgbClr val="8A8F9A"/>
                </a:solidFill>
                <a:latin typeface="Meiryo"/>
                <a:ea typeface="メイリオ"/>
              </a:rPr>
              <a:t>① 機材購入</a:t>
            </a:r>
          </a:p>
        </p:txBody>
      </p:sp>
      <p:sp>
        <p:nvSpPr>
          <p:cNvPr id="8" name="Rectangle 7"/>
          <p:cNvSpPr/>
          <p:nvPr/>
        </p:nvSpPr>
        <p:spPr>
          <a:xfrm>
            <a:off x="5003800" y="6375400"/>
            <a:ext cx="1117600" cy="279400"/>
          </a:xfrm>
          <a:prstGeom prst="rect">
            <a:avLst/>
          </a:prstGeom>
          <a:solidFill>
            <a:srgbClr val="232B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050" b="1">
                <a:solidFill>
                  <a:srgbClr val="FFFFFF"/>
                </a:solidFill>
                <a:latin typeface="Meiryo"/>
                <a:ea typeface="メイリオ"/>
              </a:rPr>
              <a:t>② 規程照会</a:t>
            </a:r>
          </a:p>
        </p:txBody>
      </p:sp>
      <p:sp>
        <p:nvSpPr>
          <p:cNvPr id="9" name="Rectangle 8"/>
          <p:cNvSpPr/>
          <p:nvPr/>
        </p:nvSpPr>
        <p:spPr>
          <a:xfrm>
            <a:off x="6223000" y="6375400"/>
            <a:ext cx="9652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050" b="0">
                <a:solidFill>
                  <a:srgbClr val="8A8F9A"/>
                </a:solidFill>
                <a:latin typeface="Meiryo"/>
                <a:ea typeface="メイリオ"/>
              </a:rPr>
              <a:t>③ 騒音計</a:t>
            </a:r>
          </a:p>
        </p:txBody>
      </p:sp>
      <p:sp>
        <p:nvSpPr>
          <p:cNvPr id="10" name="Rectangle 9"/>
          <p:cNvSpPr/>
          <p:nvPr/>
        </p:nvSpPr>
        <p:spPr>
          <a:xfrm>
            <a:off x="7289800" y="6375400"/>
            <a:ext cx="11176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050" b="0">
                <a:solidFill>
                  <a:srgbClr val="8A8F9A"/>
                </a:solidFill>
                <a:latin typeface="Meiryo"/>
                <a:ea typeface="メイリオ"/>
              </a:rPr>
              <a:t>④ 提出期限</a:t>
            </a:r>
          </a:p>
        </p:txBody>
      </p:sp>
      <p:sp>
        <p:nvSpPr>
          <p:cNvPr id="11" name="TextBox 10"/>
          <p:cNvSpPr txBox="1"/>
          <p:nvPr/>
        </p:nvSpPr>
        <p:spPr>
          <a:xfrm>
            <a:off x="11049000" y="6426200"/>
            <a:ext cx="508000" cy="254000"/>
          </a:xfrm>
          <a:prstGeom prst="rect">
            <a:avLst/>
          </a:prstGeom>
          <a:noFill/>
        </p:spPr>
        <p:txBody>
          <a:bodyPr wrap="square" anchor="t" lIns="25400" rIns="25400" tIns="12700" bIns="12700">
            <a:spAutoFit/>
          </a:bodyPr>
          <a:lstStyle/>
          <a:p>
            <a:pPr algn="r"/>
            <a:r>
              <a:rPr sz="1100" b="0">
                <a:solidFill>
                  <a:srgbClr val="8A8F9A"/>
                </a:solidFill>
                <a:latin typeface="Meiryo"/>
                <a:ea typeface="メイリオ"/>
              </a:rPr>
              <a:t>3</a:t>
            </a:r>
          </a:p>
        </p:txBody>
      </p:sp>
      <p:sp>
        <p:nvSpPr>
          <p:cNvPr id="12" name="TextBox 11"/>
          <p:cNvSpPr txBox="1"/>
          <p:nvPr/>
        </p:nvSpPr>
        <p:spPr>
          <a:xfrm>
            <a:off x="889000" y="1270000"/>
            <a:ext cx="10414000" cy="254000"/>
          </a:xfrm>
          <a:prstGeom prst="rect">
            <a:avLst/>
          </a:prstGeom>
          <a:noFill/>
        </p:spPr>
        <p:txBody>
          <a:bodyPr wrap="square" anchor="t" lIns="25400" rIns="25400" tIns="12700" bIns="12700">
            <a:spAutoFit/>
          </a:bodyPr>
          <a:lstStyle/>
          <a:p>
            <a:pPr algn="l"/>
            <a:r>
              <a:rPr sz="1200" b="0">
                <a:solidFill>
                  <a:srgbClr val="8A8F9A"/>
                </a:solidFill>
                <a:latin typeface="Meiryo"/>
                <a:ea typeface="メイリオ"/>
              </a:rPr>
              <a:t>公道での録音なので、通行人の声が偶然入る可能性があります。対策は先に決めてあります。</a:t>
            </a:r>
          </a:p>
        </p:txBody>
      </p:sp>
      <p:sp>
        <p:nvSpPr>
          <p:cNvPr id="13" name="Rectangle 12"/>
          <p:cNvSpPr/>
          <p:nvPr/>
        </p:nvSpPr>
        <p:spPr>
          <a:xfrm>
            <a:off x="889000" y="1625600"/>
            <a:ext cx="5080000" cy="21336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092200" y="1803400"/>
            <a:ext cx="965200" cy="279400"/>
          </a:xfrm>
          <a:prstGeom prst="rect">
            <a:avLst/>
          </a:prstGeom>
          <a:noFill/>
          <a:ln w="15240">
            <a:solidFill>
              <a:srgbClr val="7E6F98"/>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150" b="1">
                <a:solidFill>
                  <a:srgbClr val="7E6F98"/>
                </a:solidFill>
                <a:latin typeface="Meiryo"/>
                <a:ea typeface="メイリオ"/>
              </a:rPr>
              <a:t>収録の中身</a:t>
            </a:r>
          </a:p>
        </p:txBody>
      </p:sp>
      <p:sp>
        <p:nvSpPr>
          <p:cNvPr id="15" name="Rectangle 14"/>
          <p:cNvSpPr/>
          <p:nvPr/>
        </p:nvSpPr>
        <p:spPr>
          <a:xfrm>
            <a:off x="1117600" y="2305050"/>
            <a:ext cx="76200" cy="762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20800" y="2235200"/>
            <a:ext cx="4445000" cy="406400"/>
          </a:xfrm>
          <a:prstGeom prst="rect">
            <a:avLst/>
          </a:prstGeom>
          <a:noFill/>
        </p:spPr>
        <p:txBody>
          <a:bodyPr wrap="square" anchor="t" lIns="25400" rIns="25400" tIns="12700" bIns="12700">
            <a:spAutoFit/>
          </a:bodyPr>
          <a:lstStyle/>
          <a:p>
            <a:pPr algn="l">
              <a:lnSpc>
                <a:spcPct val="134000"/>
              </a:lnSpc>
            </a:pPr>
            <a:r>
              <a:rPr sz="1050" b="1">
                <a:solidFill>
                  <a:srgbClr val="222838"/>
                </a:solidFill>
                <a:latin typeface="Meiryo"/>
                <a:ea typeface="メイリオ"/>
              </a:rPr>
              <a:t>場所と内容：</a:t>
            </a:r>
            <a:r>
              <a:rPr sz="1050" b="0">
                <a:solidFill>
                  <a:srgbClr val="595F6E"/>
                </a:solidFill>
                <a:latin typeface="Meiryo"/>
                <a:ea typeface="メイリオ"/>
              </a:rPr>
              <a:t>公道と私有地（許可取得）での交通音の4方向録音</a:t>
            </a:r>
          </a:p>
        </p:txBody>
      </p:sp>
      <p:sp>
        <p:nvSpPr>
          <p:cNvPr id="17" name="Rectangle 16"/>
          <p:cNvSpPr/>
          <p:nvPr/>
        </p:nvSpPr>
        <p:spPr>
          <a:xfrm>
            <a:off x="1117600" y="2686050"/>
            <a:ext cx="76200" cy="762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20800" y="2616200"/>
            <a:ext cx="4445000" cy="406400"/>
          </a:xfrm>
          <a:prstGeom prst="rect">
            <a:avLst/>
          </a:prstGeom>
          <a:noFill/>
        </p:spPr>
        <p:txBody>
          <a:bodyPr wrap="square" anchor="t" lIns="25400" rIns="25400" tIns="12700" bIns="12700">
            <a:spAutoFit/>
          </a:bodyPr>
          <a:lstStyle/>
          <a:p>
            <a:pPr algn="l">
              <a:lnSpc>
                <a:spcPct val="134000"/>
              </a:lnSpc>
            </a:pPr>
            <a:r>
              <a:rPr sz="1050" b="1">
                <a:solidFill>
                  <a:srgbClr val="222838"/>
                </a:solidFill>
                <a:latin typeface="Meiryo"/>
                <a:ea typeface="メイリオ"/>
              </a:rPr>
              <a:t>規模：</a:t>
            </a:r>
            <a:r>
              <a:rPr sz="1050" b="0">
                <a:solidFill>
                  <a:srgbClr val="595F6E"/>
                </a:solidFill>
                <a:latin typeface="Meiryo"/>
                <a:ea typeface="メイリオ"/>
              </a:rPr>
              <a:t>計210回＋連続録音100分</a:t>
            </a:r>
          </a:p>
        </p:txBody>
      </p:sp>
      <p:sp>
        <p:nvSpPr>
          <p:cNvPr id="19" name="Rectangle 18"/>
          <p:cNvSpPr/>
          <p:nvPr/>
        </p:nvSpPr>
        <p:spPr>
          <a:xfrm>
            <a:off x="1117600" y="3067050"/>
            <a:ext cx="76200" cy="762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320800" y="2997200"/>
            <a:ext cx="4445000" cy="406400"/>
          </a:xfrm>
          <a:prstGeom prst="rect">
            <a:avLst/>
          </a:prstGeom>
          <a:noFill/>
        </p:spPr>
        <p:txBody>
          <a:bodyPr wrap="square" anchor="t" lIns="25400" rIns="25400" tIns="12700" bIns="12700">
            <a:spAutoFit/>
          </a:bodyPr>
          <a:lstStyle/>
          <a:p>
            <a:pPr algn="l">
              <a:lnSpc>
                <a:spcPct val="134000"/>
              </a:lnSpc>
            </a:pPr>
            <a:r>
              <a:rPr sz="1050" b="1">
                <a:solidFill>
                  <a:srgbClr val="222838"/>
                </a:solidFill>
                <a:latin typeface="Meiryo"/>
                <a:ea typeface="メイリオ"/>
              </a:rPr>
              <a:t>時期：</a:t>
            </a:r>
            <a:r>
              <a:rPr sz="1050" b="0">
                <a:solidFill>
                  <a:srgbClr val="595F6E"/>
                </a:solidFill>
                <a:latin typeface="Meiryo"/>
                <a:ea typeface="メイリオ"/>
              </a:rPr>
              <a:t>2026年9〜11月（天候により変動）</a:t>
            </a:r>
          </a:p>
        </p:txBody>
      </p:sp>
      <p:sp>
        <p:nvSpPr>
          <p:cNvPr id="21" name="Rectangle 20"/>
          <p:cNvSpPr/>
          <p:nvPr/>
        </p:nvSpPr>
        <p:spPr>
          <a:xfrm>
            <a:off x="1117600" y="3448050"/>
            <a:ext cx="76200" cy="762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20800" y="3378200"/>
            <a:ext cx="4445000" cy="406400"/>
          </a:xfrm>
          <a:prstGeom prst="rect">
            <a:avLst/>
          </a:prstGeom>
          <a:noFill/>
        </p:spPr>
        <p:txBody>
          <a:bodyPr wrap="square" anchor="t" lIns="25400" rIns="25400" tIns="12700" bIns="12700">
            <a:spAutoFit/>
          </a:bodyPr>
          <a:lstStyle/>
          <a:p>
            <a:pPr algn="l">
              <a:lnSpc>
                <a:spcPct val="134000"/>
              </a:lnSpc>
            </a:pPr>
            <a:r>
              <a:rPr sz="1050" b="1">
                <a:solidFill>
                  <a:srgbClr val="222838"/>
                </a:solidFill>
                <a:latin typeface="Meiryo"/>
                <a:ea typeface="メイリオ"/>
              </a:rPr>
              <a:t>収録者：</a:t>
            </a:r>
            <a:r>
              <a:rPr sz="1050" b="0">
                <a:solidFill>
                  <a:srgbClr val="595F6E"/>
                </a:solidFill>
                <a:latin typeface="Meiryo"/>
                <a:ea typeface="メイリオ"/>
              </a:rPr>
              <a:t>私1名（協力者の運転は私有地のみ・保険を事前確認）</a:t>
            </a:r>
          </a:p>
        </p:txBody>
      </p:sp>
      <p:sp>
        <p:nvSpPr>
          <p:cNvPr id="23" name="Rectangle 22"/>
          <p:cNvSpPr/>
          <p:nvPr/>
        </p:nvSpPr>
        <p:spPr>
          <a:xfrm>
            <a:off x="6223000" y="1625600"/>
            <a:ext cx="5080000" cy="21336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26200" y="1803400"/>
            <a:ext cx="1270000" cy="279400"/>
          </a:xfrm>
          <a:prstGeom prst="rect">
            <a:avLst/>
          </a:prstGeom>
          <a:noFill/>
          <a:ln w="1524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150" b="1">
                <a:solidFill>
                  <a:srgbClr val="2E7D5B"/>
                </a:solidFill>
                <a:latin typeface="Meiryo"/>
                <a:ea typeface="メイリオ"/>
              </a:rPr>
              <a:t>決めてある対策</a:t>
            </a:r>
          </a:p>
        </p:txBody>
      </p:sp>
      <p:sp>
        <p:nvSpPr>
          <p:cNvPr id="25" name="Rectangle 24"/>
          <p:cNvSpPr/>
          <p:nvPr/>
        </p:nvSpPr>
        <p:spPr>
          <a:xfrm>
            <a:off x="6426200" y="2305050"/>
            <a:ext cx="76200" cy="7620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29400" y="2235200"/>
            <a:ext cx="4445000" cy="406400"/>
          </a:xfrm>
          <a:prstGeom prst="rect">
            <a:avLst/>
          </a:prstGeom>
          <a:noFill/>
        </p:spPr>
        <p:txBody>
          <a:bodyPr wrap="square" anchor="t" lIns="25400" rIns="25400" tIns="12700" bIns="12700">
            <a:spAutoFit/>
          </a:bodyPr>
          <a:lstStyle/>
          <a:p>
            <a:pPr algn="l">
              <a:lnSpc>
                <a:spcPct val="134000"/>
              </a:lnSpc>
            </a:pPr>
            <a:r>
              <a:rPr sz="1050" b="0">
                <a:solidFill>
                  <a:srgbClr val="595F6E"/>
                </a:solidFill>
                <a:latin typeface="Meiryo"/>
                <a:ea typeface="メイリオ"/>
              </a:rPr>
              <a:t>会話がはっきり聞き取れる区間は解析から除外する</a:t>
            </a:r>
          </a:p>
        </p:txBody>
      </p:sp>
      <p:sp>
        <p:nvSpPr>
          <p:cNvPr id="27" name="Rectangle 26"/>
          <p:cNvSpPr/>
          <p:nvPr/>
        </p:nvSpPr>
        <p:spPr>
          <a:xfrm>
            <a:off x="6426200" y="2686050"/>
            <a:ext cx="76200" cy="7620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29400" y="2616200"/>
            <a:ext cx="4445000" cy="406400"/>
          </a:xfrm>
          <a:prstGeom prst="rect">
            <a:avLst/>
          </a:prstGeom>
          <a:noFill/>
        </p:spPr>
        <p:txBody>
          <a:bodyPr wrap="square" anchor="t" lIns="25400" rIns="25400" tIns="12700" bIns="12700">
            <a:spAutoFit/>
          </a:bodyPr>
          <a:lstStyle/>
          <a:p>
            <a:pPr algn="l">
              <a:lnSpc>
                <a:spcPct val="134000"/>
              </a:lnSpc>
            </a:pPr>
            <a:r>
              <a:rPr sz="1050" b="0">
                <a:solidFill>
                  <a:srgbClr val="595F6E"/>
                </a:solidFill>
                <a:latin typeface="Meiryo"/>
                <a:ea typeface="メイリオ"/>
              </a:rPr>
              <a:t>注釈用の動画は非公開。顔とナンバーはマスキングまたは削除</a:t>
            </a:r>
          </a:p>
        </p:txBody>
      </p:sp>
      <p:sp>
        <p:nvSpPr>
          <p:cNvPr id="29" name="Rectangle 28"/>
          <p:cNvSpPr/>
          <p:nvPr/>
        </p:nvSpPr>
        <p:spPr>
          <a:xfrm>
            <a:off x="6426200" y="3067050"/>
            <a:ext cx="76200" cy="7620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2997200"/>
            <a:ext cx="4445000" cy="406400"/>
          </a:xfrm>
          <a:prstGeom prst="rect">
            <a:avLst/>
          </a:prstGeom>
          <a:noFill/>
        </p:spPr>
        <p:txBody>
          <a:bodyPr wrap="square" anchor="t" lIns="25400" rIns="25400" tIns="12700" bIns="12700">
            <a:spAutoFit/>
          </a:bodyPr>
          <a:lstStyle/>
          <a:p>
            <a:pPr algn="l">
              <a:lnSpc>
                <a:spcPct val="134000"/>
              </a:lnSpc>
            </a:pPr>
            <a:r>
              <a:rPr sz="1050" b="0">
                <a:solidFill>
                  <a:srgbClr val="595F6E"/>
                </a:solidFill>
                <a:latin typeface="Meiryo"/>
                <a:ea typeface="メイリオ"/>
              </a:rPr>
              <a:t>原本は暗号化保存・卒論提出後30日以内に削除</a:t>
            </a:r>
          </a:p>
        </p:txBody>
      </p:sp>
      <p:sp>
        <p:nvSpPr>
          <p:cNvPr id="31" name="Rectangle 30"/>
          <p:cNvSpPr/>
          <p:nvPr/>
        </p:nvSpPr>
        <p:spPr>
          <a:xfrm>
            <a:off x="6426200" y="3448050"/>
            <a:ext cx="76200" cy="7620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29400" y="3378200"/>
            <a:ext cx="4445000" cy="406400"/>
          </a:xfrm>
          <a:prstGeom prst="rect">
            <a:avLst/>
          </a:prstGeom>
          <a:noFill/>
        </p:spPr>
        <p:txBody>
          <a:bodyPr wrap="square" anchor="t" lIns="25400" rIns="25400" tIns="12700" bIns="12700">
            <a:spAutoFit/>
          </a:bodyPr>
          <a:lstStyle/>
          <a:p>
            <a:pPr algn="l">
              <a:lnSpc>
                <a:spcPct val="134000"/>
              </a:lnSpc>
            </a:pPr>
            <a:r>
              <a:rPr sz="1050" b="0">
                <a:solidFill>
                  <a:srgbClr val="595F6E"/>
                </a:solidFill>
                <a:latin typeface="Meiryo"/>
                <a:ea typeface="メイリオ"/>
              </a:rPr>
              <a:t>通学時間帯の学校周辺はルートから外す／説明カードを携行</a:t>
            </a:r>
          </a:p>
        </p:txBody>
      </p:sp>
      <p:sp>
        <p:nvSpPr>
          <p:cNvPr id="33" name="Rectangle 32"/>
          <p:cNvSpPr/>
          <p:nvPr/>
        </p:nvSpPr>
        <p:spPr>
          <a:xfrm>
            <a:off x="889000" y="3962400"/>
            <a:ext cx="10414000" cy="1473200"/>
          </a:xfrm>
          <a:prstGeom prst="rect">
            <a:avLst/>
          </a:prstGeom>
          <a:solidFill>
            <a:srgbClr val="FDF7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89000" y="3962400"/>
            <a:ext cx="50800" cy="1473200"/>
          </a:xfrm>
          <a:prstGeom prst="rect">
            <a:avLst/>
          </a:prstGeom>
          <a:solidFill>
            <a:srgbClr val="E0A5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7600" y="4114800"/>
            <a:ext cx="9906000" cy="254000"/>
          </a:xfrm>
          <a:prstGeom prst="rect">
            <a:avLst/>
          </a:prstGeom>
          <a:noFill/>
        </p:spPr>
        <p:txBody>
          <a:bodyPr wrap="square" anchor="t" lIns="25400" rIns="25400" tIns="12700" bIns="12700">
            <a:spAutoFit/>
          </a:bodyPr>
          <a:lstStyle/>
          <a:p>
            <a:pPr algn="l"/>
            <a:r>
              <a:rPr sz="1400" b="1">
                <a:solidFill>
                  <a:srgbClr val="222838"/>
                </a:solidFill>
                <a:latin typeface="Meiryo"/>
                <a:ea typeface="メイリオ"/>
              </a:rPr>
              <a:t>特に伺いたいのは、この2点です</a:t>
            </a:r>
          </a:p>
        </p:txBody>
      </p:sp>
      <p:sp>
        <p:nvSpPr>
          <p:cNvPr id="36" name="Oval 35"/>
          <p:cNvSpPr/>
          <p:nvPr/>
        </p:nvSpPr>
        <p:spPr>
          <a:xfrm>
            <a:off x="1143000" y="4483100"/>
            <a:ext cx="254000" cy="254000"/>
          </a:xfrm>
          <a:prstGeom prst="ellipse">
            <a:avLst/>
          </a:prstGeom>
          <a:solidFill>
            <a:srgbClr val="E0A5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100" b="1">
                <a:solidFill>
                  <a:srgbClr val="FFFFFF"/>
                </a:solidFill>
                <a:latin typeface="Meiryo"/>
                <a:ea typeface="メイリオ"/>
              </a:rPr>
              <a:t>1</a:t>
            </a:r>
          </a:p>
        </p:txBody>
      </p:sp>
      <p:sp>
        <p:nvSpPr>
          <p:cNvPr id="37" name="TextBox 36"/>
          <p:cNvSpPr txBox="1"/>
          <p:nvPr/>
        </p:nvSpPr>
        <p:spPr>
          <a:xfrm>
            <a:off x="1498600" y="4470400"/>
            <a:ext cx="9550400" cy="457200"/>
          </a:xfrm>
          <a:prstGeom prst="rect">
            <a:avLst/>
          </a:prstGeom>
          <a:noFill/>
        </p:spPr>
        <p:txBody>
          <a:bodyPr wrap="square" anchor="t" lIns="25400" rIns="25400" tIns="12700" bIns="12700">
            <a:spAutoFit/>
          </a:bodyPr>
          <a:lstStyle/>
          <a:p>
            <a:pPr algn="l">
              <a:lnSpc>
                <a:spcPct val="135000"/>
              </a:lnSpc>
            </a:pPr>
            <a:r>
              <a:rPr sz="1150" b="0">
                <a:solidFill>
                  <a:srgbClr val="222838"/>
                </a:solidFill>
                <a:latin typeface="Meiryo"/>
                <a:ea typeface="メイリオ"/>
              </a:rPr>
              <a:t>この収録と利用について、学内の倫理審査や届け出は必要でしょうか。</a:t>
            </a:r>
          </a:p>
        </p:txBody>
      </p:sp>
      <p:sp>
        <p:nvSpPr>
          <p:cNvPr id="38" name="Oval 37"/>
          <p:cNvSpPr/>
          <p:nvPr/>
        </p:nvSpPr>
        <p:spPr>
          <a:xfrm>
            <a:off x="1143000" y="4914900"/>
            <a:ext cx="254000" cy="254000"/>
          </a:xfrm>
          <a:prstGeom prst="ellipse">
            <a:avLst/>
          </a:prstGeom>
          <a:solidFill>
            <a:srgbClr val="E0A5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100" b="1">
                <a:solidFill>
                  <a:srgbClr val="FFFFFF"/>
                </a:solidFill>
                <a:latin typeface="Meiryo"/>
                <a:ea typeface="メイリオ"/>
              </a:rPr>
              <a:t>2</a:t>
            </a:r>
          </a:p>
        </p:txBody>
      </p:sp>
      <p:sp>
        <p:nvSpPr>
          <p:cNvPr id="39" name="TextBox 38"/>
          <p:cNvSpPr txBox="1"/>
          <p:nvPr/>
        </p:nvSpPr>
        <p:spPr>
          <a:xfrm>
            <a:off x="1498600" y="4902200"/>
            <a:ext cx="9550400" cy="457200"/>
          </a:xfrm>
          <a:prstGeom prst="rect">
            <a:avLst/>
          </a:prstGeom>
          <a:noFill/>
        </p:spPr>
        <p:txBody>
          <a:bodyPr wrap="square" anchor="t" lIns="25400" rIns="25400" tIns="12700" bIns="12700">
            <a:spAutoFit/>
          </a:bodyPr>
          <a:lstStyle/>
          <a:p>
            <a:pPr algn="l">
              <a:lnSpc>
                <a:spcPct val="135000"/>
              </a:lnSpc>
            </a:pPr>
            <a:r>
              <a:rPr sz="1150" b="0">
                <a:solidFill>
                  <a:srgbClr val="222838"/>
                </a:solidFill>
                <a:latin typeface="Meiryo"/>
                <a:ea typeface="メイリオ"/>
              </a:rPr>
              <a:t>録音データの処理を Google Colab と学外の計算サーバーで行う予定です。人の声が偶然入り得るデータを学外で処理することは、情報管理の規程上問題ないでしょうか。</a:t>
            </a:r>
          </a:p>
        </p:txBody>
      </p:sp>
      <p:sp>
        <p:nvSpPr>
          <p:cNvPr id="40" name="TextBox 39"/>
          <p:cNvSpPr txBox="1"/>
          <p:nvPr/>
        </p:nvSpPr>
        <p:spPr>
          <a:xfrm>
            <a:off x="889000" y="5613400"/>
            <a:ext cx="10414000" cy="508000"/>
          </a:xfrm>
          <a:prstGeom prst="rect">
            <a:avLst/>
          </a:prstGeom>
          <a:noFill/>
        </p:spPr>
        <p:txBody>
          <a:bodyPr wrap="square" anchor="t" lIns="25400" rIns="25400" tIns="12700" bIns="12700">
            <a:spAutoFit/>
          </a:bodyPr>
          <a:lstStyle/>
          <a:p>
            <a:pPr algn="l">
              <a:lnSpc>
                <a:spcPct val="140000"/>
              </a:lnSpc>
            </a:pPr>
            <a:r>
              <a:rPr sz="1100" b="0">
                <a:solidFill>
                  <a:srgbClr val="595F6E"/>
                </a:solidFill>
                <a:latin typeface="Meiryo"/>
                <a:ea typeface="メイリオ"/>
              </a:rPr>
              <a:t>この場で「進めてよい」と伺えれば、収録開始前の確認事項はこれで全部片づきます。</a:t>
            </a:r>
          </a:p>
          <a:p>
            <a:pPr algn="l">
              <a:lnSpc>
                <a:spcPct val="140000"/>
              </a:lnSpc>
            </a:pPr>
            <a:r>
              <a:rPr sz="1100" b="0">
                <a:solidFill>
                  <a:srgbClr val="8A8F9A"/>
                </a:solidFill>
                <a:latin typeface="Meiryo"/>
                <a:ea typeface="メイリオ"/>
              </a:rPr>
              <a:t>委員会などへの確認が要ると分かった場合は、その結果を待ち、10月の収録日程を詰めて吸収します。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58800" y="177800"/>
            <a:ext cx="17780" cy="65024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6600" y="584200"/>
            <a:ext cx="381000" cy="762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44600" y="381000"/>
            <a:ext cx="10160000" cy="508000"/>
          </a:xfrm>
          <a:prstGeom prst="rect">
            <a:avLst/>
          </a:prstGeom>
          <a:noFill/>
        </p:spPr>
        <p:txBody>
          <a:bodyPr wrap="square" anchor="t" lIns="25400" rIns="25400" tIns="12700" bIns="12700">
            <a:spAutoFit/>
          </a:bodyPr>
          <a:lstStyle/>
          <a:p>
            <a:pPr algn="l"/>
            <a:r>
              <a:rPr sz="2200" b="1" spc="250">
                <a:solidFill>
                  <a:srgbClr val="222838"/>
                </a:solidFill>
                <a:latin typeface="Meiryo"/>
                <a:ea typeface="メイリオ"/>
              </a:rPr>
              <a:t>議題③④　騒音計の借用先と、卒論の提出期限</a:t>
            </a:r>
          </a:p>
        </p:txBody>
      </p:sp>
      <p:sp>
        <p:nvSpPr>
          <p:cNvPr id="5" name="Rectangle 4"/>
          <p:cNvSpPr/>
          <p:nvPr/>
        </p:nvSpPr>
        <p:spPr>
          <a:xfrm>
            <a:off x="558800" y="1143000"/>
            <a:ext cx="11049000" cy="15240"/>
          </a:xfrm>
          <a:prstGeom prst="rect">
            <a:avLst/>
          </a:prstGeom>
          <a:solidFill>
            <a:srgbClr val="2228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6600" y="6426200"/>
            <a:ext cx="1397000" cy="254000"/>
          </a:xfrm>
          <a:prstGeom prst="rect">
            <a:avLst/>
          </a:prstGeom>
          <a:noFill/>
        </p:spPr>
        <p:txBody>
          <a:bodyPr wrap="square" anchor="t" lIns="25400" rIns="25400" tIns="12700" bIns="12700">
            <a:spAutoFit/>
          </a:bodyPr>
          <a:lstStyle/>
          <a:p>
            <a:pPr algn="l"/>
            <a:r>
              <a:rPr sz="1100" b="0">
                <a:solidFill>
                  <a:srgbClr val="8A8F9A"/>
                </a:solidFill>
                <a:latin typeface="Meiryo"/>
                <a:ea typeface="メイリオ"/>
              </a:rPr>
              <a:t>2026/09/15</a:t>
            </a:r>
          </a:p>
        </p:txBody>
      </p:sp>
      <p:sp>
        <p:nvSpPr>
          <p:cNvPr id="7" name="Rectangle 6"/>
          <p:cNvSpPr/>
          <p:nvPr/>
        </p:nvSpPr>
        <p:spPr>
          <a:xfrm>
            <a:off x="3784600" y="6375400"/>
            <a:ext cx="11176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050" b="0">
                <a:solidFill>
                  <a:srgbClr val="8A8F9A"/>
                </a:solidFill>
                <a:latin typeface="Meiryo"/>
                <a:ea typeface="メイリオ"/>
              </a:rPr>
              <a:t>① 機材購入</a:t>
            </a:r>
          </a:p>
        </p:txBody>
      </p:sp>
      <p:sp>
        <p:nvSpPr>
          <p:cNvPr id="8" name="Rectangle 7"/>
          <p:cNvSpPr/>
          <p:nvPr/>
        </p:nvSpPr>
        <p:spPr>
          <a:xfrm>
            <a:off x="5003800" y="6375400"/>
            <a:ext cx="11176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050" b="0">
                <a:solidFill>
                  <a:srgbClr val="8A8F9A"/>
                </a:solidFill>
                <a:latin typeface="Meiryo"/>
                <a:ea typeface="メイリオ"/>
              </a:rPr>
              <a:t>② 規程照会</a:t>
            </a:r>
          </a:p>
        </p:txBody>
      </p:sp>
      <p:sp>
        <p:nvSpPr>
          <p:cNvPr id="9" name="Rectangle 8"/>
          <p:cNvSpPr/>
          <p:nvPr/>
        </p:nvSpPr>
        <p:spPr>
          <a:xfrm>
            <a:off x="6223000" y="6375400"/>
            <a:ext cx="965200" cy="279400"/>
          </a:xfrm>
          <a:prstGeom prst="rect">
            <a:avLst/>
          </a:prstGeom>
          <a:solidFill>
            <a:srgbClr val="232B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050" b="1">
                <a:solidFill>
                  <a:srgbClr val="FFFFFF"/>
                </a:solidFill>
                <a:latin typeface="Meiryo"/>
                <a:ea typeface="メイリオ"/>
              </a:rPr>
              <a:t>③ 騒音計</a:t>
            </a:r>
          </a:p>
        </p:txBody>
      </p:sp>
      <p:sp>
        <p:nvSpPr>
          <p:cNvPr id="10" name="Rectangle 9"/>
          <p:cNvSpPr/>
          <p:nvPr/>
        </p:nvSpPr>
        <p:spPr>
          <a:xfrm>
            <a:off x="7289800" y="6375400"/>
            <a:ext cx="11176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050" b="0">
                <a:solidFill>
                  <a:srgbClr val="8A8F9A"/>
                </a:solidFill>
                <a:latin typeface="Meiryo"/>
                <a:ea typeface="メイリオ"/>
              </a:rPr>
              <a:t>④ 提出期限</a:t>
            </a:r>
          </a:p>
        </p:txBody>
      </p:sp>
      <p:sp>
        <p:nvSpPr>
          <p:cNvPr id="11" name="TextBox 10"/>
          <p:cNvSpPr txBox="1"/>
          <p:nvPr/>
        </p:nvSpPr>
        <p:spPr>
          <a:xfrm>
            <a:off x="11049000" y="6426200"/>
            <a:ext cx="508000" cy="254000"/>
          </a:xfrm>
          <a:prstGeom prst="rect">
            <a:avLst/>
          </a:prstGeom>
          <a:noFill/>
        </p:spPr>
        <p:txBody>
          <a:bodyPr wrap="square" anchor="t" lIns="25400" rIns="25400" tIns="12700" bIns="12700">
            <a:spAutoFit/>
          </a:bodyPr>
          <a:lstStyle/>
          <a:p>
            <a:pPr algn="r"/>
            <a:r>
              <a:rPr sz="1100" b="0">
                <a:solidFill>
                  <a:srgbClr val="8A8F9A"/>
                </a:solidFill>
                <a:latin typeface="Meiryo"/>
                <a:ea typeface="メイリオ"/>
              </a:rPr>
              <a:t>4</a:t>
            </a:r>
          </a:p>
        </p:txBody>
      </p:sp>
      <p:sp>
        <p:nvSpPr>
          <p:cNvPr id="12" name="Rectangle 11"/>
          <p:cNvSpPr/>
          <p:nvPr/>
        </p:nvSpPr>
        <p:spPr>
          <a:xfrm>
            <a:off x="889000" y="1346200"/>
            <a:ext cx="5080000" cy="20066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89000" y="1346200"/>
            <a:ext cx="5080000" cy="4445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17600" y="1524000"/>
            <a:ext cx="4648200" cy="279400"/>
          </a:xfrm>
          <a:prstGeom prst="rect">
            <a:avLst/>
          </a:prstGeom>
          <a:noFill/>
        </p:spPr>
        <p:txBody>
          <a:bodyPr wrap="square" anchor="t" lIns="25400" rIns="25400" tIns="12700" bIns="12700">
            <a:spAutoFit/>
          </a:bodyPr>
          <a:lstStyle/>
          <a:p>
            <a:pPr algn="l"/>
            <a:r>
              <a:rPr sz="1400" b="1">
                <a:solidFill>
                  <a:srgbClr val="222838"/>
                </a:solidFill>
                <a:latin typeface="Meiryo"/>
                <a:ea typeface="メイリオ"/>
              </a:rPr>
              <a:t>③ 騒音計を学内で借りられませんか</a:t>
            </a:r>
          </a:p>
        </p:txBody>
      </p:sp>
      <p:sp>
        <p:nvSpPr>
          <p:cNvPr id="15" name="Rectangle 14"/>
          <p:cNvSpPr/>
          <p:nvPr/>
        </p:nvSpPr>
        <p:spPr>
          <a:xfrm>
            <a:off x="1117600" y="1974850"/>
            <a:ext cx="76200" cy="7620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20800" y="1905000"/>
            <a:ext cx="4445000" cy="431800"/>
          </a:xfrm>
          <a:prstGeom prst="rect">
            <a:avLst/>
          </a:prstGeom>
          <a:noFill/>
        </p:spPr>
        <p:txBody>
          <a:bodyPr wrap="square" anchor="t" lIns="25400" rIns="25400" tIns="12700" bIns="12700">
            <a:spAutoFit/>
          </a:bodyPr>
          <a:lstStyle/>
          <a:p>
            <a:pPr algn="l">
              <a:lnSpc>
                <a:spcPct val="134000"/>
              </a:lnSpc>
            </a:pPr>
            <a:r>
              <a:rPr sz="1050" b="1">
                <a:solidFill>
                  <a:srgbClr val="222838"/>
                </a:solidFill>
                <a:latin typeface="Meiryo"/>
                <a:ea typeface="メイリオ"/>
              </a:rPr>
              <a:t>何に使うか：</a:t>
            </a:r>
            <a:r>
              <a:rPr sz="1050" b="0">
                <a:solidFill>
                  <a:srgbClr val="595F6E"/>
                </a:solidFill>
                <a:latin typeface="Meiryo"/>
                <a:ea typeface="メイリオ"/>
              </a:rPr>
              <a:t>録音した音が実際に何デシベルだったかに換算するための基準。これが無いと音量の絶対値を言えません</a:t>
            </a:r>
          </a:p>
        </p:txBody>
      </p:sp>
      <p:sp>
        <p:nvSpPr>
          <p:cNvPr id="17" name="Rectangle 16"/>
          <p:cNvSpPr/>
          <p:nvPr/>
        </p:nvSpPr>
        <p:spPr>
          <a:xfrm>
            <a:off x="1117600" y="2432050"/>
            <a:ext cx="76200" cy="7620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20800" y="2362200"/>
            <a:ext cx="4445000" cy="431800"/>
          </a:xfrm>
          <a:prstGeom prst="rect">
            <a:avLst/>
          </a:prstGeom>
          <a:noFill/>
        </p:spPr>
        <p:txBody>
          <a:bodyPr wrap="square" anchor="t" lIns="25400" rIns="25400" tIns="12700" bIns="12700">
            <a:spAutoFit/>
          </a:bodyPr>
          <a:lstStyle/>
          <a:p>
            <a:pPr algn="l">
              <a:lnSpc>
                <a:spcPct val="134000"/>
              </a:lnSpc>
            </a:pPr>
            <a:r>
              <a:rPr sz="1050" b="1">
                <a:solidFill>
                  <a:srgbClr val="222838"/>
                </a:solidFill>
                <a:latin typeface="Meiryo"/>
                <a:ea typeface="メイリオ"/>
              </a:rPr>
              <a:t>要件：</a:t>
            </a:r>
            <a:r>
              <a:rPr sz="1050" b="0">
                <a:solidFill>
                  <a:srgbClr val="595F6E"/>
                </a:solidFill>
                <a:latin typeface="Meiryo"/>
                <a:ea typeface="メイリオ"/>
              </a:rPr>
              <a:t>一定時間の平均音量（LAeq）が表示できるもの。できればJISクラス2相当</a:t>
            </a:r>
          </a:p>
        </p:txBody>
      </p:sp>
      <p:sp>
        <p:nvSpPr>
          <p:cNvPr id="19" name="Rectangle 18"/>
          <p:cNvSpPr/>
          <p:nvPr/>
        </p:nvSpPr>
        <p:spPr>
          <a:xfrm>
            <a:off x="1117600" y="2889250"/>
            <a:ext cx="76200" cy="7620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320800" y="2819400"/>
            <a:ext cx="4445000" cy="431800"/>
          </a:xfrm>
          <a:prstGeom prst="rect">
            <a:avLst/>
          </a:prstGeom>
          <a:noFill/>
        </p:spPr>
        <p:txBody>
          <a:bodyPr wrap="square" anchor="t" lIns="25400" rIns="25400" tIns="12700" bIns="12700">
            <a:spAutoFit/>
          </a:bodyPr>
          <a:lstStyle/>
          <a:p>
            <a:pPr algn="l">
              <a:lnSpc>
                <a:spcPct val="134000"/>
              </a:lnSpc>
            </a:pPr>
            <a:r>
              <a:rPr sz="1050" b="1">
                <a:solidFill>
                  <a:srgbClr val="222838"/>
                </a:solidFill>
                <a:latin typeface="Meiryo"/>
                <a:ea typeface="メイリオ"/>
              </a:rPr>
              <a:t>お願い：</a:t>
            </a:r>
            <a:r>
              <a:rPr sz="1050" b="0">
                <a:solidFill>
                  <a:srgbClr val="595F6E"/>
                </a:solidFill>
                <a:latin typeface="Meiryo"/>
                <a:ea typeface="メイリオ"/>
              </a:rPr>
              <a:t>環境系・建築系・学生実験室など、心当たりはありますでしょうか</a:t>
            </a:r>
          </a:p>
        </p:txBody>
      </p:sp>
      <p:sp>
        <p:nvSpPr>
          <p:cNvPr id="21" name="TextBox 20"/>
          <p:cNvSpPr txBox="1"/>
          <p:nvPr/>
        </p:nvSpPr>
        <p:spPr>
          <a:xfrm>
            <a:off x="1117600" y="3048000"/>
            <a:ext cx="4648200" cy="228600"/>
          </a:xfrm>
          <a:prstGeom prst="rect">
            <a:avLst/>
          </a:prstGeom>
          <a:noFill/>
        </p:spPr>
        <p:txBody>
          <a:bodyPr wrap="square" anchor="t" lIns="25400" rIns="25400" tIns="12700" bIns="12700">
            <a:spAutoFit/>
          </a:bodyPr>
          <a:lstStyle/>
          <a:p>
            <a:pPr algn="l"/>
            <a:r>
              <a:rPr sz="950" b="0">
                <a:solidFill>
                  <a:srgbClr val="8A8F9A"/>
                </a:solidFill>
                <a:latin typeface="Meiryo"/>
                <a:ea typeface="メイリオ"/>
              </a:rPr>
              <a:t>借りられなければ1万円以内で購入します</a:t>
            </a:r>
          </a:p>
        </p:txBody>
      </p:sp>
      <p:sp>
        <p:nvSpPr>
          <p:cNvPr id="22" name="Rectangle 21"/>
          <p:cNvSpPr/>
          <p:nvPr/>
        </p:nvSpPr>
        <p:spPr>
          <a:xfrm>
            <a:off x="6223000" y="1346200"/>
            <a:ext cx="5080000" cy="20066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3000" y="1346200"/>
            <a:ext cx="5080000" cy="44450"/>
          </a:xfrm>
          <a:prstGeom prst="rect">
            <a:avLst/>
          </a:prstGeom>
          <a:solidFill>
            <a:srgbClr val="232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1600" y="1524000"/>
            <a:ext cx="4648200" cy="279400"/>
          </a:xfrm>
          <a:prstGeom prst="rect">
            <a:avLst/>
          </a:prstGeom>
          <a:noFill/>
        </p:spPr>
        <p:txBody>
          <a:bodyPr wrap="square" anchor="t" lIns="25400" rIns="25400" tIns="12700" bIns="12700">
            <a:spAutoFit/>
          </a:bodyPr>
          <a:lstStyle/>
          <a:p>
            <a:pPr algn="l"/>
            <a:r>
              <a:rPr sz="1400" b="1">
                <a:solidFill>
                  <a:srgbClr val="222838"/>
                </a:solidFill>
                <a:latin typeface="Meiryo"/>
                <a:ea typeface="メイリオ"/>
              </a:rPr>
              <a:t>④ 卒論の提出期限と発表日程</a:t>
            </a:r>
          </a:p>
        </p:txBody>
      </p:sp>
      <p:sp>
        <p:nvSpPr>
          <p:cNvPr id="25" name="Rectangle 24"/>
          <p:cNvSpPr/>
          <p:nvPr/>
        </p:nvSpPr>
        <p:spPr>
          <a:xfrm>
            <a:off x="6451600" y="1974850"/>
            <a:ext cx="76200" cy="76200"/>
          </a:xfrm>
          <a:prstGeom prst="rect">
            <a:avLst/>
          </a:prstGeom>
          <a:solidFill>
            <a:srgbClr val="232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54800" y="1905000"/>
            <a:ext cx="4445000" cy="431800"/>
          </a:xfrm>
          <a:prstGeom prst="rect">
            <a:avLst/>
          </a:prstGeom>
          <a:noFill/>
        </p:spPr>
        <p:txBody>
          <a:bodyPr wrap="square" anchor="t" lIns="25400" rIns="25400" tIns="12700" bIns="12700">
            <a:spAutoFit/>
          </a:bodyPr>
          <a:lstStyle/>
          <a:p>
            <a:pPr algn="l">
              <a:lnSpc>
                <a:spcPct val="134000"/>
              </a:lnSpc>
            </a:pPr>
            <a:r>
              <a:rPr sz="1050" b="1">
                <a:solidFill>
                  <a:srgbClr val="222838"/>
                </a:solidFill>
                <a:latin typeface="Meiryo"/>
                <a:ea typeface="メイリオ"/>
              </a:rPr>
              <a:t>伺いたいこと：</a:t>
            </a:r>
            <a:r>
              <a:rPr sz="1050" b="0">
                <a:solidFill>
                  <a:srgbClr val="595F6E"/>
                </a:solidFill>
                <a:latin typeface="Meiryo"/>
                <a:ea typeface="メイリオ"/>
              </a:rPr>
              <a:t>正式な提出期限と、発表の日程を教えてください</a:t>
            </a:r>
          </a:p>
        </p:txBody>
      </p:sp>
      <p:sp>
        <p:nvSpPr>
          <p:cNvPr id="27" name="Rectangle 26"/>
          <p:cNvSpPr/>
          <p:nvPr/>
        </p:nvSpPr>
        <p:spPr>
          <a:xfrm>
            <a:off x="6451600" y="2432050"/>
            <a:ext cx="76200" cy="76200"/>
          </a:xfrm>
          <a:prstGeom prst="rect">
            <a:avLst/>
          </a:prstGeom>
          <a:solidFill>
            <a:srgbClr val="232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54800" y="2362200"/>
            <a:ext cx="4445000" cy="431800"/>
          </a:xfrm>
          <a:prstGeom prst="rect">
            <a:avLst/>
          </a:prstGeom>
          <a:noFill/>
        </p:spPr>
        <p:txBody>
          <a:bodyPr wrap="square" anchor="t" lIns="25400" rIns="25400" tIns="12700" bIns="12700">
            <a:spAutoFit/>
          </a:bodyPr>
          <a:lstStyle/>
          <a:p>
            <a:pPr algn="l">
              <a:lnSpc>
                <a:spcPct val="134000"/>
              </a:lnSpc>
            </a:pPr>
            <a:r>
              <a:rPr sz="1050" b="1">
                <a:solidFill>
                  <a:srgbClr val="222838"/>
                </a:solidFill>
                <a:latin typeface="Meiryo"/>
                <a:ea typeface="メイリオ"/>
              </a:rPr>
              <a:t>いまの前提：</a:t>
            </a:r>
            <a:r>
              <a:rPr sz="1050" b="0">
                <a:solidFill>
                  <a:srgbClr val="595F6E"/>
                </a:solidFill>
                <a:latin typeface="Meiryo"/>
                <a:ea typeface="メイリオ"/>
              </a:rPr>
              <a:t>「12月末までに全実験を終える」を自分で決めた線として動いています</a:t>
            </a:r>
          </a:p>
        </p:txBody>
      </p:sp>
      <p:sp>
        <p:nvSpPr>
          <p:cNvPr id="29" name="Rectangle 28"/>
          <p:cNvSpPr/>
          <p:nvPr/>
        </p:nvSpPr>
        <p:spPr>
          <a:xfrm>
            <a:off x="6451600" y="2889250"/>
            <a:ext cx="76200" cy="76200"/>
          </a:xfrm>
          <a:prstGeom prst="rect">
            <a:avLst/>
          </a:prstGeom>
          <a:solidFill>
            <a:srgbClr val="232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54800" y="2819400"/>
            <a:ext cx="4445000" cy="431800"/>
          </a:xfrm>
          <a:prstGeom prst="rect">
            <a:avLst/>
          </a:prstGeom>
          <a:noFill/>
        </p:spPr>
        <p:txBody>
          <a:bodyPr wrap="square" anchor="t" lIns="25400" rIns="25400" tIns="12700" bIns="12700">
            <a:spAutoFit/>
          </a:bodyPr>
          <a:lstStyle/>
          <a:p>
            <a:pPr algn="l">
              <a:lnSpc>
                <a:spcPct val="134000"/>
              </a:lnSpc>
            </a:pPr>
            <a:r>
              <a:rPr sz="1050" b="1">
                <a:solidFill>
                  <a:srgbClr val="222838"/>
                </a:solidFill>
                <a:latin typeface="Meiryo"/>
                <a:ea typeface="メイリオ"/>
              </a:rPr>
              <a:t>理由：</a:t>
            </a:r>
            <a:r>
              <a:rPr sz="1050" b="0">
                <a:solidFill>
                  <a:srgbClr val="595F6E"/>
                </a:solidFill>
                <a:latin typeface="Meiryo"/>
                <a:ea typeface="メイリオ"/>
              </a:rPr>
              <a:t>1月からは執筆と資料作成だけにしたいので、正式な日程が分かれば収録と解析の逆算を確定できます</a:t>
            </a:r>
          </a:p>
        </p:txBody>
      </p:sp>
      <p:sp>
        <p:nvSpPr>
          <p:cNvPr id="31" name="TextBox 30"/>
          <p:cNvSpPr txBox="1"/>
          <p:nvPr/>
        </p:nvSpPr>
        <p:spPr>
          <a:xfrm>
            <a:off x="889000" y="3581400"/>
            <a:ext cx="6350000" cy="279400"/>
          </a:xfrm>
          <a:prstGeom prst="rect">
            <a:avLst/>
          </a:prstGeom>
          <a:noFill/>
        </p:spPr>
        <p:txBody>
          <a:bodyPr wrap="square" anchor="t" lIns="25400" rIns="25400" tIns="12700" bIns="12700">
            <a:spAutoFit/>
          </a:bodyPr>
          <a:lstStyle/>
          <a:p>
            <a:pPr algn="l"/>
            <a:r>
              <a:rPr sz="1400" b="1">
                <a:solidFill>
                  <a:srgbClr val="222838"/>
                </a:solidFill>
                <a:latin typeface="Meiryo"/>
                <a:ea typeface="メイリオ"/>
              </a:rPr>
              <a:t>承認をいただけた場合の進み方</a:t>
            </a:r>
          </a:p>
        </p:txBody>
      </p:sp>
      <p:sp>
        <p:nvSpPr>
          <p:cNvPr id="32" name="Chevron 31"/>
          <p:cNvSpPr/>
          <p:nvPr/>
        </p:nvSpPr>
        <p:spPr>
          <a:xfrm>
            <a:off x="889000" y="3962400"/>
            <a:ext cx="1879600" cy="685800"/>
          </a:xfrm>
          <a:prstGeom prst="chevron">
            <a:avLst/>
          </a:prstGeom>
          <a:solidFill>
            <a:srgbClr val="FFFFFF"/>
          </a:solidFill>
          <a:ln w="15240">
            <a:solidFill>
              <a:srgbClr val="7E6F98"/>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25400" tIns="0" bIns="0"/>
          <a:lstStyle/>
          <a:p>
            <a:pPr algn="ctr">
              <a:lnSpc>
                <a:spcPct val="120000"/>
              </a:lnSpc>
            </a:pPr>
            <a:r>
              <a:rPr sz="1050" b="1">
                <a:solidFill>
                  <a:srgbClr val="7E6F98"/>
                </a:solidFill>
                <a:latin typeface="Meiryo"/>
                <a:ea typeface="メイリオ"/>
              </a:rPr>
              <a:t>9/15</a:t>
            </a:r>
          </a:p>
          <a:p>
            <a:pPr algn="ctr">
              <a:lnSpc>
                <a:spcPct val="120000"/>
              </a:lnSpc>
            </a:pPr>
            <a:r>
              <a:rPr sz="950" b="0">
                <a:solidFill>
                  <a:srgbClr val="595F6E"/>
                </a:solidFill>
                <a:latin typeface="Meiryo"/>
                <a:ea typeface="メイリオ"/>
              </a:rPr>
              <a:t>承認・発注</a:t>
            </a:r>
          </a:p>
        </p:txBody>
      </p:sp>
      <p:sp>
        <p:nvSpPr>
          <p:cNvPr id="33" name="Chevron 32"/>
          <p:cNvSpPr/>
          <p:nvPr/>
        </p:nvSpPr>
        <p:spPr>
          <a:xfrm>
            <a:off x="2590800" y="3962400"/>
            <a:ext cx="1879600" cy="685800"/>
          </a:xfrm>
          <a:prstGeom prst="chevron">
            <a:avLst/>
          </a:prstGeom>
          <a:solidFill>
            <a:srgbClr val="FFFFFF"/>
          </a:solidFill>
          <a:ln w="15240">
            <a:solidFill>
              <a:srgbClr val="7E6F98"/>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25400" tIns="0" bIns="0"/>
          <a:lstStyle/>
          <a:p>
            <a:pPr algn="ctr">
              <a:lnSpc>
                <a:spcPct val="120000"/>
              </a:lnSpc>
            </a:pPr>
            <a:r>
              <a:rPr sz="1050" b="1">
                <a:solidFill>
                  <a:srgbClr val="7E6F98"/>
                </a:solidFill>
                <a:latin typeface="Meiryo"/>
                <a:ea typeface="メイリオ"/>
              </a:rPr>
              <a:t>9月末</a:t>
            </a:r>
          </a:p>
          <a:p>
            <a:pPr algn="ctr">
              <a:lnSpc>
                <a:spcPct val="120000"/>
              </a:lnSpc>
            </a:pPr>
            <a:r>
              <a:rPr sz="950" b="0">
                <a:solidFill>
                  <a:srgbClr val="595F6E"/>
                </a:solidFill>
                <a:latin typeface="Meiryo"/>
                <a:ea typeface="メイリオ"/>
              </a:rPr>
              <a:t>着荷→動作確認・リハ</a:t>
            </a:r>
          </a:p>
        </p:txBody>
      </p:sp>
      <p:sp>
        <p:nvSpPr>
          <p:cNvPr id="34" name="Chevron 33"/>
          <p:cNvSpPr/>
          <p:nvPr/>
        </p:nvSpPr>
        <p:spPr>
          <a:xfrm>
            <a:off x="4292600" y="3962400"/>
            <a:ext cx="1879600" cy="685800"/>
          </a:xfrm>
          <a:prstGeom prst="chevron">
            <a:avLst/>
          </a:prstGeom>
          <a:solidFill>
            <a:srgbClr val="FFFFFF"/>
          </a:solidFill>
          <a:ln w="15240">
            <a:solidFill>
              <a:srgbClr val="E0A526"/>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25400" tIns="0" bIns="0"/>
          <a:lstStyle/>
          <a:p>
            <a:pPr algn="ctr">
              <a:lnSpc>
                <a:spcPct val="120000"/>
              </a:lnSpc>
            </a:pPr>
            <a:r>
              <a:rPr sz="1050" b="1">
                <a:solidFill>
                  <a:srgbClr val="E0A526"/>
                </a:solidFill>
                <a:latin typeface="Meiryo"/>
                <a:ea typeface="メイリオ"/>
              </a:rPr>
              <a:t>10〜11月中旬</a:t>
            </a:r>
          </a:p>
          <a:p>
            <a:pPr algn="ctr">
              <a:lnSpc>
                <a:spcPct val="120000"/>
              </a:lnSpc>
            </a:pPr>
            <a:r>
              <a:rPr sz="950" b="0">
                <a:solidFill>
                  <a:srgbClr val="595F6E"/>
                </a:solidFill>
                <a:latin typeface="Meiryo"/>
                <a:ea typeface="メイリオ"/>
              </a:rPr>
              <a:t>収録の本番</a:t>
            </a:r>
          </a:p>
        </p:txBody>
      </p:sp>
      <p:sp>
        <p:nvSpPr>
          <p:cNvPr id="35" name="Chevron 34"/>
          <p:cNvSpPr/>
          <p:nvPr/>
        </p:nvSpPr>
        <p:spPr>
          <a:xfrm>
            <a:off x="5994400" y="3962400"/>
            <a:ext cx="1879600" cy="685800"/>
          </a:xfrm>
          <a:prstGeom prst="chevron">
            <a:avLst/>
          </a:prstGeom>
          <a:solidFill>
            <a:srgbClr val="FFFFFF"/>
          </a:solidFill>
          <a:ln w="15240">
            <a:solidFill>
              <a:srgbClr val="E0A526"/>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25400" tIns="0" bIns="0"/>
          <a:lstStyle/>
          <a:p>
            <a:pPr algn="ctr">
              <a:lnSpc>
                <a:spcPct val="120000"/>
              </a:lnSpc>
            </a:pPr>
            <a:r>
              <a:rPr sz="1050" b="1">
                <a:solidFill>
                  <a:srgbClr val="E0A526"/>
                </a:solidFill>
                <a:latin typeface="Meiryo"/>
                <a:ea typeface="メイリオ"/>
              </a:rPr>
              <a:t>11月中旬</a:t>
            </a:r>
          </a:p>
          <a:p>
            <a:pPr algn="ctr">
              <a:lnSpc>
                <a:spcPct val="120000"/>
              </a:lnSpc>
            </a:pPr>
            <a:r>
              <a:rPr sz="950" b="0">
                <a:solidFill>
                  <a:srgbClr val="595F6E"/>
                </a:solidFill>
                <a:latin typeface="Meiryo"/>
                <a:ea typeface="メイリオ"/>
              </a:rPr>
              <a:t>収録と注釈が完了</a:t>
            </a:r>
          </a:p>
        </p:txBody>
      </p:sp>
      <p:sp>
        <p:nvSpPr>
          <p:cNvPr id="36" name="Chevron 35"/>
          <p:cNvSpPr/>
          <p:nvPr/>
        </p:nvSpPr>
        <p:spPr>
          <a:xfrm>
            <a:off x="7696200" y="3962400"/>
            <a:ext cx="1879600" cy="685800"/>
          </a:xfrm>
          <a:prstGeom prst="chevron">
            <a:avLst/>
          </a:prstGeom>
          <a:solidFill>
            <a:srgbClr val="C0392B"/>
          </a:solidFill>
          <a:ln w="1524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25400" tIns="0" bIns="0"/>
          <a:lstStyle/>
          <a:p>
            <a:pPr algn="ctr">
              <a:lnSpc>
                <a:spcPct val="120000"/>
              </a:lnSpc>
            </a:pPr>
            <a:r>
              <a:rPr sz="1050" b="1">
                <a:solidFill>
                  <a:srgbClr val="FFFFFF"/>
                </a:solidFill>
                <a:latin typeface="Meiryo"/>
                <a:ea typeface="メイリオ"/>
              </a:rPr>
              <a:t>12月末</a:t>
            </a:r>
          </a:p>
          <a:p>
            <a:pPr algn="ctr">
              <a:lnSpc>
                <a:spcPct val="120000"/>
              </a:lnSpc>
            </a:pPr>
            <a:r>
              <a:rPr sz="950" b="0">
                <a:solidFill>
                  <a:srgbClr val="FFFFFF"/>
                </a:solidFill>
                <a:latin typeface="Meiryo"/>
                <a:ea typeface="メイリオ"/>
              </a:rPr>
              <a:t>全実験を終了</a:t>
            </a:r>
          </a:p>
        </p:txBody>
      </p:sp>
      <p:sp>
        <p:nvSpPr>
          <p:cNvPr id="37" name="Chevron 36"/>
          <p:cNvSpPr/>
          <p:nvPr/>
        </p:nvSpPr>
        <p:spPr>
          <a:xfrm>
            <a:off x="9398000" y="3962400"/>
            <a:ext cx="1879600" cy="685800"/>
          </a:xfrm>
          <a:prstGeom prst="chevron">
            <a:avLst/>
          </a:prstGeom>
          <a:solidFill>
            <a:srgbClr val="FFFFFF"/>
          </a:solidFill>
          <a:ln w="15240">
            <a:solidFill>
              <a:srgbClr val="232B3E"/>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25400" tIns="0" bIns="0"/>
          <a:lstStyle/>
          <a:p>
            <a:pPr algn="ctr">
              <a:lnSpc>
                <a:spcPct val="120000"/>
              </a:lnSpc>
            </a:pPr>
            <a:r>
              <a:rPr sz="1050" b="1">
                <a:solidFill>
                  <a:srgbClr val="232B3E"/>
                </a:solidFill>
                <a:latin typeface="Meiryo"/>
                <a:ea typeface="メイリオ"/>
              </a:rPr>
              <a:t>1月〜</a:t>
            </a:r>
          </a:p>
          <a:p>
            <a:pPr algn="ctr">
              <a:lnSpc>
                <a:spcPct val="120000"/>
              </a:lnSpc>
            </a:pPr>
            <a:r>
              <a:rPr sz="950" b="0">
                <a:solidFill>
                  <a:srgbClr val="595F6E"/>
                </a:solidFill>
                <a:latin typeface="Meiryo"/>
                <a:ea typeface="メイリオ"/>
              </a:rPr>
              <a:t>執筆に専念</a:t>
            </a:r>
          </a:p>
        </p:txBody>
      </p:sp>
      <p:sp>
        <p:nvSpPr>
          <p:cNvPr id="38" name="Rectangle 37"/>
          <p:cNvSpPr/>
          <p:nvPr/>
        </p:nvSpPr>
        <p:spPr>
          <a:xfrm>
            <a:off x="889000" y="4953000"/>
            <a:ext cx="10414000" cy="558800"/>
          </a:xfrm>
          <a:prstGeom prst="rect">
            <a:avLst/>
          </a:prstGeom>
          <a:solidFill>
            <a:srgbClr val="F2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2200" y="5092700"/>
            <a:ext cx="10033000" cy="304800"/>
          </a:xfrm>
          <a:prstGeom prst="rect">
            <a:avLst/>
          </a:prstGeom>
          <a:noFill/>
        </p:spPr>
        <p:txBody>
          <a:bodyPr wrap="square" anchor="t" lIns="25400" rIns="25400" tIns="12700" bIns="12700">
            <a:spAutoFit/>
          </a:bodyPr>
          <a:lstStyle/>
          <a:p>
            <a:pPr algn="l"/>
            <a:r>
              <a:rPr sz="1150" b="0">
                <a:solidFill>
                  <a:srgbClr val="595F6E"/>
                </a:solidFill>
                <a:latin typeface="Meiryo"/>
                <a:ea typeface="メイリオ"/>
              </a:rPr>
              <a:t>承認後すぐ発注すれば数日で着荷し、9月末のリハに間に合います。</a:t>
            </a:r>
            <a:r>
              <a:rPr sz="1150" b="1">
                <a:solidFill>
                  <a:srgbClr val="222838"/>
                </a:solidFill>
                <a:latin typeface="Meiryo"/>
                <a:ea typeface="メイリオ"/>
              </a:rPr>
              <a:t>録音データを処理する手順は9/1に通し確認まで済ませてあります。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58800" y="177800"/>
            <a:ext cx="17780" cy="65024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6600" y="584200"/>
            <a:ext cx="381000" cy="76200"/>
          </a:xfrm>
          <a:prstGeom prst="rect">
            <a:avLst/>
          </a:prstGeom>
          <a:solidFill>
            <a:srgbClr val="7E6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44600" y="381000"/>
            <a:ext cx="10160000" cy="508000"/>
          </a:xfrm>
          <a:prstGeom prst="rect">
            <a:avLst/>
          </a:prstGeom>
          <a:noFill/>
        </p:spPr>
        <p:txBody>
          <a:bodyPr wrap="square" anchor="t" lIns="25400" rIns="25400" tIns="12700" bIns="12700">
            <a:spAutoFit/>
          </a:bodyPr>
          <a:lstStyle/>
          <a:p>
            <a:pPr algn="l"/>
            <a:r>
              <a:rPr sz="2200" b="1" spc="250">
                <a:solidFill>
                  <a:srgbClr val="222838"/>
                </a:solidFill>
                <a:latin typeface="Meiryo"/>
                <a:ea typeface="メイリオ"/>
              </a:rPr>
              <a:t>（参考）いただきそうな質問への答え</a:t>
            </a:r>
          </a:p>
        </p:txBody>
      </p:sp>
      <p:sp>
        <p:nvSpPr>
          <p:cNvPr id="5" name="Rectangle 4"/>
          <p:cNvSpPr/>
          <p:nvPr/>
        </p:nvSpPr>
        <p:spPr>
          <a:xfrm>
            <a:off x="558800" y="1143000"/>
            <a:ext cx="11049000" cy="15240"/>
          </a:xfrm>
          <a:prstGeom prst="rect">
            <a:avLst/>
          </a:prstGeom>
          <a:solidFill>
            <a:srgbClr val="2228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6600" y="6426200"/>
            <a:ext cx="1397000" cy="254000"/>
          </a:xfrm>
          <a:prstGeom prst="rect">
            <a:avLst/>
          </a:prstGeom>
          <a:noFill/>
        </p:spPr>
        <p:txBody>
          <a:bodyPr wrap="square" anchor="t" lIns="25400" rIns="25400" tIns="12700" bIns="12700">
            <a:spAutoFit/>
          </a:bodyPr>
          <a:lstStyle/>
          <a:p>
            <a:pPr algn="l"/>
            <a:r>
              <a:rPr sz="1100" b="0">
                <a:solidFill>
                  <a:srgbClr val="8A8F9A"/>
                </a:solidFill>
                <a:latin typeface="Meiryo"/>
                <a:ea typeface="メイリオ"/>
              </a:rPr>
              <a:t>2026/09/15</a:t>
            </a:r>
          </a:p>
        </p:txBody>
      </p:sp>
      <p:sp>
        <p:nvSpPr>
          <p:cNvPr id="7" name="Rectangle 6"/>
          <p:cNvSpPr/>
          <p:nvPr/>
        </p:nvSpPr>
        <p:spPr>
          <a:xfrm>
            <a:off x="3784600" y="6375400"/>
            <a:ext cx="11176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050" b="0">
                <a:solidFill>
                  <a:srgbClr val="8A8F9A"/>
                </a:solidFill>
                <a:latin typeface="Meiryo"/>
                <a:ea typeface="メイリオ"/>
              </a:rPr>
              <a:t>① 機材購入</a:t>
            </a:r>
          </a:p>
        </p:txBody>
      </p:sp>
      <p:sp>
        <p:nvSpPr>
          <p:cNvPr id="8" name="Rectangle 7"/>
          <p:cNvSpPr/>
          <p:nvPr/>
        </p:nvSpPr>
        <p:spPr>
          <a:xfrm>
            <a:off x="5003800" y="6375400"/>
            <a:ext cx="11176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050" b="0">
                <a:solidFill>
                  <a:srgbClr val="8A8F9A"/>
                </a:solidFill>
                <a:latin typeface="Meiryo"/>
                <a:ea typeface="メイリオ"/>
              </a:rPr>
              <a:t>② 規程照会</a:t>
            </a:r>
          </a:p>
        </p:txBody>
      </p:sp>
      <p:sp>
        <p:nvSpPr>
          <p:cNvPr id="9" name="Rectangle 8"/>
          <p:cNvSpPr/>
          <p:nvPr/>
        </p:nvSpPr>
        <p:spPr>
          <a:xfrm>
            <a:off x="6223000" y="6375400"/>
            <a:ext cx="9652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050" b="0">
                <a:solidFill>
                  <a:srgbClr val="8A8F9A"/>
                </a:solidFill>
                <a:latin typeface="Meiryo"/>
                <a:ea typeface="メイリオ"/>
              </a:rPr>
              <a:t>③ 騒音計</a:t>
            </a:r>
          </a:p>
        </p:txBody>
      </p:sp>
      <p:sp>
        <p:nvSpPr>
          <p:cNvPr id="10" name="Rectangle 9"/>
          <p:cNvSpPr/>
          <p:nvPr/>
        </p:nvSpPr>
        <p:spPr>
          <a:xfrm>
            <a:off x="7289800" y="6375400"/>
            <a:ext cx="1117600" cy="279400"/>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050" b="0">
                <a:solidFill>
                  <a:srgbClr val="8A8F9A"/>
                </a:solidFill>
                <a:latin typeface="Meiryo"/>
                <a:ea typeface="メイリオ"/>
              </a:rPr>
              <a:t>④ 提出期限</a:t>
            </a:r>
          </a:p>
        </p:txBody>
      </p:sp>
      <p:sp>
        <p:nvSpPr>
          <p:cNvPr id="11" name="TextBox 10"/>
          <p:cNvSpPr txBox="1"/>
          <p:nvPr/>
        </p:nvSpPr>
        <p:spPr>
          <a:xfrm>
            <a:off x="11049000" y="6426200"/>
            <a:ext cx="508000" cy="254000"/>
          </a:xfrm>
          <a:prstGeom prst="rect">
            <a:avLst/>
          </a:prstGeom>
          <a:noFill/>
        </p:spPr>
        <p:txBody>
          <a:bodyPr wrap="square" anchor="t" lIns="25400" rIns="25400" tIns="12700" bIns="12700">
            <a:spAutoFit/>
          </a:bodyPr>
          <a:lstStyle/>
          <a:p>
            <a:pPr algn="r"/>
            <a:r>
              <a:rPr sz="1100" b="0">
                <a:solidFill>
                  <a:srgbClr val="8A8F9A"/>
                </a:solidFill>
                <a:latin typeface="Meiryo"/>
                <a:ea typeface="メイリオ"/>
              </a:rPr>
              <a:t>5</a:t>
            </a:r>
          </a:p>
        </p:txBody>
      </p:sp>
      <p:sp>
        <p:nvSpPr>
          <p:cNvPr id="12" name="Rectangle 11"/>
          <p:cNvSpPr/>
          <p:nvPr/>
        </p:nvSpPr>
        <p:spPr>
          <a:xfrm>
            <a:off x="889000" y="1422400"/>
            <a:ext cx="10414000" cy="14224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89000" y="1422400"/>
            <a:ext cx="50800" cy="1422400"/>
          </a:xfrm>
          <a:prstGeom prst="rect">
            <a:avLst/>
          </a:prstGeom>
          <a:solidFill>
            <a:srgbClr val="E0A5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43000" y="1651000"/>
            <a:ext cx="304800" cy="304800"/>
          </a:xfrm>
          <a:prstGeom prst="ellipse">
            <a:avLst/>
          </a:prstGeom>
          <a:solidFill>
            <a:srgbClr val="E0A5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200" b="1">
                <a:solidFill>
                  <a:srgbClr val="FFFFFF"/>
                </a:solidFill>
                <a:latin typeface="Meiryo"/>
                <a:ea typeface="メイリオ"/>
              </a:rPr>
              <a:t>Q</a:t>
            </a:r>
          </a:p>
        </p:txBody>
      </p:sp>
      <p:sp>
        <p:nvSpPr>
          <p:cNvPr id="15" name="TextBox 14"/>
          <p:cNvSpPr txBox="1"/>
          <p:nvPr/>
        </p:nvSpPr>
        <p:spPr>
          <a:xfrm>
            <a:off x="1574800" y="1651000"/>
            <a:ext cx="9525000" cy="304800"/>
          </a:xfrm>
          <a:prstGeom prst="rect">
            <a:avLst/>
          </a:prstGeom>
          <a:noFill/>
        </p:spPr>
        <p:txBody>
          <a:bodyPr wrap="square" anchor="t" lIns="25400" rIns="25400" tIns="12700" bIns="12700">
            <a:spAutoFit/>
          </a:bodyPr>
          <a:lstStyle/>
          <a:p>
            <a:pPr algn="l"/>
            <a:r>
              <a:rPr sz="1400" b="1">
                <a:solidFill>
                  <a:srgbClr val="222838"/>
                </a:solidFill>
                <a:latin typeface="Meiryo"/>
                <a:ea typeface="メイリオ"/>
              </a:rPr>
              <a:t>レンタルで足りるのではないですか</a:t>
            </a:r>
          </a:p>
        </p:txBody>
      </p:sp>
      <p:sp>
        <p:nvSpPr>
          <p:cNvPr id="16" name="Oval 15"/>
          <p:cNvSpPr/>
          <p:nvPr/>
        </p:nvSpPr>
        <p:spPr>
          <a:xfrm>
            <a:off x="1143000" y="2108200"/>
            <a:ext cx="304800" cy="304800"/>
          </a:xfrm>
          <a:prstGeom prst="ellipse">
            <a:avLst/>
          </a:prstGeom>
          <a:noFill/>
          <a:ln w="15240">
            <a:solidFill>
              <a:srgbClr val="7E6F98"/>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200" b="1">
                <a:solidFill>
                  <a:srgbClr val="7E6F98"/>
                </a:solidFill>
                <a:latin typeface="Meiryo"/>
                <a:ea typeface="メイリオ"/>
              </a:rPr>
              <a:t>A</a:t>
            </a:r>
          </a:p>
        </p:txBody>
      </p:sp>
      <p:sp>
        <p:nvSpPr>
          <p:cNvPr id="17" name="TextBox 16"/>
          <p:cNvSpPr txBox="1"/>
          <p:nvPr/>
        </p:nvSpPr>
        <p:spPr>
          <a:xfrm>
            <a:off x="1574800" y="2082800"/>
            <a:ext cx="9525000" cy="609600"/>
          </a:xfrm>
          <a:prstGeom prst="rect">
            <a:avLst/>
          </a:prstGeom>
          <a:noFill/>
        </p:spPr>
        <p:txBody>
          <a:bodyPr wrap="square" anchor="t" lIns="25400" rIns="25400" tIns="12700" bIns="12700">
            <a:spAutoFit/>
          </a:bodyPr>
          <a:lstStyle/>
          <a:p>
            <a:pPr algn="l">
              <a:lnSpc>
                <a:spcPct val="140000"/>
              </a:lnSpc>
            </a:pPr>
            <a:r>
              <a:rPr sz="1100" b="0">
                <a:solidFill>
                  <a:srgbClr val="595F6E"/>
                </a:solidFill>
                <a:latin typeface="Meiryo"/>
                <a:ea typeface="メイリオ"/>
              </a:rPr>
              <a:t>天候で中止になると、借りている期間がまるごと無駄になります。回数が読めないうえ、毎回ちがう個体だと音量の基準合わせをやり直すことになり、測定条件がそろいません。実質の差額は1万円前後です。</a:t>
            </a:r>
          </a:p>
        </p:txBody>
      </p:sp>
      <p:sp>
        <p:nvSpPr>
          <p:cNvPr id="18" name="Rectangle 17"/>
          <p:cNvSpPr/>
          <p:nvPr/>
        </p:nvSpPr>
        <p:spPr>
          <a:xfrm>
            <a:off x="889000" y="3048000"/>
            <a:ext cx="10414000" cy="14224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89000" y="3048000"/>
            <a:ext cx="50800" cy="1422400"/>
          </a:xfrm>
          <a:prstGeom prst="rect">
            <a:avLst/>
          </a:prstGeom>
          <a:solidFill>
            <a:srgbClr val="E0A5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43000" y="3276600"/>
            <a:ext cx="304800" cy="304800"/>
          </a:xfrm>
          <a:prstGeom prst="ellipse">
            <a:avLst/>
          </a:prstGeom>
          <a:solidFill>
            <a:srgbClr val="E0A5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200" b="1">
                <a:solidFill>
                  <a:srgbClr val="FFFFFF"/>
                </a:solidFill>
                <a:latin typeface="Meiryo"/>
                <a:ea typeface="メイリオ"/>
              </a:rPr>
              <a:t>Q</a:t>
            </a:r>
          </a:p>
        </p:txBody>
      </p:sp>
      <p:sp>
        <p:nvSpPr>
          <p:cNvPr id="21" name="TextBox 20"/>
          <p:cNvSpPr txBox="1"/>
          <p:nvPr/>
        </p:nvSpPr>
        <p:spPr>
          <a:xfrm>
            <a:off x="1574800" y="3276600"/>
            <a:ext cx="9525000" cy="304800"/>
          </a:xfrm>
          <a:prstGeom prst="rect">
            <a:avLst/>
          </a:prstGeom>
          <a:noFill/>
        </p:spPr>
        <p:txBody>
          <a:bodyPr wrap="square" anchor="t" lIns="25400" rIns="25400" tIns="12700" bIns="12700">
            <a:spAutoFit/>
          </a:bodyPr>
          <a:lstStyle/>
          <a:p>
            <a:pPr algn="l"/>
            <a:r>
              <a:rPr sz="1400" b="1">
                <a:solidFill>
                  <a:srgbClr val="222838"/>
                </a:solidFill>
                <a:latin typeface="Meiryo"/>
                <a:ea typeface="メイリオ"/>
              </a:rPr>
              <a:t>もっと安いマイクではだめですか</a:t>
            </a:r>
          </a:p>
        </p:txBody>
      </p:sp>
      <p:sp>
        <p:nvSpPr>
          <p:cNvPr id="22" name="Oval 21"/>
          <p:cNvSpPr/>
          <p:nvPr/>
        </p:nvSpPr>
        <p:spPr>
          <a:xfrm>
            <a:off x="1143000" y="3733800"/>
            <a:ext cx="304800" cy="304800"/>
          </a:xfrm>
          <a:prstGeom prst="ellipse">
            <a:avLst/>
          </a:prstGeom>
          <a:noFill/>
          <a:ln w="15240">
            <a:solidFill>
              <a:srgbClr val="7E6F98"/>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200" b="1">
                <a:solidFill>
                  <a:srgbClr val="7E6F98"/>
                </a:solidFill>
                <a:latin typeface="Meiryo"/>
                <a:ea typeface="メイリオ"/>
              </a:rPr>
              <a:t>A</a:t>
            </a:r>
          </a:p>
        </p:txBody>
      </p:sp>
      <p:sp>
        <p:nvSpPr>
          <p:cNvPr id="23" name="TextBox 22"/>
          <p:cNvSpPr txBox="1"/>
          <p:nvPr/>
        </p:nvSpPr>
        <p:spPr>
          <a:xfrm>
            <a:off x="1574800" y="3708400"/>
            <a:ext cx="9525000" cy="609600"/>
          </a:xfrm>
          <a:prstGeom prst="rect">
            <a:avLst/>
          </a:prstGeom>
          <a:noFill/>
        </p:spPr>
        <p:txBody>
          <a:bodyPr wrap="square" anchor="t" lIns="25400" rIns="25400" tIns="12700" bIns="12700">
            <a:spAutoFit/>
          </a:bodyPr>
          <a:lstStyle/>
          <a:p>
            <a:pPr algn="l">
              <a:lnSpc>
                <a:spcPct val="140000"/>
              </a:lnSpc>
            </a:pPr>
            <a:r>
              <a:rPr sz="1100" b="0">
                <a:solidFill>
                  <a:srgbClr val="595F6E"/>
                </a:solidFill>
                <a:latin typeface="Meiryo"/>
                <a:ea typeface="メイリオ"/>
              </a:rPr>
              <a:t>上下方向まで含めて4方向を同時に録れて、学習に使ったデータと同じ形式で保存できる現行機は、調べた範囲でH3-VRだけでした（2026-08-12に出典つきで記録）。一段下の機種（H2n）は高さの軸が無く、学習済みモデルに入力できません。</a:t>
            </a:r>
          </a:p>
        </p:txBody>
      </p:sp>
      <p:sp>
        <p:nvSpPr>
          <p:cNvPr id="24" name="Rectangle 23"/>
          <p:cNvSpPr/>
          <p:nvPr/>
        </p:nvSpPr>
        <p:spPr>
          <a:xfrm>
            <a:off x="889000" y="4673600"/>
            <a:ext cx="10414000" cy="1422400"/>
          </a:xfrm>
          <a:prstGeom prst="rect">
            <a:avLst/>
          </a:prstGeom>
          <a:solidFill>
            <a:srgbClr val="FFFFFF"/>
          </a:solidFill>
          <a:ln w="12700">
            <a:solidFill>
              <a:srgbClr val="C9CB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9000" y="4673600"/>
            <a:ext cx="50800" cy="1422400"/>
          </a:xfrm>
          <a:prstGeom prst="rect">
            <a:avLst/>
          </a:prstGeom>
          <a:solidFill>
            <a:srgbClr val="E0A5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143000" y="4902200"/>
            <a:ext cx="304800" cy="304800"/>
          </a:xfrm>
          <a:prstGeom prst="ellipse">
            <a:avLst/>
          </a:prstGeom>
          <a:solidFill>
            <a:srgbClr val="E0A5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200" b="1">
                <a:solidFill>
                  <a:srgbClr val="FFFFFF"/>
                </a:solidFill>
                <a:latin typeface="Meiryo"/>
                <a:ea typeface="メイリオ"/>
              </a:rPr>
              <a:t>Q</a:t>
            </a:r>
          </a:p>
        </p:txBody>
      </p:sp>
      <p:sp>
        <p:nvSpPr>
          <p:cNvPr id="27" name="TextBox 26"/>
          <p:cNvSpPr txBox="1"/>
          <p:nvPr/>
        </p:nvSpPr>
        <p:spPr>
          <a:xfrm>
            <a:off x="1574800" y="4902200"/>
            <a:ext cx="9525000" cy="304800"/>
          </a:xfrm>
          <a:prstGeom prst="rect">
            <a:avLst/>
          </a:prstGeom>
          <a:noFill/>
        </p:spPr>
        <p:txBody>
          <a:bodyPr wrap="square" anchor="t" lIns="25400" rIns="25400" tIns="12700" bIns="12700">
            <a:spAutoFit/>
          </a:bodyPr>
          <a:lstStyle/>
          <a:p>
            <a:pPr algn="l"/>
            <a:r>
              <a:rPr sz="1400" b="1">
                <a:solidFill>
                  <a:srgbClr val="222838"/>
                </a:solidFill>
                <a:latin typeface="Meiryo"/>
                <a:ea typeface="メイリオ"/>
              </a:rPr>
              <a:t>いつ買って、いつ録るのですか</a:t>
            </a:r>
          </a:p>
        </p:txBody>
      </p:sp>
      <p:sp>
        <p:nvSpPr>
          <p:cNvPr id="28" name="Oval 27"/>
          <p:cNvSpPr/>
          <p:nvPr/>
        </p:nvSpPr>
        <p:spPr>
          <a:xfrm>
            <a:off x="1143000" y="5359400"/>
            <a:ext cx="304800" cy="304800"/>
          </a:xfrm>
          <a:prstGeom prst="ellipse">
            <a:avLst/>
          </a:prstGeom>
          <a:noFill/>
          <a:ln w="15240">
            <a:solidFill>
              <a:srgbClr val="7E6F98"/>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200" b="1">
                <a:solidFill>
                  <a:srgbClr val="7E6F98"/>
                </a:solidFill>
                <a:latin typeface="Meiryo"/>
                <a:ea typeface="メイリオ"/>
              </a:rPr>
              <a:t>A</a:t>
            </a:r>
          </a:p>
        </p:txBody>
      </p:sp>
      <p:sp>
        <p:nvSpPr>
          <p:cNvPr id="29" name="TextBox 28"/>
          <p:cNvSpPr txBox="1"/>
          <p:nvPr/>
        </p:nvSpPr>
        <p:spPr>
          <a:xfrm>
            <a:off x="1574800" y="5334000"/>
            <a:ext cx="9525000" cy="609600"/>
          </a:xfrm>
          <a:prstGeom prst="rect">
            <a:avLst/>
          </a:prstGeom>
          <a:noFill/>
        </p:spPr>
        <p:txBody>
          <a:bodyPr wrap="square" anchor="t" lIns="25400" rIns="25400" tIns="12700" bIns="12700">
            <a:spAutoFit/>
          </a:bodyPr>
          <a:lstStyle/>
          <a:p>
            <a:pPr algn="l">
              <a:lnSpc>
                <a:spcPct val="140000"/>
              </a:lnSpc>
            </a:pPr>
            <a:r>
              <a:rPr sz="1100" b="0">
                <a:solidFill>
                  <a:srgbClr val="595F6E"/>
                </a:solidFill>
                <a:latin typeface="Meiryo"/>
                <a:ea typeface="メイリオ"/>
              </a:rPr>
              <a:t>承認後すぐ発注（数日で着荷）→ 9月末に動作確認とリハーサル → 10〜11月中旬に本番 →12月末までに解析まで完了。1月からは執筆に専念します。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