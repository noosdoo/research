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9/15 相談会でお願いしたいこと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4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① 機材購入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3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② 規程照会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3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③ 騒音計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89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④ 提出期限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テーマの変更はありません。今日は下の4件をまとめてご相談させてください。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000" y="1625600"/>
            <a:ext cx="10414000" cy="11684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000" y="1625600"/>
            <a:ext cx="50800" cy="1168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8400" y="1778000"/>
            <a:ext cx="99060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22838"/>
                </a:solidFill>
                <a:latin typeface="Meiryo"/>
                <a:ea typeface="メイリオ"/>
              </a:rPr>
              <a:t>卒業研究の実環境評価として、9月末〜11月に屋外での録音を</a:t>
            </a:r>
            <a:r>
              <a:rPr sz="1400" b="1">
                <a:solidFill>
                  <a:srgbClr val="C0392B"/>
                </a:solidFill>
                <a:latin typeface="Meiryo"/>
                <a:ea typeface="メイリオ"/>
              </a:rPr>
              <a:t>計210回</a:t>
            </a:r>
            <a:r>
              <a:rPr sz="1400" b="0">
                <a:solidFill>
                  <a:srgbClr val="222838"/>
                </a:solidFill>
                <a:latin typeface="Meiryo"/>
                <a:ea typeface="メイリオ"/>
              </a:rPr>
              <a:t>行います。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222838"/>
                </a:solidFill>
                <a:latin typeface="Meiryo"/>
                <a:ea typeface="メイリオ"/>
              </a:rPr>
              <a:t>そこで使う4方向マイク（Zoom H3-VR・約2.6万円）を、</a:t>
            </a:r>
            <a:r>
              <a:rPr sz="1400" b="1">
                <a:solidFill>
                  <a:srgbClr val="C0392B"/>
                </a:solidFill>
                <a:latin typeface="Meiryo"/>
                <a:ea typeface="メイリオ"/>
              </a:rPr>
              <a:t>レンタルではなく研究費での購入</a:t>
            </a:r>
            <a:r>
              <a:rPr sz="1400" b="0">
                <a:solidFill>
                  <a:srgbClr val="222838"/>
                </a:solidFill>
                <a:latin typeface="Meiryo"/>
                <a:ea typeface="メイリオ"/>
              </a:rPr>
              <a:t>としてお願いできないでしょうか。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000" y="2971800"/>
            <a:ext cx="24638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000" y="2971800"/>
            <a:ext cx="2463800" cy="4445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6800" y="3200400"/>
            <a:ext cx="330200" cy="3302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メイリオ"/>
              </a:rPr>
              <a:t>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8600" y="3200400"/>
            <a:ext cx="17018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機材の購入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お願いしたいこと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810000"/>
            <a:ext cx="20828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4方向マイク Zoom H3-VR ほか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合計 約3〜4万円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→ 承認をいただきたい件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3300" y="2971800"/>
            <a:ext cx="24638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43300" y="2971800"/>
            <a:ext cx="2463800" cy="4445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21100" y="3200400"/>
            <a:ext cx="330200" cy="3302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メイリオ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2900" y="3200400"/>
            <a:ext cx="17018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規程の照会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確認したいこと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6500" y="3810000"/>
            <a:ext cx="20828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公道での録音に、倫理審査や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届け出は必要でしょうか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→ この場で伺えると助かります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7600" y="2971800"/>
            <a:ext cx="24638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7600" y="2971800"/>
            <a:ext cx="2463800" cy="4445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75400" y="3200400"/>
            <a:ext cx="330200" cy="330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メイリオ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7200" y="3200400"/>
            <a:ext cx="17018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騒音計の借用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心当たりを伺いたい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10000"/>
            <a:ext cx="20828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音量の基準合わせに要る計測器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学内で借りられる部署は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→ 無ければ1万円以内で購入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51900" y="2971800"/>
            <a:ext cx="24638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51900" y="2971800"/>
            <a:ext cx="2463800" cy="4445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29700" y="3200400"/>
            <a:ext cx="330200" cy="330200"/>
          </a:xfrm>
          <a:prstGeom prst="ellipse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メイリオ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1500" y="3200400"/>
            <a:ext cx="17018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卒論の期限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教えていただきたい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5100" y="3810000"/>
            <a:ext cx="20828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正式な提出期限と発表日程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収録・解析の逆算を確定したい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→ 現在は12月末を自分の線に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9000" y="5308600"/>
            <a:ext cx="10414000" cy="50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2200" y="5435600"/>
            <a:ext cx="10033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承認が要るのは①だけです。</a:t>
            </a: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②③④は、この場で教えていただければそれで片づきます。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議題①　マイクは「レンタル」ではなく「購入」でお願いしたい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4600" y="6375400"/>
            <a:ext cx="11176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① 機材購入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3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② 規程照会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3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③ 騒音計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89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④ 提出期限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録音は9月末〜11月、天候次第の日程で計210回。手元に1台ある方が、結果として安く・確実になります。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000" y="1676400"/>
            <a:ext cx="6413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6800" y="1778000"/>
            <a:ext cx="279400" cy="2794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1765300"/>
            <a:ext cx="571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天候で回数が読めない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2019300"/>
            <a:ext cx="5715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風速3m/s超と雨天は中止と決めています。台風と秋雨の9〜10月は、借りている期間がまるごと空振りになり得ます。晴れた日に録るには手元にある方が確実です。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000" y="2565400"/>
            <a:ext cx="6413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6800" y="2667000"/>
            <a:ext cx="279400" cy="2794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2654300"/>
            <a:ext cx="571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総額が逆転しやすい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2908300"/>
            <a:ext cx="5715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レンタル3回で13,140円に対し新品は25,909円。天候で1〜2回借り直せばほぼ並び、それ以上は購入の方が安くなります。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000" y="3454400"/>
            <a:ext cx="6413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6800" y="3556000"/>
            <a:ext cx="279400" cy="2794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800" y="3543300"/>
            <a:ext cx="571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測定の条件がそろう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7800" y="3797300"/>
            <a:ext cx="5715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音量の基準合わせ（較正）は、同じ1台なら最初に1回やれば全収録に通ります。レンタルは毎回ちがう個体で、やり直すたびに測定条件が変わります。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000" y="4343400"/>
            <a:ext cx="6413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6800" y="4445000"/>
            <a:ext cx="279400" cy="2794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7800" y="4432300"/>
            <a:ext cx="571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修士でも使い続ける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7800" y="4686300"/>
            <a:ext cx="5715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夏ゼミで「デバイス試作は修士を見越したものか」と問われ、そのつもりとお答えしました。修士の収録とデモでも使うので、2年半使う備品になります。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4600" y="1676400"/>
            <a:ext cx="37084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94600" y="1676400"/>
            <a:ext cx="3708400" cy="4445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7800" y="1854200"/>
            <a:ext cx="3302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購入をお願いしたい品目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7800" y="2159000"/>
            <a:ext cx="3302000" cy="127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7800" y="2260600"/>
            <a:ext cx="2260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222838"/>
                </a:solidFill>
                <a:latin typeface="Meiryo"/>
                <a:ea typeface="メイリオ"/>
              </a:rPr>
              <a:t>Zoom H3-VR（4方向マイク）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7600" y="2260600"/>
            <a:ext cx="1092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>
                <a:solidFill>
                  <a:srgbClr val="222838"/>
                </a:solidFill>
                <a:latin typeface="Meiryo"/>
                <a:ea typeface="メイリオ"/>
              </a:rPr>
              <a:t>約26,000円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7800" y="2501900"/>
            <a:ext cx="33020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要件を満たす現行機はこれだけ。中古なら約18,000円〜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7800" y="2921000"/>
            <a:ext cx="2260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222838"/>
                </a:solidFill>
                <a:latin typeface="Meiryo"/>
                <a:ea typeface="メイリオ"/>
              </a:rPr>
              <a:t>騒音計（平均音量が出るもの）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7600" y="2921000"/>
            <a:ext cx="1092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>
                <a:solidFill>
                  <a:srgbClr val="222838"/>
                </a:solidFill>
                <a:latin typeface="Meiryo"/>
                <a:ea typeface="メイリオ"/>
              </a:rPr>
              <a:t>0〜10,000円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7800" y="3162300"/>
            <a:ext cx="33020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まず学内で借りられないか照会します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7800" y="3581400"/>
            <a:ext cx="2260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222838"/>
                </a:solidFill>
                <a:latin typeface="Meiryo"/>
                <a:ea typeface="メイリオ"/>
              </a:rPr>
              <a:t>小物（ハーネス・ブザー・SD等）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600" y="3581400"/>
            <a:ext cx="1092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>
                <a:solidFill>
                  <a:srgbClr val="222838"/>
                </a:solidFill>
                <a:latin typeface="Meiryo"/>
                <a:ea typeface="メイリオ"/>
              </a:rPr>
              <a:t>約6,000円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7800" y="3822700"/>
            <a:ext cx="33020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自費でもまかなえる範囲です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97800" y="4165600"/>
            <a:ext cx="3302000" cy="127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7800" y="4292600"/>
            <a:ext cx="165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合計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8800" y="4279900"/>
            <a:ext cx="1651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500" b="1">
                <a:solidFill>
                  <a:srgbClr val="C0392B"/>
                </a:solidFill>
                <a:latin typeface="Meiryo"/>
                <a:ea typeface="メイリオ"/>
              </a:rPr>
              <a:t>約3〜4万円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7800" y="4673600"/>
            <a:ext cx="3302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騒音計は学内で借りられれば0円、小物は自費でもまかなえるので、下がる余地があります。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9000" y="5257800"/>
            <a:ext cx="10414000" cy="558800"/>
          </a:xfrm>
          <a:prstGeom prst="rect">
            <a:avLst/>
          </a:prstGeom>
          <a:solidFill>
            <a:srgbClr val="FD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9000" y="5257800"/>
            <a:ext cx="50800" cy="5588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7600" y="5397500"/>
            <a:ext cx="10033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比較の要点：</a:t>
            </a: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レンタル3回 13,140円 ＜ 新品 25,909円。ただし天候で1〜2回借り直すとほぼ並びます。実質の差額は1万円前後です。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議題②　この収録、規程のうえでそのまま進めてよいでしょうか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4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① 機材購入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3800" y="6375400"/>
            <a:ext cx="11176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② 規程照会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3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③ 騒音計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89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④ 提出期限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公道での録音なので、通行人の声が偶然入る可能性があります。対策は先に決めてあります。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000" y="1625600"/>
            <a:ext cx="508000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2200" y="1803400"/>
            <a:ext cx="965200" cy="279400"/>
          </a:xfrm>
          <a:prstGeom prst="rect">
            <a:avLst/>
          </a:prstGeom>
          <a:noFill/>
          <a:ln w="1524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150" b="1">
                <a:solidFill>
                  <a:srgbClr val="7E6F98"/>
                </a:solidFill>
                <a:latin typeface="Meiryo"/>
                <a:ea typeface="メイリオ"/>
              </a:rPr>
              <a:t>収録の中身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7600" y="2305050"/>
            <a:ext cx="762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0800" y="2235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場所と内容：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公道と私有地（許可取得）での交通音の4方向録音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7600" y="2686050"/>
            <a:ext cx="762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0800" y="2616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規模：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計210回＋連続録音100分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7600" y="3067050"/>
            <a:ext cx="762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0800" y="2997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時期：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2026年9〜11月（天候により変動）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7600" y="3448050"/>
            <a:ext cx="762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0800" y="3378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収録者：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私1名（協力者の運転は私有地のみ・保険を事前確認）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3000" y="1625600"/>
            <a:ext cx="508000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6200" y="1803400"/>
            <a:ext cx="1270000" cy="279400"/>
          </a:xfrm>
          <a:prstGeom prst="rect">
            <a:avLst/>
          </a:prstGeom>
          <a:noFill/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150" b="1">
                <a:solidFill>
                  <a:srgbClr val="2E7D5B"/>
                </a:solidFill>
                <a:latin typeface="Meiryo"/>
                <a:ea typeface="メイリオ"/>
              </a:rPr>
              <a:t>決めてある対策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6200" y="23050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235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会話がはっきり聞き取れる区間は解析から除外する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26200" y="26860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616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注釈用の動画は非公開。顔とナンバーはマスキングまたは削除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6200" y="30670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997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原本は暗号化保存・卒論提出後30日以内に削除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6200" y="34480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378200"/>
            <a:ext cx="44450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通学時間帯の学校周辺はルートから外す／説明カードを携行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9000" y="3962400"/>
            <a:ext cx="10414000" cy="1473200"/>
          </a:xfrm>
          <a:prstGeom prst="rect">
            <a:avLst/>
          </a:prstGeom>
          <a:solidFill>
            <a:srgbClr val="FD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9000" y="3962400"/>
            <a:ext cx="50800" cy="1473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7600" y="4114800"/>
            <a:ext cx="9906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特に伺いたいのは、この2点です</a:t>
            </a:r>
          </a:p>
        </p:txBody>
      </p:sp>
      <p:sp>
        <p:nvSpPr>
          <p:cNvPr id="36" name="Oval 35"/>
          <p:cNvSpPr/>
          <p:nvPr/>
        </p:nvSpPr>
        <p:spPr>
          <a:xfrm>
            <a:off x="1143000" y="4483100"/>
            <a:ext cx="254000" cy="2540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8600" y="4470400"/>
            <a:ext cx="955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22838"/>
                </a:solidFill>
                <a:latin typeface="Meiryo"/>
                <a:ea typeface="メイリオ"/>
              </a:rPr>
              <a:t>この収録と利用について、学内の倫理審査や届け出は必要でしょうか。</a:t>
            </a:r>
          </a:p>
        </p:txBody>
      </p:sp>
      <p:sp>
        <p:nvSpPr>
          <p:cNvPr id="38" name="Oval 37"/>
          <p:cNvSpPr/>
          <p:nvPr/>
        </p:nvSpPr>
        <p:spPr>
          <a:xfrm>
            <a:off x="1143000" y="4914900"/>
            <a:ext cx="254000" cy="2540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8600" y="4902200"/>
            <a:ext cx="955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22838"/>
                </a:solidFill>
                <a:latin typeface="Meiryo"/>
                <a:ea typeface="メイリオ"/>
              </a:rPr>
              <a:t>録音データの処理を Google Colab と学外の計算サーバーで行う予定です。人の声が偶然入り得るデータを学外で処理することは、情報管理の規程上問題ないでしょうか。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000" y="5613400"/>
            <a:ext cx="10414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この場で「進めてよい」と伺えれば、収録開始前の確認事項はこれで全部片づきます。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委員会などへの確認が要ると分かった場合は、その結果を待ち、10月の収録日程を詰めて吸収します。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議題③④　騒音計の借用先と、卒論の提出期限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4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① 機材購入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3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② 規程照会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30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③ 騒音計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89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④ 提出期限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9000" y="1346200"/>
            <a:ext cx="50800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9000" y="1346200"/>
            <a:ext cx="5080000" cy="4445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600" y="1524000"/>
            <a:ext cx="46482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③ 騒音計を学内で借りられませんか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7600" y="19748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0800" y="19050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何に使うか：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録音した音が実際に何デシベルだったかに換算するための基準。これが無いと音量の絶対値を言えません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7600" y="24320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0800" y="23622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要件：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一定時間の平均音量（LAeq）が表示できるもの。できればJISクラス2相当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7600" y="288925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0800" y="28194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お願い：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環境系・建築系・学生実験室など、心当たりはありますでしょうか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600" y="3048000"/>
            <a:ext cx="4648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借りられなければ1万円以内で購入します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3000" y="1346200"/>
            <a:ext cx="50800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3000" y="1346200"/>
            <a:ext cx="5080000" cy="4445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1600" y="1524000"/>
            <a:ext cx="46482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④ 卒論の提出期限と発表日程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1600" y="1974850"/>
            <a:ext cx="76200" cy="762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4800" y="19050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伺いたいこと：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正式な提出期限と、発表の日程を教えてください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1600" y="2432050"/>
            <a:ext cx="76200" cy="762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4800" y="23622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いまの前提：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「12月末までに全実験を終える」を自分で決めた線として動いています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1600" y="2889250"/>
            <a:ext cx="76200" cy="762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4800" y="28194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4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理由：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1月からは執筆と資料作成だけにしたいので、正式な日程が分かれば収録と解析の逆算を確定できます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3581400"/>
            <a:ext cx="6350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承認をいただけた場合の進み方</a:t>
            </a:r>
          </a:p>
        </p:txBody>
      </p:sp>
      <p:sp>
        <p:nvSpPr>
          <p:cNvPr id="32" name="Chevron 31"/>
          <p:cNvSpPr/>
          <p:nvPr/>
        </p:nvSpPr>
        <p:spPr>
          <a:xfrm>
            <a:off x="889000" y="3962400"/>
            <a:ext cx="1879600" cy="6858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254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7E6F98"/>
                </a:solidFill>
                <a:latin typeface="Meiryo"/>
                <a:ea typeface="メイリオ"/>
              </a:rPr>
              <a:t>9/15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承認・発注</a:t>
            </a:r>
          </a:p>
        </p:txBody>
      </p:sp>
      <p:sp>
        <p:nvSpPr>
          <p:cNvPr id="33" name="Chevron 32"/>
          <p:cNvSpPr/>
          <p:nvPr/>
        </p:nvSpPr>
        <p:spPr>
          <a:xfrm>
            <a:off x="2590800" y="3962400"/>
            <a:ext cx="1879600" cy="6858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254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7E6F98"/>
                </a:solidFill>
                <a:latin typeface="Meiryo"/>
                <a:ea typeface="メイリオ"/>
              </a:rPr>
              <a:t>9月末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着荷→動作確認・リハ</a:t>
            </a:r>
          </a:p>
        </p:txBody>
      </p:sp>
      <p:sp>
        <p:nvSpPr>
          <p:cNvPr id="34" name="Chevron 33"/>
          <p:cNvSpPr/>
          <p:nvPr/>
        </p:nvSpPr>
        <p:spPr>
          <a:xfrm>
            <a:off x="4292600" y="3962400"/>
            <a:ext cx="1879600" cy="6858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254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E0A526"/>
                </a:solidFill>
                <a:latin typeface="Meiryo"/>
                <a:ea typeface="メイリオ"/>
              </a:rPr>
              <a:t>10〜11月中旬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収録の本番</a:t>
            </a:r>
          </a:p>
        </p:txBody>
      </p:sp>
      <p:sp>
        <p:nvSpPr>
          <p:cNvPr id="35" name="Chevron 34"/>
          <p:cNvSpPr/>
          <p:nvPr/>
        </p:nvSpPr>
        <p:spPr>
          <a:xfrm>
            <a:off x="5994400" y="3962400"/>
            <a:ext cx="1879600" cy="6858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254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E0A526"/>
                </a:solidFill>
                <a:latin typeface="Meiryo"/>
                <a:ea typeface="メイリオ"/>
              </a:rPr>
              <a:t>11月中旬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収録と注釈が完了</a:t>
            </a:r>
          </a:p>
        </p:txBody>
      </p:sp>
      <p:sp>
        <p:nvSpPr>
          <p:cNvPr id="36" name="Chevron 35"/>
          <p:cNvSpPr/>
          <p:nvPr/>
        </p:nvSpPr>
        <p:spPr>
          <a:xfrm>
            <a:off x="7696200" y="3962400"/>
            <a:ext cx="1879600" cy="685800"/>
          </a:xfrm>
          <a:prstGeom prst="chevron">
            <a:avLst/>
          </a:prstGeom>
          <a:solidFill>
            <a:srgbClr val="C0392B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254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12月末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FFFFFF"/>
                </a:solidFill>
                <a:latin typeface="Meiryo"/>
                <a:ea typeface="メイリオ"/>
              </a:rPr>
              <a:t>全実験を終了</a:t>
            </a:r>
          </a:p>
        </p:txBody>
      </p:sp>
      <p:sp>
        <p:nvSpPr>
          <p:cNvPr id="37" name="Chevron 36"/>
          <p:cNvSpPr/>
          <p:nvPr/>
        </p:nvSpPr>
        <p:spPr>
          <a:xfrm>
            <a:off x="9398000" y="3962400"/>
            <a:ext cx="1879600" cy="685800"/>
          </a:xfrm>
          <a:prstGeom prst="chevron">
            <a:avLst/>
          </a:prstGeom>
          <a:solidFill>
            <a:srgbClr val="FFFFFF"/>
          </a:solidFill>
          <a:ln w="15240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25400" tIns="0" bIns="0"/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232B3E"/>
                </a:solidFill>
                <a:latin typeface="Meiryo"/>
                <a:ea typeface="メイリオ"/>
              </a:rPr>
              <a:t>1月〜</a:t>
            </a:r>
          </a:p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執筆に専念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9000" y="4953000"/>
            <a:ext cx="10414000" cy="5588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2200" y="5092700"/>
            <a:ext cx="10033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承認後すぐ発注すれば数日で着荷し、9月末のリハに間に合います。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録音データを処理する手順は9/1に通し確認まで済ませてあります。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（参考）いただきそうな質問への答え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4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① 機材購入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3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② 規程照会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3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③ 騒音計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898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④ 提出期限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9000" y="1422400"/>
            <a:ext cx="1041400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9000" y="1422400"/>
            <a:ext cx="50800" cy="1422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651000"/>
            <a:ext cx="304800" cy="3048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4800" y="1651000"/>
            <a:ext cx="9525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レンタルで足りるのではないですか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2108200"/>
            <a:ext cx="304800" cy="304800"/>
          </a:xfrm>
          <a:prstGeom prst="ellipse">
            <a:avLst/>
          </a:prstGeom>
          <a:noFill/>
          <a:ln w="1524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4800" y="2082800"/>
            <a:ext cx="9525000" cy="609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天候で中止になると、借りている期間がまるごと無駄になります。回数が読めないうえ、毎回ちがう個体だと音量の基準合わせをやり直すことになり、測定条件がそろいません。実質の差額は1万円前後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000" y="3048000"/>
            <a:ext cx="1041400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9000" y="3048000"/>
            <a:ext cx="50800" cy="1422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3276600"/>
            <a:ext cx="304800" cy="3048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4800" y="3276600"/>
            <a:ext cx="9525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もっと安いマイクではだめですか</a:t>
            </a:r>
          </a:p>
        </p:txBody>
      </p:sp>
      <p:sp>
        <p:nvSpPr>
          <p:cNvPr id="22" name="Oval 21"/>
          <p:cNvSpPr/>
          <p:nvPr/>
        </p:nvSpPr>
        <p:spPr>
          <a:xfrm>
            <a:off x="1143000" y="3733800"/>
            <a:ext cx="304800" cy="304800"/>
          </a:xfrm>
          <a:prstGeom prst="ellipse">
            <a:avLst/>
          </a:prstGeom>
          <a:noFill/>
          <a:ln w="1524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4800" y="3708400"/>
            <a:ext cx="9525000" cy="609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上下方向まで含めて4方向を同時に録れて、学習に使ったデータと同じ形式で保存できる現行機は、調べた範囲でH3-VRだけでした（2026-08-12に出典つきで記録）。一段下の機種（H2n）は高さの軸が無く、学習済みモデルに入力できません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000" y="4673600"/>
            <a:ext cx="1041400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9000" y="4673600"/>
            <a:ext cx="50800" cy="1422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3000" y="4902200"/>
            <a:ext cx="304800" cy="3048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4800" y="4902200"/>
            <a:ext cx="9525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いつ買って、いつ録るのですか</a:t>
            </a:r>
          </a:p>
        </p:txBody>
      </p:sp>
      <p:sp>
        <p:nvSpPr>
          <p:cNvPr id="28" name="Oval 27"/>
          <p:cNvSpPr/>
          <p:nvPr/>
        </p:nvSpPr>
        <p:spPr>
          <a:xfrm>
            <a:off x="1143000" y="5359400"/>
            <a:ext cx="304800" cy="304800"/>
          </a:xfrm>
          <a:prstGeom prst="ellipse">
            <a:avLst/>
          </a:prstGeom>
          <a:noFill/>
          <a:ln w="15240">
            <a:solidFill>
              <a:srgbClr val="7E6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200" b="1">
                <a:solidFill>
                  <a:srgbClr val="7E6F98"/>
                </a:solidFill>
                <a:latin typeface="Meiryo"/>
                <a:ea typeface="メイリオ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4800" y="5334000"/>
            <a:ext cx="9525000" cy="609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承認後すぐ発注（数日で着荷）→ 9月末に動作確認とリハーサル → 10〜11月中旬に本番 →12月末までに解析まで完了。1月からは執筆に専念します。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