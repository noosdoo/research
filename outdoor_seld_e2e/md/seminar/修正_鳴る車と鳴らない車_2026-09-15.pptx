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51">
            <a:extLst>
              <a:ext uri="{FF2B5EF4-FFF2-40B4-BE49-F238E27FC236}">
                <a16:creationId xmlns:a16="http://schemas.microsoft.com/office/drawing/2014/main" id="{298362B8-A94F-053E-9AA7-9BC09F8234E0}"/>
              </a:ext>
            </a:extLst>
          </p:cNvPr>
          <p:cNvSpPr/>
          <p:nvPr/>
        </p:nvSpPr>
        <p:spPr>
          <a:xfrm>
            <a:off x="889000" y="5249263"/>
            <a:ext cx="5080000" cy="7112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54">
            <a:extLst>
              <a:ext uri="{FF2B5EF4-FFF2-40B4-BE49-F238E27FC236}">
                <a16:creationId xmlns:a16="http://schemas.microsoft.com/office/drawing/2014/main" id="{8912975D-DEF3-1539-420F-4F4037FEFE5C}"/>
              </a:ext>
            </a:extLst>
          </p:cNvPr>
          <p:cNvSpPr/>
          <p:nvPr/>
        </p:nvSpPr>
        <p:spPr>
          <a:xfrm>
            <a:off x="6223000" y="5249263"/>
            <a:ext cx="5080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9F25F56-CCB5-9EC2-C19D-82CAD5057CD7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7D4825-D130-83F2-F773-4917D5C903E8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9F8FA5C-121F-BF34-A3DD-0D332154440D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DAF7DC-1D80-C99B-A44D-6472C9B9FB9B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2192AF-D9D4-B37B-94BE-65D657186613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1A3D1A-B8F4-E314-8B06-1F353F71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354FB6D-A803-4E56-CAD7-4A91B04B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83A489EC-5C53-2B9F-3445-C9BC1EC0A4F5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④同じ場面で、鳴る車と鳴らない車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28" name="Rounded Rectangle 97">
            <a:extLst>
              <a:ext uri="{FF2B5EF4-FFF2-40B4-BE49-F238E27FC236}">
                <a16:creationId xmlns:a16="http://schemas.microsoft.com/office/drawing/2014/main" id="{21D63405-D57A-4D7A-1944-7795580FA0BB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1" name="Rounded Rectangle 96">
            <a:extLst>
              <a:ext uri="{FF2B5EF4-FFF2-40B4-BE49-F238E27FC236}">
                <a16:creationId xmlns:a16="http://schemas.microsoft.com/office/drawing/2014/main" id="{9F4DAC79-F29B-C1C5-7765-DAA9D4BB43D9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6" name="Rounded Rectangle 95">
            <a:extLst>
              <a:ext uri="{FF2B5EF4-FFF2-40B4-BE49-F238E27FC236}">
                <a16:creationId xmlns:a16="http://schemas.microsoft.com/office/drawing/2014/main" id="{1F785F7F-3FE8-88D4-E871-2E1C9E08D436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2" name="Rounded Rectangle 94">
            <a:extLst>
              <a:ext uri="{FF2B5EF4-FFF2-40B4-BE49-F238E27FC236}">
                <a16:creationId xmlns:a16="http://schemas.microsoft.com/office/drawing/2014/main" id="{E90EFF52-1943-8B77-568E-56EEF4FD7E09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6" name="Rounded Rectangle 93">
            <a:extLst>
              <a:ext uri="{FF2B5EF4-FFF2-40B4-BE49-F238E27FC236}">
                <a16:creationId xmlns:a16="http://schemas.microsoft.com/office/drawing/2014/main" id="{EE19F732-0CDC-54BA-7B4D-641E032D4873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1" name="Rounded Rectangle 92">
            <a:extLst>
              <a:ext uri="{FF2B5EF4-FFF2-40B4-BE49-F238E27FC236}">
                <a16:creationId xmlns:a16="http://schemas.microsoft.com/office/drawing/2014/main" id="{BDA73EE4-1702-CD35-AD17-289A4F21443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09C8B174-E7F1-6181-1799-3663BB754CA4}"/>
              </a:ext>
            </a:extLst>
          </p:cNvPr>
          <p:cNvSpPr txBox="1"/>
          <p:nvPr/>
        </p:nvSpPr>
        <p:spPr>
          <a:xfrm>
            <a:off x="889000" y="1270000"/>
            <a:ext cx="10414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助言</a:t>
            </a:r>
            <a:r>
              <a:rPr lang="ja-JP" alt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通り</a:t>
            </a:r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Joy-conとUnityで作り、実機で振動</a:t>
            </a:r>
            <a:r>
              <a:rPr lang="ja-JP" alt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した</a:t>
            </a:r>
            <a:r>
              <a:rPr sz="1400" b="0" dirty="0">
                <a:solidFill>
                  <a:srgbClr val="8A8F9A"/>
                </a:solidFill>
                <a:latin typeface="Meiryo"/>
                <a:ea typeface="メイリオ"/>
              </a:rPr>
              <a:t>。</a:t>
            </a:r>
            <a:r>
              <a:rPr lang="ja-JP" alt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例として、</a:t>
            </a:r>
            <a:r>
              <a:rPr sz="1400" b="0" dirty="0">
                <a:solidFill>
                  <a:srgbClr val="8A8F9A"/>
                </a:solidFill>
                <a:latin typeface="Meiryo"/>
                <a:ea typeface="メイリオ"/>
              </a:rPr>
              <a:t>1本のクリップの中に、鳴る車と鳴らない車が両方入っている。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09F23461-33F9-A0B1-9508-3BCE41018383}"/>
              </a:ext>
            </a:extLst>
          </p:cNvPr>
          <p:cNvSpPr txBox="1"/>
          <p:nvPr/>
        </p:nvSpPr>
        <p:spPr>
          <a:xfrm>
            <a:off x="889000" y="1663772"/>
            <a:ext cx="1270000" cy="8001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lnSpc>
                <a:spcPts val="2000"/>
              </a:lnSpc>
              <a:buFont typeface="Meiryo" panose="020B0604030504040204" pitchFamily="50" charset="-128"/>
              <a:buChar char="❑"/>
            </a:pP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使ったもの</a:t>
            </a:r>
            <a:endParaRPr lang="en-US" sz="1600" b="1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marL="171450" indent="-171450">
              <a:lnSpc>
                <a:spcPts val="2000"/>
              </a:lnSpc>
              <a:buFont typeface="Meiryo" panose="020B0604030504040204" pitchFamily="50" charset="-128"/>
              <a:buChar char="❑"/>
            </a:pPr>
            <a:r>
              <a:rPr lang="ja-JP" altLang="en-US" sz="1600" b="1" dirty="0">
                <a:solidFill>
                  <a:srgbClr val="222838"/>
                </a:solidFill>
                <a:latin typeface="Meiryo"/>
                <a:ea typeface="メイリオ"/>
              </a:rPr>
              <a:t>伝え方</a:t>
            </a:r>
          </a:p>
          <a:p>
            <a:r>
              <a:rPr sz="1600" b="1">
                <a:solidFill>
                  <a:srgbClr val="222838"/>
                </a:solidFill>
                <a:latin typeface="Meiryo"/>
              </a:rPr>
              <a:t>通知の元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DA596D0D-E1EC-C8C8-B9E7-A8E778F99742}"/>
              </a:ext>
            </a:extLst>
          </p:cNvPr>
          <p:cNvSpPr txBox="1"/>
          <p:nvPr/>
        </p:nvSpPr>
        <p:spPr>
          <a:xfrm>
            <a:off x="2413000" y="1663772"/>
            <a:ext cx="8890000" cy="8001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SwitchのJoy-conとUnity 6.6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>
              <a:lnSpc>
                <a:spcPts val="2000"/>
              </a:lnSpc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強＝4連打 / 中＝2発 / 警告音＝単発のパルス</a:t>
            </a:r>
          </a:p>
          <a:p>
            <a:r>
              <a:rPr sz="1600" b="0">
                <a:latin typeface="Meiryo"/>
              </a:rPr>
              <a:t>本物の検出層の出力（正解の位置から作った版ではない）</a:t>
            </a: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06D59CB5-93B3-E98E-88F2-30924552A129}"/>
              </a:ext>
            </a:extLst>
          </p:cNvPr>
          <p:cNvSpPr/>
          <p:nvPr/>
        </p:nvSpPr>
        <p:spPr>
          <a:xfrm>
            <a:off x="3272120" y="2665931"/>
            <a:ext cx="83312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5E117A96-51AE-021B-A50B-D0F8FB688184}"/>
              </a:ext>
            </a:extLst>
          </p:cNvPr>
          <p:cNvSpPr/>
          <p:nvPr/>
        </p:nvSpPr>
        <p:spPr>
          <a:xfrm>
            <a:off x="3272120" y="2615131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5B028872-6C13-C643-7594-ABEE63EB0802}"/>
              </a:ext>
            </a:extLst>
          </p:cNvPr>
          <p:cNvSpPr txBox="1"/>
          <p:nvPr/>
        </p:nvSpPr>
        <p:spPr>
          <a:xfrm>
            <a:off x="3018120" y="2411932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0s</a:t>
            </a: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355F670E-9647-EF2B-4A81-883E53E696B3}"/>
              </a:ext>
            </a:extLst>
          </p:cNvPr>
          <p:cNvSpPr/>
          <p:nvPr/>
        </p:nvSpPr>
        <p:spPr>
          <a:xfrm>
            <a:off x="4938360" y="2615131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FE37EFC3-7C22-FC77-EF27-2ECE17515D9A}"/>
              </a:ext>
            </a:extLst>
          </p:cNvPr>
          <p:cNvSpPr txBox="1"/>
          <p:nvPr/>
        </p:nvSpPr>
        <p:spPr>
          <a:xfrm>
            <a:off x="4684360" y="2411932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2s</a:t>
            </a:r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525B562B-B706-110C-D281-4ABEF769525C}"/>
              </a:ext>
            </a:extLst>
          </p:cNvPr>
          <p:cNvSpPr/>
          <p:nvPr/>
        </p:nvSpPr>
        <p:spPr>
          <a:xfrm>
            <a:off x="6604600" y="2615131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164CA370-15E5-1279-DFF5-621CF46F7FA5}"/>
              </a:ext>
            </a:extLst>
          </p:cNvPr>
          <p:cNvSpPr txBox="1"/>
          <p:nvPr/>
        </p:nvSpPr>
        <p:spPr>
          <a:xfrm>
            <a:off x="6350600" y="2411932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4s</a:t>
            </a:r>
          </a:p>
        </p:txBody>
      </p:sp>
      <p:sp>
        <p:nvSpPr>
          <p:cNvPr id="63" name="Rectangle 19">
            <a:extLst>
              <a:ext uri="{FF2B5EF4-FFF2-40B4-BE49-F238E27FC236}">
                <a16:creationId xmlns:a16="http://schemas.microsoft.com/office/drawing/2014/main" id="{A83954F8-DA90-9FCD-E390-D57C58ACC41D}"/>
              </a:ext>
            </a:extLst>
          </p:cNvPr>
          <p:cNvSpPr/>
          <p:nvPr/>
        </p:nvSpPr>
        <p:spPr>
          <a:xfrm>
            <a:off x="8270840" y="2615131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7" name="TextBox 20">
            <a:extLst>
              <a:ext uri="{FF2B5EF4-FFF2-40B4-BE49-F238E27FC236}">
                <a16:creationId xmlns:a16="http://schemas.microsoft.com/office/drawing/2014/main" id="{51DBF2AE-3E9C-0512-C2BF-4DD771561A9C}"/>
              </a:ext>
            </a:extLst>
          </p:cNvPr>
          <p:cNvSpPr txBox="1"/>
          <p:nvPr/>
        </p:nvSpPr>
        <p:spPr>
          <a:xfrm>
            <a:off x="8016840" y="2411932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6s</a:t>
            </a:r>
          </a:p>
        </p:txBody>
      </p:sp>
      <p:sp>
        <p:nvSpPr>
          <p:cNvPr id="71" name="Rectangle 21">
            <a:extLst>
              <a:ext uri="{FF2B5EF4-FFF2-40B4-BE49-F238E27FC236}">
                <a16:creationId xmlns:a16="http://schemas.microsoft.com/office/drawing/2014/main" id="{0B9448FB-9F36-5922-A3D0-92A41EFC1419}"/>
              </a:ext>
            </a:extLst>
          </p:cNvPr>
          <p:cNvSpPr/>
          <p:nvPr/>
        </p:nvSpPr>
        <p:spPr>
          <a:xfrm>
            <a:off x="9937080" y="2615131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TextBox 22">
            <a:extLst>
              <a:ext uri="{FF2B5EF4-FFF2-40B4-BE49-F238E27FC236}">
                <a16:creationId xmlns:a16="http://schemas.microsoft.com/office/drawing/2014/main" id="{A0DD8E4C-9D5A-0BCB-51A4-E761E3A90394}"/>
              </a:ext>
            </a:extLst>
          </p:cNvPr>
          <p:cNvSpPr txBox="1"/>
          <p:nvPr/>
        </p:nvSpPr>
        <p:spPr>
          <a:xfrm>
            <a:off x="9683080" y="2411932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8s</a:t>
            </a:r>
          </a:p>
        </p:txBody>
      </p:sp>
      <p:sp>
        <p:nvSpPr>
          <p:cNvPr id="79" name="Rectangle 23">
            <a:extLst>
              <a:ext uri="{FF2B5EF4-FFF2-40B4-BE49-F238E27FC236}">
                <a16:creationId xmlns:a16="http://schemas.microsoft.com/office/drawing/2014/main" id="{9DB3EDC7-E2D9-F0E0-1815-14D099058F0E}"/>
              </a:ext>
            </a:extLst>
          </p:cNvPr>
          <p:cNvSpPr/>
          <p:nvPr/>
        </p:nvSpPr>
        <p:spPr>
          <a:xfrm>
            <a:off x="11603320" y="2615131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TextBox 24">
            <a:extLst>
              <a:ext uri="{FF2B5EF4-FFF2-40B4-BE49-F238E27FC236}">
                <a16:creationId xmlns:a16="http://schemas.microsoft.com/office/drawing/2014/main" id="{35BA0E82-3A92-A510-7072-DFE85997BF97}"/>
              </a:ext>
            </a:extLst>
          </p:cNvPr>
          <p:cNvSpPr txBox="1"/>
          <p:nvPr/>
        </p:nvSpPr>
        <p:spPr>
          <a:xfrm>
            <a:off x="11349320" y="2411932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10s</a:t>
            </a:r>
          </a:p>
        </p:txBody>
      </p:sp>
      <p:sp>
        <p:nvSpPr>
          <p:cNvPr id="84" name="TextBox 25">
            <a:extLst>
              <a:ext uri="{FF2B5EF4-FFF2-40B4-BE49-F238E27FC236}">
                <a16:creationId xmlns:a16="http://schemas.microsoft.com/office/drawing/2014/main" id="{E69AAEFA-E112-5157-B083-0D0BBECF18EE}"/>
              </a:ext>
            </a:extLst>
          </p:cNvPr>
          <p:cNvSpPr txBox="1"/>
          <p:nvPr/>
        </p:nvSpPr>
        <p:spPr>
          <a:xfrm>
            <a:off x="888999" y="2945331"/>
            <a:ext cx="2402839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車①　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正面から来る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86" name="TextBox 26">
            <a:extLst>
              <a:ext uri="{FF2B5EF4-FFF2-40B4-BE49-F238E27FC236}">
                <a16:creationId xmlns:a16="http://schemas.microsoft.com/office/drawing/2014/main" id="{A2A5E192-2F1A-494F-4F23-029940F308FF}"/>
              </a:ext>
            </a:extLst>
          </p:cNvPr>
          <p:cNvSpPr txBox="1"/>
          <p:nvPr/>
        </p:nvSpPr>
        <p:spPr>
          <a:xfrm>
            <a:off x="889000" y="3173931"/>
            <a:ext cx="177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横1.2m・約34km/h</a:t>
            </a:r>
          </a:p>
        </p:txBody>
      </p:sp>
      <p:sp>
        <p:nvSpPr>
          <p:cNvPr id="88" name="Rectangle 27">
            <a:extLst>
              <a:ext uri="{FF2B5EF4-FFF2-40B4-BE49-F238E27FC236}">
                <a16:creationId xmlns:a16="http://schemas.microsoft.com/office/drawing/2014/main" id="{DEA44C97-21E0-9EB6-7B15-4164C9461C0B}"/>
              </a:ext>
            </a:extLst>
          </p:cNvPr>
          <p:cNvSpPr/>
          <p:nvPr/>
        </p:nvSpPr>
        <p:spPr>
          <a:xfrm>
            <a:off x="3438144" y="3021531"/>
            <a:ext cx="3332479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" name="Rectangle 28">
            <a:extLst>
              <a:ext uri="{FF2B5EF4-FFF2-40B4-BE49-F238E27FC236}">
                <a16:creationId xmlns:a16="http://schemas.microsoft.com/office/drawing/2014/main" id="{188F7846-F8E5-0C0F-5379-B8476D6A31E4}"/>
              </a:ext>
            </a:extLst>
          </p:cNvPr>
          <p:cNvSpPr/>
          <p:nvPr/>
        </p:nvSpPr>
        <p:spPr>
          <a:xfrm>
            <a:off x="7437120" y="2919931"/>
            <a:ext cx="583183" cy="330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2" name="Rectangle 29">
            <a:extLst>
              <a:ext uri="{FF2B5EF4-FFF2-40B4-BE49-F238E27FC236}">
                <a16:creationId xmlns:a16="http://schemas.microsoft.com/office/drawing/2014/main" id="{B034D446-D2C2-7B98-3A6E-7467F411DF0D}"/>
              </a:ext>
            </a:extLst>
          </p:cNvPr>
          <p:cNvSpPr/>
          <p:nvPr/>
        </p:nvSpPr>
        <p:spPr>
          <a:xfrm>
            <a:off x="6770624" y="2919931"/>
            <a:ext cx="583183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6" name="Rectangle 31">
            <a:extLst>
              <a:ext uri="{FF2B5EF4-FFF2-40B4-BE49-F238E27FC236}">
                <a16:creationId xmlns:a16="http://schemas.microsoft.com/office/drawing/2014/main" id="{7DE8653D-D409-3634-B27E-E81CCD496DCA}"/>
              </a:ext>
            </a:extLst>
          </p:cNvPr>
          <p:cNvSpPr/>
          <p:nvPr/>
        </p:nvSpPr>
        <p:spPr>
          <a:xfrm>
            <a:off x="8020304" y="3021531"/>
            <a:ext cx="3499104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8" name="TextBox 32">
            <a:extLst>
              <a:ext uri="{FF2B5EF4-FFF2-40B4-BE49-F238E27FC236}">
                <a16:creationId xmlns:a16="http://schemas.microsoft.com/office/drawing/2014/main" id="{22EEBFFE-1127-089D-EBDC-9A699FCB15C0}"/>
              </a:ext>
            </a:extLst>
          </p:cNvPr>
          <p:cNvSpPr txBox="1"/>
          <p:nvPr/>
        </p:nvSpPr>
        <p:spPr>
          <a:xfrm>
            <a:off x="7437120" y="2983230"/>
            <a:ext cx="583183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Meiryo"/>
                <a:ea typeface="メイリオ"/>
              </a:rPr>
              <a:t>中</a:t>
            </a:r>
            <a:endParaRPr sz="1600"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100" name="TextBox 33">
            <a:extLst>
              <a:ext uri="{FF2B5EF4-FFF2-40B4-BE49-F238E27FC236}">
                <a16:creationId xmlns:a16="http://schemas.microsoft.com/office/drawing/2014/main" id="{C0BCFCE0-B86B-9A87-82E3-1A00EDEE8005}"/>
              </a:ext>
            </a:extLst>
          </p:cNvPr>
          <p:cNvSpPr txBox="1"/>
          <p:nvPr/>
        </p:nvSpPr>
        <p:spPr>
          <a:xfrm>
            <a:off x="6770624" y="2983230"/>
            <a:ext cx="583183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Meiryo"/>
                <a:ea typeface="メイリオ"/>
              </a:rPr>
              <a:t>強</a:t>
            </a:r>
            <a:endParaRPr sz="1600"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102" name="Rectangle 34">
            <a:extLst>
              <a:ext uri="{FF2B5EF4-FFF2-40B4-BE49-F238E27FC236}">
                <a16:creationId xmlns:a16="http://schemas.microsoft.com/office/drawing/2014/main" id="{35DE0FD7-EC6C-63D5-2266-15005BFAE5C5}"/>
              </a:ext>
            </a:extLst>
          </p:cNvPr>
          <p:cNvSpPr/>
          <p:nvPr/>
        </p:nvSpPr>
        <p:spPr>
          <a:xfrm>
            <a:off x="7428230" y="2742131"/>
            <a:ext cx="17780" cy="6858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4" name="TextBox 35">
            <a:extLst>
              <a:ext uri="{FF2B5EF4-FFF2-40B4-BE49-F238E27FC236}">
                <a16:creationId xmlns:a16="http://schemas.microsoft.com/office/drawing/2014/main" id="{364100C0-0B9C-C4C7-054B-C0EFCE23FE4B}"/>
              </a:ext>
            </a:extLst>
          </p:cNvPr>
          <p:cNvSpPr txBox="1"/>
          <p:nvPr/>
        </p:nvSpPr>
        <p:spPr>
          <a:xfrm>
            <a:off x="6675120" y="3453331"/>
            <a:ext cx="152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最接近 1.20m</a:t>
            </a:r>
          </a:p>
        </p:txBody>
      </p:sp>
      <p:sp>
        <p:nvSpPr>
          <p:cNvPr id="106" name="TextBox 36">
            <a:extLst>
              <a:ext uri="{FF2B5EF4-FFF2-40B4-BE49-F238E27FC236}">
                <a16:creationId xmlns:a16="http://schemas.microsoft.com/office/drawing/2014/main" id="{17D66BE0-B4DF-EA55-F1EB-1282CD5B19AB}"/>
              </a:ext>
            </a:extLst>
          </p:cNvPr>
          <p:cNvSpPr txBox="1"/>
          <p:nvPr/>
        </p:nvSpPr>
        <p:spPr>
          <a:xfrm>
            <a:off x="888999" y="4240731"/>
            <a:ext cx="2402839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車②　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後ろから追い越す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08" name="TextBox 37">
            <a:extLst>
              <a:ext uri="{FF2B5EF4-FFF2-40B4-BE49-F238E27FC236}">
                <a16:creationId xmlns:a16="http://schemas.microsoft.com/office/drawing/2014/main" id="{7F3576B4-258A-C2F6-57A6-0EE620BAB556}"/>
              </a:ext>
            </a:extLst>
          </p:cNvPr>
          <p:cNvSpPr txBox="1"/>
          <p:nvPr/>
        </p:nvSpPr>
        <p:spPr>
          <a:xfrm>
            <a:off x="889000" y="4469331"/>
            <a:ext cx="177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横4.5m・約46km/h</a:t>
            </a:r>
          </a:p>
        </p:txBody>
      </p:sp>
      <p:sp>
        <p:nvSpPr>
          <p:cNvPr id="110" name="Rectangle 38">
            <a:extLst>
              <a:ext uri="{FF2B5EF4-FFF2-40B4-BE49-F238E27FC236}">
                <a16:creationId xmlns:a16="http://schemas.microsoft.com/office/drawing/2014/main" id="{7B25C88E-A4A0-AE0E-3790-143B20F7F690}"/>
              </a:ext>
            </a:extLst>
          </p:cNvPr>
          <p:cNvSpPr/>
          <p:nvPr/>
        </p:nvSpPr>
        <p:spPr>
          <a:xfrm>
            <a:off x="3522056" y="4316931"/>
            <a:ext cx="4582160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2" name="Rectangle 39">
            <a:extLst>
              <a:ext uri="{FF2B5EF4-FFF2-40B4-BE49-F238E27FC236}">
                <a16:creationId xmlns:a16="http://schemas.microsoft.com/office/drawing/2014/main" id="{5B3CB21B-876B-250C-496A-D97E279ABEA1}"/>
              </a:ext>
            </a:extLst>
          </p:cNvPr>
          <p:cNvSpPr/>
          <p:nvPr/>
        </p:nvSpPr>
        <p:spPr>
          <a:xfrm>
            <a:off x="8187528" y="4215331"/>
            <a:ext cx="2332736" cy="33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4" name="Rectangle 40">
            <a:extLst>
              <a:ext uri="{FF2B5EF4-FFF2-40B4-BE49-F238E27FC236}">
                <a16:creationId xmlns:a16="http://schemas.microsoft.com/office/drawing/2014/main" id="{7A4B21B6-4573-E33B-426D-D56AC5E9F442}"/>
              </a:ext>
            </a:extLst>
          </p:cNvPr>
          <p:cNvSpPr/>
          <p:nvPr/>
        </p:nvSpPr>
        <p:spPr>
          <a:xfrm>
            <a:off x="10603576" y="4316931"/>
            <a:ext cx="916432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6" name="TextBox 41">
            <a:extLst>
              <a:ext uri="{FF2B5EF4-FFF2-40B4-BE49-F238E27FC236}">
                <a16:creationId xmlns:a16="http://schemas.microsoft.com/office/drawing/2014/main" id="{E27B3585-1F07-221D-E8A0-D280C96C9570}"/>
              </a:ext>
            </a:extLst>
          </p:cNvPr>
          <p:cNvSpPr txBox="1"/>
          <p:nvPr/>
        </p:nvSpPr>
        <p:spPr>
          <a:xfrm>
            <a:off x="8238328" y="4278831"/>
            <a:ext cx="2231136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 err="1">
                <a:solidFill>
                  <a:srgbClr val="2E7D5B"/>
                </a:solidFill>
                <a:latin typeface="Meiryo"/>
                <a:ea typeface="メイリオ"/>
              </a:rPr>
              <a:t>抑制（鳴らさない</a:t>
            </a:r>
            <a:r>
              <a:rPr sz="1600" b="1" dirty="0">
                <a:solidFill>
                  <a:srgbClr val="2E7D5B"/>
                </a:solidFill>
                <a:latin typeface="Meiryo"/>
                <a:ea typeface="メイリオ"/>
              </a:rPr>
              <a:t>）</a:t>
            </a:r>
          </a:p>
        </p:txBody>
      </p:sp>
      <p:sp>
        <p:nvSpPr>
          <p:cNvPr id="118" name="Rectangle 42">
            <a:extLst>
              <a:ext uri="{FF2B5EF4-FFF2-40B4-BE49-F238E27FC236}">
                <a16:creationId xmlns:a16="http://schemas.microsoft.com/office/drawing/2014/main" id="{397AA99A-744A-28CE-C901-C206650CCAD2}"/>
              </a:ext>
            </a:extLst>
          </p:cNvPr>
          <p:cNvSpPr/>
          <p:nvPr/>
        </p:nvSpPr>
        <p:spPr>
          <a:xfrm>
            <a:off x="10344750" y="4037531"/>
            <a:ext cx="17780" cy="6858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0" name="TextBox 43">
            <a:extLst>
              <a:ext uri="{FF2B5EF4-FFF2-40B4-BE49-F238E27FC236}">
                <a16:creationId xmlns:a16="http://schemas.microsoft.com/office/drawing/2014/main" id="{2B6BBDF4-681E-0ABA-0811-F4CE13BA9CE2}"/>
              </a:ext>
            </a:extLst>
          </p:cNvPr>
          <p:cNvSpPr txBox="1"/>
          <p:nvPr/>
        </p:nvSpPr>
        <p:spPr>
          <a:xfrm>
            <a:off x="9591640" y="4748731"/>
            <a:ext cx="152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最接近 4.50m</a:t>
            </a:r>
          </a:p>
        </p:txBody>
      </p:sp>
      <p:sp>
        <p:nvSpPr>
          <p:cNvPr id="122" name="TextBox 44">
            <a:extLst>
              <a:ext uri="{FF2B5EF4-FFF2-40B4-BE49-F238E27FC236}">
                <a16:creationId xmlns:a16="http://schemas.microsoft.com/office/drawing/2014/main" id="{B3CD246D-D70C-D7DF-9D94-4C59C4C63A36}"/>
              </a:ext>
            </a:extLst>
          </p:cNvPr>
          <p:cNvSpPr txBox="1"/>
          <p:nvPr/>
        </p:nvSpPr>
        <p:spPr>
          <a:xfrm>
            <a:off x="889000" y="2437331"/>
            <a:ext cx="177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rgbClr val="8A8F9A"/>
                </a:solidFill>
                <a:latin typeface="Meiryo"/>
                <a:ea typeface="メイリオ"/>
              </a:rPr>
              <a:t>振動</a:t>
            </a:r>
            <a:endParaRPr sz="16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124" name="Isosceles Triangle 45">
            <a:extLst>
              <a:ext uri="{FF2B5EF4-FFF2-40B4-BE49-F238E27FC236}">
                <a16:creationId xmlns:a16="http://schemas.microsoft.com/office/drawing/2014/main" id="{4B93EAC5-8470-F77B-4598-246D4262AA90}"/>
              </a:ext>
            </a:extLst>
          </p:cNvPr>
          <p:cNvSpPr/>
          <p:nvPr/>
        </p:nvSpPr>
        <p:spPr>
          <a:xfrm>
            <a:off x="6707124" y="2596081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6" name="Isosceles Triangle 46">
            <a:extLst>
              <a:ext uri="{FF2B5EF4-FFF2-40B4-BE49-F238E27FC236}">
                <a16:creationId xmlns:a16="http://schemas.microsoft.com/office/drawing/2014/main" id="{87224074-2892-7DF9-1782-81565E9418FB}"/>
              </a:ext>
            </a:extLst>
          </p:cNvPr>
          <p:cNvSpPr/>
          <p:nvPr/>
        </p:nvSpPr>
        <p:spPr>
          <a:xfrm>
            <a:off x="7373620" y="2596081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8" name="Isosceles Triangle 47">
            <a:extLst>
              <a:ext uri="{FF2B5EF4-FFF2-40B4-BE49-F238E27FC236}">
                <a16:creationId xmlns:a16="http://schemas.microsoft.com/office/drawing/2014/main" id="{67365F7E-D034-C4D8-41D7-8E8DD4B0FB94}"/>
              </a:ext>
            </a:extLst>
          </p:cNvPr>
          <p:cNvSpPr/>
          <p:nvPr/>
        </p:nvSpPr>
        <p:spPr>
          <a:xfrm>
            <a:off x="7456932" y="2596081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0" name="TextBox 48">
            <a:extLst>
              <a:ext uri="{FF2B5EF4-FFF2-40B4-BE49-F238E27FC236}">
                <a16:creationId xmlns:a16="http://schemas.microsoft.com/office/drawing/2014/main" id="{823102CC-70AF-2DB9-56E9-A319D0F4A530}"/>
              </a:ext>
            </a:extLst>
          </p:cNvPr>
          <p:cNvSpPr txBox="1"/>
          <p:nvPr/>
        </p:nvSpPr>
        <p:spPr>
          <a:xfrm>
            <a:off x="5932424" y="2234131"/>
            <a:ext cx="16764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Meiryo"/>
                <a:ea typeface="メイリオ"/>
              </a:rPr>
              <a:t>4.2s に最初の振動</a:t>
            </a:r>
            <a:endParaRPr sz="12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132" name="Rectangle 49">
            <a:extLst>
              <a:ext uri="{FF2B5EF4-FFF2-40B4-BE49-F238E27FC236}">
                <a16:creationId xmlns:a16="http://schemas.microsoft.com/office/drawing/2014/main" id="{24E4F658-629C-4480-B563-40C1621C0F90}"/>
              </a:ext>
            </a:extLst>
          </p:cNvPr>
          <p:cNvSpPr/>
          <p:nvPr/>
        </p:nvSpPr>
        <p:spPr>
          <a:xfrm>
            <a:off x="6770624" y="3859731"/>
            <a:ext cx="666495" cy="177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4" name="TextBox 50">
            <a:extLst>
              <a:ext uri="{FF2B5EF4-FFF2-40B4-BE49-F238E27FC236}">
                <a16:creationId xmlns:a16="http://schemas.microsoft.com/office/drawing/2014/main" id="{B6C84123-A985-F273-2A03-CCC312B2B7A5}"/>
              </a:ext>
            </a:extLst>
          </p:cNvPr>
          <p:cNvSpPr txBox="1"/>
          <p:nvPr/>
        </p:nvSpPr>
        <p:spPr>
          <a:xfrm>
            <a:off x="6197092" y="3665964"/>
            <a:ext cx="1813051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 err="1">
                <a:solidFill>
                  <a:srgbClr val="C0392B"/>
                </a:solidFill>
                <a:latin typeface="Meiryo"/>
                <a:ea typeface="メイリオ"/>
              </a:rPr>
              <a:t>最接近の 0.8 秒前</a:t>
            </a:r>
            <a:endParaRPr sz="16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140" name="TextBox 53">
            <a:extLst>
              <a:ext uri="{FF2B5EF4-FFF2-40B4-BE49-F238E27FC236}">
                <a16:creationId xmlns:a16="http://schemas.microsoft.com/office/drawing/2014/main" id="{64BB2A60-FFF3-EEBC-DD17-E6052325966B}"/>
              </a:ext>
            </a:extLst>
          </p:cNvPr>
          <p:cNvSpPr txBox="1"/>
          <p:nvPr/>
        </p:nvSpPr>
        <p:spPr>
          <a:xfrm>
            <a:off x="938240" y="5282194"/>
            <a:ext cx="5334000" cy="65043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車①：正面から来る車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方位が変わらないまま近づくので、最接近の0.8秒前に強く鳴る。通過後は中に下がる。</a:t>
            </a:r>
          </a:p>
        </p:txBody>
      </p:sp>
      <p:sp>
        <p:nvSpPr>
          <p:cNvPr id="144" name="TextBox 55">
            <a:extLst>
              <a:ext uri="{FF2B5EF4-FFF2-40B4-BE49-F238E27FC236}">
                <a16:creationId xmlns:a16="http://schemas.microsoft.com/office/drawing/2014/main" id="{96E86D8B-48D5-FE73-8E8D-61C1D1BCDF46}"/>
              </a:ext>
            </a:extLst>
          </p:cNvPr>
          <p:cNvSpPr txBox="1"/>
          <p:nvPr/>
        </p:nvSpPr>
        <p:spPr>
          <a:xfrm>
            <a:off x="6272240" y="5282194"/>
            <a:ext cx="4699000" cy="65043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車②：後ろから追い越す車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横4.5mを通り過ぎるだけなので、最接近(8.5s)まで一度も鳴らない。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