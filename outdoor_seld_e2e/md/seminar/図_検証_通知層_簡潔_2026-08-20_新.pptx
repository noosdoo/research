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85800" y="1219200"/>
            <a:ext cx="10820400" cy="0"/>
          </a:xfrm>
          <a:prstGeom prst="line">
            <a:avLst/>
          </a:prstGeom>
          <a:ln w="19050">
            <a:solidFill>
              <a:srgbClr val="1623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85800" y="508000"/>
            <a:ext cx="109220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>
                <a:solidFill>
                  <a:srgbClr val="16233A"/>
                </a:solidFill>
                <a:latin typeface="游ゴシック"/>
                <a:ea typeface="游ゴシック"/>
              </a:rPr>
              <a:t>検 証 ― 通 知 は い つ ・ ど れ だ け 届 く 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334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>
                <a:solidFill>
                  <a:srgbClr val="3A4658"/>
                </a:solidFill>
                <a:latin typeface="游ゴシック"/>
                <a:ea typeface="游ゴシック"/>
              </a:rPr>
              <a:t>危険な車が近づいてくるとき、警告はいつ届くか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10000" y="2768600"/>
            <a:ext cx="7010400" cy="0"/>
          </a:xfrm>
          <a:prstGeom prst="line">
            <a:avLst/>
          </a:prstGeom>
          <a:ln w="38100">
            <a:solidFill>
              <a:srgbClr val="1623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388600" y="2971800"/>
            <a:ext cx="1524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6707F"/>
                </a:solidFill>
                <a:latin typeface="游ゴシック"/>
                <a:ea typeface="游ゴシック"/>
              </a:rPr>
              <a:t>時間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312400" y="2057400"/>
            <a:ext cx="0" cy="1092200"/>
          </a:xfrm>
          <a:prstGeom prst="line">
            <a:avLst/>
          </a:prstGeom>
          <a:ln w="19050">
            <a:solidFill>
              <a:srgbClr val="667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147300" y="2603500"/>
            <a:ext cx="330200" cy="330200"/>
          </a:xfrm>
          <a:prstGeom prst="ellipse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69400" y="1727200"/>
            <a:ext cx="2286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50" b="1">
                <a:solidFill>
                  <a:srgbClr val="C4432B"/>
                </a:solidFill>
                <a:latin typeface="游ゴシック"/>
                <a:ea typeface="游ゴシック"/>
              </a:rPr>
              <a:t>車が一番近づく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0" y="2057400"/>
            <a:ext cx="0" cy="1092200"/>
          </a:xfrm>
          <a:prstGeom prst="line">
            <a:avLst/>
          </a:prstGeom>
          <a:ln w="19050">
            <a:solidFill>
              <a:srgbClr val="667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864100" y="2603500"/>
            <a:ext cx="330200" cy="330200"/>
          </a:xfrm>
          <a:prstGeom prst="ellipse">
            <a:avLst/>
          </a:prstGeom>
          <a:solidFill>
            <a:srgbClr val="2F7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1727200"/>
            <a:ext cx="2286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50" b="1">
                <a:solidFill>
                  <a:srgbClr val="2F7D6D"/>
                </a:solidFill>
                <a:latin typeface="游ゴシック"/>
                <a:ea typeface="游ゴシック"/>
              </a:rPr>
              <a:t>警告が届く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276600"/>
            <a:ext cx="5283200" cy="431800"/>
          </a:xfrm>
          <a:prstGeom prst="rect">
            <a:avLst/>
          </a:prstGeom>
          <a:solidFill>
            <a:srgbClr val="F3F3EF"/>
          </a:solidFill>
          <a:ln w="19050">
            <a:solidFill>
              <a:srgbClr val="2F7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3365500"/>
            <a:ext cx="52832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2F7D6D"/>
                </a:solidFill>
                <a:latin typeface="游ゴシック"/>
                <a:ea typeface="游ゴシック"/>
              </a:rPr>
              <a:t>0.80 秒 の 余 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784600"/>
            <a:ext cx="52832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6707F"/>
                </a:solidFill>
                <a:latin typeface="游ゴシック"/>
                <a:ea typeface="游ゴシック"/>
              </a:rPr>
              <a:t>（中央値）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521200"/>
            <a:ext cx="2921000" cy="132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150" b="0">
                <a:solidFill>
                  <a:srgbClr val="3A4658"/>
                </a:solidFill>
                <a:latin typeface="游ゴシック"/>
                <a:ea typeface="游ゴシック"/>
              </a:rPr>
              <a:t>1.5m以内まで近づく危険な車のうち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150" b="0">
                <a:solidFill>
                  <a:srgbClr val="3A4658"/>
                </a:solidFill>
                <a:latin typeface="游ゴシック"/>
                <a:ea typeface="游ゴシック"/>
              </a:rPr>
              <a:t>警告が届いた割合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2F7D6D"/>
                </a:solidFill>
                <a:latin typeface="游ゴシック"/>
                <a:ea typeface="游ゴシック"/>
              </a:rPr>
              <a:t>85.0 %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35500" y="4521200"/>
            <a:ext cx="2921000" cy="132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150" b="0">
                <a:solidFill>
                  <a:srgbClr val="3A4658"/>
                </a:solidFill>
                <a:latin typeface="游ゴシック"/>
                <a:ea typeface="游ゴシック"/>
              </a:rPr>
              <a:t>3.2mより遠くを通る安全な車のうち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150" b="0">
                <a:solidFill>
                  <a:srgbClr val="3A4658"/>
                </a:solidFill>
                <a:latin typeface="游ゴシック"/>
                <a:ea typeface="游ゴシック"/>
              </a:rPr>
              <a:t>鳴らさずに済んだ割合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2F7D6D"/>
                </a:solidFill>
                <a:latin typeface="游ゴシック"/>
                <a:ea typeface="游ゴシック"/>
              </a:rPr>
              <a:t>85.2 %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85200" y="4521200"/>
            <a:ext cx="2921000" cy="132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150" b="0">
                <a:solidFill>
                  <a:srgbClr val="3A4658"/>
                </a:solidFill>
                <a:latin typeface="游ゴシック"/>
                <a:ea typeface="游ゴシック"/>
              </a:rPr>
              <a:t>静音なキックボードのうち</a:t>
            </a:r>
          </a:p>
          <a:p>
            <a:pPr algn="l">
              <a:lnSpc>
                <a:spcPct val="130000"/>
              </a:lnSpc>
              <a:spcAft>
                <a:spcPts val="100"/>
              </a:spcAft>
            </a:pPr>
            <a:r>
              <a:rPr sz="1150" b="0">
                <a:solidFill>
                  <a:srgbClr val="3A4658"/>
                </a:solidFill>
                <a:latin typeface="游ゴシック"/>
                <a:ea typeface="游ゴシック"/>
              </a:rPr>
              <a:t>警告が届いた割合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2F7D6D"/>
                </a:solidFill>
                <a:latin typeface="游ゴシック"/>
                <a:ea typeface="游ゴシック"/>
              </a:rPr>
              <a:t>88.7 %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045200"/>
            <a:ext cx="10922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6707F"/>
                </a:solidFill>
                <a:latin typeface="游ゴシック"/>
                <a:ea typeface="游ゴシック"/>
              </a:rPr>
              <a:t>学習にも検証にも使っていない1,800クリップで、1回だけ採点した値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75400"/>
            <a:ext cx="10922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>
                <a:solidFill>
                  <a:srgbClr val="16233A"/>
                </a:solidFill>
                <a:latin typeface="游ゴシック"/>
                <a:ea typeface="游ゴシック"/>
              </a:rPr>
              <a:t>「全部鳴らす」でも「近づくまで黙る」でもなく、鳴らす相手と鳴らす時刻を選ぶ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