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98" r:id="rId3"/>
    <p:sldId id="318" r:id="rId4"/>
    <p:sldId id="396" r:id="rId5"/>
    <p:sldId id="397" r:id="rId6"/>
    <p:sldId id="399" r:id="rId7"/>
    <p:sldId id="402" r:id="rId8"/>
    <p:sldId id="403" r:id="rId9"/>
    <p:sldId id="411" r:id="rId10"/>
    <p:sldId id="404" r:id="rId11"/>
    <p:sldId id="412" r:id="rId12"/>
    <p:sldId id="400" r:id="rId13"/>
    <p:sldId id="409" r:id="rId14"/>
    <p:sldId id="408" r:id="rId15"/>
    <p:sldId id="406" r:id="rId16"/>
    <p:sldId id="351"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33A"/>
    <a:srgbClr val="FFFFFF"/>
    <a:srgbClr val="C9CBD2"/>
    <a:srgbClr val="66707F"/>
    <a:srgbClr val="E4E5DE"/>
    <a:srgbClr val="A09DB0"/>
    <a:srgbClr val="53476B"/>
    <a:srgbClr val="1D2D49"/>
    <a:srgbClr val="F2F2F2"/>
    <a:srgbClr val="0A3B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5" autoAdjust="0"/>
    <p:restoredTop sz="91849" autoAdjust="0"/>
  </p:normalViewPr>
  <p:slideViewPr>
    <p:cSldViewPr snapToGrid="0">
      <p:cViewPr>
        <p:scale>
          <a:sx n="75" d="100"/>
          <a:sy n="75" d="100"/>
        </p:scale>
        <p:origin x="120" y="-96"/>
      </p:cViewPr>
      <p:guideLst/>
    </p:cSldViewPr>
  </p:slideViewPr>
  <p:outlineViewPr>
    <p:cViewPr>
      <p:scale>
        <a:sx n="33" d="100"/>
        <a:sy n="33" d="100"/>
      </p:scale>
      <p:origin x="0" y="-1996"/>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DEC668-37C2-4142-AF5B-1BEC22E377DB}" type="datetimeFigureOut">
              <a:rPr kumimoji="1" lang="ja-JP" altLang="en-US" smtClean="0"/>
              <a:t>2026/9/5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D38D5-1BD5-4CFD-9FC6-4790329500DB}" type="slidenum">
              <a:rPr kumimoji="1" lang="ja-JP" altLang="en-US" smtClean="0"/>
              <a:t>‹#›</a:t>
            </a:fld>
            <a:endParaRPr kumimoji="1" lang="ja-JP" altLang="en-US"/>
          </a:p>
        </p:txBody>
      </p:sp>
    </p:spTree>
    <p:extLst>
      <p:ext uri="{BB962C8B-B14F-4D97-AF65-F5344CB8AC3E}">
        <p14:creationId xmlns:p14="http://schemas.microsoft.com/office/powerpoint/2010/main" val="35505739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22AD38D5-1BD5-4CFD-9FC6-4790329500DB}" type="slidenum">
              <a:rPr kumimoji="1" lang="ja-JP" altLang="en-US" smtClean="0"/>
              <a:t>1</a:t>
            </a:fld>
            <a:endParaRPr kumimoji="1" lang="ja-JP" altLang="en-US"/>
          </a:p>
        </p:txBody>
      </p:sp>
    </p:spTree>
    <p:extLst>
      <p:ext uri="{BB962C8B-B14F-4D97-AF65-F5344CB8AC3E}">
        <p14:creationId xmlns:p14="http://schemas.microsoft.com/office/powerpoint/2010/main" val="100662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C9A15-E047-5913-E36C-A52A9A81F5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8F035C-4CCE-6588-9024-1DE553D9BD5A}"/>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C796FCA-9F96-F2FA-0058-4AE86475E6E5}"/>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DBAD0FB-1AA2-424F-95A7-E1D5FD8929E9}"/>
              </a:ext>
            </a:extLst>
          </p:cNvPr>
          <p:cNvSpPr>
            <a:spLocks noGrp="1"/>
          </p:cNvSpPr>
          <p:nvPr>
            <p:ph type="sldNum" sz="quarter" idx="5"/>
          </p:nvPr>
        </p:nvSpPr>
        <p:spPr/>
        <p:txBody>
          <a:bodyPr/>
          <a:lstStyle/>
          <a:p>
            <a:fld id="{22AD38D5-1BD5-4CFD-9FC6-4790329500DB}" type="slidenum">
              <a:rPr kumimoji="1" lang="ja-JP" altLang="en-US" smtClean="0"/>
              <a:t>2</a:t>
            </a:fld>
            <a:endParaRPr kumimoji="1" lang="ja-JP" altLang="en-US"/>
          </a:p>
        </p:txBody>
      </p:sp>
    </p:spTree>
    <p:extLst>
      <p:ext uri="{BB962C8B-B14F-4D97-AF65-F5344CB8AC3E}">
        <p14:creationId xmlns:p14="http://schemas.microsoft.com/office/powerpoint/2010/main" val="932312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6D467-155A-6DF0-8661-F6A1248C7E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2DCCA7-EF59-C90A-BE44-0B9102186E9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80F7574-8E4B-C688-7013-F19D98162C53}"/>
              </a:ext>
            </a:extLst>
          </p:cNvPr>
          <p:cNvSpPr>
            <a:spLocks noGrp="1"/>
          </p:cNvSpPr>
          <p:nvPr>
            <p:ph type="body" idx="1"/>
          </p:nvPr>
        </p:nvSpPr>
        <p:spPr/>
        <p:txBody>
          <a:bodyPr/>
          <a:lstStyle/>
          <a:p>
            <a:endParaRPr kumimoji="1" lang="ja-JP"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50B31789-9EE8-8CB8-A826-FF68DDE41087}"/>
              </a:ext>
            </a:extLst>
          </p:cNvPr>
          <p:cNvSpPr>
            <a:spLocks noGrp="1"/>
          </p:cNvSpPr>
          <p:nvPr>
            <p:ph type="sldNum" sz="quarter" idx="5"/>
          </p:nvPr>
        </p:nvSpPr>
        <p:spPr/>
        <p:txBody>
          <a:bodyPr/>
          <a:lstStyle/>
          <a:p>
            <a:fld id="{22AD38D5-1BD5-4CFD-9FC6-4790329500DB}" type="slidenum">
              <a:rPr kumimoji="1" lang="ja-JP" altLang="en-US" smtClean="0"/>
              <a:t>3</a:t>
            </a:fld>
            <a:endParaRPr kumimoji="1" lang="ja-JP" altLang="en-US"/>
          </a:p>
        </p:txBody>
      </p:sp>
    </p:spTree>
    <p:extLst>
      <p:ext uri="{BB962C8B-B14F-4D97-AF65-F5344CB8AC3E}">
        <p14:creationId xmlns:p14="http://schemas.microsoft.com/office/powerpoint/2010/main" val="2134626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1644-FF69-CDA3-DEE5-90833FA529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59C3D-4D76-3C05-0C28-1C82D897A35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843E0E0-6D55-D580-39E0-C6D515379864}"/>
              </a:ext>
            </a:extLst>
          </p:cNvPr>
          <p:cNvSpPr>
            <a:spLocks noGrp="1"/>
          </p:cNvSpPr>
          <p:nvPr>
            <p:ph type="body" idx="1"/>
          </p:nvPr>
        </p:nvSpPr>
        <p:spPr/>
        <p:txBody>
          <a:bodyPr/>
          <a:lstStyle/>
          <a:p>
            <a:r>
              <a:rPr kumimoji="1" lang="ja-JP" altLang="en-US" sz="1200" b="0" kern="1200" dirty="0">
                <a:solidFill>
                  <a:schemeClr val="tx1"/>
                </a:solidFill>
                <a:effectLst/>
                <a:latin typeface="+mn-lt"/>
                <a:ea typeface="+mn-ea"/>
                <a:cs typeface="+mn-cs"/>
              </a:rPr>
              <a:t>予測最接近距離は直前５フレームが必要。指定距離は３０ｍが限界</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lang="ja-JP" altLang="ja-JP" dirty="0"/>
              <a:t>船や航空の衝突判定で使われる </a:t>
            </a:r>
            <a:r>
              <a:rPr lang="ja-JP" altLang="ja-JP" b="1" dirty="0"/>
              <a:t>CBDR</a:t>
            </a:r>
            <a:r>
              <a:rPr lang="ja-JP" altLang="en-US" dirty="0"/>
              <a:t>を採用</a:t>
            </a:r>
            <a:endParaRPr lang="en-US" altLang="ja-JP" dirty="0"/>
          </a:p>
          <a:p>
            <a:endParaRPr lang="en-US" altLang="ja-JP" dirty="0"/>
          </a:p>
          <a:p>
            <a:endParaRPr lang="en-US" altLang="ja-JP" dirty="0"/>
          </a:p>
          <a:p>
            <a:r>
              <a:rPr kumimoji="1" lang="ja-JP" altLang="ja-JP" sz="1200" b="0" i="0" kern="1200" dirty="0">
                <a:solidFill>
                  <a:schemeClr val="tx1"/>
                </a:solidFill>
                <a:effectLst/>
                <a:latin typeface="+mn-lt"/>
                <a:ea typeface="+mn-ea"/>
                <a:cs typeface="+mn-cs"/>
              </a:rPr>
              <a:t>距離を使わない5クラス ──→ 検出したら鳴らす（終わり）</a:t>
            </a:r>
          </a:p>
          <a:p>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距離を使う3クラス</a:t>
            </a:r>
          </a:p>
          <a:p>
            <a:r>
              <a:rPr kumimoji="1" lang="ja-JP" altLang="ja-JP" sz="1200" b="0" i="0" kern="1200" dirty="0">
                <a:solidFill>
                  <a:schemeClr val="tx1"/>
                </a:solidFill>
                <a:effectLst/>
                <a:latin typeface="+mn-lt"/>
                <a:ea typeface="+mn-ea"/>
                <a:cs typeface="+mn-cs"/>
              </a:rPr>
              <a:t>  ├ 予測が計算できる？（直近5フレーム連続で距離あり・30m以内・まだ最接近前・止まっていない）</a:t>
            </a:r>
          </a:p>
          <a:p>
            <a:r>
              <a:rPr kumimoji="1" lang="ja-JP" altLang="ja-JP" sz="1200" b="0" i="0" kern="1200" dirty="0">
                <a:solidFill>
                  <a:schemeClr val="tx1"/>
                </a:solidFill>
                <a:effectLst/>
                <a:latin typeface="+mn-lt"/>
                <a:ea typeface="+mn-ea"/>
                <a:cs typeface="+mn-cs"/>
              </a:rPr>
              <a:t>  │    ├ Yes → 最接近≤2.0m かつ 4秒以内 が0.4秒続けば「中」</a:t>
            </a:r>
          </a:p>
          <a:p>
            <a:r>
              <a:rPr kumimoji="1" lang="ja-JP" altLang="ja-JP" sz="1200" b="0" i="0" kern="1200" dirty="0">
                <a:solidFill>
                  <a:schemeClr val="tx1"/>
                </a:solidFill>
                <a:effectLst/>
                <a:latin typeface="+mn-lt"/>
                <a:ea typeface="+mn-ea"/>
                <a:cs typeface="+mn-cs"/>
              </a:rPr>
              <a:t>  │    │        さらに ≤1.0m かつ 2.5秒以内 が0.4秒続けば「強」</a:t>
            </a:r>
          </a:p>
          <a:p>
            <a:r>
              <a:rPr kumimoji="1" lang="ja-JP" altLang="ja-JP" sz="1200" b="0" i="0" kern="1200" dirty="0">
                <a:solidFill>
                  <a:schemeClr val="tx1"/>
                </a:solidFill>
                <a:effectLst/>
                <a:latin typeface="+mn-lt"/>
                <a:ea typeface="+mn-ea"/>
                <a:cs typeface="+mn-cs"/>
              </a:rPr>
              <a:t>  │    └ No  → 予測列は使えない</a:t>
            </a:r>
          </a:p>
          <a:p>
            <a:r>
              <a:rPr kumimoji="1" lang="ja-JP" altLang="ja-JP" sz="1200" b="0" i="0" kern="1200" dirty="0">
                <a:solidFill>
                  <a:schemeClr val="tx1"/>
                </a:solidFill>
                <a:effectLst/>
                <a:latin typeface="+mn-lt"/>
                <a:ea typeface="+mn-ea"/>
                <a:cs typeface="+mn-cs"/>
              </a:rPr>
              <a:t>  └ 保険（予測の成否と無関係に常に走る）</a:t>
            </a:r>
            <a:r>
              <a:rPr kumimoji="1" lang="ja-JP" altLang="en-US" sz="1200" b="0" i="0" kern="1200" dirty="0">
                <a:solidFill>
                  <a:schemeClr val="tx1"/>
                </a:solidFill>
                <a:effectLst/>
                <a:latin typeface="+mn-lt"/>
                <a:ea typeface="+mn-ea"/>
                <a:cs typeface="+mn-cs"/>
              </a:rPr>
              <a:t>（直前２フレーム</a:t>
            </a:r>
            <a:r>
              <a:rPr kumimoji="1" lang="en-US" altLang="ja-JP" sz="1200" b="0" i="0" kern="1200" dirty="0">
                <a:solidFill>
                  <a:schemeClr val="tx1"/>
                </a:solidFill>
                <a:effectLst/>
                <a:latin typeface="+mn-lt"/>
                <a:ea typeface="+mn-ea"/>
                <a:cs typeface="+mn-cs"/>
              </a:rPr>
              <a:t>3.2m / 1.5m</a:t>
            </a:r>
            <a:r>
              <a:rPr kumimoji="1" lang="ja-JP" altLang="en-US" sz="1200" b="0" i="0" kern="1200" dirty="0">
                <a:solidFill>
                  <a:schemeClr val="tx1"/>
                </a:solidFill>
                <a:effectLst/>
                <a:latin typeface="+mn-lt"/>
                <a:ea typeface="+mn-ea"/>
                <a:cs typeface="+mn-cs"/>
              </a:rPr>
              <a:t>だったら鳴らす）</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       推定距離 ≤3.2m が0.2秒 → 中</a:t>
            </a:r>
          </a:p>
          <a:p>
            <a:r>
              <a:rPr kumimoji="1" lang="ja-JP" altLang="ja-JP" sz="1200" b="0" i="0" kern="1200" dirty="0">
                <a:solidFill>
                  <a:schemeClr val="tx1"/>
                </a:solidFill>
                <a:effectLst/>
                <a:latin typeface="+mn-lt"/>
                <a:ea typeface="+mn-ea"/>
                <a:cs typeface="+mn-cs"/>
              </a:rPr>
              <a:t>       推定距離 ≤1.5m が0.2秒 → 強</a:t>
            </a:r>
          </a:p>
          <a:p>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  最後に：中のエピソード内に強があれば、強として1回鳴らす</a:t>
            </a:r>
          </a:p>
          <a:p>
            <a:endParaRPr lang="en-US" altLang="ja-JP" dirty="0"/>
          </a:p>
          <a:p>
            <a:endParaRPr lang="en-US" altLang="ja-JP" dirty="0"/>
          </a:p>
          <a:p>
            <a:r>
              <a:rPr kumimoji="1" lang="ja-JP" altLang="ja-JP" sz="1200" b="1" i="0" kern="1200" dirty="0">
                <a:solidFill>
                  <a:schemeClr val="tx1"/>
                </a:solidFill>
                <a:effectLst/>
                <a:latin typeface="+mn-lt"/>
                <a:ea typeface="+mn-ea"/>
                <a:cs typeface="+mn-cs"/>
              </a:rPr>
              <a:t>① 直近0.5秒（5フレーム）を見て、2つの変化を測る</a:t>
            </a:r>
            <a:endParaRPr kumimoji="1" lang="ja-JP" altLang="ja-JP" sz="1200" b="0" i="0" kern="1200" dirty="0">
              <a:solidFill>
                <a:schemeClr val="tx1"/>
              </a:solidFill>
              <a:effectLst/>
              <a:latin typeface="+mn-lt"/>
              <a:ea typeface="+mn-ea"/>
              <a:cs typeface="+mn-cs"/>
            </a:endParaRPr>
          </a:p>
          <a:p>
            <a:pPr lvl="0"/>
            <a:r>
              <a:rPr kumimoji="1" lang="ja-JP" altLang="ja-JP" sz="1200" b="0" i="0" kern="1200" dirty="0">
                <a:solidFill>
                  <a:schemeClr val="tx1"/>
                </a:solidFill>
                <a:effectLst/>
                <a:latin typeface="+mn-lt"/>
                <a:ea typeface="+mn-ea"/>
                <a:cs typeface="+mn-cs"/>
              </a:rPr>
              <a:t>距離がどれくらいの速さで縮んでいるか</a:t>
            </a:r>
          </a:p>
          <a:p>
            <a:pPr lvl="0"/>
            <a:r>
              <a:rPr kumimoji="1" lang="ja-JP" altLang="ja-JP" sz="1200" b="0" i="0" kern="1200" dirty="0">
                <a:solidFill>
                  <a:schemeClr val="tx1"/>
                </a:solidFill>
                <a:effectLst/>
                <a:latin typeface="+mn-lt"/>
                <a:ea typeface="+mn-ea"/>
                <a:cs typeface="+mn-cs"/>
              </a:rPr>
              <a:t>方角がどれくらいの速さで振れているか</a:t>
            </a:r>
            <a:endParaRPr kumimoji="1" lang="en-US" altLang="ja-JP" sz="1200" b="0" i="0" kern="1200" dirty="0">
              <a:solidFill>
                <a:schemeClr val="tx1"/>
              </a:solidFill>
              <a:effectLst/>
              <a:latin typeface="+mn-lt"/>
              <a:ea typeface="+mn-ea"/>
              <a:cs typeface="+mn-cs"/>
            </a:endParaRPr>
          </a:p>
          <a:p>
            <a:pPr lvl="0"/>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② その2つから「最接近」を解く</a:t>
            </a:r>
            <a:endParaRPr kumimoji="1" lang="ja-JP" altLang="ja-JP" sz="1200" b="0" i="0" kern="1200" dirty="0">
              <a:solidFill>
                <a:schemeClr val="tx1"/>
              </a:solidFill>
              <a:effectLst/>
              <a:latin typeface="+mn-lt"/>
              <a:ea typeface="+mn-ea"/>
              <a:cs typeface="+mn-cs"/>
            </a:endParaRPr>
          </a:p>
          <a:p>
            <a:pPr lvl="0"/>
            <a:r>
              <a:rPr kumimoji="1" lang="ja-JP" altLang="ja-JP" sz="1200" b="0" i="0" kern="1200" dirty="0">
                <a:solidFill>
                  <a:schemeClr val="tx1"/>
                </a:solidFill>
                <a:effectLst/>
                <a:latin typeface="+mn-lt"/>
                <a:ea typeface="+mn-ea"/>
                <a:cs typeface="+mn-cs"/>
              </a:rPr>
              <a:t>距離が縮んでいるのに</a:t>
            </a:r>
            <a:r>
              <a:rPr kumimoji="1" lang="ja-JP" altLang="ja-JP" sz="1200" b="1" i="0" kern="1200" dirty="0">
                <a:solidFill>
                  <a:schemeClr val="tx1"/>
                </a:solidFill>
                <a:effectLst/>
                <a:latin typeface="+mn-lt"/>
                <a:ea typeface="+mn-ea"/>
                <a:cs typeface="+mn-cs"/>
              </a:rPr>
              <a:t>方角がほとんど振れない</a:t>
            </a:r>
            <a:r>
              <a:rPr kumimoji="1" lang="ja-JP" altLang="ja-JP" sz="1200" b="0" i="0" kern="1200" dirty="0">
                <a:solidFill>
                  <a:schemeClr val="tx1"/>
                </a:solidFill>
                <a:effectLst/>
                <a:latin typeface="+mn-lt"/>
                <a:ea typeface="+mn-ea"/>
                <a:cs typeface="+mn-cs"/>
              </a:rPr>
              <a:t> → 真っ直ぐこっちに来ている → 最接近は</a:t>
            </a:r>
            <a:r>
              <a:rPr kumimoji="1" lang="ja-JP" altLang="ja-JP" sz="1200" b="1" i="0" kern="1200" dirty="0">
                <a:solidFill>
                  <a:schemeClr val="tx1"/>
                </a:solidFill>
                <a:effectLst/>
                <a:latin typeface="+mn-lt"/>
                <a:ea typeface="+mn-ea"/>
                <a:cs typeface="+mn-cs"/>
              </a:rPr>
              <a:t>ほぼ0メートル</a:t>
            </a:r>
            <a:endParaRPr kumimoji="1" lang="ja-JP" altLang="ja-JP" sz="1200" b="0" i="0" kern="1200" dirty="0">
              <a:solidFill>
                <a:schemeClr val="tx1"/>
              </a:solidFill>
              <a:effectLst/>
              <a:latin typeface="+mn-lt"/>
              <a:ea typeface="+mn-ea"/>
              <a:cs typeface="+mn-cs"/>
            </a:endParaRPr>
          </a:p>
          <a:p>
            <a:pPr lvl="0"/>
            <a:r>
              <a:rPr kumimoji="1" lang="ja-JP" altLang="ja-JP" sz="1200" b="0" i="0" kern="1200" dirty="0">
                <a:solidFill>
                  <a:schemeClr val="tx1"/>
                </a:solidFill>
                <a:effectLst/>
                <a:latin typeface="+mn-lt"/>
                <a:ea typeface="+mn-ea"/>
                <a:cs typeface="+mn-cs"/>
              </a:rPr>
              <a:t>距離が縮んでいて</a:t>
            </a:r>
            <a:r>
              <a:rPr kumimoji="1" lang="ja-JP" altLang="ja-JP" sz="1200" b="1" i="0" kern="1200" dirty="0">
                <a:solidFill>
                  <a:schemeClr val="tx1"/>
                </a:solidFill>
                <a:effectLst/>
                <a:latin typeface="+mn-lt"/>
                <a:ea typeface="+mn-ea"/>
                <a:cs typeface="+mn-cs"/>
              </a:rPr>
              <a:t>方角がぐんぐん振れる</a:t>
            </a:r>
            <a:r>
              <a:rPr kumimoji="1" lang="ja-JP" altLang="ja-JP" sz="1200" b="0" i="0" kern="1200" dirty="0">
                <a:solidFill>
                  <a:schemeClr val="tx1"/>
                </a:solidFill>
                <a:effectLst/>
                <a:latin typeface="+mn-lt"/>
                <a:ea typeface="+mn-ea"/>
                <a:cs typeface="+mn-cs"/>
              </a:rPr>
              <a:t> → 横を通る → 最接近は</a:t>
            </a:r>
            <a:r>
              <a:rPr kumimoji="1" lang="ja-JP" altLang="ja-JP" sz="1200" b="1" i="0" kern="1200" dirty="0">
                <a:solidFill>
                  <a:schemeClr val="tx1"/>
                </a:solidFill>
                <a:effectLst/>
                <a:latin typeface="+mn-lt"/>
                <a:ea typeface="+mn-ea"/>
                <a:cs typeface="+mn-cs"/>
              </a:rPr>
              <a:t>その横距離</a:t>
            </a:r>
            <a:endParaRPr kumimoji="1" lang="ja-JP" altLang="ja-JP" sz="1200" b="0" i="0" kern="1200" dirty="0">
              <a:solidFill>
                <a:schemeClr val="tx1"/>
              </a:solidFill>
              <a:effectLst/>
              <a:latin typeface="+mn-lt"/>
              <a:ea typeface="+mn-ea"/>
              <a:cs typeface="+mn-cs"/>
            </a:endParaRPr>
          </a:p>
          <a:p>
            <a:pPr lvl="0"/>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③ 2つの条件を両方満たしたら鳴らす</a:t>
            </a:r>
            <a:endParaRPr kumimoji="1" lang="ja-JP" altLang="ja-JP"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段階</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条件</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何フレーム続いたら</a:t>
            </a:r>
          </a:p>
          <a:p>
            <a:r>
              <a:rPr kumimoji="1" lang="ja-JP" altLang="ja-JP" sz="1200" b="1" i="0" kern="1200" dirty="0">
                <a:solidFill>
                  <a:schemeClr val="tx1"/>
                </a:solidFill>
                <a:effectLst/>
                <a:latin typeface="+mn-lt"/>
                <a:ea typeface="+mn-ea"/>
                <a:cs typeface="+mn-cs"/>
              </a:rPr>
              <a:t>至近警告</a:t>
            </a:r>
            <a:r>
              <a:rPr kumimoji="1" lang="ja-JP" altLang="ja-JP" sz="1200" b="0" i="0" kern="1200" dirty="0">
                <a:solidFill>
                  <a:schemeClr val="tx1"/>
                </a:solidFill>
                <a:effectLst/>
                <a:latin typeface="+mn-lt"/>
                <a:ea typeface="+mn-ea"/>
                <a:cs typeface="+mn-cs"/>
              </a:rPr>
              <a:t>最接近が </a:t>
            </a:r>
            <a:r>
              <a:rPr kumimoji="1" lang="ja-JP" altLang="ja-JP" sz="1200" b="1" i="0" kern="1200" dirty="0">
                <a:solidFill>
                  <a:schemeClr val="tx1"/>
                </a:solidFill>
                <a:effectLst/>
                <a:latin typeface="+mn-lt"/>
                <a:ea typeface="+mn-ea"/>
                <a:cs typeface="+mn-cs"/>
              </a:rPr>
              <a:t>1.0m以内</a:t>
            </a:r>
            <a:r>
              <a:rPr kumimoji="1" lang="ja-JP" altLang="ja-JP" sz="1200" b="0" i="0" kern="1200" dirty="0">
                <a:solidFill>
                  <a:schemeClr val="tx1"/>
                </a:solidFill>
                <a:effectLst/>
                <a:latin typeface="+mn-lt"/>
                <a:ea typeface="+mn-ea"/>
                <a:cs typeface="+mn-cs"/>
              </a:rPr>
              <a:t> かつ </a:t>
            </a:r>
            <a:r>
              <a:rPr kumimoji="1" lang="ja-JP" altLang="ja-JP" sz="1200" b="1" i="0" kern="1200" dirty="0">
                <a:solidFill>
                  <a:schemeClr val="tx1"/>
                </a:solidFill>
                <a:effectLst/>
                <a:latin typeface="+mn-lt"/>
                <a:ea typeface="+mn-ea"/>
                <a:cs typeface="+mn-cs"/>
              </a:rPr>
              <a:t>2.5秒以内</a:t>
            </a:r>
            <a:r>
              <a:rPr kumimoji="1" lang="ja-JP" altLang="ja-JP" sz="1200" b="0" i="0" kern="1200" dirty="0">
                <a:solidFill>
                  <a:schemeClr val="tx1"/>
                </a:solidFill>
                <a:effectLst/>
                <a:latin typeface="+mn-lt"/>
                <a:ea typeface="+mn-ea"/>
                <a:cs typeface="+mn-cs"/>
              </a:rPr>
              <a:t>に到達4フレーム（0.4秒）</a:t>
            </a:r>
          </a:p>
          <a:p>
            <a:r>
              <a:rPr kumimoji="1" lang="ja-JP" altLang="ja-JP" sz="1200" b="1" i="0" kern="1200" dirty="0">
                <a:solidFill>
                  <a:schemeClr val="tx1"/>
                </a:solidFill>
                <a:effectLst/>
                <a:latin typeface="+mn-lt"/>
                <a:ea typeface="+mn-ea"/>
                <a:cs typeface="+mn-cs"/>
              </a:rPr>
              <a:t>注意</a:t>
            </a:r>
            <a:r>
              <a:rPr kumimoji="1" lang="ja-JP" altLang="ja-JP" sz="1200" b="0" i="0" kern="1200" dirty="0">
                <a:solidFill>
                  <a:schemeClr val="tx1"/>
                </a:solidFill>
                <a:effectLst/>
                <a:latin typeface="+mn-lt"/>
                <a:ea typeface="+mn-ea"/>
                <a:cs typeface="+mn-cs"/>
              </a:rPr>
              <a:t>最接近が </a:t>
            </a:r>
            <a:r>
              <a:rPr kumimoji="1" lang="ja-JP" altLang="ja-JP" sz="1200" b="1" i="0" kern="1200" dirty="0">
                <a:solidFill>
                  <a:schemeClr val="tx1"/>
                </a:solidFill>
                <a:effectLst/>
                <a:latin typeface="+mn-lt"/>
                <a:ea typeface="+mn-ea"/>
                <a:cs typeface="+mn-cs"/>
              </a:rPr>
              <a:t>2.0m以内</a:t>
            </a:r>
            <a:r>
              <a:rPr kumimoji="1" lang="ja-JP" altLang="ja-JP" sz="1200" b="0" i="0" kern="1200" dirty="0">
                <a:solidFill>
                  <a:schemeClr val="tx1"/>
                </a:solidFill>
                <a:effectLst/>
                <a:latin typeface="+mn-lt"/>
                <a:ea typeface="+mn-ea"/>
                <a:cs typeface="+mn-cs"/>
              </a:rPr>
              <a:t> かつ </a:t>
            </a:r>
            <a:r>
              <a:rPr kumimoji="1" lang="ja-JP" altLang="ja-JP" sz="1200" b="1" i="0" kern="1200" dirty="0">
                <a:solidFill>
                  <a:schemeClr val="tx1"/>
                </a:solidFill>
                <a:effectLst/>
                <a:latin typeface="+mn-lt"/>
                <a:ea typeface="+mn-ea"/>
                <a:cs typeface="+mn-cs"/>
              </a:rPr>
              <a:t>4.0秒以内</a:t>
            </a:r>
            <a:r>
              <a:rPr kumimoji="1" lang="ja-JP" altLang="ja-JP" sz="1200" b="0" i="0" kern="1200" dirty="0">
                <a:solidFill>
                  <a:schemeClr val="tx1"/>
                </a:solidFill>
                <a:effectLst/>
                <a:latin typeface="+mn-lt"/>
                <a:ea typeface="+mn-ea"/>
                <a:cs typeface="+mn-cs"/>
              </a:rPr>
              <a:t>に到達4フレーム</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④ これとは別に、昔からの保険が並行して動いている</a:t>
            </a:r>
            <a:endParaRPr kumimoji="1" lang="ja-JP" altLang="ja-JP"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段階</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条件</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何フレーム</a:t>
            </a:r>
          </a:p>
          <a:p>
            <a:r>
              <a:rPr kumimoji="1" lang="ja-JP" altLang="ja-JP" sz="1200" b="0" i="0" kern="1200" dirty="0">
                <a:solidFill>
                  <a:schemeClr val="tx1"/>
                </a:solidFill>
                <a:effectLst/>
                <a:latin typeface="+mn-lt"/>
                <a:ea typeface="+mn-ea"/>
                <a:cs typeface="+mn-cs"/>
              </a:rPr>
              <a:t>至近警告いま測った距離が </a:t>
            </a:r>
            <a:r>
              <a:rPr kumimoji="1" lang="ja-JP" altLang="ja-JP" sz="1200" b="1" i="0" kern="1200" dirty="0">
                <a:solidFill>
                  <a:schemeClr val="tx1"/>
                </a:solidFill>
                <a:effectLst/>
                <a:latin typeface="+mn-lt"/>
                <a:ea typeface="+mn-ea"/>
                <a:cs typeface="+mn-cs"/>
              </a:rPr>
              <a:t>1.5m以内</a:t>
            </a:r>
            <a:r>
              <a:rPr kumimoji="1" lang="ja-JP" altLang="ja-JP" sz="1200" b="0" i="0" kern="1200" dirty="0">
                <a:solidFill>
                  <a:schemeClr val="tx1"/>
                </a:solidFill>
                <a:effectLst/>
                <a:latin typeface="+mn-lt"/>
                <a:ea typeface="+mn-ea"/>
                <a:cs typeface="+mn-cs"/>
              </a:rPr>
              <a:t>2フレーム（0.2秒）</a:t>
            </a:r>
          </a:p>
          <a:p>
            <a:r>
              <a:rPr kumimoji="1" lang="ja-JP" altLang="ja-JP" sz="1200" b="0" i="0" kern="1200" dirty="0">
                <a:solidFill>
                  <a:schemeClr val="tx1"/>
                </a:solidFill>
                <a:effectLst/>
                <a:latin typeface="+mn-lt"/>
                <a:ea typeface="+mn-ea"/>
                <a:cs typeface="+mn-cs"/>
              </a:rPr>
              <a:t>注意いま測った距離が </a:t>
            </a:r>
            <a:r>
              <a:rPr kumimoji="1" lang="ja-JP" altLang="ja-JP" sz="1200" b="1" i="0" kern="1200" dirty="0">
                <a:solidFill>
                  <a:schemeClr val="tx1"/>
                </a:solidFill>
                <a:effectLst/>
                <a:latin typeface="+mn-lt"/>
                <a:ea typeface="+mn-ea"/>
                <a:cs typeface="+mn-cs"/>
              </a:rPr>
              <a:t>3.2m以内</a:t>
            </a:r>
            <a:r>
              <a:rPr kumimoji="1" lang="ja-JP" altLang="ja-JP" sz="1200" b="0" i="0" kern="1200" dirty="0">
                <a:solidFill>
                  <a:schemeClr val="tx1"/>
                </a:solidFill>
                <a:effectLst/>
                <a:latin typeface="+mn-lt"/>
                <a:ea typeface="+mn-ea"/>
                <a:cs typeface="+mn-cs"/>
              </a:rPr>
              <a:t>2フレーム</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pPr lvl="0"/>
            <a:r>
              <a:rPr kumimoji="1" lang="ja-JP" altLang="ja-JP" sz="1200" b="1" i="0" kern="1200" dirty="0">
                <a:solidFill>
                  <a:schemeClr val="tx1"/>
                </a:solidFill>
                <a:effectLst/>
                <a:latin typeface="+mn-lt"/>
                <a:ea typeface="+mn-ea"/>
                <a:cs typeface="+mn-cs"/>
              </a:rPr>
              <a:t>1.5m / 3.2m</a:t>
            </a:r>
            <a:r>
              <a:rPr kumimoji="1" lang="ja-JP" altLang="ja-JP" sz="1200" b="0" i="0" kern="1200" dirty="0">
                <a:solidFill>
                  <a:schemeClr val="tx1"/>
                </a:solidFill>
                <a:effectLst/>
                <a:latin typeface="+mn-lt"/>
                <a:ea typeface="+mn-ea"/>
                <a:cs typeface="+mn-cs"/>
              </a:rPr>
              <a:t> … 危険度の</a:t>
            </a:r>
            <a:r>
              <a:rPr kumimoji="1" lang="ja-JP" altLang="ja-JP" sz="1200" b="1" i="0" kern="1200" dirty="0">
                <a:solidFill>
                  <a:schemeClr val="tx1"/>
                </a:solidFill>
                <a:effectLst/>
                <a:latin typeface="+mn-lt"/>
                <a:ea typeface="+mn-ea"/>
                <a:cs typeface="+mn-cs"/>
              </a:rPr>
              <a:t>定義</a:t>
            </a:r>
            <a:r>
              <a:rPr kumimoji="1" lang="ja-JP" altLang="ja-JP" sz="1200" b="0" i="0" kern="1200" dirty="0">
                <a:solidFill>
                  <a:schemeClr val="tx1"/>
                </a:solidFill>
                <a:effectLst/>
                <a:latin typeface="+mn-lt"/>
                <a:ea typeface="+mn-ea"/>
                <a:cs typeface="+mn-cs"/>
              </a:rPr>
              <a:t>であり、保険のしきい値。1.5mは改正道交法の側方間隔から借用</a:t>
            </a:r>
          </a:p>
          <a:p>
            <a:pPr lvl="0"/>
            <a:r>
              <a:rPr kumimoji="1" lang="ja-JP" altLang="ja-JP" sz="1200" b="1" i="0" kern="1200" dirty="0">
                <a:solidFill>
                  <a:schemeClr val="tx1"/>
                </a:solidFill>
                <a:effectLst/>
                <a:latin typeface="+mn-lt"/>
                <a:ea typeface="+mn-ea"/>
                <a:cs typeface="+mn-cs"/>
              </a:rPr>
              <a:t>2.5秒 / 4.0秒</a:t>
            </a:r>
            <a:r>
              <a:rPr kumimoji="1" lang="ja-JP" altLang="ja-JP" sz="1200" b="0" i="0" kern="1200" dirty="0">
                <a:solidFill>
                  <a:schemeClr val="tx1"/>
                </a:solidFill>
                <a:effectLst/>
                <a:latin typeface="+mn-lt"/>
                <a:ea typeface="+mn-ea"/>
                <a:cs typeface="+mn-cs"/>
              </a:rPr>
              <a:t> … 文献に裏付けあり（AASHTOの反応時間 / Vogel 2003のTTC&lt;4秒）。ただし2.5秒は</a:t>
            </a:r>
            <a:r>
              <a:rPr kumimoji="1" lang="ja-JP" altLang="ja-JP" sz="1200" b="1" i="0" kern="1200" dirty="0">
                <a:solidFill>
                  <a:schemeClr val="tx1"/>
                </a:solidFill>
                <a:effectLst/>
                <a:latin typeface="+mn-lt"/>
                <a:ea typeface="+mn-ea"/>
                <a:cs typeface="+mn-cs"/>
              </a:rPr>
              <a:t>車を運転中の人</a:t>
            </a:r>
            <a:r>
              <a:rPr kumimoji="1" lang="ja-JP" altLang="ja-JP" sz="1200" b="0" i="0" kern="1200" dirty="0">
                <a:solidFill>
                  <a:schemeClr val="tx1"/>
                </a:solidFill>
                <a:effectLst/>
                <a:latin typeface="+mn-lt"/>
                <a:ea typeface="+mn-ea"/>
                <a:cs typeface="+mn-cs"/>
              </a:rPr>
              <a:t>の値なので「理想線」扱い</a:t>
            </a:r>
          </a:p>
          <a:p>
            <a:pPr lvl="0"/>
            <a:r>
              <a:rPr kumimoji="1" lang="ja-JP" altLang="ja-JP" sz="1200" b="1" i="0" kern="1200" dirty="0">
                <a:solidFill>
                  <a:schemeClr val="tx1"/>
                </a:solidFill>
                <a:effectLst/>
                <a:latin typeface="+mn-lt"/>
                <a:ea typeface="+mn-ea"/>
                <a:cs typeface="+mn-cs"/>
              </a:rPr>
              <a:t>1.0m / 2.0m</a:t>
            </a:r>
            <a:r>
              <a:rPr kumimoji="1" lang="ja-JP" altLang="ja-JP" sz="1200" b="0" i="0" kern="1200" dirty="0">
                <a:solidFill>
                  <a:schemeClr val="tx1"/>
                </a:solidFill>
                <a:effectLst/>
                <a:latin typeface="+mn-lt"/>
                <a:ea typeface="+mn-ea"/>
                <a:cs typeface="+mn-cs"/>
              </a:rPr>
              <a:t> … </a:t>
            </a:r>
            <a:r>
              <a:rPr kumimoji="1" lang="ja-JP" altLang="ja-JP" sz="1200" b="1" i="0" kern="1200" dirty="0">
                <a:solidFill>
                  <a:schemeClr val="tx1"/>
                </a:solidFill>
                <a:effectLst/>
                <a:latin typeface="+mn-lt"/>
                <a:ea typeface="+mn-ea"/>
                <a:cs typeface="+mn-cs"/>
              </a:rPr>
              <a:t>私が探索で決めた設計値で、外部根拠はありません</a:t>
            </a:r>
            <a:r>
              <a:rPr kumimoji="1" lang="ja-JP" altLang="ja-JP" sz="1200" b="0" i="0" kern="1200" dirty="0">
                <a:solidFill>
                  <a:schemeClr val="tx1"/>
                </a:solidFill>
                <a:effectLst/>
                <a:latin typeface="+mn-lt"/>
                <a:ea typeface="+mn-ea"/>
                <a:cs typeface="+mn-cs"/>
              </a:rPr>
              <a:t>。危険度の定義(1.5m)より厳しくしてあります</a:t>
            </a:r>
          </a:p>
          <a:p>
            <a:endParaRPr kumimoji="1" lang="ja-JP" altLang="ja-JP" sz="1200" b="0" i="0" kern="1200" dirty="0">
              <a:solidFill>
                <a:schemeClr val="tx1"/>
              </a:solidFill>
              <a:effectLst/>
              <a:latin typeface="+mn-lt"/>
              <a:ea typeface="+mn-ea"/>
              <a:cs typeface="+mn-cs"/>
            </a:endParaRPr>
          </a:p>
          <a:p>
            <a:br>
              <a:rPr lang="ja-JP" altLang="ja-JP" dirty="0"/>
            </a:br>
            <a:endParaRPr kumimoji="1" lang="ja-JP" altLang="ja-JP" sz="1200" b="0" i="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D33AAF2-428A-9AF5-4418-4A4DB213B402}"/>
              </a:ext>
            </a:extLst>
          </p:cNvPr>
          <p:cNvSpPr>
            <a:spLocks noGrp="1"/>
          </p:cNvSpPr>
          <p:nvPr>
            <p:ph type="sldNum" sz="quarter" idx="5"/>
          </p:nvPr>
        </p:nvSpPr>
        <p:spPr/>
        <p:txBody>
          <a:bodyPr/>
          <a:lstStyle/>
          <a:p>
            <a:fld id="{22AD38D5-1BD5-4CFD-9FC6-4790329500DB}" type="slidenum">
              <a:rPr kumimoji="1" lang="ja-JP" altLang="en-US" smtClean="0"/>
              <a:t>4</a:t>
            </a:fld>
            <a:endParaRPr kumimoji="1" lang="ja-JP" altLang="en-US"/>
          </a:p>
        </p:txBody>
      </p:sp>
    </p:spTree>
    <p:extLst>
      <p:ext uri="{BB962C8B-B14F-4D97-AF65-F5344CB8AC3E}">
        <p14:creationId xmlns:p14="http://schemas.microsoft.com/office/powerpoint/2010/main" val="3209288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BB268-E55D-8FAA-45CF-D94B4D6CD8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304530-7734-5A14-F9AC-7B1EF71783A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59A2777-2EEC-FB77-4CDC-E657165C65D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kern="1200" dirty="0">
                <a:solidFill>
                  <a:schemeClr val="tx1"/>
                </a:solidFill>
                <a:effectLst/>
                <a:latin typeface="+mn-lt"/>
                <a:ea typeface="+mn-ea"/>
                <a:cs typeface="+mn-cs"/>
              </a:rPr>
              <a:t>検出の定義は？</a:t>
            </a: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dirty="0">
                <a:solidFill>
                  <a:schemeClr val="tx1"/>
                </a:solidFill>
                <a:effectLst/>
                <a:latin typeface="+mn-lt"/>
                <a:ea typeface="+mn-ea"/>
                <a:cs typeface="+mn-cs"/>
              </a:rPr>
              <a:t>フレーム単位</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方位が20度以内</a:t>
            </a:r>
            <a:r>
              <a:rPr kumimoji="1" lang="ja-JP" altLang="ja-JP" sz="1200" b="0" i="0" kern="1200" dirty="0">
                <a:solidFill>
                  <a:schemeClr val="tx1"/>
                </a:solidFill>
                <a:effectLst/>
                <a:latin typeface="+mn-lt"/>
                <a:ea typeface="+mn-ea"/>
                <a:cs typeface="+mn-cs"/>
              </a:rPr>
              <a:t>なら一致とみなします（DCASE標準）。</a:t>
            </a:r>
            <a:r>
              <a:rPr kumimoji="1" lang="ja-JP" altLang="ja-JP" sz="1200" b="1" i="0" kern="1200" dirty="0">
                <a:solidFill>
                  <a:schemeClr val="tx1"/>
                </a:solidFill>
                <a:effectLst/>
                <a:latin typeface="+mn-lt"/>
                <a:ea typeface="+mn-ea"/>
                <a:cs typeface="+mn-cs"/>
              </a:rPr>
              <a:t>音を見つけただけでは正解になりません。方向も合っている必要があります。</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何を当てたら正解か</a:t>
            </a:r>
          </a:p>
          <a:p>
            <a:r>
              <a:rPr kumimoji="1" lang="ja-JP" altLang="ja-JP" sz="1200" b="1" i="0" kern="1200" dirty="0">
                <a:solidFill>
                  <a:schemeClr val="tx1"/>
                </a:solidFill>
                <a:effectLst/>
                <a:latin typeface="+mn-lt"/>
                <a:ea typeface="+mn-ea"/>
                <a:cs typeface="+mn-cs"/>
              </a:rPr>
              <a:t>3つ全部が揃って初めて1件です。</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① フレーム単位で、その時刻に鳴っていると報告している</a:t>
            </a:r>
          </a:p>
          <a:p>
            <a:r>
              <a:rPr kumimoji="1" lang="ja-JP" altLang="ja-JP" sz="1200" b="0" i="0" kern="1200" dirty="0">
                <a:solidFill>
                  <a:schemeClr val="tx1"/>
                </a:solidFill>
                <a:effectLst/>
                <a:latin typeface="+mn-lt"/>
                <a:ea typeface="+mn-ea"/>
                <a:cs typeface="+mn-cs"/>
              </a:rPr>
              <a:t>② クラスが合っている（サイレンをサイレンと言えている）</a:t>
            </a:r>
          </a:p>
          <a:p>
            <a:r>
              <a:rPr kumimoji="1" lang="ja-JP" altLang="ja-JP" sz="1200" b="0" i="0" kern="1200" dirty="0">
                <a:solidFill>
                  <a:schemeClr val="tx1"/>
                </a:solidFill>
                <a:effectLst/>
                <a:latin typeface="+mn-lt"/>
                <a:ea typeface="+mn-ea"/>
                <a:cs typeface="+mn-cs"/>
              </a:rPr>
              <a:t>③ 方位が20度以内</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車の検出率</a:t>
            </a:r>
          </a:p>
          <a:p>
            <a:r>
              <a:rPr kumimoji="1" lang="ja-JP" altLang="ja-JP" sz="1200" b="0" i="0" kern="1200" dirty="0">
                <a:solidFill>
                  <a:schemeClr val="tx1"/>
                </a:solidFill>
                <a:effectLst/>
                <a:latin typeface="+mn-lt"/>
                <a:ea typeface="+mn-ea"/>
                <a:cs typeface="+mn-cs"/>
              </a:rPr>
              <a:t>SNR </a:t>
            </a:r>
            <a:r>
              <a:rPr kumimoji="1" lang="ja-JP" altLang="ja-JP" sz="1200" b="1" i="0" kern="1200" dirty="0">
                <a:solidFill>
                  <a:schemeClr val="tx1"/>
                </a:solidFill>
                <a:effectLst/>
                <a:latin typeface="+mn-lt"/>
                <a:ea typeface="+mn-ea"/>
                <a:cs typeface="+mn-cs"/>
              </a:rPr>
              <a:t>0〜2dB94%</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SNR </a:t>
            </a:r>
            <a:r>
              <a:rPr kumimoji="1" lang="ja-JP" altLang="ja-JP" sz="1200" b="1" i="0" kern="1200" dirty="0">
                <a:solidFill>
                  <a:schemeClr val="tx1"/>
                </a:solidFill>
                <a:effectLst/>
                <a:latin typeface="+mn-lt"/>
                <a:ea typeface="+mn-ea"/>
                <a:cs typeface="+mn-cs"/>
              </a:rPr>
              <a:t>−2〜0dB50%</a:t>
            </a:r>
            <a:endParaRPr kumimoji="1" lang="ja-JP" altLang="ja-JP" sz="1200" b="0" i="0" kern="1200" dirty="0">
              <a:solidFill>
                <a:schemeClr val="tx1"/>
              </a:solidFill>
              <a:effectLst/>
              <a:latin typeface="+mn-lt"/>
              <a:ea typeface="+mn-ea"/>
              <a:cs typeface="+mn-cs"/>
            </a:endParaRPr>
          </a:p>
          <a:p>
            <a:br>
              <a:rPr lang="ja-JP" altLang="ja-JP" dirty="0"/>
            </a:br>
            <a:r>
              <a:rPr kumimoji="1" lang="ja-JP" altLang="ja-JP" sz="1200" b="0" i="0" kern="1200" dirty="0">
                <a:solidFill>
                  <a:schemeClr val="tx1"/>
                </a:solidFill>
                <a:effectLst/>
                <a:latin typeface="+mn-lt"/>
                <a:ea typeface="+mn-ea"/>
                <a:cs typeface="+mn-cs"/>
              </a:rPr>
              <a:t>シーン種別   住宅40% ／ 生活道路40% ／ 幹線20%</a:t>
            </a:r>
          </a:p>
          <a:p>
            <a:r>
              <a:rPr kumimoji="1" lang="ja-JP" altLang="ja-JP" sz="1200" b="0" i="0" kern="1200" dirty="0">
                <a:solidFill>
                  <a:schemeClr val="tx1"/>
                </a:solidFill>
                <a:effectLst/>
                <a:latin typeface="+mn-lt"/>
                <a:ea typeface="+mn-ea"/>
                <a:cs typeface="+mn-cs"/>
              </a:rPr>
              <a:t>             ↓ これが車の台数を決める</a:t>
            </a:r>
          </a:p>
          <a:p>
            <a:r>
              <a:rPr kumimoji="1" lang="ja-JP" altLang="ja-JP" sz="1200" b="0" i="0" kern="1200" dirty="0">
                <a:solidFill>
                  <a:schemeClr val="tx1"/>
                </a:solidFill>
                <a:effectLst/>
                <a:latin typeface="+mn-lt"/>
                <a:ea typeface="+mn-ea"/>
                <a:cs typeface="+mn-cs"/>
              </a:rPr>
              <a:t>車の台数     0台18% ／ 1台47% ／ 2台23% ／ 3台12%</a:t>
            </a:r>
          </a:p>
          <a:p>
            <a:r>
              <a:rPr kumimoji="1" lang="ja-JP" altLang="ja-JP" sz="1200" b="0" i="0" kern="1200" dirty="0">
                <a:solidFill>
                  <a:schemeClr val="tx1"/>
                </a:solidFill>
                <a:effectLst/>
                <a:latin typeface="+mn-lt"/>
                <a:ea typeface="+mn-ea"/>
                <a:cs typeface="+mn-cs"/>
              </a:rPr>
              <a:t>警告音の数   0個45% ／ 1個40% ／ 2個15%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kern="1200" dirty="0">
                <a:solidFill>
                  <a:schemeClr val="tx1"/>
                </a:solidFill>
                <a:effectLst/>
                <a:latin typeface="+mn-lt"/>
                <a:ea typeface="+mn-ea"/>
                <a:cs typeface="+mn-cs"/>
              </a:rPr>
              <a:t>なぜ既存の</a:t>
            </a:r>
            <a:r>
              <a:rPr kumimoji="1" lang="en-US" altLang="ja-JP" sz="1200" b="1" i="0" kern="1200" dirty="0">
                <a:solidFill>
                  <a:schemeClr val="tx1"/>
                </a:solidFill>
                <a:effectLst/>
                <a:latin typeface="+mn-lt"/>
                <a:ea typeface="+mn-ea"/>
                <a:cs typeface="+mn-cs"/>
              </a:rPr>
              <a:t>SELD</a:t>
            </a:r>
            <a:r>
              <a:rPr kumimoji="1" lang="ja-JP" altLang="en-US" sz="1200" b="1" i="0" kern="1200" dirty="0">
                <a:solidFill>
                  <a:schemeClr val="tx1"/>
                </a:solidFill>
                <a:effectLst/>
                <a:latin typeface="+mn-lt"/>
                <a:ea typeface="+mn-ea"/>
                <a:cs typeface="+mn-cs"/>
              </a:rPr>
              <a:t>は室内のものが多いのか。</a:t>
            </a:r>
            <a:br>
              <a:rPr kumimoji="1" lang="en-US" altLang="ja-JP" sz="1200" b="1"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正解ラベルが屋外では作れない</a:t>
            </a:r>
            <a:r>
              <a:rPr kumimoji="1" lang="ja-JP" altLang="en-US" sz="1200" b="0" i="0" kern="1200" dirty="0">
                <a:solidFill>
                  <a:schemeClr val="tx1"/>
                </a:solidFill>
                <a:effectLst/>
                <a:latin typeface="+mn-lt"/>
                <a:ea typeface="+mn-ea"/>
                <a:cs typeface="+mn-cs"/>
              </a:rPr>
              <a:t>、</a:t>
            </a:r>
            <a:r>
              <a:rPr kumimoji="1" lang="ja-JP" altLang="ja-JP" sz="1200" b="0" i="0" kern="1200" dirty="0">
                <a:solidFill>
                  <a:schemeClr val="tx1"/>
                </a:solidFill>
                <a:effectLst/>
                <a:latin typeface="+mn-lt"/>
                <a:ea typeface="+mn-ea"/>
                <a:cs typeface="+mn-cs"/>
              </a:rPr>
              <a:t>ベンチマークが室内で作られた</a:t>
            </a:r>
          </a:p>
          <a:p>
            <a:endParaRPr kumimoji="1" lang="en-US" altLang="ja-JP" sz="1200" b="0"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「1.5m の根拠は？」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改正道交法（2026年4月施行）の、車が自転車を追い越すときの側方間隔「1.0〜1.5m目安」を借用</a:t>
            </a:r>
            <a:r>
              <a:rPr kumimoji="1" lang="ja-JP" altLang="ja-JP" sz="1200" b="0" i="0" kern="1200" dirty="0">
                <a:solidFill>
                  <a:schemeClr val="tx1"/>
                </a:solidFill>
                <a:effectLst/>
                <a:latin typeface="+mn-lt"/>
                <a:ea typeface="+mn-ea"/>
                <a:cs typeface="+mn-cs"/>
              </a:rPr>
              <a:t>しています。</a:t>
            </a: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「3.2m の根拠は？」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外部の根拠はありません。</a:t>
            </a:r>
            <a:r>
              <a:rPr kumimoji="1" lang="ja-JP" altLang="ja-JP" sz="1200" b="0" i="0" kern="1200" dirty="0">
                <a:solidFill>
                  <a:schemeClr val="tx1"/>
                </a:solidFill>
                <a:effectLst/>
                <a:latin typeface="+mn-lt"/>
                <a:ea typeface="+mn-ea"/>
                <a:cs typeface="+mn-cs"/>
              </a:rPr>
              <a:t>合成データの層別の上限が3mで、</a:t>
            </a:r>
            <a:r>
              <a:rPr kumimoji="1" lang="ja-JP" altLang="ja-JP" sz="1200" b="1" i="0" kern="1200" dirty="0">
                <a:solidFill>
                  <a:schemeClr val="tx1"/>
                </a:solidFill>
                <a:effectLst/>
                <a:latin typeface="+mn-lt"/>
                <a:ea typeface="+mn-ea"/>
                <a:cs typeface="+mn-cs"/>
              </a:rPr>
              <a:t>境界でぶれないように0.2m足した</a:t>
            </a:r>
            <a:r>
              <a:rPr kumimoji="1" lang="ja-JP" altLang="ja-JP" sz="1200" b="0" i="0" kern="1200" dirty="0">
                <a:solidFill>
                  <a:schemeClr val="tx1"/>
                </a:solidFill>
                <a:effectLst/>
                <a:latin typeface="+mn-lt"/>
                <a:ea typeface="+mn-ea"/>
                <a:cs typeface="+mn-cs"/>
              </a:rPr>
              <a:t>設計値です。</a:t>
            </a: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「2.5秒の根拠は？」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AASHTO Green Book の知覚反応時間</a:t>
            </a:r>
            <a:r>
              <a:rPr kumimoji="1" lang="ja-JP" altLang="ja-JP" sz="1200" b="0" i="0" kern="1200" dirty="0">
                <a:solidFill>
                  <a:schemeClr val="tx1"/>
                </a:solidFill>
                <a:effectLst/>
                <a:latin typeface="+mn-lt"/>
                <a:ea typeface="+mn-ea"/>
                <a:cs typeface="+mn-cs"/>
              </a:rPr>
              <a:t>です。</a:t>
            </a:r>
            <a:r>
              <a:rPr kumimoji="1" lang="ja-JP" altLang="ja-JP" sz="1200" b="1" i="0" kern="1200" dirty="0">
                <a:solidFill>
                  <a:schemeClr val="tx1"/>
                </a:solidFill>
                <a:effectLst/>
                <a:latin typeface="+mn-lt"/>
                <a:ea typeface="+mn-ea"/>
                <a:cs typeface="+mn-cs"/>
              </a:rPr>
              <a:t>全ドライバーの90パーセンタイルを上回る</a:t>
            </a:r>
            <a:r>
              <a:rPr kumimoji="1" lang="ja-JP" altLang="ja-JP" sz="1200" b="0" i="0" kern="1200" dirty="0">
                <a:solidFill>
                  <a:schemeClr val="tx1"/>
                </a:solidFill>
                <a:effectLst/>
                <a:latin typeface="+mn-lt"/>
                <a:ea typeface="+mn-ea"/>
                <a:cs typeface="+mn-cs"/>
              </a:rPr>
              <a:t>値で、一次データは Johansson &amp; Rumar（1971）。</a:t>
            </a:r>
            <a:r>
              <a:rPr kumimoji="1" lang="ja-JP" altLang="ja-JP" sz="1200" b="1" i="0" kern="1200" dirty="0">
                <a:solidFill>
                  <a:schemeClr val="tx1"/>
                </a:solidFill>
                <a:effectLst/>
                <a:latin typeface="+mn-lt"/>
                <a:ea typeface="+mn-ea"/>
                <a:cs typeface="+mn-cs"/>
              </a:rPr>
              <a:t>車載の前方衝突警報もTTC 2.6秒</a:t>
            </a:r>
            <a:r>
              <a:rPr kumimoji="1" lang="ja-JP" altLang="ja-JP" sz="1200" b="0" i="0" kern="1200" dirty="0">
                <a:solidFill>
                  <a:schemeClr val="tx1"/>
                </a:solidFill>
                <a:effectLst/>
                <a:latin typeface="+mn-lt"/>
                <a:ea typeface="+mn-ea"/>
                <a:cs typeface="+mn-cs"/>
              </a:rPr>
              <a:t>で同程度です。</a:t>
            </a: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「4秒の根拠は？」</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Vogel（2003）です。</a:t>
            </a:r>
            <a:r>
              <a:rPr kumimoji="1" lang="ja-JP" altLang="ja-JP" sz="1200" b="1" i="0" kern="1200" dirty="0">
                <a:solidFill>
                  <a:schemeClr val="tx1"/>
                </a:solidFill>
                <a:effectLst/>
                <a:latin typeface="+mn-lt"/>
                <a:ea typeface="+mn-ea"/>
                <a:cs typeface="+mn-cs"/>
              </a:rPr>
              <a:t>TTCが4秒を切ると危険な状況</a:t>
            </a:r>
            <a:r>
              <a:rPr kumimoji="1" lang="ja-JP" altLang="ja-JP" sz="1200" b="0" i="0" kern="1200" dirty="0">
                <a:solidFill>
                  <a:schemeClr val="tx1"/>
                </a:solidFill>
                <a:effectLst/>
                <a:latin typeface="+mn-lt"/>
                <a:ea typeface="+mn-ea"/>
                <a:cs typeface="+mn-cs"/>
              </a:rPr>
              <a:t>とされています。</a:t>
            </a:r>
            <a:r>
              <a:rPr kumimoji="1" lang="en-US" altLang="ja-JP" sz="1200" b="1" i="0" kern="1200" dirty="0">
                <a:solidFill>
                  <a:schemeClr val="tx1"/>
                </a:solidFill>
                <a:effectLst/>
                <a:latin typeface="+mn-lt"/>
                <a:ea typeface="+mn-ea"/>
                <a:cs typeface="+mn-cs"/>
              </a:rPr>
              <a:t>TTC</a:t>
            </a:r>
            <a:r>
              <a:rPr kumimoji="1" lang="ja-JP" altLang="en-US" sz="1200" b="1" i="0" kern="1200" dirty="0">
                <a:solidFill>
                  <a:schemeClr val="tx1"/>
                </a:solidFill>
                <a:effectLst/>
                <a:latin typeface="+mn-lt"/>
                <a:ea typeface="+mn-ea"/>
                <a:cs typeface="+mn-cs"/>
              </a:rPr>
              <a:t>は衝突までの時間。</a:t>
            </a:r>
            <a:endParaRPr kumimoji="1" lang="en-US" altLang="ja-JP" sz="1200" b="1"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TTC ＝ 距離 ÷ 近づく速さ</a:t>
            </a:r>
          </a:p>
          <a:p>
            <a:r>
              <a:rPr kumimoji="1" lang="ja-JP" altLang="ja-JP" sz="1200" b="0" i="0" kern="1200" dirty="0">
                <a:solidFill>
                  <a:schemeClr val="tx1"/>
                </a:solidFill>
                <a:effectLst/>
                <a:latin typeface="+mn-lt"/>
                <a:ea typeface="+mn-ea"/>
                <a:cs typeface="+mn-cs"/>
              </a:rPr>
              <a:t>20m先の車が秒速10mで近づいているなら、TTC = 2秒。</a:t>
            </a:r>
          </a:p>
          <a:p>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「1.0m / 2.0m はどう決めたんですか？」</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検証データでの探索</a:t>
            </a:r>
            <a:r>
              <a:rPr kumimoji="1" lang="ja-JP" altLang="ja-JP" sz="1200" b="0" i="0" kern="1200" dirty="0">
                <a:solidFill>
                  <a:schemeClr val="tx1"/>
                </a:solidFill>
                <a:effectLst/>
                <a:latin typeface="+mn-lt"/>
                <a:ea typeface="+mn-ea"/>
                <a:cs typeface="+mn-cs"/>
              </a:rPr>
              <a:t>です。</a:t>
            </a:r>
            <a:r>
              <a:rPr kumimoji="1" lang="ja-JP" altLang="en-US" sz="1200" b="1" i="0" kern="1200" dirty="0">
                <a:solidFill>
                  <a:schemeClr val="tx1"/>
                </a:solidFill>
                <a:effectLst/>
                <a:latin typeface="+mn-lt"/>
                <a:ea typeface="+mn-ea"/>
                <a:cs typeface="+mn-cs"/>
              </a:rPr>
              <a:t>通知の閾値の決定。</a:t>
            </a:r>
            <a:r>
              <a:rPr kumimoji="1" lang="ja-JP" altLang="ja-JP" sz="1200" b="1" i="0" kern="1200" dirty="0">
                <a:solidFill>
                  <a:schemeClr val="tx1"/>
                </a:solidFill>
                <a:effectLst/>
                <a:latin typeface="+mn-lt"/>
                <a:ea typeface="+mn-ea"/>
                <a:cs typeface="+mn-cs"/>
              </a:rPr>
              <a:t>時間のほうは文献から、距離のほうは探索から</a:t>
            </a:r>
            <a:r>
              <a:rPr kumimoji="1" lang="ja-JP" altLang="ja-JP" sz="1200" b="0" i="0" kern="1200" dirty="0">
                <a:solidFill>
                  <a:schemeClr val="tx1"/>
                </a:solidFill>
                <a:effectLst/>
                <a:latin typeface="+mn-lt"/>
                <a:ea typeface="+mn-ea"/>
                <a:cs typeface="+mn-cs"/>
              </a:rPr>
              <a:t>決めています。</a:t>
            </a:r>
          </a:p>
        </p:txBody>
      </p:sp>
      <p:sp>
        <p:nvSpPr>
          <p:cNvPr id="4" name="スライド番号プレースホルダー 3">
            <a:extLst>
              <a:ext uri="{FF2B5EF4-FFF2-40B4-BE49-F238E27FC236}">
                <a16:creationId xmlns:a16="http://schemas.microsoft.com/office/drawing/2014/main" id="{3E98ABA9-9A0E-9788-2B32-4D700277B08A}"/>
              </a:ext>
            </a:extLst>
          </p:cNvPr>
          <p:cNvSpPr>
            <a:spLocks noGrp="1"/>
          </p:cNvSpPr>
          <p:nvPr>
            <p:ph type="sldNum" sz="quarter" idx="5"/>
          </p:nvPr>
        </p:nvSpPr>
        <p:spPr/>
        <p:txBody>
          <a:bodyPr/>
          <a:lstStyle/>
          <a:p>
            <a:fld id="{22AD38D5-1BD5-4CFD-9FC6-4790329500DB}" type="slidenum">
              <a:rPr kumimoji="1" lang="ja-JP" altLang="en-US" smtClean="0"/>
              <a:t>5</a:t>
            </a:fld>
            <a:endParaRPr kumimoji="1" lang="ja-JP" altLang="en-US"/>
          </a:p>
        </p:txBody>
      </p:sp>
    </p:spTree>
    <p:extLst>
      <p:ext uri="{BB962C8B-B14F-4D97-AF65-F5344CB8AC3E}">
        <p14:creationId xmlns:p14="http://schemas.microsoft.com/office/powerpoint/2010/main" val="1788753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E743-0CFC-E06D-BB31-0C848092D4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E124FD-35C2-F4B0-03CC-16A554BB8B1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19118AF-9708-3A7B-9A78-15CF8034D556}"/>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5758B681-8AF2-70C9-5CF7-FAD4CD8E5918}"/>
              </a:ext>
            </a:extLst>
          </p:cNvPr>
          <p:cNvSpPr>
            <a:spLocks noGrp="1"/>
          </p:cNvSpPr>
          <p:nvPr>
            <p:ph type="sldNum" sz="quarter" idx="5"/>
          </p:nvPr>
        </p:nvSpPr>
        <p:spPr/>
        <p:txBody>
          <a:bodyPr/>
          <a:lstStyle/>
          <a:p>
            <a:fld id="{22AD38D5-1BD5-4CFD-9FC6-4790329500DB}" type="slidenum">
              <a:rPr kumimoji="1" lang="ja-JP" altLang="en-US" smtClean="0"/>
              <a:t>6</a:t>
            </a:fld>
            <a:endParaRPr kumimoji="1" lang="ja-JP" altLang="en-US"/>
          </a:p>
        </p:txBody>
      </p:sp>
    </p:spTree>
    <p:extLst>
      <p:ext uri="{BB962C8B-B14F-4D97-AF65-F5344CB8AC3E}">
        <p14:creationId xmlns:p14="http://schemas.microsoft.com/office/powerpoint/2010/main" val="1630667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8EE9D-CDEA-E2B3-A797-BFA089CE45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A63179-B58B-BBD1-B74F-D1AF60DFE976}"/>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50BDC56-B9CD-3423-BA1C-683D947DC80A}"/>
              </a:ext>
            </a:extLst>
          </p:cNvPr>
          <p:cNvSpPr>
            <a:spLocks noGrp="1"/>
          </p:cNvSpPr>
          <p:nvPr>
            <p:ph type="body" idx="1"/>
          </p:nvPr>
        </p:nvSpPr>
        <p:spPr/>
        <p:txBody>
          <a:bodyPr/>
          <a:lstStyle/>
          <a:p>
            <a:pPr algn="l">
              <a:lnSpc>
                <a:spcPct val="135000"/>
              </a:lnSpc>
            </a:pPr>
            <a:r>
              <a:rPr lang="ja-JP" altLang="en-US" sz="1200" b="0" dirty="0">
                <a:solidFill>
                  <a:srgbClr val="595F6E"/>
                </a:solidFill>
                <a:latin typeface="Meiryo"/>
                <a:ea typeface="メイリオ"/>
              </a:rPr>
              <a:t>救済ルート、次の</a:t>
            </a:r>
            <a:r>
              <a:rPr lang="en-US" altLang="ja-JP" sz="1200" b="0" dirty="0">
                <a:solidFill>
                  <a:srgbClr val="595F6E"/>
                </a:solidFill>
                <a:latin typeface="Meiryo"/>
                <a:ea typeface="メイリオ"/>
              </a:rPr>
              <a:t>3</a:t>
            </a:r>
            <a:r>
              <a:rPr lang="ja-JP" altLang="en-US" sz="1200" b="0" dirty="0">
                <a:solidFill>
                  <a:srgbClr val="595F6E"/>
                </a:solidFill>
                <a:latin typeface="Meiryo"/>
                <a:ea typeface="メイリオ"/>
              </a:rPr>
              <a:t>つが</a:t>
            </a:r>
            <a:r>
              <a:rPr lang="en-US" altLang="ja-JP" sz="1200" b="0" dirty="0">
                <a:solidFill>
                  <a:srgbClr val="595F6E"/>
                </a:solidFill>
                <a:latin typeface="Meiryo"/>
                <a:ea typeface="メイリオ"/>
              </a:rPr>
              <a:t>4</a:t>
            </a:r>
            <a:r>
              <a:rPr lang="ja-JP" altLang="en-US" sz="1200" b="0" dirty="0">
                <a:solidFill>
                  <a:srgbClr val="595F6E"/>
                </a:solidFill>
                <a:latin typeface="Meiryo"/>
                <a:ea typeface="メイリオ"/>
              </a:rPr>
              <a:t>フレーム続いたら、強い警告の候補として救い上げます。</a:t>
            </a:r>
          </a:p>
        </p:txBody>
      </p:sp>
      <p:sp>
        <p:nvSpPr>
          <p:cNvPr id="4" name="スライド番号プレースホルダー 3">
            <a:extLst>
              <a:ext uri="{FF2B5EF4-FFF2-40B4-BE49-F238E27FC236}">
                <a16:creationId xmlns:a16="http://schemas.microsoft.com/office/drawing/2014/main" id="{2CE6201A-5424-26F7-E41E-6B3AEC88EC94}"/>
              </a:ext>
            </a:extLst>
          </p:cNvPr>
          <p:cNvSpPr>
            <a:spLocks noGrp="1"/>
          </p:cNvSpPr>
          <p:nvPr>
            <p:ph type="sldNum" sz="quarter" idx="5"/>
          </p:nvPr>
        </p:nvSpPr>
        <p:spPr/>
        <p:txBody>
          <a:bodyPr/>
          <a:lstStyle/>
          <a:p>
            <a:fld id="{22AD38D5-1BD5-4CFD-9FC6-4790329500DB}" type="slidenum">
              <a:rPr kumimoji="1" lang="ja-JP" altLang="en-US" smtClean="0"/>
              <a:t>7</a:t>
            </a:fld>
            <a:endParaRPr kumimoji="1" lang="ja-JP" altLang="en-US"/>
          </a:p>
        </p:txBody>
      </p:sp>
    </p:spTree>
    <p:extLst>
      <p:ext uri="{BB962C8B-B14F-4D97-AF65-F5344CB8AC3E}">
        <p14:creationId xmlns:p14="http://schemas.microsoft.com/office/powerpoint/2010/main" val="4284450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4A7D9-A982-C79E-5639-717A7E01C9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F5B1AA6-BC9C-3A3A-C846-872BB567F3E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9934D5A-40AE-293C-D475-C44A997C56D8}"/>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D129DD03-1CAA-A210-0617-C81B16DBBD81}"/>
              </a:ext>
            </a:extLst>
          </p:cNvPr>
          <p:cNvSpPr>
            <a:spLocks noGrp="1"/>
          </p:cNvSpPr>
          <p:nvPr>
            <p:ph type="sldNum" sz="quarter" idx="5"/>
          </p:nvPr>
        </p:nvSpPr>
        <p:spPr/>
        <p:txBody>
          <a:bodyPr/>
          <a:lstStyle/>
          <a:p>
            <a:fld id="{22AD38D5-1BD5-4CFD-9FC6-4790329500DB}" type="slidenum">
              <a:rPr kumimoji="1" lang="ja-JP" altLang="en-US" smtClean="0"/>
              <a:t>8</a:t>
            </a:fld>
            <a:endParaRPr kumimoji="1" lang="ja-JP" altLang="en-US"/>
          </a:p>
        </p:txBody>
      </p:sp>
    </p:spTree>
    <p:extLst>
      <p:ext uri="{BB962C8B-B14F-4D97-AF65-F5344CB8AC3E}">
        <p14:creationId xmlns:p14="http://schemas.microsoft.com/office/powerpoint/2010/main" val="156044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D61AB-DA7C-6869-E52A-6D8FA7B8A7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DDC286-46C0-7466-972E-B7136D9C56D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38ED192-7892-A961-95B2-1CD2AEA6A58A}"/>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09D2CED2-2D98-12CA-2A8B-CE8A78F6ACB3}"/>
              </a:ext>
            </a:extLst>
          </p:cNvPr>
          <p:cNvSpPr>
            <a:spLocks noGrp="1"/>
          </p:cNvSpPr>
          <p:nvPr>
            <p:ph type="sldNum" sz="quarter" idx="5"/>
          </p:nvPr>
        </p:nvSpPr>
        <p:spPr/>
        <p:txBody>
          <a:bodyPr/>
          <a:lstStyle/>
          <a:p>
            <a:fld id="{22AD38D5-1BD5-4CFD-9FC6-4790329500DB}" type="slidenum">
              <a:rPr kumimoji="1" lang="ja-JP" altLang="en-US" smtClean="0"/>
              <a:t>9</a:t>
            </a:fld>
            <a:endParaRPr kumimoji="1" lang="ja-JP" altLang="en-US"/>
          </a:p>
        </p:txBody>
      </p:sp>
    </p:spTree>
    <p:extLst>
      <p:ext uri="{BB962C8B-B14F-4D97-AF65-F5344CB8AC3E}">
        <p14:creationId xmlns:p14="http://schemas.microsoft.com/office/powerpoint/2010/main" val="351821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EC9B0-107B-160C-B009-48105CB9C3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D9CD28-7A88-A544-B4B6-534E5DF9AAD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4A6B3AA-E644-B191-91F7-8B06D1FA3756}"/>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F334B13E-087F-52AF-672F-61084B0ADE85}"/>
              </a:ext>
            </a:extLst>
          </p:cNvPr>
          <p:cNvSpPr>
            <a:spLocks noGrp="1"/>
          </p:cNvSpPr>
          <p:nvPr>
            <p:ph type="sldNum" sz="quarter" idx="5"/>
          </p:nvPr>
        </p:nvSpPr>
        <p:spPr/>
        <p:txBody>
          <a:bodyPr/>
          <a:lstStyle/>
          <a:p>
            <a:fld id="{22AD38D5-1BD5-4CFD-9FC6-4790329500DB}" type="slidenum">
              <a:rPr kumimoji="1" lang="ja-JP" altLang="en-US" smtClean="0"/>
              <a:t>10</a:t>
            </a:fld>
            <a:endParaRPr kumimoji="1" lang="ja-JP" altLang="en-US"/>
          </a:p>
        </p:txBody>
      </p:sp>
    </p:spTree>
    <p:extLst>
      <p:ext uri="{BB962C8B-B14F-4D97-AF65-F5344CB8AC3E}">
        <p14:creationId xmlns:p14="http://schemas.microsoft.com/office/powerpoint/2010/main" val="3135943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C842A-F860-606A-492D-96DCD9CA99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235D79-5CB8-95AD-A2BB-45E86BF9873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31109B77-4EF2-0294-A364-53C9CC6C3198}"/>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4861C74-9E83-5FF7-844D-37E449F360B8}"/>
              </a:ext>
            </a:extLst>
          </p:cNvPr>
          <p:cNvSpPr>
            <a:spLocks noGrp="1"/>
          </p:cNvSpPr>
          <p:nvPr>
            <p:ph type="sldNum" sz="quarter" idx="5"/>
          </p:nvPr>
        </p:nvSpPr>
        <p:spPr/>
        <p:txBody>
          <a:bodyPr/>
          <a:lstStyle/>
          <a:p>
            <a:fld id="{22AD38D5-1BD5-4CFD-9FC6-4790329500DB}" type="slidenum">
              <a:rPr kumimoji="1" lang="ja-JP" altLang="en-US" smtClean="0"/>
              <a:t>11</a:t>
            </a:fld>
            <a:endParaRPr kumimoji="1" lang="ja-JP" altLang="en-US"/>
          </a:p>
        </p:txBody>
      </p:sp>
    </p:spTree>
    <p:extLst>
      <p:ext uri="{BB962C8B-B14F-4D97-AF65-F5344CB8AC3E}">
        <p14:creationId xmlns:p14="http://schemas.microsoft.com/office/powerpoint/2010/main" val="1861499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A635-4B5A-AEAD-744B-F4800C7D48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B32EE0-6CEE-8FF3-02B3-241263B52A1A}"/>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379F091-941E-14FE-997F-B4A75181AC46}"/>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C96FA3E2-BA69-2901-EE06-81103F5DF1AA}"/>
              </a:ext>
            </a:extLst>
          </p:cNvPr>
          <p:cNvSpPr>
            <a:spLocks noGrp="1"/>
          </p:cNvSpPr>
          <p:nvPr>
            <p:ph type="sldNum" sz="quarter" idx="5"/>
          </p:nvPr>
        </p:nvSpPr>
        <p:spPr/>
        <p:txBody>
          <a:bodyPr/>
          <a:lstStyle/>
          <a:p>
            <a:fld id="{22AD38D5-1BD5-4CFD-9FC6-4790329500DB}" type="slidenum">
              <a:rPr kumimoji="1" lang="ja-JP" altLang="en-US" smtClean="0"/>
              <a:t>12</a:t>
            </a:fld>
            <a:endParaRPr kumimoji="1" lang="ja-JP" altLang="en-US"/>
          </a:p>
        </p:txBody>
      </p:sp>
    </p:spTree>
    <p:extLst>
      <p:ext uri="{BB962C8B-B14F-4D97-AF65-F5344CB8AC3E}">
        <p14:creationId xmlns:p14="http://schemas.microsoft.com/office/powerpoint/2010/main" val="3957516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1B750-FF25-6F0D-88B7-0054992180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D54E65-B163-A8B7-6F0A-6A7B50F2B5B4}"/>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C88CB2C6-27EC-5483-D182-D2B278A77A34}"/>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DC74DD5-D2C6-F591-5E1A-73BD387F0540}"/>
              </a:ext>
            </a:extLst>
          </p:cNvPr>
          <p:cNvSpPr>
            <a:spLocks noGrp="1"/>
          </p:cNvSpPr>
          <p:nvPr>
            <p:ph type="sldNum" sz="quarter" idx="5"/>
          </p:nvPr>
        </p:nvSpPr>
        <p:spPr/>
        <p:txBody>
          <a:bodyPr/>
          <a:lstStyle/>
          <a:p>
            <a:fld id="{22AD38D5-1BD5-4CFD-9FC6-4790329500DB}" type="slidenum">
              <a:rPr kumimoji="1" lang="ja-JP" altLang="en-US" smtClean="0"/>
              <a:t>13</a:t>
            </a:fld>
            <a:endParaRPr kumimoji="1" lang="ja-JP" altLang="en-US"/>
          </a:p>
        </p:txBody>
      </p:sp>
    </p:spTree>
    <p:extLst>
      <p:ext uri="{BB962C8B-B14F-4D97-AF65-F5344CB8AC3E}">
        <p14:creationId xmlns:p14="http://schemas.microsoft.com/office/powerpoint/2010/main" val="400755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2DD5-3C67-DD07-D22B-86EE787B37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94AA18E-21FF-4844-8098-306B9EC4A40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8731D55-F1FA-E754-4281-5619C3559F6A}"/>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9F4B3C8-9171-3FA5-8C7D-8F9F373379CA}"/>
              </a:ext>
            </a:extLst>
          </p:cNvPr>
          <p:cNvSpPr>
            <a:spLocks noGrp="1"/>
          </p:cNvSpPr>
          <p:nvPr>
            <p:ph type="sldNum" sz="quarter" idx="5"/>
          </p:nvPr>
        </p:nvSpPr>
        <p:spPr/>
        <p:txBody>
          <a:bodyPr/>
          <a:lstStyle/>
          <a:p>
            <a:fld id="{22AD38D5-1BD5-4CFD-9FC6-4790329500DB}" type="slidenum">
              <a:rPr kumimoji="1" lang="ja-JP" altLang="en-US" smtClean="0"/>
              <a:t>14</a:t>
            </a:fld>
            <a:endParaRPr kumimoji="1" lang="ja-JP" altLang="en-US"/>
          </a:p>
        </p:txBody>
      </p:sp>
    </p:spTree>
    <p:extLst>
      <p:ext uri="{BB962C8B-B14F-4D97-AF65-F5344CB8AC3E}">
        <p14:creationId xmlns:p14="http://schemas.microsoft.com/office/powerpoint/2010/main" val="1413052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1327-FE4D-7F5D-A6B2-AA9F79A21D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BC77F0-0352-C743-78C9-81CFCDF0BC5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0C6750B-7F3D-2DED-CF95-70B975256D57}"/>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23755B4C-D9AC-CDCC-7EC0-67F618AE3161}"/>
              </a:ext>
            </a:extLst>
          </p:cNvPr>
          <p:cNvSpPr>
            <a:spLocks noGrp="1"/>
          </p:cNvSpPr>
          <p:nvPr>
            <p:ph type="sldNum" sz="quarter" idx="5"/>
          </p:nvPr>
        </p:nvSpPr>
        <p:spPr/>
        <p:txBody>
          <a:bodyPr/>
          <a:lstStyle/>
          <a:p>
            <a:fld id="{22AD38D5-1BD5-4CFD-9FC6-4790329500DB}" type="slidenum">
              <a:rPr kumimoji="1" lang="ja-JP" altLang="en-US" smtClean="0"/>
              <a:t>15</a:t>
            </a:fld>
            <a:endParaRPr kumimoji="1" lang="ja-JP" altLang="en-US"/>
          </a:p>
        </p:txBody>
      </p:sp>
    </p:spTree>
    <p:extLst>
      <p:ext uri="{BB962C8B-B14F-4D97-AF65-F5344CB8AC3E}">
        <p14:creationId xmlns:p14="http://schemas.microsoft.com/office/powerpoint/2010/main" val="1073076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8D207-CFAD-C404-F00E-6BAC476054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C05DFB-FF42-6E9A-29E8-19F1B2F199EF}"/>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DA06AF1-48F0-7827-A863-CD69C2A7F83B}"/>
              </a:ext>
            </a:extLst>
          </p:cNvPr>
          <p:cNvSpPr>
            <a:spLocks noGrp="1"/>
          </p:cNvSpPr>
          <p:nvPr>
            <p:ph type="body" idx="1"/>
          </p:nvPr>
        </p:nvSpPr>
        <p:spPr/>
        <p:txBody>
          <a:bodyPr/>
          <a:lstStyle/>
          <a:p>
            <a:r>
              <a:rPr kumimoji="1" lang="ja-JP" altLang="en-US" sz="1200" b="0" kern="1200" dirty="0">
                <a:solidFill>
                  <a:schemeClr val="tx1"/>
                </a:solidFill>
                <a:effectLst/>
                <a:latin typeface="+mn-lt"/>
                <a:ea typeface="+mn-ea"/>
                <a:cs typeface="+mn-cs"/>
              </a:rPr>
              <a:t>読むと</a:t>
            </a:r>
            <a:r>
              <a:rPr kumimoji="1" lang="en-US" altLang="ja-JP" sz="1200" b="0" kern="1200" dirty="0">
                <a:solidFill>
                  <a:schemeClr val="tx1"/>
                </a:solidFill>
                <a:effectLst/>
                <a:latin typeface="+mn-lt"/>
                <a:ea typeface="+mn-ea"/>
                <a:cs typeface="+mn-cs"/>
              </a:rPr>
              <a:t>40</a:t>
            </a:r>
            <a:r>
              <a:rPr kumimoji="1" lang="ja-JP" altLang="en-US" sz="1200" b="0" kern="1200" dirty="0">
                <a:solidFill>
                  <a:schemeClr val="tx1"/>
                </a:solidFill>
                <a:effectLst/>
                <a:latin typeface="+mn-lt"/>
                <a:ea typeface="+mn-ea"/>
                <a:cs typeface="+mn-cs"/>
              </a:rPr>
              <a:t>秒はかかる。</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dirty="0">
                <a:solidFill>
                  <a:schemeClr val="tx1"/>
                </a:solidFill>
                <a:effectLst/>
                <a:latin typeface="+mn-lt"/>
                <a:ea typeface="+mn-ea"/>
                <a:cs typeface="+mn-cs"/>
              </a:rPr>
              <a:t>なぜ110本なのか</a:t>
            </a: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kern="1200" dirty="0">
                <a:solidFill>
                  <a:schemeClr val="tx1"/>
                </a:solidFill>
                <a:effectLst/>
                <a:latin typeface="+mn-lt"/>
                <a:ea typeface="+mn-ea"/>
                <a:cs typeface="+mn-cs"/>
              </a:rPr>
              <a:t>1回の収録で回れる量から枠を決めた。</a:t>
            </a:r>
          </a:p>
          <a:p>
            <a:r>
              <a:rPr kumimoji="1" lang="ja-JP" altLang="ja-JP" sz="1200" b="0" i="0" kern="1200" dirty="0">
                <a:solidFill>
                  <a:schemeClr val="tx1"/>
                </a:solidFill>
                <a:effectLst/>
                <a:latin typeface="+mn-lt"/>
                <a:ea typeface="+mn-ea"/>
                <a:cs typeface="+mn-cs"/>
              </a:rPr>
              <a:t>A</a:t>
            </a:r>
            <a:r>
              <a:rPr kumimoji="1" lang="ja-JP" altLang="en-US" sz="1200" b="0" i="0" kern="1200" dirty="0">
                <a:solidFill>
                  <a:schemeClr val="tx1"/>
                </a:solidFill>
                <a:effectLst/>
                <a:latin typeface="+mn-lt"/>
                <a:ea typeface="+mn-ea"/>
                <a:cs typeface="+mn-cs"/>
              </a:rPr>
              <a:t>走行車</a:t>
            </a:r>
            <a:r>
              <a:rPr kumimoji="1" lang="ja-JP" altLang="ja-JP" sz="1200" b="0" i="0" kern="1200" dirty="0">
                <a:solidFill>
                  <a:schemeClr val="tx1"/>
                </a:solidFill>
                <a:effectLst/>
                <a:latin typeface="+mn-lt"/>
                <a:ea typeface="+mn-ea"/>
                <a:cs typeface="+mn-cs"/>
              </a:rPr>
              <a:t>  caution 10 ＋ safe 10                      = 20   ← 帯を2つに割ったら偶数が要る</a:t>
            </a:r>
          </a:p>
          <a:p>
            <a:r>
              <a:rPr kumimoji="1" lang="ja-JP" altLang="ja-JP" sz="1200" b="0" i="0" kern="1200" dirty="0">
                <a:solidFill>
                  <a:schemeClr val="tx1"/>
                </a:solidFill>
                <a:effectLst/>
                <a:latin typeface="+mn-lt"/>
                <a:ea typeface="+mn-ea"/>
                <a:cs typeface="+mn-cs"/>
              </a:rPr>
              <a:t>B</a:t>
            </a:r>
            <a:r>
              <a:rPr kumimoji="1" lang="ja-JP" altLang="en-US" sz="1200" b="0" i="0" kern="1200" dirty="0">
                <a:solidFill>
                  <a:schemeClr val="tx1"/>
                </a:solidFill>
                <a:effectLst/>
                <a:latin typeface="+mn-lt"/>
                <a:ea typeface="+mn-ea"/>
                <a:cs typeface="+mn-cs"/>
              </a:rPr>
              <a:t>弱点</a:t>
            </a:r>
            <a:r>
              <a:rPr kumimoji="1" lang="ja-JP" altLang="ja-JP" sz="1200" b="0" i="0" kern="1200" dirty="0">
                <a:solidFill>
                  <a:schemeClr val="tx1"/>
                </a:solidFill>
                <a:effectLst/>
                <a:latin typeface="+mn-lt"/>
                <a:ea typeface="+mn-ea"/>
                <a:cs typeface="+mn-cs"/>
              </a:rPr>
              <a:t>  EV5 ＋ 発進5 ＋ 自転車5 ＋ 見通し5          = 20   ← 項目を4つ並べたら20になった</a:t>
            </a:r>
          </a:p>
          <a:p>
            <a:r>
              <a:rPr kumimoji="1" lang="ja-JP" altLang="ja-JP" sz="1200" b="0" i="0" kern="1200" dirty="0">
                <a:solidFill>
                  <a:schemeClr val="tx1"/>
                </a:solidFill>
                <a:effectLst/>
                <a:latin typeface="+mn-lt"/>
                <a:ea typeface="+mn-ea"/>
                <a:cs typeface="+mn-cs"/>
              </a:rPr>
              <a:t>C</a:t>
            </a:r>
            <a:r>
              <a:rPr kumimoji="1" lang="ja-JP" altLang="en-US" sz="1200" b="0" i="0" kern="1200" dirty="0">
                <a:solidFill>
                  <a:schemeClr val="tx1"/>
                </a:solidFill>
                <a:effectLst/>
                <a:latin typeface="+mn-lt"/>
                <a:ea typeface="+mn-ea"/>
                <a:cs typeface="+mn-cs"/>
              </a:rPr>
              <a:t>負例</a:t>
            </a:r>
            <a:r>
              <a:rPr kumimoji="1" lang="ja-JP" altLang="ja-JP" sz="1200" b="0" i="0" kern="1200" dirty="0">
                <a:solidFill>
                  <a:schemeClr val="tx1"/>
                </a:solidFill>
                <a:effectLst/>
                <a:latin typeface="+mn-lt"/>
                <a:ea typeface="+mn-ea"/>
                <a:cs typeface="+mn-cs"/>
              </a:rPr>
              <a:t>  静穏6 ＋ 繁華街6 ＋ 雨上がり4 ＋ 風4        = 20   ← 条件を4つ並べたら20になった</a:t>
            </a:r>
          </a:p>
          <a:p>
            <a:r>
              <a:rPr kumimoji="1" lang="ja-JP" altLang="ja-JP" sz="1200" b="0" i="0" kern="1200" dirty="0">
                <a:solidFill>
                  <a:schemeClr val="tx1"/>
                </a:solidFill>
                <a:effectLst/>
                <a:latin typeface="+mn-lt"/>
                <a:ea typeface="+mn-ea"/>
                <a:cs typeface="+mn-cs"/>
              </a:rPr>
              <a:t>D</a:t>
            </a:r>
            <a:r>
              <a:rPr kumimoji="1" lang="ja-JP" altLang="en-US" sz="1200" b="0" i="0" kern="1200" dirty="0">
                <a:solidFill>
                  <a:schemeClr val="tx1"/>
                </a:solidFill>
                <a:effectLst/>
                <a:latin typeface="+mn-lt"/>
                <a:ea typeface="+mn-ea"/>
                <a:cs typeface="+mn-cs"/>
              </a:rPr>
              <a:t>固定・機会</a:t>
            </a:r>
            <a:r>
              <a:rPr kumimoji="1" lang="ja-JP" altLang="ja-JP" sz="1200" b="0" i="0" kern="1200" dirty="0">
                <a:solidFill>
                  <a:schemeClr val="tx1"/>
                </a:solidFill>
                <a:effectLst/>
                <a:latin typeface="+mn-lt"/>
                <a:ea typeface="+mn-ea"/>
                <a:cs typeface="+mn-cs"/>
              </a:rPr>
              <a:t>  踏切8 ＋ バック4 ＋ 機会8                   = 20   ← 埋めたら20になった</a:t>
            </a:r>
          </a:p>
          <a:p>
            <a:r>
              <a:rPr kumimoji="1" lang="ja-JP" altLang="ja-JP" sz="1200" b="0" i="0" kern="1200" dirty="0">
                <a:solidFill>
                  <a:schemeClr val="tx1"/>
                </a:solidFill>
                <a:effectLst/>
                <a:latin typeface="+mn-lt"/>
                <a:ea typeface="+mn-ea"/>
                <a:cs typeface="+mn-cs"/>
              </a:rPr>
              <a:t>E</a:t>
            </a:r>
            <a:r>
              <a:rPr kumimoji="1" lang="ja-JP" altLang="en-US" sz="1200" b="0" i="0" kern="1200" dirty="0">
                <a:solidFill>
                  <a:schemeClr val="tx1"/>
                </a:solidFill>
                <a:effectLst/>
                <a:latin typeface="+mn-lt"/>
                <a:ea typeface="+mn-ea"/>
                <a:cs typeface="+mn-cs"/>
              </a:rPr>
              <a:t>キック</a:t>
            </a:r>
            <a:r>
              <a:rPr kumimoji="1" lang="ja-JP" altLang="ja-JP" sz="1200" b="0" i="0" kern="1200" dirty="0">
                <a:solidFill>
                  <a:schemeClr val="tx1"/>
                </a:solidFill>
                <a:effectLst/>
                <a:latin typeface="+mn-lt"/>
                <a:ea typeface="+mn-ea"/>
                <a:cs typeface="+mn-cs"/>
              </a:rPr>
              <a:t>  横3×速度2×左右=12 ＋ 後方4 ＋ 前方4         = 20   ← これだけ幾何から必然</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n-lt"/>
                <a:ea typeface="+mn-ea"/>
                <a:cs typeface="+mn-cs"/>
              </a:rPr>
              <a:t>F</a:t>
            </a:r>
            <a:r>
              <a:rPr kumimoji="1" lang="ja-JP" altLang="en-US" sz="1200" b="0" kern="1200" dirty="0">
                <a:solidFill>
                  <a:schemeClr val="tx1"/>
                </a:solidFill>
                <a:effectLst/>
                <a:latin typeface="+mn-lt"/>
                <a:ea typeface="+mn-ea"/>
                <a:cs typeface="+mn-cs"/>
              </a:rPr>
              <a:t>バイク　</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　</a:t>
            </a:r>
            <a:r>
              <a:rPr kumimoji="1" lang="ja-JP" altLang="ja-JP" sz="1200" b="0" i="0" kern="1200">
                <a:solidFill>
                  <a:schemeClr val="tx1"/>
                </a:solidFill>
                <a:effectLst/>
                <a:latin typeface="+mn-lt"/>
                <a:ea typeface="+mn-ea"/>
                <a:cs typeface="+mn-cs"/>
              </a:rPr>
              <a:t>交通量路での待ち受け</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Q.</a:t>
            </a:r>
            <a:r>
              <a:rPr lang="ja-JP" altLang="ja-JP" b="1" dirty="0"/>
              <a:t>聴力の程度や補聴器の有無で必要な通知は変わりませんか？</a:t>
            </a:r>
            <a:br>
              <a:rPr lang="ja-JP" altLang="ja-JP" dirty="0"/>
            </a:br>
            <a:r>
              <a:rPr lang="ja-JP" altLang="ja-JP" dirty="0"/>
              <a:t>変わると考えています。現段階では音を触覚へ変換する情報処理を作っており、通知強度・頻度・対象音</a:t>
            </a:r>
            <a:r>
              <a:rPr lang="ja-JP" altLang="en-US" dirty="0"/>
              <a:t>など</a:t>
            </a:r>
            <a:r>
              <a:rPr lang="ja-JP" altLang="ja-JP" dirty="0"/>
              <a:t>の個人最適化は当事者評価後の課題です。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ja-JP" altLang="ja-JP" sz="1200" b="1" i="0" kern="1200" dirty="0">
                <a:solidFill>
                  <a:schemeClr val="tx1"/>
                </a:solidFill>
                <a:effectLst/>
                <a:latin typeface="+mn-lt"/>
                <a:ea typeface="+mn-ea"/>
                <a:cs typeface="+mn-cs"/>
              </a:rPr>
              <a:t>A2 補聴器や人工内耳を使っている人には不要では</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補聴器は</a:t>
            </a:r>
            <a:r>
              <a:rPr kumimoji="1" lang="ja-JP" altLang="ja-JP" sz="1200" b="1" i="0" kern="1200" dirty="0">
                <a:solidFill>
                  <a:schemeClr val="tx1"/>
                </a:solidFill>
                <a:effectLst/>
                <a:latin typeface="+mn-lt"/>
                <a:ea typeface="+mn-ea"/>
                <a:cs typeface="+mn-cs"/>
              </a:rPr>
              <a:t>音量を上げますが、方向は補いません</a:t>
            </a:r>
            <a:r>
              <a:rPr kumimoji="1" lang="ja-JP" altLang="ja-JP" sz="1200" b="0" i="0" kern="1200" dirty="0">
                <a:solidFill>
                  <a:schemeClr val="tx1"/>
                </a:solidFill>
                <a:effectLst/>
                <a:latin typeface="+mn-lt"/>
                <a:ea typeface="+mn-ea"/>
                <a:cs typeface="+mn-cs"/>
              </a:rPr>
              <a:t>。むしろ両耳の手がかりが崩れて方向が分かりにくくなることがあります。本研究は方向を別経路で渡します。 ⚠️ 補聴器利用者での検証はしていません。</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ja-JP" altLang="ja-JP" sz="1200" b="1" i="0" kern="1200" dirty="0">
                <a:solidFill>
                  <a:schemeClr val="tx1"/>
                </a:solidFill>
                <a:effectLst/>
                <a:latin typeface="+mn-lt"/>
                <a:ea typeface="+mn-ea"/>
                <a:cs typeface="+mn-cs"/>
              </a:rPr>
              <a:t>E1 精度は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合成データの上で</a:t>
            </a:r>
            <a:r>
              <a:rPr kumimoji="1" lang="ja-JP" altLang="ja-JP" sz="1200" b="0" i="0" kern="1200" dirty="0">
                <a:solidFill>
                  <a:schemeClr val="tx1"/>
                </a:solidFill>
                <a:effectLst/>
                <a:latin typeface="+mn-lt"/>
                <a:ea typeface="+mn-ea"/>
                <a:cs typeface="+mn-cs"/>
              </a:rPr>
              <a:t>、検出率</a:t>
            </a:r>
            <a:r>
              <a:rPr kumimoji="1" lang="ja-JP" altLang="ja-JP" sz="1200" b="1" i="0" kern="1200" dirty="0">
                <a:solidFill>
                  <a:schemeClr val="tx1"/>
                </a:solidFill>
                <a:effectLst/>
                <a:latin typeface="+mn-lt"/>
                <a:ea typeface="+mn-ea"/>
                <a:cs typeface="+mn-cs"/>
              </a:rPr>
              <a:t>97〜100%</a:t>
            </a:r>
            <a:r>
              <a:rPr kumimoji="1" lang="ja-JP" altLang="ja-JP" sz="1200" b="0" i="0" kern="1200" dirty="0">
                <a:solidFill>
                  <a:schemeClr val="tx1"/>
                </a:solidFill>
                <a:effectLst/>
                <a:latin typeface="+mn-lt"/>
                <a:ea typeface="+mn-ea"/>
                <a:cs typeface="+mn-cs"/>
              </a:rPr>
              <a:t>、方向誤差中央</a:t>
            </a:r>
            <a:r>
              <a:rPr kumimoji="1" lang="ja-JP" altLang="ja-JP" sz="1200" b="1" i="0" kern="1200" dirty="0">
                <a:solidFill>
                  <a:schemeClr val="tx1"/>
                </a:solidFill>
                <a:effectLst/>
                <a:latin typeface="+mn-lt"/>
                <a:ea typeface="+mn-ea"/>
                <a:cs typeface="+mn-cs"/>
              </a:rPr>
              <a:t>1〜5度</a:t>
            </a:r>
            <a:r>
              <a:rPr kumimoji="1" lang="ja-JP" altLang="ja-JP" sz="1200" b="0" i="0" kern="1200" dirty="0">
                <a:solidFill>
                  <a:schemeClr val="tx1"/>
                </a:solidFill>
                <a:effectLst/>
                <a:latin typeface="+mn-lt"/>
                <a:ea typeface="+mn-ea"/>
                <a:cs typeface="+mn-cs"/>
              </a:rPr>
              <a:t>、至近5m以内の距離が</a:t>
            </a:r>
            <a:r>
              <a:rPr kumimoji="1" lang="ja-JP" altLang="ja-JP" sz="1200" b="1" i="0" kern="1200" dirty="0">
                <a:solidFill>
                  <a:schemeClr val="tx1"/>
                </a:solidFill>
                <a:effectLst/>
                <a:latin typeface="+mn-lt"/>
                <a:ea typeface="+mn-ea"/>
                <a:cs typeface="+mn-cs"/>
              </a:rPr>
              <a:t>中央絶対誤差0.21m</a:t>
            </a:r>
            <a:r>
              <a:rPr kumimoji="1" lang="ja-JP" altLang="ja-JP" sz="1200" b="0" i="0" kern="1200" dirty="0">
                <a:solidFill>
                  <a:schemeClr val="tx1"/>
                </a:solidFill>
                <a:effectLst/>
                <a:latin typeface="+mn-lt"/>
                <a:ea typeface="+mn-ea"/>
                <a:cs typeface="+mn-cs"/>
              </a:rPr>
              <a:t>、総合F値**91.3%**です。 </a:t>
            </a:r>
            <a:r>
              <a:rPr kumimoji="1" lang="ja-JP" altLang="ja-JP" sz="1200" b="1" i="0" kern="1200" dirty="0">
                <a:solidFill>
                  <a:schemeClr val="tx1"/>
                </a:solidFill>
                <a:effectLst/>
                <a:latin typeface="+mn-lt"/>
                <a:ea typeface="+mn-ea"/>
                <a:cs typeface="+mn-cs"/>
              </a:rPr>
              <a:t>ただし実環境ではまだ測っていません。</a:t>
            </a:r>
            <a:r>
              <a:rPr kumimoji="1" lang="ja-JP" altLang="ja-JP" sz="1200" b="0" i="0" kern="1200" dirty="0">
                <a:solidFill>
                  <a:schemeClr val="tx1"/>
                </a:solidFill>
                <a:effectLst/>
                <a:latin typeface="+mn-lt"/>
                <a:ea typeface="+mn-ea"/>
                <a:cs typeface="+mn-cs"/>
              </a:rPr>
              <a:t>（数字を言ったら必ずこれで閉じる）</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ja-JP" altLang="ja-JP" sz="1200" b="1" i="0" kern="1200" dirty="0">
                <a:solidFill>
                  <a:schemeClr val="tx1"/>
                </a:solidFill>
                <a:effectLst/>
                <a:latin typeface="+mn-lt"/>
                <a:ea typeface="+mn-ea"/>
                <a:cs typeface="+mn-cs"/>
              </a:rPr>
              <a:t>E4 弱いところは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高騒音</a:t>
            </a:r>
            <a:r>
              <a:rPr kumimoji="1" lang="ja-JP" altLang="ja-JP" sz="1200" b="0" i="0" kern="1200" dirty="0">
                <a:solidFill>
                  <a:schemeClr val="tx1"/>
                </a:solidFill>
                <a:effectLst/>
                <a:latin typeface="+mn-lt"/>
                <a:ea typeface="+mn-ea"/>
                <a:cs typeface="+mn-cs"/>
              </a:rPr>
              <a:t>（車はSNR 0dB付近で50%に落ちます。警告音は−10dBでも8割以上持ちます）、</a:t>
            </a:r>
            <a:r>
              <a:rPr kumimoji="1" lang="ja-JP" altLang="ja-JP" sz="1200" b="1" i="0" kern="1200" dirty="0">
                <a:solidFill>
                  <a:schemeClr val="tx1"/>
                </a:solidFill>
                <a:effectLst/>
                <a:latin typeface="+mn-lt"/>
                <a:ea typeface="+mn-ea"/>
                <a:cs typeface="+mn-cs"/>
              </a:rPr>
              <a:t>複数音源</a:t>
            </a:r>
            <a:r>
              <a:rPr kumimoji="1" lang="ja-JP" altLang="ja-JP" sz="1200" b="0" i="0" kern="1200" dirty="0">
                <a:solidFill>
                  <a:schemeClr val="tx1"/>
                </a:solidFill>
                <a:effectLst/>
                <a:latin typeface="+mn-lt"/>
                <a:ea typeface="+mn-ea"/>
                <a:cs typeface="+mn-cs"/>
              </a:rPr>
              <a:t>（2台なら69.7%、3台そろうと34.8%）、</a:t>
            </a:r>
            <a:r>
              <a:rPr kumimoji="1" lang="ja-JP" altLang="ja-JP" sz="1200" b="1" i="0" kern="1200" dirty="0">
                <a:solidFill>
                  <a:schemeClr val="tx1"/>
                </a:solidFill>
                <a:effectLst/>
                <a:latin typeface="+mn-lt"/>
                <a:ea typeface="+mn-ea"/>
                <a:cs typeface="+mn-cs"/>
              </a:rPr>
              <a:t>同一物体の対応付け</a:t>
            </a:r>
            <a:r>
              <a:rPr kumimoji="1" lang="ja-JP" altLang="ja-JP" sz="1200" b="0" i="0" kern="1200" dirty="0">
                <a:solidFill>
                  <a:schemeClr val="tx1"/>
                </a:solidFill>
                <a:effectLst/>
                <a:latin typeface="+mn-lt"/>
                <a:ea typeface="+mn-ea"/>
                <a:cs typeface="+mn-cs"/>
              </a:rPr>
              <a:t>（取り違え37件、うち安全な車に取られたのは1件）です。 ※ 前2つは val 由来、最後は確定評価。</a:t>
            </a:r>
            <a:r>
              <a:rPr kumimoji="1" lang="ja-JP" altLang="ja-JP" sz="1200" b="1" i="0" kern="1200" dirty="0">
                <a:solidFill>
                  <a:schemeClr val="tx1"/>
                </a:solidFill>
                <a:effectLst/>
                <a:latin typeface="+mn-lt"/>
                <a:ea typeface="+mn-ea"/>
                <a:cs typeface="+mn-cs"/>
              </a:rPr>
              <a:t>混ぜて言わないこと</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実際の精度は</a:t>
            </a:r>
            <a:r>
              <a:rPr kumimoji="1" lang="ja-JP" altLang="en-US" sz="1200" b="1" i="0" kern="1200" dirty="0">
                <a:solidFill>
                  <a:schemeClr val="tx1"/>
                </a:solidFill>
                <a:effectLst/>
                <a:latin typeface="+mn-lt"/>
                <a:ea typeface="+mn-ea"/>
                <a:cs typeface="+mn-cs"/>
              </a:rPr>
              <a:t>？</a:t>
            </a:r>
            <a:endParaRPr kumimoji="1" lang="en-US" altLang="ja-JP" sz="1200" b="1"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実際の精度は</a:t>
            </a:r>
            <a:r>
              <a:rPr kumimoji="1" lang="ja-JP" altLang="ja-JP"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73.0%</a:t>
            </a:r>
            <a:r>
              <a:rPr kumimoji="1" lang="en-US" altLang="ja-JP" sz="1200" b="0" i="0" kern="1200" dirty="0">
                <a:solidFill>
                  <a:schemeClr val="tx1"/>
                </a:solidFill>
                <a:effectLst/>
                <a:latin typeface="+mn-lt"/>
                <a:ea typeface="+mn-ea"/>
                <a:cs typeface="+mn-cs"/>
              </a:rPr>
              <a:t>(</a:t>
            </a:r>
            <a:r>
              <a:rPr kumimoji="1" lang="ja-JP" altLang="ja-JP" sz="1200" b="0" i="0" kern="1200" dirty="0">
                <a:solidFill>
                  <a:schemeClr val="tx1"/>
                </a:solidFill>
                <a:effectLst/>
                <a:latin typeface="+mn-lt"/>
                <a:ea typeface="+mn-ea"/>
                <a:cs typeface="+mn-cs"/>
              </a:rPr>
              <a:t>通知の至近到達率</a:t>
            </a:r>
            <a:r>
              <a:rPr kumimoji="1" lang="en-US" altLang="ja-JP" sz="1200" b="0" i="0" kern="1200" dirty="0">
                <a:solidFill>
                  <a:schemeClr val="tx1"/>
                </a:solidFill>
                <a:effectLst/>
                <a:latin typeface="+mn-lt"/>
                <a:ea typeface="+mn-ea"/>
                <a:cs typeface="+mn-cs"/>
              </a:rPr>
              <a:t>)</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至近到達率</a:t>
            </a:r>
            <a:r>
              <a:rPr kumimoji="1" lang="ja-JP" altLang="ja-JP"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1.5m以内に来る危険な車のうち、強い警告が届いた割合</a:t>
            </a:r>
            <a:r>
              <a:rPr kumimoji="1" lang="ja-JP" altLang="ja-JP" sz="1200" b="0" i="0" kern="1200" dirty="0">
                <a:solidFill>
                  <a:schemeClr val="tx1"/>
                </a:solidFill>
                <a:effectLst/>
                <a:latin typeface="+mn-lt"/>
                <a:ea typeface="+mn-ea"/>
                <a:cs typeface="+mn-cs"/>
              </a:rPr>
              <a:t>です。</a:t>
            </a:r>
          </a:p>
          <a:p>
            <a:r>
              <a:rPr kumimoji="1" lang="ja-JP" altLang="ja-JP" sz="1200" b="1" i="0" kern="1200" dirty="0">
                <a:solidFill>
                  <a:schemeClr val="tx1"/>
                </a:solidFill>
                <a:effectLst/>
                <a:latin typeface="+mn-lt"/>
                <a:ea typeface="+mn-ea"/>
                <a:cs typeface="+mn-cs"/>
              </a:rPr>
              <a:t>⚠️ E1の「97〜100%」と混同しないでください</a:t>
            </a:r>
          </a:p>
          <a:p>
            <a:r>
              <a:rPr kumimoji="1" lang="ja-JP" altLang="ja-JP" sz="1200" b="1" i="0" kern="1200" dirty="0">
                <a:solidFill>
                  <a:schemeClr val="tx1"/>
                </a:solidFill>
                <a:effectLst/>
                <a:latin typeface="+mn-lt"/>
                <a:ea typeface="+mn-ea"/>
                <a:cs typeface="+mn-cs"/>
              </a:rPr>
              <a:t>別の層の数字です。</a:t>
            </a:r>
            <a:endParaRPr kumimoji="1" lang="ja-JP" altLang="ja-JP"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層</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指標</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値</a:t>
            </a:r>
          </a:p>
          <a:p>
            <a:r>
              <a:rPr kumimoji="1" lang="ja-JP" altLang="ja-JP" sz="1200" b="1" i="0" kern="1200" dirty="0">
                <a:solidFill>
                  <a:schemeClr val="tx1"/>
                </a:solidFill>
                <a:effectLst/>
                <a:latin typeface="+mn-lt"/>
                <a:ea typeface="+mn-ea"/>
                <a:cs typeface="+mn-cs"/>
              </a:rPr>
              <a:t>知覚層</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SELD</a:t>
            </a:r>
            <a:r>
              <a:rPr kumimoji="1" lang="en-US" altLang="ja-JP" sz="1200" b="1" i="0" kern="1200" dirty="0">
                <a:solidFill>
                  <a:schemeClr val="tx1"/>
                </a:solidFill>
                <a:effectLst/>
                <a:latin typeface="+mn-lt"/>
                <a:ea typeface="+mn-ea"/>
                <a:cs typeface="+mn-cs"/>
              </a:rPr>
              <a:t>)</a:t>
            </a:r>
            <a:r>
              <a:rPr kumimoji="1" lang="ja-JP" altLang="en-US" sz="1200" b="1"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検出率</a:t>
            </a:r>
            <a:r>
              <a:rPr kumimoji="1" lang="ja-JP" altLang="en-US"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97〜100%</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知覚層</a:t>
            </a:r>
            <a:r>
              <a:rPr kumimoji="1" lang="ja-JP" altLang="en-US" sz="1200" b="1"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総合F値</a:t>
            </a:r>
            <a:r>
              <a:rPr kumimoji="1" lang="ja-JP" altLang="en-US"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91.3%</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通知層</a:t>
            </a:r>
            <a:r>
              <a:rPr kumimoji="1" lang="ja-JP" altLang="en-US" sz="1200" b="1"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至近到達率（因果）</a:t>
            </a:r>
            <a:r>
              <a:rPr kumimoji="1" lang="ja-JP" altLang="en-US" sz="1200" b="1"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73.0%</a:t>
            </a:r>
            <a:endParaRPr kumimoji="1" lang="ja-JP" altLang="ja-JP" sz="1200" b="0" i="0" kern="1200" dirty="0">
              <a:solidFill>
                <a:schemeClr val="tx1"/>
              </a:solidFill>
              <a:effectLst/>
              <a:latin typeface="+mn-lt"/>
              <a:ea typeface="+mn-ea"/>
              <a:cs typeface="+mn-cs"/>
            </a:endParaRPr>
          </a:p>
          <a:p>
            <a:br>
              <a:rPr lang="ja-JP" altLang="ja-JP" dirty="0"/>
            </a:br>
            <a:endParaRPr lang="en-US" altLang="ja-JP" dirty="0"/>
          </a:p>
          <a:p>
            <a:r>
              <a:rPr kumimoji="1" lang="ja-JP" altLang="en-US" sz="1200" b="1" i="0" kern="1200" dirty="0">
                <a:solidFill>
                  <a:schemeClr val="tx1"/>
                </a:solidFill>
                <a:effectLst/>
                <a:latin typeface="+mn-lt"/>
                <a:ea typeface="+mn-ea"/>
                <a:cs typeface="+mn-cs"/>
              </a:rPr>
              <a:t>どれぐらいの精度を目指すのか。</a:t>
            </a:r>
            <a:br>
              <a:rPr kumimoji="1" lang="en-US" altLang="ja-JP" sz="1200" b="1"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実録</a:t>
            </a:r>
            <a:r>
              <a:rPr kumimoji="1" lang="ja-JP" altLang="en-US" sz="1200" b="0" i="0" kern="1200" dirty="0">
                <a:solidFill>
                  <a:schemeClr val="tx1"/>
                </a:solidFill>
                <a:effectLst/>
                <a:latin typeface="+mn-lt"/>
                <a:ea typeface="+mn-ea"/>
                <a:cs typeface="+mn-cs"/>
              </a:rPr>
              <a:t>で、</a:t>
            </a:r>
            <a:r>
              <a:rPr kumimoji="1" lang="ja-JP" altLang="ja-JP" sz="1200" b="0" i="0" kern="1200" dirty="0">
                <a:solidFill>
                  <a:schemeClr val="tx1"/>
                </a:solidFill>
                <a:effectLst/>
                <a:latin typeface="+mn-lt"/>
                <a:ea typeface="+mn-ea"/>
                <a:cs typeface="+mn-cs"/>
              </a:rPr>
              <a:t>合成からどれだけ落ちるかを測</a:t>
            </a:r>
            <a:r>
              <a:rPr kumimoji="1" lang="ja-JP" altLang="en-US" sz="1200" b="0" i="0" kern="1200" dirty="0">
                <a:solidFill>
                  <a:schemeClr val="tx1"/>
                </a:solidFill>
                <a:effectLst/>
                <a:latin typeface="+mn-lt"/>
                <a:ea typeface="+mn-ea"/>
                <a:cs typeface="+mn-cs"/>
              </a:rPr>
              <a:t>り、確認して目標を設定する。</a:t>
            </a:r>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目標を置くと、達成しようとして測り方が歪みます。**だから目標なしで測り、落ち幅をそのまま報告します</a:t>
            </a:r>
            <a:endParaRPr kumimoji="1" lang="ja-JP"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dirty="0">
                <a:solidFill>
                  <a:schemeClr val="tx1"/>
                </a:solidFill>
                <a:effectLst/>
                <a:latin typeface="+mn-lt"/>
                <a:ea typeface="+mn-ea"/>
                <a:cs typeface="+mn-cs"/>
              </a:rPr>
              <a:t>不可聴領域は録れるのか</a:t>
            </a:r>
          </a:p>
          <a:p>
            <a:r>
              <a:rPr kumimoji="1" lang="ja-JP" altLang="en-US" sz="1200" b="0" kern="1200" dirty="0">
                <a:solidFill>
                  <a:schemeClr val="tx1"/>
                </a:solidFill>
                <a:effectLst/>
                <a:latin typeface="+mn-lt"/>
                <a:ea typeface="+mn-ea"/>
                <a:cs typeface="+mn-cs"/>
              </a:rPr>
              <a:t>一応</a:t>
            </a:r>
            <a:r>
              <a:rPr kumimoji="1" lang="ja-JP" altLang="ja-JP" sz="1200" b="1" i="0" kern="1200" dirty="0">
                <a:solidFill>
                  <a:schemeClr val="tx1"/>
                </a:solidFill>
                <a:effectLst/>
                <a:latin typeface="+mn-lt"/>
                <a:ea typeface="+mn-ea"/>
                <a:cs typeface="+mn-cs"/>
              </a:rPr>
              <a:t>モードで96kHzが選べるか</a:t>
            </a:r>
            <a:r>
              <a:rPr kumimoji="1" lang="ja-JP" altLang="en-US" sz="1200" b="1" i="0" kern="1200" dirty="0">
                <a:solidFill>
                  <a:schemeClr val="tx1"/>
                </a:solidFill>
                <a:effectLst/>
                <a:latin typeface="+mn-lt"/>
                <a:ea typeface="+mn-ea"/>
                <a:cs typeface="+mn-cs"/>
              </a:rPr>
              <a:t>確かめる（人間の可聴域は</a:t>
            </a:r>
            <a:r>
              <a:rPr kumimoji="1" lang="en-US" altLang="ja-JP" sz="1200" b="1" i="0" kern="1200" dirty="0">
                <a:solidFill>
                  <a:schemeClr val="tx1"/>
                </a:solidFill>
                <a:effectLst/>
                <a:latin typeface="+mn-lt"/>
                <a:ea typeface="+mn-ea"/>
                <a:cs typeface="+mn-cs"/>
              </a:rPr>
              <a:t>20Hx</a:t>
            </a:r>
            <a:r>
              <a:rPr kumimoji="1" lang="ja-JP" altLang="en-US" sz="1200" b="1" i="0" kern="1200" dirty="0">
                <a:solidFill>
                  <a:schemeClr val="tx1"/>
                </a:solidFill>
                <a:effectLst/>
                <a:latin typeface="+mn-lt"/>
                <a:ea typeface="+mn-ea"/>
                <a:cs typeface="+mn-cs"/>
              </a:rPr>
              <a:t>から</a:t>
            </a:r>
            <a:r>
              <a:rPr kumimoji="1" lang="en-US" altLang="ja-JP" sz="1200" b="1" i="0" kern="1200" dirty="0">
                <a:solidFill>
                  <a:schemeClr val="tx1"/>
                </a:solidFill>
                <a:effectLst/>
                <a:latin typeface="+mn-lt"/>
                <a:ea typeface="+mn-ea"/>
                <a:cs typeface="+mn-cs"/>
              </a:rPr>
              <a:t>20khz</a:t>
            </a:r>
            <a:r>
              <a:rPr kumimoji="1" lang="ja-JP" altLang="en-US" sz="1200" b="1" i="0" kern="1200" dirty="0">
                <a:solidFill>
                  <a:schemeClr val="tx1"/>
                </a:solidFill>
                <a:effectLst/>
                <a:latin typeface="+mn-lt"/>
                <a:ea typeface="+mn-ea"/>
                <a:cs typeface="+mn-cs"/>
              </a:rPr>
              <a:t>）</a:t>
            </a:r>
            <a:endParaRPr kumimoji="1" lang="ja-JP"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56CF32E4-AD26-0591-38FA-59DEBB3A77BF}"/>
              </a:ext>
            </a:extLst>
          </p:cNvPr>
          <p:cNvSpPr>
            <a:spLocks noGrp="1"/>
          </p:cNvSpPr>
          <p:nvPr>
            <p:ph type="sldNum" sz="quarter" idx="5"/>
          </p:nvPr>
        </p:nvSpPr>
        <p:spPr/>
        <p:txBody>
          <a:bodyPr/>
          <a:lstStyle/>
          <a:p>
            <a:fld id="{22AD38D5-1BD5-4CFD-9FC6-4790329500DB}" type="slidenum">
              <a:rPr kumimoji="1" lang="ja-JP" altLang="en-US" smtClean="0"/>
              <a:t>16</a:t>
            </a:fld>
            <a:endParaRPr kumimoji="1" lang="ja-JP" altLang="en-US"/>
          </a:p>
        </p:txBody>
      </p:sp>
    </p:spTree>
    <p:extLst>
      <p:ext uri="{BB962C8B-B14F-4D97-AF65-F5344CB8AC3E}">
        <p14:creationId xmlns:p14="http://schemas.microsoft.com/office/powerpoint/2010/main" val="887366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57F4D5-72D9-A8A9-2A6A-DB50746DA22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4279C0E-AA5D-4439-6136-C0BE0FE872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2D5625B-4A0E-3360-2225-D5DA8E0425F0}"/>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0745C29E-C79E-3BAD-F71F-ED2CE6116A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79D94A4-1DB5-5FDD-9D4A-7EF422DD023C}"/>
              </a:ext>
            </a:extLst>
          </p:cNvPr>
          <p:cNvSpPr>
            <a:spLocks noGrp="1"/>
          </p:cNvSpPr>
          <p:nvPr>
            <p:ph type="sldNum" sz="quarter" idx="12"/>
          </p:nvPr>
        </p:nvSpPr>
        <p:spPr/>
        <p:txBody>
          <a:bodyPr/>
          <a:lstStyle/>
          <a:p>
            <a:fld id="{4E9148DC-F7ED-4428-85F4-2C78C4B0CFB7}" type="slidenum">
              <a:rPr kumimoji="1" lang="ja-JP" altLang="en-US" smtClean="0"/>
              <a:pPr/>
              <a:t>‹#›</a:t>
            </a:fld>
            <a:endParaRPr lang="ja-JP" altLang="en-US"/>
          </a:p>
        </p:txBody>
      </p:sp>
    </p:spTree>
    <p:extLst>
      <p:ext uri="{BB962C8B-B14F-4D97-AF65-F5344CB8AC3E}">
        <p14:creationId xmlns:p14="http://schemas.microsoft.com/office/powerpoint/2010/main" val="4009387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9E887F-4312-4F5F-B395-648C6B4138F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A2D514-AA12-5E6C-716F-1FD1FB98C05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248554-8452-5E74-7BD3-AC6247732AAC}"/>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4250FB43-44CE-D2D4-C0E3-E46E8D14FD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BE8303-A88B-58DA-BD2D-6BB47B3DB762}"/>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58727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84171A-1934-7846-1775-0584546083E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A6DB3F-632B-7AFE-E944-96E2724A40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CCA70CC-BFDC-436D-868A-E973B784EB7E}"/>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EFF04B2A-3A86-727B-8527-BDF4822C21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FDDE2D-AC5C-32F4-80E7-5C705C3C6A3A}"/>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135124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602B5F-BAD3-D080-2E9D-FEE244776A9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529C20-A3A2-06BF-65BE-9674FD1796C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872DA9-AC53-30A9-2F75-82C5CCDE862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A4D7F15-CFD0-373F-E36E-D71A6D5B0EFE}"/>
              </a:ext>
            </a:extLst>
          </p:cNvPr>
          <p:cNvSpPr>
            <a:spLocks noGrp="1"/>
          </p:cNvSpPr>
          <p:nvPr>
            <p:ph type="dt" sz="half" idx="10"/>
          </p:nvPr>
        </p:nvSpPr>
        <p:spPr/>
        <p:txBody>
          <a:bodyPr/>
          <a:lstStyle/>
          <a:p>
            <a:r>
              <a:rPr kumimoji="1" lang="en-US" altLang="ja-JP"/>
              <a:t>2026/09/15</a:t>
            </a:r>
            <a:endParaRPr kumimoji="1" lang="ja-JP" altLang="en-US"/>
          </a:p>
        </p:txBody>
      </p:sp>
      <p:sp>
        <p:nvSpPr>
          <p:cNvPr id="6" name="フッター プレースホルダー 5">
            <a:extLst>
              <a:ext uri="{FF2B5EF4-FFF2-40B4-BE49-F238E27FC236}">
                <a16:creationId xmlns:a16="http://schemas.microsoft.com/office/drawing/2014/main" id="{9EC39058-7F7B-7FAF-EE85-313FCAECF0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DD6CDB-F2A2-E509-863E-39D9DB8878B3}"/>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2467486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FE6963-A5C0-D9F1-1DC4-512E7B2F387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357678B-7370-CD86-1923-9973350C3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767C56A-1837-E669-1A2A-6FD6FCBC2FB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E63155-EA3C-6272-E8FD-56599D472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89BAA46-28F5-A6A8-3089-A3FD99A4175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CF8FE65-E04F-540A-76FF-E656E0FA5BBB}"/>
              </a:ext>
            </a:extLst>
          </p:cNvPr>
          <p:cNvSpPr>
            <a:spLocks noGrp="1"/>
          </p:cNvSpPr>
          <p:nvPr>
            <p:ph type="dt" sz="half" idx="10"/>
          </p:nvPr>
        </p:nvSpPr>
        <p:spPr/>
        <p:txBody>
          <a:bodyPr/>
          <a:lstStyle/>
          <a:p>
            <a:r>
              <a:rPr kumimoji="1" lang="en-US" altLang="ja-JP"/>
              <a:t>2026/09/15</a:t>
            </a:r>
            <a:endParaRPr kumimoji="1" lang="ja-JP" altLang="en-US"/>
          </a:p>
        </p:txBody>
      </p:sp>
      <p:sp>
        <p:nvSpPr>
          <p:cNvPr id="8" name="フッター プレースホルダー 7">
            <a:extLst>
              <a:ext uri="{FF2B5EF4-FFF2-40B4-BE49-F238E27FC236}">
                <a16:creationId xmlns:a16="http://schemas.microsoft.com/office/drawing/2014/main" id="{493711A5-4AD1-74CC-3004-40A48394017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13ED03A-CC41-6BF6-2AF8-BF14B2752733}"/>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4220265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D14F77-E3B3-4160-6AE5-A0F90F0BFF9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DB29E5-EBE6-FC8F-6B65-642035DFA114}"/>
              </a:ext>
            </a:extLst>
          </p:cNvPr>
          <p:cNvSpPr>
            <a:spLocks noGrp="1"/>
          </p:cNvSpPr>
          <p:nvPr>
            <p:ph type="dt" sz="half" idx="10"/>
          </p:nvPr>
        </p:nvSpPr>
        <p:spPr/>
        <p:txBody>
          <a:bodyPr/>
          <a:lstStyle/>
          <a:p>
            <a:r>
              <a:rPr kumimoji="1" lang="en-US" altLang="ja-JP"/>
              <a:t>2026/09/15</a:t>
            </a:r>
            <a:endParaRPr kumimoji="1" lang="ja-JP" altLang="en-US"/>
          </a:p>
        </p:txBody>
      </p:sp>
      <p:sp>
        <p:nvSpPr>
          <p:cNvPr id="4" name="フッター プレースホルダー 3">
            <a:extLst>
              <a:ext uri="{FF2B5EF4-FFF2-40B4-BE49-F238E27FC236}">
                <a16:creationId xmlns:a16="http://schemas.microsoft.com/office/drawing/2014/main" id="{42880ADB-D063-01FB-199E-FD2CA97D6B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0CC51F4-03AD-A751-7B91-9761564C7194}"/>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695595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4A951E3-4F1F-E1EC-1570-B1782003C455}"/>
              </a:ext>
            </a:extLst>
          </p:cNvPr>
          <p:cNvSpPr>
            <a:spLocks noGrp="1"/>
          </p:cNvSpPr>
          <p:nvPr>
            <p:ph type="dt" sz="half" idx="10"/>
          </p:nvPr>
        </p:nvSpPr>
        <p:spPr/>
        <p:txBody>
          <a:bodyPr/>
          <a:lstStyle>
            <a:lvl1pPr>
              <a:defRPr sz="1600"/>
            </a:lvl1pPr>
          </a:lstStyle>
          <a:p>
            <a:r>
              <a:rPr lang="en-US" altLang="ja-JP"/>
              <a:t>2026/09/15</a:t>
            </a:r>
            <a:endParaRPr lang="ja-JP" altLang="en-US"/>
          </a:p>
        </p:txBody>
      </p:sp>
      <p:sp>
        <p:nvSpPr>
          <p:cNvPr id="3" name="フッター プレースホルダー 2">
            <a:extLst>
              <a:ext uri="{FF2B5EF4-FFF2-40B4-BE49-F238E27FC236}">
                <a16:creationId xmlns:a16="http://schemas.microsoft.com/office/drawing/2014/main" id="{465765D7-5332-993C-6E48-3436720980F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78E2104-D3F9-BA13-4C34-6DF4E740D067}"/>
              </a:ext>
            </a:extLst>
          </p:cNvPr>
          <p:cNvSpPr>
            <a:spLocks noGrp="1"/>
          </p:cNvSpPr>
          <p:nvPr>
            <p:ph type="sldNum" sz="quarter" idx="12"/>
          </p:nvPr>
        </p:nvSpPr>
        <p:spPr/>
        <p:txBody>
          <a:bodyPr/>
          <a:lstStyle>
            <a:lvl1pPr>
              <a:defRPr sz="1600"/>
            </a:lvl1pPr>
          </a:lstStyle>
          <a:p>
            <a:fld id="{4E9148DC-F7ED-4428-85F4-2C78C4B0CFB7}" type="slidenum">
              <a:rPr lang="ja-JP" altLang="en-US" smtClean="0"/>
              <a:pPr/>
              <a:t>‹#›</a:t>
            </a:fld>
            <a:endParaRPr lang="ja-JP" altLang="en-US"/>
          </a:p>
        </p:txBody>
      </p:sp>
    </p:spTree>
    <p:extLst>
      <p:ext uri="{BB962C8B-B14F-4D97-AF65-F5344CB8AC3E}">
        <p14:creationId xmlns:p14="http://schemas.microsoft.com/office/powerpoint/2010/main" val="3708153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B8D2B3-5A9B-C543-FA8F-5651CC5668C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06D9D2-D32D-CD27-CDCD-A9DCC23ED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29CCB12-7898-F023-14A7-1D1831646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50BFF1D-9346-7FE9-A490-0D7AF90A913F}"/>
              </a:ext>
            </a:extLst>
          </p:cNvPr>
          <p:cNvSpPr>
            <a:spLocks noGrp="1"/>
          </p:cNvSpPr>
          <p:nvPr>
            <p:ph type="dt" sz="half" idx="10"/>
          </p:nvPr>
        </p:nvSpPr>
        <p:spPr/>
        <p:txBody>
          <a:bodyPr/>
          <a:lstStyle/>
          <a:p>
            <a:r>
              <a:rPr kumimoji="1" lang="en-US" altLang="ja-JP"/>
              <a:t>2026/09/15</a:t>
            </a:r>
            <a:endParaRPr kumimoji="1" lang="ja-JP" altLang="en-US"/>
          </a:p>
        </p:txBody>
      </p:sp>
      <p:sp>
        <p:nvSpPr>
          <p:cNvPr id="6" name="フッター プレースホルダー 5">
            <a:extLst>
              <a:ext uri="{FF2B5EF4-FFF2-40B4-BE49-F238E27FC236}">
                <a16:creationId xmlns:a16="http://schemas.microsoft.com/office/drawing/2014/main" id="{DD893B29-5753-79F6-7E94-5DFD18D7F1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DA7002-69FE-472F-F8E9-C3D232D99D5E}"/>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322387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D9927-3659-9237-5982-0FBBF690B74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DB3C9E-7171-6E74-31CB-E6FD08872E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86A5A8E-DCF0-C1F2-E2D7-005BC4439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6B2E0A1-8832-0959-326B-EC660E9EFCD6}"/>
              </a:ext>
            </a:extLst>
          </p:cNvPr>
          <p:cNvSpPr>
            <a:spLocks noGrp="1"/>
          </p:cNvSpPr>
          <p:nvPr>
            <p:ph type="dt" sz="half" idx="10"/>
          </p:nvPr>
        </p:nvSpPr>
        <p:spPr/>
        <p:txBody>
          <a:bodyPr/>
          <a:lstStyle/>
          <a:p>
            <a:r>
              <a:rPr kumimoji="1" lang="en-US" altLang="ja-JP"/>
              <a:t>2026/09/15</a:t>
            </a:r>
            <a:endParaRPr kumimoji="1" lang="ja-JP" altLang="en-US"/>
          </a:p>
        </p:txBody>
      </p:sp>
      <p:sp>
        <p:nvSpPr>
          <p:cNvPr id="6" name="フッター プレースホルダー 5">
            <a:extLst>
              <a:ext uri="{FF2B5EF4-FFF2-40B4-BE49-F238E27FC236}">
                <a16:creationId xmlns:a16="http://schemas.microsoft.com/office/drawing/2014/main" id="{87BDAC29-B1ED-21D0-EADC-190A291CE6F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AEFBFE-B178-C771-6246-0D8A314B9082}"/>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99487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3895A9-496B-403B-E5DD-3C320D46A12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D49440-4D91-DECE-7EE9-DE44F708008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4906DC-725B-5084-0F49-E85C0F7F9941}"/>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756E148A-FFB8-0C91-E566-F155777130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A84F68-D347-184F-D4CF-3C992D762178}"/>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1578470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43D94E9-3769-B5E8-A90E-14BC8EFD122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43F5FB-15A4-C50D-685E-3C3B2358D96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36C4214-654D-A818-B1DB-6C6C6C6F2089}"/>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0A7127B3-6DCE-8740-ED30-E749D14773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7BC46B-CFCD-1230-3998-E2B659F3C71D}"/>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20321782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CC936AC-3FFF-8775-C62F-404100724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A9C96A-11EB-7A1E-8735-858FA35995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9AF5C6-1B15-13A6-01C5-2D834E3A6B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19CFF0B4-5A59-C4BF-197B-BACB4543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1BF0E4F-1DA4-8BC5-00B4-D82135D366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9148DC-F7ED-4428-85F4-2C78C4B0CFB7}" type="slidenum">
              <a:rPr kumimoji="1" lang="ja-JP" altLang="en-US" smtClean="0"/>
              <a:pPr/>
              <a:t>‹#›</a:t>
            </a:fld>
            <a:endParaRPr lang="ja-JP" altLang="en-US"/>
          </a:p>
        </p:txBody>
      </p:sp>
    </p:spTree>
    <p:extLst>
      <p:ext uri="{BB962C8B-B14F-4D97-AF65-F5344CB8AC3E}">
        <p14:creationId xmlns:p14="http://schemas.microsoft.com/office/powerpoint/2010/main" val="3355684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zoomcorp.com/ja/jp/handheld-recorders/handheld-recorders/h3-vr-360-audio-record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9" name="Group 9"/>
          <p:cNvGrpSpPr/>
          <p:nvPr/>
        </p:nvGrpSpPr>
        <p:grpSpPr>
          <a:xfrm>
            <a:off x="484775" y="1419586"/>
            <a:ext cx="77855" cy="2372024"/>
            <a:chOff x="0" y="0"/>
            <a:chExt cx="30757" cy="937096"/>
          </a:xfrm>
        </p:grpSpPr>
        <p:sp>
          <p:nvSpPr>
            <p:cNvPr id="10" name="Freeform 10"/>
            <p:cNvSpPr/>
            <p:nvPr/>
          </p:nvSpPr>
          <p:spPr>
            <a:xfrm>
              <a:off x="0" y="0"/>
              <a:ext cx="30757" cy="937096"/>
            </a:xfrm>
            <a:custGeom>
              <a:avLst/>
              <a:gdLst/>
              <a:ahLst/>
              <a:cxnLst/>
              <a:rect l="l" t="t" r="r" b="b"/>
              <a:pathLst>
                <a:path w="30757" h="937096">
                  <a:moveTo>
                    <a:pt x="0" y="0"/>
                  </a:moveTo>
                  <a:lnTo>
                    <a:pt x="30757" y="0"/>
                  </a:lnTo>
                  <a:lnTo>
                    <a:pt x="30757" y="937096"/>
                  </a:lnTo>
                  <a:lnTo>
                    <a:pt x="0" y="937096"/>
                  </a:lnTo>
                  <a:close/>
                </a:path>
              </a:pathLst>
            </a:custGeom>
            <a:gradFill rotWithShape="1">
              <a:gsLst>
                <a:gs pos="0">
                  <a:srgbClr val="53476B">
                    <a:alpha val="100000"/>
                  </a:srgbClr>
                </a:gs>
                <a:gs pos="100000">
                  <a:srgbClr val="A098B0">
                    <a:alpha val="100000"/>
                  </a:srgbClr>
                </a:gs>
              </a:gsLst>
              <a:lin ang="2700000"/>
            </a:gradFill>
          </p:spPr>
          <p:txBody>
            <a:bodyPr/>
            <a:lstStyle/>
            <a:p>
              <a:endParaRPr lang="ja-JP" altLang="en-US" sz="1200">
                <a:solidFill>
                  <a:srgbClr val="FF0000"/>
                </a:solidFill>
              </a:endParaRPr>
            </a:p>
          </p:txBody>
        </p:sp>
        <p:sp>
          <p:nvSpPr>
            <p:cNvPr id="11" name="TextBox 11"/>
            <p:cNvSpPr txBox="1"/>
            <p:nvPr/>
          </p:nvSpPr>
          <p:spPr>
            <a:xfrm>
              <a:off x="0" y="-219075"/>
              <a:ext cx="30757" cy="1156171"/>
            </a:xfrm>
            <a:prstGeom prst="rect">
              <a:avLst/>
            </a:prstGeom>
          </p:spPr>
          <p:txBody>
            <a:bodyPr lIns="33867" tIns="33867" rIns="33867" bIns="33867" rtlCol="0" anchor="ctr"/>
            <a:lstStyle/>
            <a:p>
              <a:pPr algn="ctr">
                <a:lnSpc>
                  <a:spcPts val="1773"/>
                </a:lnSpc>
                <a:spcBef>
                  <a:spcPct val="0"/>
                </a:spcBef>
              </a:pPr>
              <a:endParaRPr sz="1200">
                <a:solidFill>
                  <a:srgbClr val="FF0000"/>
                </a:solidFill>
              </a:endParaRPr>
            </a:p>
          </p:txBody>
        </p:sp>
      </p:grpSp>
      <p:sp>
        <p:nvSpPr>
          <p:cNvPr id="16" name="AutoShape 2">
            <a:extLst>
              <a:ext uri="{FF2B5EF4-FFF2-40B4-BE49-F238E27FC236}">
                <a16:creationId xmlns:a16="http://schemas.microsoft.com/office/drawing/2014/main" id="{D443C74C-8177-F5D5-9A58-25B1837CE972}"/>
              </a:ext>
            </a:extLst>
          </p:cNvPr>
          <p:cNvSpPr/>
          <p:nvPr/>
        </p:nvSpPr>
        <p:spPr>
          <a:xfrm flipV="1">
            <a:off x="0" y="3791610"/>
            <a:ext cx="12192000" cy="0"/>
          </a:xfrm>
          <a:prstGeom prst="line">
            <a:avLst/>
          </a:prstGeom>
          <a:ln w="19050" cap="flat">
            <a:solidFill>
              <a:srgbClr val="53476B"/>
            </a:solidFill>
            <a:prstDash val="solid"/>
            <a:headEnd type="none" w="sm" len="sm"/>
            <a:tailEnd type="none" w="sm" len="sm"/>
          </a:ln>
        </p:spPr>
        <p:txBody>
          <a:bodyPr/>
          <a:lstStyle/>
          <a:p>
            <a:endParaRPr lang="ja-JP" altLang="en-US" sz="1200" dirty="0"/>
          </a:p>
        </p:txBody>
      </p:sp>
      <p:sp>
        <p:nvSpPr>
          <p:cNvPr id="18" name="TextBox 13">
            <a:extLst>
              <a:ext uri="{FF2B5EF4-FFF2-40B4-BE49-F238E27FC236}">
                <a16:creationId xmlns:a16="http://schemas.microsoft.com/office/drawing/2014/main" id="{0440E4C6-3CDA-716E-DA2B-613F0D78059F}"/>
              </a:ext>
            </a:extLst>
          </p:cNvPr>
          <p:cNvSpPr txBox="1"/>
          <p:nvPr/>
        </p:nvSpPr>
        <p:spPr>
          <a:xfrm>
            <a:off x="9902696" y="3542883"/>
            <a:ext cx="3200400" cy="829073"/>
          </a:xfrm>
          <a:prstGeom prst="rect">
            <a:avLst/>
          </a:prstGeom>
        </p:spPr>
        <p:txBody>
          <a:bodyPr wrap="square" lIns="0" tIns="0" rIns="0" bIns="0" rtlCol="0" anchor="t">
            <a:spAutoFit/>
          </a:bodyPr>
          <a:lstStyle/>
          <a:p>
            <a:pPr>
              <a:lnSpc>
                <a:spcPts val="7467"/>
              </a:lnSpc>
            </a:pPr>
            <a:r>
              <a:rPr lang="en-US" altLang="ja-JP" sz="2800" b="1" spc="267" dirty="0">
                <a:latin typeface="メイリオ" panose="020B0604030504040204" pitchFamily="50" charset="-128"/>
                <a:ea typeface="メイリオ" panose="020B0604030504040204" pitchFamily="50" charset="-128"/>
                <a:cs typeface="ロダン EB"/>
                <a:sym typeface="ロダン EB"/>
              </a:rPr>
              <a:t>B4</a:t>
            </a:r>
            <a:r>
              <a:rPr lang="ja-JP" altLang="en-US" sz="2800" b="1" spc="267" dirty="0">
                <a:latin typeface="メイリオ" panose="020B0604030504040204" pitchFamily="50" charset="-128"/>
                <a:ea typeface="メイリオ" panose="020B0604030504040204" pitchFamily="50" charset="-128"/>
                <a:cs typeface="ロダン EB"/>
                <a:sym typeface="ロダン EB"/>
              </a:rPr>
              <a:t> 松本 鋭</a:t>
            </a:r>
            <a:endParaRPr lang="en-US" sz="2800" b="1" spc="267" dirty="0">
              <a:latin typeface="メイリオ" panose="020B0604030504040204" pitchFamily="50" charset="-128"/>
              <a:ea typeface="メイリオ" panose="020B0604030504040204" pitchFamily="50" charset="-128"/>
              <a:cs typeface="ロダン EB"/>
              <a:sym typeface="ロダン EB"/>
            </a:endParaRPr>
          </a:p>
        </p:txBody>
      </p:sp>
      <p:sp>
        <p:nvSpPr>
          <p:cNvPr id="3" name="日付プレースホルダー 2">
            <a:extLst>
              <a:ext uri="{FF2B5EF4-FFF2-40B4-BE49-F238E27FC236}">
                <a16:creationId xmlns:a16="http://schemas.microsoft.com/office/drawing/2014/main" id="{5111A2EA-8984-C5B4-9799-0363BF0B7FDC}"/>
              </a:ext>
            </a:extLst>
          </p:cNvPr>
          <p:cNvSpPr>
            <a:spLocks noGrp="1"/>
          </p:cNvSpPr>
          <p:nvPr>
            <p:ph type="dt" sz="half" idx="10"/>
          </p:nvPr>
        </p:nvSpPr>
        <p:spPr/>
        <p:txBody>
          <a:bodyPr/>
          <a:lstStyle/>
          <a:p>
            <a:r>
              <a:rPr kumimoji="1" lang="en-US" altLang="ja-JP"/>
              <a:t>2026/09/15</a:t>
            </a:r>
            <a:endParaRPr kumimoji="1" lang="ja-JP" altLang="en-US" dirty="0"/>
          </a:p>
        </p:txBody>
      </p:sp>
      <p:sp>
        <p:nvSpPr>
          <p:cNvPr id="4" name="スライド番号プレースホルダー 3">
            <a:extLst>
              <a:ext uri="{FF2B5EF4-FFF2-40B4-BE49-F238E27FC236}">
                <a16:creationId xmlns:a16="http://schemas.microsoft.com/office/drawing/2014/main" id="{F4071619-0FEA-1EB3-F935-7814361C8240}"/>
              </a:ext>
            </a:extLst>
          </p:cNvPr>
          <p:cNvSpPr>
            <a:spLocks noGrp="1"/>
          </p:cNvSpPr>
          <p:nvPr>
            <p:ph type="sldNum" sz="quarter" idx="12"/>
          </p:nvPr>
        </p:nvSpPr>
        <p:spPr/>
        <p:txBody>
          <a:bodyPr/>
          <a:lstStyle/>
          <a:p>
            <a:fld id="{4E9148DC-F7ED-4428-85F4-2C78C4B0CFB7}" type="slidenum">
              <a:rPr kumimoji="1" lang="ja-JP" altLang="en-US" smtClean="0"/>
              <a:t>1</a:t>
            </a:fld>
            <a:endParaRPr kumimoji="1" lang="ja-JP" altLang="en-US" dirty="0"/>
          </a:p>
        </p:txBody>
      </p:sp>
      <p:sp>
        <p:nvSpPr>
          <p:cNvPr id="22" name="Rounded Rectangle 97">
            <a:extLst>
              <a:ext uri="{FF2B5EF4-FFF2-40B4-BE49-F238E27FC236}">
                <a16:creationId xmlns:a16="http://schemas.microsoft.com/office/drawing/2014/main" id="{C8919DEF-4F88-AAB4-F5F0-6A128BD26475}"/>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6" name="Rounded Rectangle 96">
            <a:extLst>
              <a:ext uri="{FF2B5EF4-FFF2-40B4-BE49-F238E27FC236}">
                <a16:creationId xmlns:a16="http://schemas.microsoft.com/office/drawing/2014/main" id="{4A62158F-5B77-76BC-4CC0-CD3DB1ED8A36}"/>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9" name="Rounded Rectangle 95">
            <a:extLst>
              <a:ext uri="{FF2B5EF4-FFF2-40B4-BE49-F238E27FC236}">
                <a16:creationId xmlns:a16="http://schemas.microsoft.com/office/drawing/2014/main" id="{FD1CBF6C-DDFF-2398-EA38-DA9A54E69BC7}"/>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1" name="Rounded Rectangle 94">
            <a:extLst>
              <a:ext uri="{FF2B5EF4-FFF2-40B4-BE49-F238E27FC236}">
                <a16:creationId xmlns:a16="http://schemas.microsoft.com/office/drawing/2014/main" id="{C4F7B2F9-EE53-EDC6-1286-8E2550FE5598}"/>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3" name="Rounded Rectangle 93">
            <a:extLst>
              <a:ext uri="{FF2B5EF4-FFF2-40B4-BE49-F238E27FC236}">
                <a16:creationId xmlns:a16="http://schemas.microsoft.com/office/drawing/2014/main" id="{CED3DB15-D1F6-ADC7-007C-DA2485FE7750}"/>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35" name="Rounded Rectangle 92">
            <a:extLst>
              <a:ext uri="{FF2B5EF4-FFF2-40B4-BE49-F238E27FC236}">
                <a16:creationId xmlns:a16="http://schemas.microsoft.com/office/drawing/2014/main" id="{5C219FF2-D1E7-1CF1-5D60-564A13E8F62E}"/>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8" name="TextBox 13">
            <a:extLst>
              <a:ext uri="{FF2B5EF4-FFF2-40B4-BE49-F238E27FC236}">
                <a16:creationId xmlns:a16="http://schemas.microsoft.com/office/drawing/2014/main" id="{AB14DB5E-A701-F05B-4799-346E6E7A41F4}"/>
              </a:ext>
            </a:extLst>
          </p:cNvPr>
          <p:cNvSpPr txBox="1"/>
          <p:nvPr/>
        </p:nvSpPr>
        <p:spPr>
          <a:xfrm>
            <a:off x="815764" y="2399872"/>
            <a:ext cx="10052069" cy="975267"/>
          </a:xfrm>
          <a:prstGeom prst="rect">
            <a:avLst/>
          </a:prstGeom>
        </p:spPr>
        <p:txBody>
          <a:bodyPr lIns="0" tIns="0" rIns="0" bIns="0" rtlCol="0" anchor="t">
            <a:spAutoFit/>
          </a:bodyPr>
          <a:lstStyle/>
          <a:p>
            <a:pPr>
              <a:lnSpc>
                <a:spcPts val="7467"/>
              </a:lnSpc>
            </a:pPr>
            <a:r>
              <a:rPr lang="ja-JP" altLang="en-US" sz="6000" b="1" spc="267" dirty="0">
                <a:latin typeface="メイリオ" panose="020B0604030504040204" pitchFamily="50" charset="-128"/>
                <a:ea typeface="メイリオ" panose="020B0604030504040204" pitchFamily="50" charset="-128"/>
                <a:cs typeface="ロダン EB"/>
                <a:sym typeface="ロダン EB"/>
              </a:rPr>
              <a:t>データ解析ゼミ</a:t>
            </a:r>
            <a:endParaRPr lang="en-US" sz="6000" b="1" spc="267" dirty="0">
              <a:latin typeface="メイリオ" panose="020B0604030504040204" pitchFamily="50" charset="-128"/>
              <a:ea typeface="メイリオ" panose="020B0604030504040204" pitchFamily="50" charset="-128"/>
              <a:cs typeface="ロダン EB"/>
              <a:sym typeface="ロダン EB"/>
            </a:endParaRPr>
          </a:p>
        </p:txBody>
      </p:sp>
    </p:spTree>
    <p:extLst>
      <p:ext uri="{BB962C8B-B14F-4D97-AF65-F5344CB8AC3E}">
        <p14:creationId xmlns:p14="http://schemas.microsoft.com/office/powerpoint/2010/main" val="2234906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653E-9264-49F5-BF09-A926CD5030B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F9F2C6A-D58E-4734-1D0B-150E06BAEF23}"/>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8D5FFF4-CE34-3013-F4F5-893C937D6ED6}"/>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5FFF2229-8A96-A166-B2A3-523B8DFB1D03}"/>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709D66B1-AD55-959E-1519-728475716EA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1BEAA42D-5195-9DCB-12CC-28EC0C30738F}"/>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39C41B11-D33C-D6AB-BE42-9E6A915CE53D}"/>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978BEBAE-B484-31DF-52AC-634BC7651E54}"/>
              </a:ext>
            </a:extLst>
          </p:cNvPr>
          <p:cNvSpPr>
            <a:spLocks noGrp="1"/>
          </p:cNvSpPr>
          <p:nvPr>
            <p:ph type="sldNum" sz="quarter" idx="12"/>
          </p:nvPr>
        </p:nvSpPr>
        <p:spPr/>
        <p:txBody>
          <a:bodyPr/>
          <a:lstStyle/>
          <a:p>
            <a:fld id="{4E9148DC-F7ED-4428-85F4-2C78C4B0CFB7}" type="slidenum">
              <a:rPr kumimoji="1" lang="ja-JP" altLang="en-US" smtClean="0"/>
              <a:t>2</a:t>
            </a:fld>
            <a:endParaRPr kumimoji="1" lang="ja-JP" altLang="en-US"/>
          </a:p>
        </p:txBody>
      </p:sp>
      <p:sp>
        <p:nvSpPr>
          <p:cNvPr id="9" name="TextBox 28">
            <a:extLst>
              <a:ext uri="{FF2B5EF4-FFF2-40B4-BE49-F238E27FC236}">
                <a16:creationId xmlns:a16="http://schemas.microsoft.com/office/drawing/2014/main" id="{6360335F-B863-105E-1600-325026E5E3B3}"/>
              </a:ext>
            </a:extLst>
          </p:cNvPr>
          <p:cNvSpPr txBox="1"/>
          <p:nvPr/>
        </p:nvSpPr>
        <p:spPr>
          <a:xfrm>
            <a:off x="938240" y="2851919"/>
            <a:ext cx="9445012" cy="1154162"/>
          </a:xfrm>
          <a:prstGeom prst="rect">
            <a:avLst/>
          </a:prstGeom>
        </p:spPr>
        <p:txBody>
          <a:bodyPr wrap="square" lIns="0" tIns="0" rIns="0" bIns="0" rtlCol="0" anchor="t">
            <a:spAutoFit/>
          </a:bodyPr>
          <a:lstStyle/>
          <a:p>
            <a:pPr marL="285750" indent="-285750">
              <a:lnSpc>
                <a:spcPts val="3000"/>
              </a:lnSpc>
              <a:buFont typeface="メイリオ" panose="020B0604030504040204" pitchFamily="50" charset="-128"/>
              <a:buChar char="❑"/>
            </a:pPr>
            <a:r>
              <a:rPr lang="ja-JP" altLang="en-US"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あああああ</a:t>
            </a:r>
            <a:endParaRPr lang="en-US" altLang="ja-JP"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3000"/>
              </a:lnSpc>
              <a:buFont typeface="メイリオ" panose="020B0604030504040204" pitchFamily="50" charset="-128"/>
              <a:buChar char="❑"/>
            </a:pPr>
            <a:endParaRPr lang="en-US" altLang="ja-JP"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3000"/>
              </a:lnSpc>
              <a:buFont typeface="メイリオ" panose="020B0604030504040204" pitchFamily="50" charset="-128"/>
              <a:buChar char="❑"/>
            </a:pPr>
            <a:r>
              <a:rPr lang="ja-JP" altLang="en-US"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ああああああ</a:t>
            </a:r>
            <a:endParaRPr lang="en-US" altLang="ja-JP"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p:txBody>
      </p:sp>
      <p:sp>
        <p:nvSpPr>
          <p:cNvPr id="24" name="TextBox 13">
            <a:extLst>
              <a:ext uri="{FF2B5EF4-FFF2-40B4-BE49-F238E27FC236}">
                <a16:creationId xmlns:a16="http://schemas.microsoft.com/office/drawing/2014/main" id="{77FAB6D7-B128-0E3B-5BCF-00AB09FE345A}"/>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近況報告</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23" name="Rounded Rectangle 97">
            <a:extLst>
              <a:ext uri="{FF2B5EF4-FFF2-40B4-BE49-F238E27FC236}">
                <a16:creationId xmlns:a16="http://schemas.microsoft.com/office/drawing/2014/main" id="{CE552BBE-0F74-3493-AA42-E7BBD53539CB}"/>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6" name="Rounded Rectangle 96">
            <a:extLst>
              <a:ext uri="{FF2B5EF4-FFF2-40B4-BE49-F238E27FC236}">
                <a16:creationId xmlns:a16="http://schemas.microsoft.com/office/drawing/2014/main" id="{FD90113E-FB2C-7471-C500-F97E5384DB46}"/>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9" name="Rounded Rectangle 95">
            <a:extLst>
              <a:ext uri="{FF2B5EF4-FFF2-40B4-BE49-F238E27FC236}">
                <a16:creationId xmlns:a16="http://schemas.microsoft.com/office/drawing/2014/main" id="{66C3B81E-B4BE-2CFB-2659-FF11E3B84C05}"/>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2" name="Rounded Rectangle 94">
            <a:extLst>
              <a:ext uri="{FF2B5EF4-FFF2-40B4-BE49-F238E27FC236}">
                <a16:creationId xmlns:a16="http://schemas.microsoft.com/office/drawing/2014/main" id="{9720E58E-F7F3-D097-6FC4-6B51951412D5}"/>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5" name="Rounded Rectangle 93">
            <a:extLst>
              <a:ext uri="{FF2B5EF4-FFF2-40B4-BE49-F238E27FC236}">
                <a16:creationId xmlns:a16="http://schemas.microsoft.com/office/drawing/2014/main" id="{09B3A200-9312-2F1D-9CB9-7CAD311C734C}"/>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38" name="Rounded Rectangle 92">
            <a:extLst>
              <a:ext uri="{FF2B5EF4-FFF2-40B4-BE49-F238E27FC236}">
                <a16:creationId xmlns:a16="http://schemas.microsoft.com/office/drawing/2014/main" id="{E02471CF-FB5A-3CFB-4B3D-0A2903085E38}"/>
              </a:ext>
            </a:extLst>
          </p:cNvPr>
          <p:cNvSpPr/>
          <p:nvPr/>
        </p:nvSpPr>
        <p:spPr>
          <a:xfrm>
            <a:off x="3113518" y="6392061"/>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近況報告</a:t>
            </a:r>
            <a:endParaRPr sz="1600" b="1" dirty="0">
              <a:solidFill>
                <a:schemeClr val="bg1"/>
              </a:solidFill>
              <a:latin typeface="Meiryo"/>
              <a:ea typeface="メイリオ"/>
            </a:endParaRPr>
          </a:p>
        </p:txBody>
      </p:sp>
    </p:spTree>
    <p:extLst>
      <p:ext uri="{BB962C8B-B14F-4D97-AF65-F5344CB8AC3E}">
        <p14:creationId xmlns:p14="http://schemas.microsoft.com/office/powerpoint/2010/main" val="90405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B2F6A-9E95-23D1-F1C1-5C8406A7D0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027C1D5-879C-1837-670C-125BC29C3056}"/>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79B9331-1ECA-293D-8F49-24855C423193}"/>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C20BEE2E-BE8E-7EE3-BF22-39D75C293ACE}"/>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7847DE35-7A21-78D9-365E-C1EA89CA6444}"/>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8CD42589-5428-2227-26F9-1C0CF38578FC}"/>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0DD0F14A-72A7-157C-74C6-8384012F6FA7}"/>
              </a:ext>
            </a:extLst>
          </p:cNvPr>
          <p:cNvSpPr>
            <a:spLocks noGrp="1"/>
          </p:cNvSpPr>
          <p:nvPr>
            <p:ph type="dt" sz="half" idx="10"/>
          </p:nvPr>
        </p:nvSpPr>
        <p:spPr/>
        <p:txBody>
          <a:bodyPr/>
          <a:lstStyle/>
          <a:p>
            <a:r>
              <a:rPr kumimoji="1" lang="en-US" altLang="ja-JP" dirty="0"/>
              <a:t>2026/09/15</a:t>
            </a:r>
            <a:endParaRPr kumimoji="1" lang="ja-JP" altLang="en-US" dirty="0"/>
          </a:p>
        </p:txBody>
      </p:sp>
      <p:sp>
        <p:nvSpPr>
          <p:cNvPr id="8" name="スライド番号プレースホルダー 7">
            <a:extLst>
              <a:ext uri="{FF2B5EF4-FFF2-40B4-BE49-F238E27FC236}">
                <a16:creationId xmlns:a16="http://schemas.microsoft.com/office/drawing/2014/main" id="{5316399E-7407-B134-6DA1-412A6A484AC9}"/>
              </a:ext>
            </a:extLst>
          </p:cNvPr>
          <p:cNvSpPr>
            <a:spLocks noGrp="1"/>
          </p:cNvSpPr>
          <p:nvPr>
            <p:ph type="sldNum" sz="quarter" idx="12"/>
          </p:nvPr>
        </p:nvSpPr>
        <p:spPr/>
        <p:txBody>
          <a:bodyPr/>
          <a:lstStyle/>
          <a:p>
            <a:fld id="{4E9148DC-F7ED-4428-85F4-2C78C4B0CFB7}" type="slidenum">
              <a:rPr kumimoji="1" lang="ja-JP" altLang="en-US" smtClean="0"/>
              <a:t>3</a:t>
            </a:fld>
            <a:endParaRPr kumimoji="1" lang="ja-JP" altLang="en-US" dirty="0"/>
          </a:p>
        </p:txBody>
      </p:sp>
      <p:sp>
        <p:nvSpPr>
          <p:cNvPr id="9" name="TextBox 28">
            <a:extLst>
              <a:ext uri="{FF2B5EF4-FFF2-40B4-BE49-F238E27FC236}">
                <a16:creationId xmlns:a16="http://schemas.microsoft.com/office/drawing/2014/main" id="{5112432F-E44D-2A1F-680B-0DE4D94C0BBB}"/>
              </a:ext>
            </a:extLst>
          </p:cNvPr>
          <p:cNvSpPr txBox="1"/>
          <p:nvPr/>
        </p:nvSpPr>
        <p:spPr>
          <a:xfrm>
            <a:off x="938240" y="1287029"/>
            <a:ext cx="10882209" cy="4129336"/>
          </a:xfrm>
          <a:prstGeom prst="rect">
            <a:avLst/>
          </a:prstGeom>
        </p:spPr>
        <p:txBody>
          <a:bodyPr wrap="square" lIns="0" tIns="0" rIns="0" bIns="0" rtlCol="0" anchor="t">
            <a:spAutoFit/>
          </a:bodyPr>
          <a:lstStyle/>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検出対象 </a:t>
            </a:r>
            <a:r>
              <a:rPr lang="en-US" altLang="ja-JP" sz="2000" b="1" spc="215" dirty="0">
                <a:latin typeface="メイリオ" panose="020B0604030504040204" pitchFamily="50" charset="-128"/>
                <a:ea typeface="メイリオ" panose="020B0604030504040204" pitchFamily="50" charset="-128"/>
                <a:cs typeface="Noto Sans JP Bold"/>
                <a:sym typeface="Noto Sans JP Bold"/>
              </a:rPr>
              <a:t>: </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８クラス</a:t>
            </a:r>
            <a:endParaRPr lang="en-US" altLang="ja-JP" sz="2000" b="1" spc="215" dirty="0">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サイレン</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救急車・パトカー・消防車</a:t>
            </a:r>
            <a:r>
              <a:rPr lang="en-US" altLang="ja-JP" spc="215" dirty="0">
                <a:latin typeface="メイリオ" panose="020B0604030504040204" pitchFamily="50" charset="-128"/>
                <a:ea typeface="メイリオ" panose="020B0604030504040204" pitchFamily="50" charset="-128"/>
                <a:cs typeface="Noto Sans JP Bold"/>
                <a:sym typeface="Noto Sans JP Bold"/>
              </a:rPr>
              <a:t>) / </a:t>
            </a:r>
            <a:r>
              <a:rPr lang="ja-JP" altLang="en-US" spc="215" dirty="0">
                <a:latin typeface="メイリオ" panose="020B0604030504040204" pitchFamily="50" charset="-128"/>
                <a:ea typeface="メイリオ" panose="020B0604030504040204" pitchFamily="50" charset="-128"/>
                <a:cs typeface="Noto Sans JP Bold"/>
                <a:sym typeface="Noto Sans JP Bold"/>
              </a:rPr>
              <a:t>クラクション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バック音 </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自転車ベル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p>
          <a:p>
            <a:pPr>
              <a:lnSpc>
                <a:spcPts val="2300"/>
              </a:lnSpc>
            </a:pP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車の走行音</a:t>
            </a:r>
            <a:r>
              <a:rPr lang="en-US" altLang="ja-JP" spc="215" dirty="0">
                <a:latin typeface="メイリオ" panose="020B0604030504040204" pitchFamily="50" charset="-128"/>
                <a:ea typeface="メイリオ" panose="020B0604030504040204" pitchFamily="50" charset="-128"/>
                <a:cs typeface="Noto Sans JP Bold"/>
                <a:sym typeface="Noto Sans JP Bold"/>
              </a:rPr>
              <a:t>(EV</a:t>
            </a:r>
            <a:r>
              <a:rPr lang="ja-JP" altLang="en-US" spc="215" dirty="0">
                <a:latin typeface="メイリオ" panose="020B0604030504040204" pitchFamily="50" charset="-128"/>
                <a:ea typeface="メイリオ" panose="020B0604030504040204" pitchFamily="50" charset="-128"/>
                <a:cs typeface="Noto Sans JP Bold"/>
                <a:sym typeface="Noto Sans JP Bold"/>
              </a:rPr>
              <a:t>・大型含む</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踏切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キックボード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バイク</a:t>
            </a:r>
          </a:p>
          <a:p>
            <a:pPr>
              <a:lnSpc>
                <a:spcPts val="2300"/>
              </a:lnSpc>
            </a:pPr>
            <a:endParaRPr lang="ja-JP" altLang="en-US"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伝え方</a:t>
            </a:r>
            <a:endParaRPr lang="ja-JP" altLang="en-US" sz="1600" spc="215" dirty="0">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音の</a:t>
            </a:r>
            <a:r>
              <a:rPr lang="ja-JP" altLang="en-US" b="1" spc="215" dirty="0">
                <a:latin typeface="メイリオ" panose="020B0604030504040204" pitchFamily="50" charset="-128"/>
                <a:ea typeface="メイリオ" panose="020B0604030504040204" pitchFamily="50" charset="-128"/>
                <a:cs typeface="Noto Sans JP Bold"/>
                <a:sym typeface="Noto Sans JP Bold"/>
              </a:rPr>
              <a:t>種類</a:t>
            </a:r>
            <a:r>
              <a:rPr lang="ja-JP" altLang="en-US" spc="215" dirty="0">
                <a:latin typeface="メイリオ" panose="020B0604030504040204" pitchFamily="50" charset="-128"/>
                <a:ea typeface="メイリオ" panose="020B0604030504040204" pitchFamily="50" charset="-128"/>
                <a:cs typeface="Noto Sans JP Bold"/>
                <a:sym typeface="Noto Sans JP Bold"/>
              </a:rPr>
              <a:t>・</a:t>
            </a:r>
            <a:r>
              <a:rPr lang="ja-JP" altLang="en-US" b="1" spc="215" dirty="0">
                <a:latin typeface="メイリオ" panose="020B0604030504040204" pitchFamily="50" charset="-128"/>
                <a:ea typeface="メイリオ" panose="020B0604030504040204" pitchFamily="50" charset="-128"/>
                <a:cs typeface="Noto Sans JP Bold"/>
                <a:sym typeface="Noto Sans JP Bold"/>
              </a:rPr>
              <a:t>方向</a:t>
            </a:r>
            <a:r>
              <a:rPr lang="ja-JP" altLang="en-US" spc="215" dirty="0">
                <a:latin typeface="メイリオ" panose="020B0604030504040204" pitchFamily="50" charset="-128"/>
                <a:ea typeface="メイリオ" panose="020B0604030504040204" pitchFamily="50" charset="-128"/>
                <a:cs typeface="Noto Sans JP Bold"/>
                <a:sym typeface="Noto Sans JP Bold"/>
              </a:rPr>
              <a:t>・</a:t>
            </a:r>
            <a:r>
              <a:rPr lang="ja-JP" altLang="en-US" b="1" spc="215" dirty="0">
                <a:latin typeface="メイリオ" panose="020B0604030504040204" pitchFamily="50" charset="-128"/>
                <a:ea typeface="メイリオ" panose="020B0604030504040204" pitchFamily="50" charset="-128"/>
                <a:cs typeface="Noto Sans JP Bold"/>
                <a:sym typeface="Noto Sans JP Bold"/>
              </a:rPr>
              <a:t>距離</a:t>
            </a:r>
            <a:r>
              <a:rPr lang="ja-JP" altLang="en-US" spc="215" dirty="0">
                <a:latin typeface="メイリオ" panose="020B0604030504040204" pitchFamily="50" charset="-128"/>
                <a:ea typeface="メイリオ" panose="020B0604030504040204" pitchFamily="50" charset="-128"/>
                <a:cs typeface="Noto Sans JP Bold"/>
                <a:sym typeface="Noto Sans JP Bold"/>
              </a:rPr>
              <a:t>を推定し、危険度</a:t>
            </a:r>
            <a:r>
              <a:rPr lang="en-US" altLang="ja-JP" spc="215" dirty="0">
                <a:latin typeface="メイリオ" panose="020B0604030504040204" pitchFamily="50" charset="-128"/>
                <a:ea typeface="メイリオ" panose="020B0604030504040204" pitchFamily="50" charset="-128"/>
                <a:cs typeface="Noto Sans JP Bold"/>
                <a:sym typeface="Noto Sans JP Bold"/>
              </a:rPr>
              <a:t>3</a:t>
            </a:r>
            <a:r>
              <a:rPr lang="ja-JP" altLang="en-US" spc="215" dirty="0">
                <a:latin typeface="メイリオ" panose="020B0604030504040204" pitchFamily="50" charset="-128"/>
                <a:ea typeface="メイリオ" panose="020B0604030504040204" pitchFamily="50" charset="-128"/>
                <a:cs typeface="Noto Sans JP Bold"/>
                <a:sym typeface="Noto Sans JP Bold"/>
              </a:rPr>
              <a:t>段階</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至近警告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注意 </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抑制</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を</a:t>
            </a:r>
            <a:endParaRPr lang="en-US" altLang="ja-JP"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pc="215" dirty="0">
                <a:latin typeface="メイリオ" panose="020B0604030504040204" pitchFamily="50" charset="-128"/>
                <a:ea typeface="メイリオ" panose="020B0604030504040204" pitchFamily="50" charset="-128"/>
                <a:cs typeface="Noto Sans JP Bold"/>
                <a:sym typeface="Noto Sans JP Bold"/>
              </a:rPr>
              <a:t>  </a:t>
            </a:r>
            <a:r>
              <a:rPr lang="ja-JP" altLang="en-US" sz="1100"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将来的には首元の振動で伝える構成を想定。行動の判断は本人に委ねる。</a:t>
            </a:r>
          </a:p>
          <a:p>
            <a:pPr>
              <a:lnSpc>
                <a:spcPts val="2300"/>
              </a:lnSpc>
            </a:pPr>
            <a:endParaRPr lang="en-US" altLang="ja-JP"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本研究の範囲</a:t>
            </a:r>
            <a:endParaRPr lang="en-US" altLang="ja-JP" sz="2000" b="1" spc="215" dirty="0">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音から危険度を判定し、首元の振動で伝えるまで。デバイス試作は実録評価の後。</a:t>
            </a:r>
            <a:endParaRPr lang="en-US" altLang="ja-JP"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endParaRPr lang="ja-JP" altLang="en-US"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前提</a:t>
            </a: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視覚は健常と仮定。第</a:t>
            </a:r>
            <a:r>
              <a:rPr lang="en-US" altLang="ja-JP" spc="215" dirty="0">
                <a:latin typeface="メイリオ" panose="020B0604030504040204" pitchFamily="50" charset="-128"/>
                <a:ea typeface="メイリオ" panose="020B0604030504040204" pitchFamily="50" charset="-128"/>
                <a:cs typeface="Noto Sans JP Bold"/>
                <a:sym typeface="Noto Sans JP Bold"/>
              </a:rPr>
              <a:t>1</a:t>
            </a:r>
            <a:r>
              <a:rPr lang="ja-JP" altLang="en-US" spc="215" dirty="0">
                <a:latin typeface="メイリオ" panose="020B0604030504040204" pitchFamily="50" charset="-128"/>
                <a:ea typeface="メイリオ" panose="020B0604030504040204" pitchFamily="50" charset="-128"/>
                <a:cs typeface="Noto Sans JP Bold"/>
                <a:sym typeface="Noto Sans JP Bold"/>
              </a:rPr>
              <a:t>対象は難聴者</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後にイヤホンを装着している歩行者や</a:t>
            </a:r>
          </a:p>
          <a:p>
            <a:pPr>
              <a:lnSpc>
                <a:spcPts val="2300"/>
              </a:lnSpc>
            </a:pPr>
            <a:r>
              <a:rPr lang="ja-JP" altLang="en-US" spc="215" dirty="0">
                <a:latin typeface="メイリオ" panose="020B0604030504040204" pitchFamily="50" charset="-128"/>
                <a:ea typeface="メイリオ" panose="020B0604030504040204" pitchFamily="50" charset="-128"/>
                <a:cs typeface="Noto Sans JP Bold"/>
                <a:sym typeface="Noto Sans JP Bold"/>
              </a:rPr>
              <a:t>　　　　　　　　　　　　　　　　　　　　　　　　　　　　　高齢者へと拡張可能</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a:t>
            </a:r>
          </a:p>
        </p:txBody>
      </p:sp>
      <p:sp>
        <p:nvSpPr>
          <p:cNvPr id="24" name="TextBox 13">
            <a:extLst>
              <a:ext uri="{FF2B5EF4-FFF2-40B4-BE49-F238E27FC236}">
                <a16:creationId xmlns:a16="http://schemas.microsoft.com/office/drawing/2014/main" id="{001641D6-4BA2-4EC7-F6C7-5BEE38E6F08E}"/>
              </a:ext>
            </a:extLst>
          </p:cNvPr>
          <p:cNvSpPr txBox="1"/>
          <p:nvPr/>
        </p:nvSpPr>
        <p:spPr>
          <a:xfrm>
            <a:off x="1079564" y="179367"/>
            <a:ext cx="10459293" cy="1154162"/>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研究目的 </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 </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難聴者の屋外歩行を音で支援する</a:t>
            </a:r>
          </a:p>
          <a:p>
            <a:pPr>
              <a:lnSpc>
                <a:spcPts val="4546"/>
              </a:lnSpc>
            </a:pP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47" name="Rectangle 8">
            <a:extLst>
              <a:ext uri="{FF2B5EF4-FFF2-40B4-BE49-F238E27FC236}">
                <a16:creationId xmlns:a16="http://schemas.microsoft.com/office/drawing/2014/main" id="{7687C9F9-1647-02C9-C6C9-3040CE651152}"/>
              </a:ext>
            </a:extLst>
          </p:cNvPr>
          <p:cNvSpPr/>
          <p:nvPr/>
        </p:nvSpPr>
        <p:spPr>
          <a:xfrm>
            <a:off x="838200" y="5554186"/>
            <a:ext cx="10806009" cy="702677"/>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wrap="square" lIns="203200" tIns="127000" rtlCol="0" anchor="ctr"/>
          <a:lstStyle/>
          <a:p>
            <a:pPr algn="l">
              <a:lnSpc>
                <a:spcPct val="70000"/>
              </a:lnSpc>
              <a:spcBef>
                <a:spcPts val="0"/>
              </a:spcBef>
              <a:spcAft>
                <a:spcPts val="600"/>
              </a:spcAft>
            </a:pPr>
            <a:r>
              <a:rPr lang="ja-JP" altLang="en-US" b="0" dirty="0">
                <a:solidFill>
                  <a:schemeClr val="tx1">
                    <a:lumMod val="95000"/>
                    <a:lumOff val="5000"/>
                  </a:schemeClr>
                </a:solidFill>
                <a:latin typeface="Meiryo"/>
                <a:ea typeface="メイリオ"/>
              </a:rPr>
              <a:t>危険音の</a:t>
            </a:r>
            <a:r>
              <a:rPr lang="ja-JP" altLang="en-US" b="1" dirty="0">
                <a:solidFill>
                  <a:schemeClr val="tx1">
                    <a:lumMod val="95000"/>
                    <a:lumOff val="5000"/>
                  </a:schemeClr>
                </a:solidFill>
                <a:latin typeface="Meiryo"/>
                <a:ea typeface="メイリオ"/>
              </a:rPr>
              <a:t>種類・方向・距離</a:t>
            </a:r>
            <a:r>
              <a:rPr lang="ja-JP" altLang="en-US" b="0" dirty="0">
                <a:solidFill>
                  <a:schemeClr val="tx1">
                    <a:lumMod val="95000"/>
                    <a:lumOff val="5000"/>
                  </a:schemeClr>
                </a:solidFill>
                <a:latin typeface="Meiryo"/>
                <a:ea typeface="メイリオ"/>
              </a:rPr>
              <a:t>を同時</a:t>
            </a:r>
            <a:r>
              <a:rPr lang="ja-JP" altLang="en-US" dirty="0">
                <a:solidFill>
                  <a:schemeClr val="tx1">
                    <a:lumMod val="95000"/>
                    <a:lumOff val="5000"/>
                  </a:schemeClr>
                </a:solidFill>
                <a:latin typeface="Meiryo"/>
                <a:ea typeface="メイリオ"/>
              </a:rPr>
              <a:t>に</a:t>
            </a:r>
            <a:r>
              <a:rPr lang="ja-JP" altLang="en-US" b="0" dirty="0">
                <a:solidFill>
                  <a:schemeClr val="tx1">
                    <a:lumMod val="95000"/>
                    <a:lumOff val="5000"/>
                  </a:schemeClr>
                </a:solidFill>
                <a:latin typeface="Meiryo"/>
                <a:ea typeface="メイリオ"/>
              </a:rPr>
              <a:t>推定し、安全な車は鳴らさず、</a:t>
            </a:r>
            <a:r>
              <a:rPr lang="ja-JP" altLang="en-US" b="1" dirty="0">
                <a:solidFill>
                  <a:srgbClr val="B37E00"/>
                </a:solidFill>
                <a:latin typeface="Meiryo"/>
                <a:ea typeface="メイリオ"/>
              </a:rPr>
              <a:t>危険な接近だけを</a:t>
            </a:r>
            <a:r>
              <a:rPr lang="en-US" altLang="ja-JP" b="1" dirty="0">
                <a:solidFill>
                  <a:srgbClr val="B37E00"/>
                </a:solidFill>
                <a:latin typeface="Meiryo"/>
                <a:ea typeface="メイリオ"/>
              </a:rPr>
              <a:t>3</a:t>
            </a:r>
            <a:r>
              <a:rPr lang="ja-JP" altLang="en-US" b="1" dirty="0">
                <a:solidFill>
                  <a:srgbClr val="B37E00"/>
                </a:solidFill>
                <a:latin typeface="Meiryo"/>
                <a:ea typeface="メイリオ"/>
              </a:rPr>
              <a:t>段階で通知する</a:t>
            </a:r>
            <a:endParaRPr lang="ja-JP" altLang="en-US" b="0" dirty="0">
              <a:solidFill>
                <a:srgbClr val="3A4658"/>
              </a:solidFill>
              <a:latin typeface="Meiryo"/>
              <a:ea typeface="メイリオ"/>
            </a:endParaRPr>
          </a:p>
        </p:txBody>
      </p:sp>
      <p:sp>
        <p:nvSpPr>
          <p:cNvPr id="23" name="Rounded Rectangle 97">
            <a:extLst>
              <a:ext uri="{FF2B5EF4-FFF2-40B4-BE49-F238E27FC236}">
                <a16:creationId xmlns:a16="http://schemas.microsoft.com/office/drawing/2014/main" id="{7DE7EF1F-AA8E-B090-CAEC-1EFF69071D52}"/>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6" name="Rounded Rectangle 96">
            <a:extLst>
              <a:ext uri="{FF2B5EF4-FFF2-40B4-BE49-F238E27FC236}">
                <a16:creationId xmlns:a16="http://schemas.microsoft.com/office/drawing/2014/main" id="{7E709672-0C53-5239-2FE2-27E8F167A08F}"/>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8" name="Rounded Rectangle 95">
            <a:extLst>
              <a:ext uri="{FF2B5EF4-FFF2-40B4-BE49-F238E27FC236}">
                <a16:creationId xmlns:a16="http://schemas.microsoft.com/office/drawing/2014/main" id="{B7B0ADA1-FC1F-14D2-3A3D-213B4D8A29A5}"/>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0" name="Rounded Rectangle 94">
            <a:extLst>
              <a:ext uri="{FF2B5EF4-FFF2-40B4-BE49-F238E27FC236}">
                <a16:creationId xmlns:a16="http://schemas.microsoft.com/office/drawing/2014/main" id="{BD501A8A-B230-AC8B-10B8-657289D6D8E7}"/>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2" name="Rounded Rectangle 93">
            <a:extLst>
              <a:ext uri="{FF2B5EF4-FFF2-40B4-BE49-F238E27FC236}">
                <a16:creationId xmlns:a16="http://schemas.microsoft.com/office/drawing/2014/main" id="{B39AB161-659B-0C04-6F51-29EDD0997170}"/>
              </a:ext>
            </a:extLst>
          </p:cNvPr>
          <p:cNvSpPr/>
          <p:nvPr/>
        </p:nvSpPr>
        <p:spPr>
          <a:xfrm>
            <a:off x="4244759" y="6392061"/>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研究の前提</a:t>
            </a:r>
            <a:endParaRPr sz="1600" b="1" dirty="0">
              <a:solidFill>
                <a:schemeClr val="bg1"/>
              </a:solidFill>
              <a:latin typeface="Meiryo"/>
              <a:ea typeface="メイリオ"/>
            </a:endParaRPr>
          </a:p>
        </p:txBody>
      </p:sp>
      <p:sp>
        <p:nvSpPr>
          <p:cNvPr id="34" name="Rounded Rectangle 92">
            <a:extLst>
              <a:ext uri="{FF2B5EF4-FFF2-40B4-BE49-F238E27FC236}">
                <a16:creationId xmlns:a16="http://schemas.microsoft.com/office/drawing/2014/main" id="{971CCC75-C6D5-330F-0948-60C50F7089EF}"/>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4142581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FE13-C5B7-BEA2-373E-FE3DF032080D}"/>
            </a:ext>
          </a:extLst>
        </p:cNvPr>
        <p:cNvGrpSpPr/>
        <p:nvPr/>
      </p:nvGrpSpPr>
      <p:grpSpPr>
        <a:xfrm>
          <a:off x="0" y="0"/>
          <a:ext cx="0" cy="0"/>
          <a:chOff x="0" y="0"/>
          <a:chExt cx="0" cy="0"/>
        </a:xfrm>
      </p:grpSpPr>
      <p:sp>
        <p:nvSpPr>
          <p:cNvPr id="10" name="Rectangle 17">
            <a:extLst>
              <a:ext uri="{FF2B5EF4-FFF2-40B4-BE49-F238E27FC236}">
                <a16:creationId xmlns:a16="http://schemas.microsoft.com/office/drawing/2014/main" id="{F7BBEB44-7A52-3CA4-E8C9-702A31214669}"/>
              </a:ext>
            </a:extLst>
          </p:cNvPr>
          <p:cNvSpPr/>
          <p:nvPr/>
        </p:nvSpPr>
        <p:spPr>
          <a:xfrm>
            <a:off x="889000" y="2370649"/>
            <a:ext cx="10414000" cy="965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ectangle 27">
            <a:extLst>
              <a:ext uri="{FF2B5EF4-FFF2-40B4-BE49-F238E27FC236}">
                <a16:creationId xmlns:a16="http://schemas.microsoft.com/office/drawing/2014/main" id="{B2E45C9B-9D80-F3E4-C7C7-584AD77E3B0E}"/>
              </a:ext>
            </a:extLst>
          </p:cNvPr>
          <p:cNvSpPr/>
          <p:nvPr/>
        </p:nvSpPr>
        <p:spPr>
          <a:xfrm>
            <a:off x="889000" y="3615249"/>
            <a:ext cx="10414000" cy="11430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Rectangle 37">
            <a:extLst>
              <a:ext uri="{FF2B5EF4-FFF2-40B4-BE49-F238E27FC236}">
                <a16:creationId xmlns:a16="http://schemas.microsoft.com/office/drawing/2014/main" id="{961E9E94-634E-F139-97AE-E82EEB93BBD3}"/>
              </a:ext>
            </a:extLst>
          </p:cNvPr>
          <p:cNvSpPr/>
          <p:nvPr/>
        </p:nvSpPr>
        <p:spPr>
          <a:xfrm>
            <a:off x="889000" y="5037649"/>
            <a:ext cx="10414000" cy="965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lumMod val="95000"/>
                  <a:lumOff val="5000"/>
                </a:schemeClr>
              </a:solidFill>
            </a:endParaRPr>
          </a:p>
        </p:txBody>
      </p:sp>
      <p:sp>
        <p:nvSpPr>
          <p:cNvPr id="2" name="AutoShape 2">
            <a:extLst>
              <a:ext uri="{FF2B5EF4-FFF2-40B4-BE49-F238E27FC236}">
                <a16:creationId xmlns:a16="http://schemas.microsoft.com/office/drawing/2014/main" id="{699B5585-403C-8892-530A-8C7C469114A1}"/>
              </a:ext>
            </a:extLst>
          </p:cNvPr>
          <p:cNvSpPr/>
          <p:nvPr/>
        </p:nvSpPr>
        <p:spPr>
          <a:xfrm>
            <a:off x="488325" y="16934"/>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4DB331D2-2089-5608-D7D4-17330E2FA8EB}"/>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1559966C-58CD-1EC8-03DE-57741207FA33}"/>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10FD0F39-3F19-F0E7-35B8-87B63D8F9DEC}"/>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FF1E6B06-BC86-8E36-E7BE-0EF0DE003920}"/>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B7178D4D-68E0-0098-8645-AFB1A9713C6C}"/>
              </a:ext>
            </a:extLst>
          </p:cNvPr>
          <p:cNvSpPr>
            <a:spLocks noGrp="1"/>
          </p:cNvSpPr>
          <p:nvPr>
            <p:ph type="dt" sz="half" idx="10"/>
          </p:nvPr>
        </p:nvSpPr>
        <p:spPr/>
        <p:txBody>
          <a:bodyPr/>
          <a:lstStyle/>
          <a:p>
            <a:r>
              <a:rPr kumimoji="1" lang="en-US" altLang="ja-JP"/>
              <a:t>2026/09/15</a:t>
            </a:r>
            <a:endParaRPr kumimoji="1" lang="ja-JP" altLang="en-US" dirty="0"/>
          </a:p>
        </p:txBody>
      </p:sp>
      <p:sp>
        <p:nvSpPr>
          <p:cNvPr id="9" name="スライド番号プレースホルダー 8">
            <a:extLst>
              <a:ext uri="{FF2B5EF4-FFF2-40B4-BE49-F238E27FC236}">
                <a16:creationId xmlns:a16="http://schemas.microsoft.com/office/drawing/2014/main" id="{6D274388-256A-3598-408D-5342789FBEC9}"/>
              </a:ext>
            </a:extLst>
          </p:cNvPr>
          <p:cNvSpPr>
            <a:spLocks noGrp="1"/>
          </p:cNvSpPr>
          <p:nvPr>
            <p:ph type="sldNum" sz="quarter" idx="12"/>
          </p:nvPr>
        </p:nvSpPr>
        <p:spPr/>
        <p:txBody>
          <a:bodyPr/>
          <a:lstStyle/>
          <a:p>
            <a:fld id="{4E9148DC-F7ED-4428-85F4-2C78C4B0CFB7}" type="slidenum">
              <a:rPr kumimoji="1" lang="ja-JP" altLang="en-US" smtClean="0"/>
              <a:t>4</a:t>
            </a:fld>
            <a:endParaRPr kumimoji="1" lang="ja-JP" altLang="en-US"/>
          </a:p>
        </p:txBody>
      </p:sp>
      <p:sp>
        <p:nvSpPr>
          <p:cNvPr id="11" name="TextBox 13">
            <a:extLst>
              <a:ext uri="{FF2B5EF4-FFF2-40B4-BE49-F238E27FC236}">
                <a16:creationId xmlns:a16="http://schemas.microsoft.com/office/drawing/2014/main" id="{E7D86CB9-A1C1-AA87-47CB-BCFAC3B7B792}"/>
              </a:ext>
            </a:extLst>
          </p:cNvPr>
          <p:cNvSpPr txBox="1"/>
          <p:nvPr/>
        </p:nvSpPr>
        <p:spPr>
          <a:xfrm>
            <a:off x="1079564" y="159028"/>
            <a:ext cx="11112436"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提案手法① </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 2</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層の構成</a:t>
            </a:r>
          </a:p>
        </p:txBody>
      </p:sp>
      <p:sp>
        <p:nvSpPr>
          <p:cNvPr id="34" name="TextBox 13">
            <a:extLst>
              <a:ext uri="{FF2B5EF4-FFF2-40B4-BE49-F238E27FC236}">
                <a16:creationId xmlns:a16="http://schemas.microsoft.com/office/drawing/2014/main" id="{BE3546AA-D6C3-0CDF-3F0A-AF817CAD6BB3}"/>
              </a:ext>
            </a:extLst>
          </p:cNvPr>
          <p:cNvSpPr txBox="1"/>
          <p:nvPr/>
        </p:nvSpPr>
        <p:spPr>
          <a:xfrm>
            <a:off x="1168400" y="1209699"/>
            <a:ext cx="10414000" cy="302647"/>
          </a:xfrm>
          <a:prstGeom prst="rect">
            <a:avLst/>
          </a:prstGeom>
          <a:noFill/>
        </p:spPr>
        <p:txBody>
          <a:bodyPr wrap="square" lIns="25400" tIns="12700" rIns="25400" bIns="12700" anchor="t">
            <a:spAutoFit/>
          </a:bodyPr>
          <a:lstStyle/>
          <a:p>
            <a:pPr algn="ctr"/>
            <a:r>
              <a:rPr b="0" dirty="0" err="1">
                <a:solidFill>
                  <a:schemeClr val="tx1">
                    <a:lumMod val="95000"/>
                    <a:lumOff val="5000"/>
                  </a:schemeClr>
                </a:solidFill>
                <a:latin typeface="Meiryo"/>
                <a:ea typeface="メイリオ"/>
              </a:rPr>
              <a:t>音を聞いて</a:t>
            </a:r>
            <a:r>
              <a:rPr b="1" dirty="0" err="1">
                <a:solidFill>
                  <a:schemeClr val="tx1">
                    <a:lumMod val="95000"/>
                    <a:lumOff val="5000"/>
                  </a:schemeClr>
                </a:solidFill>
                <a:latin typeface="Meiryo"/>
                <a:ea typeface="メイリオ"/>
              </a:rPr>
              <a:t>「何が・どこに」を出す層</a:t>
            </a:r>
            <a:r>
              <a:rPr b="0" dirty="0" err="1">
                <a:solidFill>
                  <a:schemeClr val="tx1">
                    <a:lumMod val="95000"/>
                    <a:lumOff val="5000"/>
                  </a:schemeClr>
                </a:solidFill>
                <a:latin typeface="Meiryo"/>
                <a:ea typeface="メイリオ"/>
              </a:rPr>
              <a:t>と、それを</a:t>
            </a:r>
            <a:r>
              <a:rPr b="1" dirty="0" err="1">
                <a:solidFill>
                  <a:schemeClr val="tx1">
                    <a:lumMod val="95000"/>
                    <a:lumOff val="5000"/>
                  </a:schemeClr>
                </a:solidFill>
                <a:latin typeface="Meiryo"/>
                <a:ea typeface="メイリオ"/>
              </a:rPr>
              <a:t>「いつ・どの強さで伝えるか」に変える層</a:t>
            </a:r>
            <a:r>
              <a:rPr b="0" dirty="0" err="1">
                <a:solidFill>
                  <a:schemeClr val="tx1">
                    <a:lumMod val="95000"/>
                    <a:lumOff val="5000"/>
                  </a:schemeClr>
                </a:solidFill>
                <a:latin typeface="Meiryo"/>
                <a:ea typeface="メイリオ"/>
              </a:rPr>
              <a:t>に分け</a:t>
            </a:r>
            <a:r>
              <a:rPr lang="ja-JP" altLang="en-US" dirty="0">
                <a:solidFill>
                  <a:schemeClr val="tx1">
                    <a:lumMod val="95000"/>
                    <a:lumOff val="5000"/>
                  </a:schemeClr>
                </a:solidFill>
                <a:latin typeface="Meiryo"/>
                <a:ea typeface="メイリオ"/>
              </a:rPr>
              <a:t>る</a:t>
            </a:r>
            <a:endParaRPr b="0" dirty="0">
              <a:solidFill>
                <a:schemeClr val="tx1">
                  <a:lumMod val="95000"/>
                  <a:lumOff val="5000"/>
                </a:schemeClr>
              </a:solidFill>
              <a:latin typeface="Meiryo"/>
              <a:ea typeface="メイリオ"/>
            </a:endParaRPr>
          </a:p>
        </p:txBody>
      </p:sp>
      <p:sp>
        <p:nvSpPr>
          <p:cNvPr id="35" name="Rectangle 14">
            <a:extLst>
              <a:ext uri="{FF2B5EF4-FFF2-40B4-BE49-F238E27FC236}">
                <a16:creationId xmlns:a16="http://schemas.microsoft.com/office/drawing/2014/main" id="{5EAEC358-413D-8B12-B7F5-73138CE8A608}"/>
              </a:ext>
            </a:extLst>
          </p:cNvPr>
          <p:cNvSpPr/>
          <p:nvPr/>
        </p:nvSpPr>
        <p:spPr>
          <a:xfrm>
            <a:off x="889000" y="1640530"/>
            <a:ext cx="1905000" cy="508000"/>
          </a:xfrm>
          <a:prstGeom prst="rect">
            <a:avLst/>
          </a:prstGeom>
          <a:solidFill>
            <a:srgbClr val="F4F5F7"/>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15">
            <a:extLst>
              <a:ext uri="{FF2B5EF4-FFF2-40B4-BE49-F238E27FC236}">
                <a16:creationId xmlns:a16="http://schemas.microsoft.com/office/drawing/2014/main" id="{61951425-F90B-4D26-B17F-F2A08C1ED7CC}"/>
              </a:ext>
            </a:extLst>
          </p:cNvPr>
          <p:cNvSpPr txBox="1"/>
          <p:nvPr/>
        </p:nvSpPr>
        <p:spPr>
          <a:xfrm>
            <a:off x="889000" y="1767530"/>
            <a:ext cx="1905000" cy="302647"/>
          </a:xfrm>
          <a:prstGeom prst="rect">
            <a:avLst/>
          </a:prstGeom>
          <a:noFill/>
        </p:spPr>
        <p:txBody>
          <a:bodyPr wrap="square" lIns="25400" tIns="12700" rIns="25400" bIns="12700" anchor="t">
            <a:spAutoFit/>
          </a:bodyPr>
          <a:lstStyle/>
          <a:p>
            <a:pPr algn="ctr"/>
            <a:r>
              <a:rPr b="1" dirty="0" err="1">
                <a:solidFill>
                  <a:srgbClr val="222838"/>
                </a:solidFill>
                <a:latin typeface="Meiryo"/>
                <a:ea typeface="メイリオ"/>
              </a:rPr>
              <a:t>入力：FOA</a:t>
            </a:r>
            <a:r>
              <a:rPr b="1" dirty="0">
                <a:solidFill>
                  <a:srgbClr val="222838"/>
                </a:solidFill>
                <a:latin typeface="Meiryo"/>
                <a:ea typeface="メイリオ"/>
              </a:rPr>
              <a:t> 4ch</a:t>
            </a:r>
          </a:p>
        </p:txBody>
      </p:sp>
      <p:cxnSp>
        <p:nvCxnSpPr>
          <p:cNvPr id="37" name="Connector 16">
            <a:extLst>
              <a:ext uri="{FF2B5EF4-FFF2-40B4-BE49-F238E27FC236}">
                <a16:creationId xmlns:a16="http://schemas.microsoft.com/office/drawing/2014/main" id="{3028ABE4-915F-062A-9618-C88495DAA276}"/>
              </a:ext>
            </a:extLst>
          </p:cNvPr>
          <p:cNvCxnSpPr/>
          <p:nvPr/>
        </p:nvCxnSpPr>
        <p:spPr>
          <a:xfrm>
            <a:off x="1841500" y="2148530"/>
            <a:ext cx="0" cy="228600"/>
          </a:xfrm>
          <a:prstGeom prst="line">
            <a:avLst/>
          </a:prstGeom>
          <a:ln w="15240">
            <a:solidFill>
              <a:srgbClr val="C9CBD2"/>
            </a:solidFill>
          </a:ln>
        </p:spPr>
        <p:style>
          <a:lnRef idx="2">
            <a:schemeClr val="accent1"/>
          </a:lnRef>
          <a:fillRef idx="0">
            <a:schemeClr val="accent1"/>
          </a:fillRef>
          <a:effectRef idx="1">
            <a:schemeClr val="accent1"/>
          </a:effectRef>
          <a:fontRef idx="minor">
            <a:schemeClr val="tx1"/>
          </a:fontRef>
        </p:style>
      </p:cxnSp>
      <p:sp>
        <p:nvSpPr>
          <p:cNvPr id="40" name="TextBox 19">
            <a:extLst>
              <a:ext uri="{FF2B5EF4-FFF2-40B4-BE49-F238E27FC236}">
                <a16:creationId xmlns:a16="http://schemas.microsoft.com/office/drawing/2014/main" id="{767802F3-ED55-450C-44C0-34C49AADB8A7}"/>
              </a:ext>
            </a:extLst>
          </p:cNvPr>
          <p:cNvSpPr txBox="1"/>
          <p:nvPr/>
        </p:nvSpPr>
        <p:spPr>
          <a:xfrm>
            <a:off x="1168400" y="2529530"/>
            <a:ext cx="4191000" cy="333425"/>
          </a:xfrm>
          <a:prstGeom prst="rect">
            <a:avLst/>
          </a:prstGeom>
          <a:noFill/>
        </p:spPr>
        <p:txBody>
          <a:bodyPr wrap="square" lIns="25400" tIns="12700" rIns="25400" bIns="12700" anchor="t">
            <a:spAutoFit/>
          </a:bodyPr>
          <a:lstStyle/>
          <a:p>
            <a:pPr algn="l"/>
            <a:r>
              <a:rPr sz="2000" b="1" dirty="0" err="1">
                <a:solidFill>
                  <a:schemeClr val="tx1">
                    <a:lumMod val="95000"/>
                    <a:lumOff val="5000"/>
                  </a:schemeClr>
                </a:solidFill>
                <a:latin typeface="Meiryo"/>
                <a:ea typeface="メイリオ"/>
              </a:rPr>
              <a:t>知覚層</a:t>
            </a:r>
            <a:r>
              <a:rPr lang="en-US" sz="2000" b="1" dirty="0">
                <a:solidFill>
                  <a:schemeClr val="tx1">
                    <a:lumMod val="95000"/>
                    <a:lumOff val="5000"/>
                  </a:schemeClr>
                </a:solidFill>
                <a:latin typeface="Meiryo"/>
                <a:ea typeface="メイリオ"/>
              </a:rPr>
              <a:t>(</a:t>
            </a:r>
            <a:r>
              <a:rPr sz="2000" b="1" dirty="0">
                <a:solidFill>
                  <a:schemeClr val="tx1">
                    <a:lumMod val="95000"/>
                    <a:lumOff val="5000"/>
                  </a:schemeClr>
                </a:solidFill>
                <a:latin typeface="Meiryo"/>
                <a:ea typeface="メイリオ"/>
              </a:rPr>
              <a:t>SELD＋SDE</a:t>
            </a:r>
            <a:r>
              <a:rPr lang="en-US" sz="2000" b="1" dirty="0">
                <a:solidFill>
                  <a:schemeClr val="tx1">
                    <a:lumMod val="95000"/>
                    <a:lumOff val="5000"/>
                  </a:schemeClr>
                </a:solidFill>
                <a:latin typeface="Meiryo"/>
                <a:ea typeface="メイリオ"/>
              </a:rPr>
              <a:t>)</a:t>
            </a:r>
            <a:endParaRPr sz="2000" b="1" dirty="0">
              <a:solidFill>
                <a:schemeClr val="tx1">
                  <a:lumMod val="95000"/>
                  <a:lumOff val="5000"/>
                </a:schemeClr>
              </a:solidFill>
              <a:latin typeface="Meiryo"/>
              <a:ea typeface="メイリオ"/>
            </a:endParaRPr>
          </a:p>
        </p:txBody>
      </p:sp>
      <p:sp>
        <p:nvSpPr>
          <p:cNvPr id="41" name="TextBox 20">
            <a:extLst>
              <a:ext uri="{FF2B5EF4-FFF2-40B4-BE49-F238E27FC236}">
                <a16:creationId xmlns:a16="http://schemas.microsoft.com/office/drawing/2014/main" id="{34D0348D-6A98-22FA-D761-CC28B2BB32A4}"/>
              </a:ext>
            </a:extLst>
          </p:cNvPr>
          <p:cNvSpPr txBox="1"/>
          <p:nvPr/>
        </p:nvSpPr>
        <p:spPr>
          <a:xfrm>
            <a:off x="1168400" y="2842829"/>
            <a:ext cx="5080000" cy="375359"/>
          </a:xfrm>
          <a:prstGeom prst="rect">
            <a:avLst/>
          </a:prstGeom>
          <a:noFill/>
        </p:spPr>
        <p:txBody>
          <a:bodyPr wrap="square" lIns="25400" tIns="12700" rIns="25400" bIns="12700" anchor="t">
            <a:spAutoFit/>
          </a:bodyPr>
          <a:lstStyle/>
          <a:p>
            <a:pPr algn="l">
              <a:lnSpc>
                <a:spcPct val="135000"/>
              </a:lnSpc>
            </a:pPr>
            <a:r>
              <a:rPr b="0" dirty="0">
                <a:solidFill>
                  <a:schemeClr val="tx1">
                    <a:lumMod val="95000"/>
                    <a:lumOff val="5000"/>
                  </a:schemeClr>
                </a:solidFill>
                <a:latin typeface="Meiryo"/>
                <a:ea typeface="メイリオ"/>
              </a:rPr>
              <a:t>8クラスの検出・方向・距離を0.1秒ごとに推定</a:t>
            </a:r>
          </a:p>
        </p:txBody>
      </p:sp>
      <p:sp>
        <p:nvSpPr>
          <p:cNvPr id="42" name="Rectangle 21">
            <a:extLst>
              <a:ext uri="{FF2B5EF4-FFF2-40B4-BE49-F238E27FC236}">
                <a16:creationId xmlns:a16="http://schemas.microsoft.com/office/drawing/2014/main" id="{4245F7E2-21C6-A3AB-902C-39AD5231DB3E}"/>
              </a:ext>
            </a:extLst>
          </p:cNvPr>
          <p:cNvSpPr/>
          <p:nvPr/>
        </p:nvSpPr>
        <p:spPr>
          <a:xfrm>
            <a:off x="7620000" y="2554930"/>
            <a:ext cx="3175000" cy="609600"/>
          </a:xfrm>
          <a:prstGeom prst="rect">
            <a:avLst/>
          </a:prstGeom>
          <a:solidFill>
            <a:schemeClr val="bg1"/>
          </a:solidFill>
          <a:ln>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TextBox 22">
            <a:extLst>
              <a:ext uri="{FF2B5EF4-FFF2-40B4-BE49-F238E27FC236}">
                <a16:creationId xmlns:a16="http://schemas.microsoft.com/office/drawing/2014/main" id="{AD3F331B-8B5F-4C7C-E49D-F5EC5EB2810D}"/>
              </a:ext>
            </a:extLst>
          </p:cNvPr>
          <p:cNvSpPr txBox="1"/>
          <p:nvPr/>
        </p:nvSpPr>
        <p:spPr>
          <a:xfrm>
            <a:off x="7620000" y="2581380"/>
            <a:ext cx="3175000" cy="271869"/>
          </a:xfrm>
          <a:prstGeom prst="rect">
            <a:avLst/>
          </a:prstGeom>
          <a:noFill/>
        </p:spPr>
        <p:txBody>
          <a:bodyPr wrap="square" lIns="25400" tIns="12700" rIns="25400" bIns="12700" anchor="t">
            <a:spAutoFit/>
          </a:bodyPr>
          <a:lstStyle/>
          <a:p>
            <a:pPr algn="ctr"/>
            <a:r>
              <a:rPr sz="1600" b="0" dirty="0" err="1">
                <a:solidFill>
                  <a:srgbClr val="8A8F9A"/>
                </a:solidFill>
                <a:latin typeface="Meiryo"/>
                <a:ea typeface="メイリオ"/>
              </a:rPr>
              <a:t>出す情報</a:t>
            </a:r>
            <a:endParaRPr sz="1600" b="0" dirty="0">
              <a:solidFill>
                <a:srgbClr val="8A8F9A"/>
              </a:solidFill>
              <a:latin typeface="Meiryo"/>
              <a:ea typeface="メイリオ"/>
            </a:endParaRPr>
          </a:p>
        </p:txBody>
      </p:sp>
      <p:sp>
        <p:nvSpPr>
          <p:cNvPr id="44" name="TextBox 23">
            <a:extLst>
              <a:ext uri="{FF2B5EF4-FFF2-40B4-BE49-F238E27FC236}">
                <a16:creationId xmlns:a16="http://schemas.microsoft.com/office/drawing/2014/main" id="{526EE96B-2AA6-0825-891A-84FA31F0BBEA}"/>
              </a:ext>
            </a:extLst>
          </p:cNvPr>
          <p:cNvSpPr txBox="1"/>
          <p:nvPr/>
        </p:nvSpPr>
        <p:spPr>
          <a:xfrm>
            <a:off x="7620000" y="2859730"/>
            <a:ext cx="3175000" cy="302647"/>
          </a:xfrm>
          <a:prstGeom prst="rect">
            <a:avLst/>
          </a:prstGeom>
          <a:noFill/>
        </p:spPr>
        <p:txBody>
          <a:bodyPr wrap="square" lIns="25400" tIns="12700" rIns="25400" bIns="12700" anchor="t">
            <a:spAutoFit/>
          </a:bodyPr>
          <a:lstStyle/>
          <a:p>
            <a:pPr algn="ctr"/>
            <a:r>
              <a:rPr b="1" dirty="0" err="1">
                <a:solidFill>
                  <a:srgbClr val="7E6F98"/>
                </a:solidFill>
                <a:latin typeface="Meiryo"/>
                <a:ea typeface="メイリオ"/>
              </a:rPr>
              <a:t>種類</a:t>
            </a:r>
            <a:r>
              <a:rPr b="1" dirty="0">
                <a:solidFill>
                  <a:srgbClr val="7E6F98"/>
                </a:solidFill>
                <a:latin typeface="Meiryo"/>
                <a:ea typeface="メイリオ"/>
              </a:rPr>
              <a:t> ・ </a:t>
            </a:r>
            <a:r>
              <a:rPr b="1" dirty="0" err="1">
                <a:solidFill>
                  <a:srgbClr val="7E6F98"/>
                </a:solidFill>
                <a:latin typeface="Meiryo"/>
                <a:ea typeface="メイリオ"/>
              </a:rPr>
              <a:t>方位</a:t>
            </a:r>
            <a:r>
              <a:rPr b="1" dirty="0">
                <a:solidFill>
                  <a:srgbClr val="7E6F98"/>
                </a:solidFill>
                <a:latin typeface="Meiryo"/>
                <a:ea typeface="メイリオ"/>
              </a:rPr>
              <a:t> ・ </a:t>
            </a:r>
            <a:r>
              <a:rPr b="1" dirty="0" err="1">
                <a:solidFill>
                  <a:srgbClr val="7E6F98"/>
                </a:solidFill>
                <a:latin typeface="Meiryo"/>
                <a:ea typeface="メイリオ"/>
              </a:rPr>
              <a:t>距離</a:t>
            </a:r>
            <a:endParaRPr b="1" dirty="0">
              <a:solidFill>
                <a:srgbClr val="7E6F98"/>
              </a:solidFill>
              <a:latin typeface="Meiryo"/>
              <a:ea typeface="メイリオ"/>
            </a:endParaRPr>
          </a:p>
        </p:txBody>
      </p:sp>
      <p:sp>
        <p:nvSpPr>
          <p:cNvPr id="45" name="TextBox 24">
            <a:extLst>
              <a:ext uri="{FF2B5EF4-FFF2-40B4-BE49-F238E27FC236}">
                <a16:creationId xmlns:a16="http://schemas.microsoft.com/office/drawing/2014/main" id="{C65B0690-FA00-3270-C5AC-B0F10A9A1F0D}"/>
              </a:ext>
            </a:extLst>
          </p:cNvPr>
          <p:cNvSpPr txBox="1"/>
          <p:nvPr/>
        </p:nvSpPr>
        <p:spPr>
          <a:xfrm>
            <a:off x="4635501" y="2542230"/>
            <a:ext cx="2857499" cy="271869"/>
          </a:xfrm>
          <a:prstGeom prst="rect">
            <a:avLst/>
          </a:prstGeom>
          <a:noFill/>
        </p:spPr>
        <p:txBody>
          <a:bodyPr wrap="square" lIns="25400" tIns="12700" rIns="25400" bIns="12700" anchor="t">
            <a:spAutoFit/>
          </a:bodyPr>
          <a:lstStyle/>
          <a:p>
            <a:pPr algn="l"/>
            <a:r>
              <a:rPr sz="1600" b="0" dirty="0">
                <a:solidFill>
                  <a:schemeClr val="bg2">
                    <a:lumMod val="50000"/>
                  </a:schemeClr>
                </a:solidFill>
                <a:latin typeface="Meiryo"/>
                <a:ea typeface="メイリオ"/>
              </a:rPr>
              <a:t>本研究で距離の出力を1軸追加</a:t>
            </a:r>
          </a:p>
        </p:txBody>
      </p:sp>
      <p:cxnSp>
        <p:nvCxnSpPr>
          <p:cNvPr id="46" name="Connector 25">
            <a:extLst>
              <a:ext uri="{FF2B5EF4-FFF2-40B4-BE49-F238E27FC236}">
                <a16:creationId xmlns:a16="http://schemas.microsoft.com/office/drawing/2014/main" id="{AAB8111D-0CE6-11C0-DA2C-0F7086BB60F5}"/>
              </a:ext>
            </a:extLst>
          </p:cNvPr>
          <p:cNvCxnSpPr/>
          <p:nvPr/>
        </p:nvCxnSpPr>
        <p:spPr>
          <a:xfrm>
            <a:off x="1841500" y="3342330"/>
            <a:ext cx="0" cy="228600"/>
          </a:xfrm>
          <a:prstGeom prst="line">
            <a:avLst/>
          </a:prstGeom>
          <a:ln w="15240">
            <a:solidFill>
              <a:srgbClr val="C9CBD2"/>
            </a:solidFill>
          </a:ln>
        </p:spPr>
        <p:style>
          <a:lnRef idx="2">
            <a:schemeClr val="accent1"/>
          </a:lnRef>
          <a:fillRef idx="0">
            <a:schemeClr val="accent1"/>
          </a:fillRef>
          <a:effectRef idx="1">
            <a:schemeClr val="accent1"/>
          </a:effectRef>
          <a:fontRef idx="minor">
            <a:schemeClr val="tx1"/>
          </a:fontRef>
        </p:style>
      </p:cxnSp>
      <p:sp>
        <p:nvSpPr>
          <p:cNvPr id="47" name="Isosceles Triangle 26">
            <a:extLst>
              <a:ext uri="{FF2B5EF4-FFF2-40B4-BE49-F238E27FC236}">
                <a16:creationId xmlns:a16="http://schemas.microsoft.com/office/drawing/2014/main" id="{9606EEF8-1EED-CF80-7C9B-2650A9E99D10}"/>
              </a:ext>
            </a:extLst>
          </p:cNvPr>
          <p:cNvSpPr/>
          <p:nvPr/>
        </p:nvSpPr>
        <p:spPr>
          <a:xfrm rot="10800000">
            <a:off x="1765300" y="3520130"/>
            <a:ext cx="152400" cy="114300"/>
          </a:xfrm>
          <a:prstGeom prst="triangle">
            <a:avLst/>
          </a:prstGeom>
          <a:solidFill>
            <a:srgbClr val="C9C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29">
            <a:extLst>
              <a:ext uri="{FF2B5EF4-FFF2-40B4-BE49-F238E27FC236}">
                <a16:creationId xmlns:a16="http://schemas.microsoft.com/office/drawing/2014/main" id="{3BBC5AFF-268B-4582-7362-B30070428723}"/>
              </a:ext>
            </a:extLst>
          </p:cNvPr>
          <p:cNvSpPr txBox="1"/>
          <p:nvPr/>
        </p:nvSpPr>
        <p:spPr>
          <a:xfrm>
            <a:off x="1168400" y="3774130"/>
            <a:ext cx="4191000" cy="333425"/>
          </a:xfrm>
          <a:prstGeom prst="rect">
            <a:avLst/>
          </a:prstGeom>
          <a:noFill/>
        </p:spPr>
        <p:txBody>
          <a:bodyPr wrap="square" lIns="25400" tIns="12700" rIns="25400" bIns="12700" anchor="t">
            <a:spAutoFit/>
          </a:bodyPr>
          <a:lstStyle/>
          <a:p>
            <a:pPr algn="l"/>
            <a:r>
              <a:rPr sz="2000" b="1" dirty="0" err="1">
                <a:solidFill>
                  <a:schemeClr val="tx1">
                    <a:lumMod val="95000"/>
                    <a:lumOff val="5000"/>
                  </a:schemeClr>
                </a:solidFill>
                <a:latin typeface="Meiryo"/>
                <a:ea typeface="メイリオ"/>
              </a:rPr>
              <a:t>通知層</a:t>
            </a:r>
            <a:r>
              <a:rPr lang="en-US" sz="2000" b="1" dirty="0">
                <a:solidFill>
                  <a:schemeClr val="tx1">
                    <a:lumMod val="95000"/>
                    <a:lumOff val="5000"/>
                  </a:schemeClr>
                </a:solidFill>
                <a:latin typeface="Meiryo"/>
                <a:ea typeface="メイリオ"/>
              </a:rPr>
              <a:t>(</a:t>
            </a:r>
            <a:r>
              <a:rPr sz="2000" b="1" dirty="0">
                <a:solidFill>
                  <a:schemeClr val="tx1">
                    <a:lumMod val="95000"/>
                    <a:lumOff val="5000"/>
                  </a:schemeClr>
                </a:solidFill>
                <a:latin typeface="Meiryo"/>
                <a:ea typeface="メイリオ"/>
              </a:rPr>
              <a:t>3段階</a:t>
            </a:r>
            <a:r>
              <a:rPr lang="en-US" sz="2000" b="1" dirty="0">
                <a:solidFill>
                  <a:schemeClr val="tx1">
                    <a:lumMod val="95000"/>
                    <a:lumOff val="5000"/>
                  </a:schemeClr>
                </a:solidFill>
                <a:latin typeface="Meiryo"/>
                <a:ea typeface="メイリオ"/>
              </a:rPr>
              <a:t>)</a:t>
            </a:r>
            <a:endParaRPr sz="2000" b="1" dirty="0">
              <a:solidFill>
                <a:schemeClr val="tx1">
                  <a:lumMod val="95000"/>
                  <a:lumOff val="5000"/>
                </a:schemeClr>
              </a:solidFill>
              <a:latin typeface="Meiryo"/>
              <a:ea typeface="メイリオ"/>
            </a:endParaRPr>
          </a:p>
        </p:txBody>
      </p:sp>
      <p:sp>
        <p:nvSpPr>
          <p:cNvPr id="54" name="TextBox 30">
            <a:extLst>
              <a:ext uri="{FF2B5EF4-FFF2-40B4-BE49-F238E27FC236}">
                <a16:creationId xmlns:a16="http://schemas.microsoft.com/office/drawing/2014/main" id="{7149E0FC-A8F0-BA99-51B5-8ED8988A6F06}"/>
              </a:ext>
            </a:extLst>
          </p:cNvPr>
          <p:cNvSpPr txBox="1"/>
          <p:nvPr/>
        </p:nvSpPr>
        <p:spPr>
          <a:xfrm>
            <a:off x="1168400" y="4147599"/>
            <a:ext cx="5080000" cy="579646"/>
          </a:xfrm>
          <a:prstGeom prst="rect">
            <a:avLst/>
          </a:prstGeom>
          <a:noFill/>
        </p:spPr>
        <p:txBody>
          <a:bodyPr wrap="square" lIns="25400" tIns="12700" rIns="25400" bIns="12700" anchor="t">
            <a:spAutoFit/>
          </a:bodyPr>
          <a:lstStyle/>
          <a:p>
            <a:pPr algn="l"/>
            <a:r>
              <a:rPr b="0" dirty="0" err="1">
                <a:solidFill>
                  <a:schemeClr val="tx1">
                    <a:lumMod val="95000"/>
                    <a:lumOff val="5000"/>
                  </a:schemeClr>
                </a:solidFill>
                <a:latin typeface="Meiryo"/>
                <a:ea typeface="メイリオ"/>
              </a:rPr>
              <a:t>このまま進むとどこまで近づくかを予測し</a:t>
            </a:r>
            <a:r>
              <a:rPr b="0" dirty="0">
                <a:solidFill>
                  <a:schemeClr val="tx1">
                    <a:lumMod val="95000"/>
                    <a:lumOff val="5000"/>
                  </a:schemeClr>
                </a:solidFill>
                <a:latin typeface="Meiryo"/>
                <a:ea typeface="メイリオ"/>
              </a:rPr>
              <a:t>、</a:t>
            </a:r>
          </a:p>
          <a:p>
            <a:pPr algn="l"/>
            <a:r>
              <a:rPr b="0" dirty="0" err="1">
                <a:solidFill>
                  <a:schemeClr val="tx1">
                    <a:lumMod val="95000"/>
                    <a:lumOff val="5000"/>
                  </a:schemeClr>
                </a:solidFill>
                <a:latin typeface="Meiryo"/>
                <a:ea typeface="メイリオ"/>
              </a:rPr>
              <a:t>至近警告</a:t>
            </a:r>
            <a:r>
              <a:rPr b="0" dirty="0">
                <a:solidFill>
                  <a:schemeClr val="tx1">
                    <a:lumMod val="95000"/>
                    <a:lumOff val="5000"/>
                  </a:schemeClr>
                </a:solidFill>
                <a:latin typeface="Meiryo"/>
                <a:ea typeface="メイリオ"/>
              </a:rPr>
              <a:t> / </a:t>
            </a:r>
            <a:r>
              <a:rPr b="0" dirty="0" err="1">
                <a:solidFill>
                  <a:schemeClr val="tx1">
                    <a:lumMod val="95000"/>
                    <a:lumOff val="5000"/>
                  </a:schemeClr>
                </a:solidFill>
                <a:latin typeface="Meiryo"/>
                <a:ea typeface="メイリオ"/>
              </a:rPr>
              <a:t>注意</a:t>
            </a:r>
            <a:r>
              <a:rPr b="0" dirty="0">
                <a:solidFill>
                  <a:schemeClr val="tx1">
                    <a:lumMod val="95000"/>
                    <a:lumOff val="5000"/>
                  </a:schemeClr>
                </a:solidFill>
                <a:latin typeface="Meiryo"/>
                <a:ea typeface="メイリオ"/>
              </a:rPr>
              <a:t> / </a:t>
            </a:r>
            <a:r>
              <a:rPr b="0" dirty="0" err="1">
                <a:solidFill>
                  <a:schemeClr val="tx1">
                    <a:lumMod val="95000"/>
                    <a:lumOff val="5000"/>
                  </a:schemeClr>
                </a:solidFill>
                <a:latin typeface="Meiryo"/>
                <a:ea typeface="メイリオ"/>
              </a:rPr>
              <a:t>抑制に振り分ける</a:t>
            </a:r>
            <a:endParaRPr b="0" dirty="0">
              <a:solidFill>
                <a:schemeClr val="tx1">
                  <a:lumMod val="95000"/>
                  <a:lumOff val="5000"/>
                </a:schemeClr>
              </a:solidFill>
              <a:latin typeface="Meiryo"/>
              <a:ea typeface="メイリオ"/>
            </a:endParaRPr>
          </a:p>
        </p:txBody>
      </p:sp>
      <p:sp>
        <p:nvSpPr>
          <p:cNvPr id="56" name="Rectangle 31">
            <a:extLst>
              <a:ext uri="{FF2B5EF4-FFF2-40B4-BE49-F238E27FC236}">
                <a16:creationId xmlns:a16="http://schemas.microsoft.com/office/drawing/2014/main" id="{CD35BC8B-8D6C-B386-497A-6F2F440D19A3}"/>
              </a:ext>
            </a:extLst>
          </p:cNvPr>
          <p:cNvSpPr/>
          <p:nvPr/>
        </p:nvSpPr>
        <p:spPr>
          <a:xfrm>
            <a:off x="7620000" y="3799530"/>
            <a:ext cx="3175000" cy="787400"/>
          </a:xfrm>
          <a:prstGeom prst="rect">
            <a:avLst/>
          </a:prstGeom>
          <a:solidFill>
            <a:schemeClr val="bg1"/>
          </a:solidFill>
          <a:ln>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32">
            <a:extLst>
              <a:ext uri="{FF2B5EF4-FFF2-40B4-BE49-F238E27FC236}">
                <a16:creationId xmlns:a16="http://schemas.microsoft.com/office/drawing/2014/main" id="{204D3A32-1EB7-A0E4-C5CE-EB47C04FA6D3}"/>
              </a:ext>
            </a:extLst>
          </p:cNvPr>
          <p:cNvSpPr txBox="1"/>
          <p:nvPr/>
        </p:nvSpPr>
        <p:spPr>
          <a:xfrm>
            <a:off x="7620000" y="3875730"/>
            <a:ext cx="3175000" cy="271869"/>
          </a:xfrm>
          <a:prstGeom prst="rect">
            <a:avLst/>
          </a:prstGeom>
          <a:noFill/>
        </p:spPr>
        <p:txBody>
          <a:bodyPr wrap="square" lIns="25400" tIns="12700" rIns="25400" bIns="12700" anchor="t">
            <a:spAutoFit/>
          </a:bodyPr>
          <a:lstStyle/>
          <a:p>
            <a:pPr algn="ctr"/>
            <a:r>
              <a:rPr sz="1600" b="0" dirty="0" err="1">
                <a:solidFill>
                  <a:srgbClr val="8A8F9A"/>
                </a:solidFill>
                <a:latin typeface="Meiryo"/>
                <a:ea typeface="メイリオ"/>
              </a:rPr>
              <a:t>出す情報</a:t>
            </a:r>
            <a:endParaRPr sz="1600" b="0" dirty="0">
              <a:solidFill>
                <a:srgbClr val="8A8F9A"/>
              </a:solidFill>
              <a:latin typeface="Meiryo"/>
              <a:ea typeface="メイリオ"/>
            </a:endParaRPr>
          </a:p>
        </p:txBody>
      </p:sp>
      <p:sp>
        <p:nvSpPr>
          <p:cNvPr id="60" name="TextBox 33">
            <a:extLst>
              <a:ext uri="{FF2B5EF4-FFF2-40B4-BE49-F238E27FC236}">
                <a16:creationId xmlns:a16="http://schemas.microsoft.com/office/drawing/2014/main" id="{ABC442B3-5798-E34F-642C-E984C3BACB78}"/>
              </a:ext>
            </a:extLst>
          </p:cNvPr>
          <p:cNvSpPr txBox="1"/>
          <p:nvPr/>
        </p:nvSpPr>
        <p:spPr>
          <a:xfrm>
            <a:off x="7620000" y="4221860"/>
            <a:ext cx="3175000" cy="302647"/>
          </a:xfrm>
          <a:prstGeom prst="rect">
            <a:avLst/>
          </a:prstGeom>
          <a:noFill/>
        </p:spPr>
        <p:txBody>
          <a:bodyPr wrap="square" lIns="25400" tIns="12700" rIns="25400" bIns="12700" anchor="t">
            <a:spAutoFit/>
          </a:bodyPr>
          <a:lstStyle/>
          <a:p>
            <a:pPr algn="ctr"/>
            <a:r>
              <a:rPr b="1" dirty="0" err="1">
                <a:solidFill>
                  <a:srgbClr val="E0A526"/>
                </a:solidFill>
                <a:latin typeface="Meiryo"/>
                <a:ea typeface="メイリオ"/>
              </a:rPr>
              <a:t>至近警告</a:t>
            </a:r>
            <a:r>
              <a:rPr b="1" dirty="0">
                <a:solidFill>
                  <a:srgbClr val="E0A526"/>
                </a:solidFill>
                <a:latin typeface="Meiryo"/>
                <a:ea typeface="メイリオ"/>
              </a:rPr>
              <a:t> ・ </a:t>
            </a:r>
            <a:r>
              <a:rPr b="1" dirty="0" err="1">
                <a:solidFill>
                  <a:srgbClr val="E0A526"/>
                </a:solidFill>
                <a:latin typeface="Meiryo"/>
                <a:ea typeface="メイリオ"/>
              </a:rPr>
              <a:t>注意</a:t>
            </a:r>
            <a:r>
              <a:rPr b="1" dirty="0">
                <a:solidFill>
                  <a:srgbClr val="E0A526"/>
                </a:solidFill>
                <a:latin typeface="Meiryo"/>
                <a:ea typeface="メイリオ"/>
              </a:rPr>
              <a:t> ・ </a:t>
            </a:r>
            <a:r>
              <a:rPr b="1" dirty="0" err="1">
                <a:solidFill>
                  <a:srgbClr val="E0A526"/>
                </a:solidFill>
                <a:latin typeface="Meiryo"/>
                <a:ea typeface="メイリオ"/>
              </a:rPr>
              <a:t>抑制</a:t>
            </a:r>
            <a:endParaRPr b="1" dirty="0">
              <a:solidFill>
                <a:srgbClr val="E0A526"/>
              </a:solidFill>
              <a:latin typeface="Meiryo"/>
              <a:ea typeface="メイリオ"/>
            </a:endParaRPr>
          </a:p>
        </p:txBody>
      </p:sp>
      <p:sp>
        <p:nvSpPr>
          <p:cNvPr id="62" name="TextBox 34">
            <a:extLst>
              <a:ext uri="{FF2B5EF4-FFF2-40B4-BE49-F238E27FC236}">
                <a16:creationId xmlns:a16="http://schemas.microsoft.com/office/drawing/2014/main" id="{F9C68708-C574-C8E3-FEEC-297FF6C77F03}"/>
              </a:ext>
            </a:extLst>
          </p:cNvPr>
          <p:cNvSpPr txBox="1"/>
          <p:nvPr/>
        </p:nvSpPr>
        <p:spPr>
          <a:xfrm>
            <a:off x="4658729" y="3785734"/>
            <a:ext cx="2857499" cy="271869"/>
          </a:xfrm>
          <a:prstGeom prst="rect">
            <a:avLst/>
          </a:prstGeom>
          <a:noFill/>
        </p:spPr>
        <p:txBody>
          <a:bodyPr wrap="square" lIns="25400" tIns="12700" rIns="25400" bIns="12700" anchor="t">
            <a:spAutoFit/>
          </a:bodyPr>
          <a:lstStyle/>
          <a:p>
            <a:pPr algn="l"/>
            <a:r>
              <a:rPr sz="1600" b="0" dirty="0" err="1">
                <a:solidFill>
                  <a:schemeClr val="bg2">
                    <a:lumMod val="50000"/>
                  </a:schemeClr>
                </a:solidFill>
                <a:latin typeface="Meiryo"/>
                <a:ea typeface="メイリオ"/>
              </a:rPr>
              <a:t>本研究の中核</a:t>
            </a:r>
            <a:endParaRPr sz="1600" b="0" dirty="0">
              <a:solidFill>
                <a:schemeClr val="bg2">
                  <a:lumMod val="50000"/>
                </a:schemeClr>
              </a:solidFill>
              <a:latin typeface="Meiryo"/>
              <a:ea typeface="メイリオ"/>
            </a:endParaRPr>
          </a:p>
        </p:txBody>
      </p:sp>
      <p:cxnSp>
        <p:nvCxnSpPr>
          <p:cNvPr id="63" name="Connector 35">
            <a:extLst>
              <a:ext uri="{FF2B5EF4-FFF2-40B4-BE49-F238E27FC236}">
                <a16:creationId xmlns:a16="http://schemas.microsoft.com/office/drawing/2014/main" id="{08946184-B1D0-AFDC-B4B3-7F48766F57DC}"/>
              </a:ext>
            </a:extLst>
          </p:cNvPr>
          <p:cNvCxnSpPr/>
          <p:nvPr/>
        </p:nvCxnSpPr>
        <p:spPr>
          <a:xfrm>
            <a:off x="1841500" y="4764730"/>
            <a:ext cx="0" cy="228600"/>
          </a:xfrm>
          <a:prstGeom prst="line">
            <a:avLst/>
          </a:prstGeom>
          <a:ln w="15240">
            <a:solidFill>
              <a:srgbClr val="C9CBD2"/>
            </a:solidFill>
          </a:ln>
        </p:spPr>
        <p:style>
          <a:lnRef idx="2">
            <a:schemeClr val="accent1"/>
          </a:lnRef>
          <a:fillRef idx="0">
            <a:schemeClr val="accent1"/>
          </a:fillRef>
          <a:effectRef idx="1">
            <a:schemeClr val="accent1"/>
          </a:effectRef>
          <a:fontRef idx="minor">
            <a:schemeClr val="tx1"/>
          </a:fontRef>
        </p:style>
      </p:cxnSp>
      <p:sp>
        <p:nvSpPr>
          <p:cNvPr id="64" name="Isosceles Triangle 36">
            <a:extLst>
              <a:ext uri="{FF2B5EF4-FFF2-40B4-BE49-F238E27FC236}">
                <a16:creationId xmlns:a16="http://schemas.microsoft.com/office/drawing/2014/main" id="{39234ED6-4024-A3FE-15CE-B969FF5F47BD}"/>
              </a:ext>
            </a:extLst>
          </p:cNvPr>
          <p:cNvSpPr/>
          <p:nvPr/>
        </p:nvSpPr>
        <p:spPr>
          <a:xfrm rot="10800000">
            <a:off x="1765300" y="4942530"/>
            <a:ext cx="152400" cy="114300"/>
          </a:xfrm>
          <a:prstGeom prst="triangle">
            <a:avLst/>
          </a:prstGeom>
          <a:solidFill>
            <a:srgbClr val="C9C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39">
            <a:extLst>
              <a:ext uri="{FF2B5EF4-FFF2-40B4-BE49-F238E27FC236}">
                <a16:creationId xmlns:a16="http://schemas.microsoft.com/office/drawing/2014/main" id="{25D00E16-AB83-9ABD-F4B8-C49E93810466}"/>
              </a:ext>
            </a:extLst>
          </p:cNvPr>
          <p:cNvSpPr txBox="1"/>
          <p:nvPr/>
        </p:nvSpPr>
        <p:spPr>
          <a:xfrm>
            <a:off x="1168400" y="5196530"/>
            <a:ext cx="4191000" cy="333425"/>
          </a:xfrm>
          <a:prstGeom prst="rect">
            <a:avLst/>
          </a:prstGeom>
          <a:noFill/>
        </p:spPr>
        <p:txBody>
          <a:bodyPr wrap="square" lIns="25400" tIns="12700" rIns="25400" bIns="12700" anchor="t">
            <a:spAutoFit/>
          </a:bodyPr>
          <a:lstStyle/>
          <a:p>
            <a:pPr algn="l"/>
            <a:r>
              <a:rPr sz="2000" b="1">
                <a:solidFill>
                  <a:schemeClr val="tx1">
                    <a:lumMod val="95000"/>
                    <a:lumOff val="5000"/>
                  </a:schemeClr>
                </a:solidFill>
                <a:latin typeface="Meiryo"/>
                <a:ea typeface="メイリオ"/>
              </a:rPr>
              <a:t>首元振動デバイス</a:t>
            </a:r>
          </a:p>
        </p:txBody>
      </p:sp>
      <p:sp>
        <p:nvSpPr>
          <p:cNvPr id="72" name="TextBox 40">
            <a:extLst>
              <a:ext uri="{FF2B5EF4-FFF2-40B4-BE49-F238E27FC236}">
                <a16:creationId xmlns:a16="http://schemas.microsoft.com/office/drawing/2014/main" id="{1675E338-3563-5E10-05D9-A3306DD429E0}"/>
              </a:ext>
            </a:extLst>
          </p:cNvPr>
          <p:cNvSpPr txBox="1"/>
          <p:nvPr/>
        </p:nvSpPr>
        <p:spPr>
          <a:xfrm>
            <a:off x="1168400" y="5500956"/>
            <a:ext cx="5080000" cy="375359"/>
          </a:xfrm>
          <a:prstGeom prst="rect">
            <a:avLst/>
          </a:prstGeom>
          <a:noFill/>
        </p:spPr>
        <p:txBody>
          <a:bodyPr wrap="square" lIns="25400" tIns="12700" rIns="25400" bIns="12700" anchor="t">
            <a:spAutoFit/>
          </a:bodyPr>
          <a:lstStyle/>
          <a:p>
            <a:pPr algn="l">
              <a:lnSpc>
                <a:spcPct val="135000"/>
              </a:lnSpc>
            </a:pPr>
            <a:r>
              <a:rPr b="0" dirty="0" err="1">
                <a:solidFill>
                  <a:schemeClr val="tx1">
                    <a:lumMod val="95000"/>
                    <a:lumOff val="5000"/>
                  </a:schemeClr>
                </a:solidFill>
                <a:latin typeface="Meiryo"/>
                <a:ea typeface="メイリオ"/>
              </a:rPr>
              <a:t>鳴る位置で方向を、鳴り方で危険度を伝える</a:t>
            </a:r>
            <a:endParaRPr b="0" dirty="0">
              <a:solidFill>
                <a:schemeClr val="tx1">
                  <a:lumMod val="95000"/>
                  <a:lumOff val="5000"/>
                </a:schemeClr>
              </a:solidFill>
              <a:latin typeface="Meiryo"/>
              <a:ea typeface="メイリオ"/>
            </a:endParaRPr>
          </a:p>
        </p:txBody>
      </p:sp>
      <p:sp>
        <p:nvSpPr>
          <p:cNvPr id="73" name="Rectangle 41">
            <a:extLst>
              <a:ext uri="{FF2B5EF4-FFF2-40B4-BE49-F238E27FC236}">
                <a16:creationId xmlns:a16="http://schemas.microsoft.com/office/drawing/2014/main" id="{0CF939ED-E6C3-CE4A-DE9C-288B5EF363A9}"/>
              </a:ext>
            </a:extLst>
          </p:cNvPr>
          <p:cNvSpPr/>
          <p:nvPr/>
        </p:nvSpPr>
        <p:spPr>
          <a:xfrm>
            <a:off x="7620000" y="5221930"/>
            <a:ext cx="3175000" cy="609600"/>
          </a:xfrm>
          <a:prstGeom prst="rect">
            <a:avLst/>
          </a:prstGeom>
          <a:solidFill>
            <a:schemeClr val="bg1"/>
          </a:solidFill>
          <a:ln>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4" name="TextBox 42">
            <a:extLst>
              <a:ext uri="{FF2B5EF4-FFF2-40B4-BE49-F238E27FC236}">
                <a16:creationId xmlns:a16="http://schemas.microsoft.com/office/drawing/2014/main" id="{B0BBE37E-4103-046D-DD64-A38DE4A81E3A}"/>
              </a:ext>
            </a:extLst>
          </p:cNvPr>
          <p:cNvSpPr txBox="1"/>
          <p:nvPr/>
        </p:nvSpPr>
        <p:spPr>
          <a:xfrm>
            <a:off x="7620000" y="5268555"/>
            <a:ext cx="3175000" cy="271869"/>
          </a:xfrm>
          <a:prstGeom prst="rect">
            <a:avLst/>
          </a:prstGeom>
          <a:noFill/>
        </p:spPr>
        <p:txBody>
          <a:bodyPr wrap="square" lIns="25400" tIns="12700" rIns="25400" bIns="12700" anchor="t">
            <a:spAutoFit/>
          </a:bodyPr>
          <a:lstStyle/>
          <a:p>
            <a:pPr algn="ctr"/>
            <a:r>
              <a:rPr sz="1600" b="0" dirty="0" err="1">
                <a:solidFill>
                  <a:srgbClr val="8A8F9A"/>
                </a:solidFill>
                <a:latin typeface="Meiryo"/>
                <a:ea typeface="メイリオ"/>
              </a:rPr>
              <a:t>出す情報</a:t>
            </a:r>
            <a:endParaRPr sz="1600" b="0" dirty="0">
              <a:solidFill>
                <a:srgbClr val="8A8F9A"/>
              </a:solidFill>
              <a:latin typeface="Meiryo"/>
              <a:ea typeface="メイリオ"/>
            </a:endParaRPr>
          </a:p>
        </p:txBody>
      </p:sp>
      <p:sp>
        <p:nvSpPr>
          <p:cNvPr id="75" name="TextBox 43">
            <a:extLst>
              <a:ext uri="{FF2B5EF4-FFF2-40B4-BE49-F238E27FC236}">
                <a16:creationId xmlns:a16="http://schemas.microsoft.com/office/drawing/2014/main" id="{52208532-AE87-E5A4-950D-76386920CA48}"/>
              </a:ext>
            </a:extLst>
          </p:cNvPr>
          <p:cNvSpPr txBox="1"/>
          <p:nvPr/>
        </p:nvSpPr>
        <p:spPr>
          <a:xfrm>
            <a:off x="7620000" y="5526730"/>
            <a:ext cx="3175000" cy="302647"/>
          </a:xfrm>
          <a:prstGeom prst="rect">
            <a:avLst/>
          </a:prstGeom>
          <a:noFill/>
        </p:spPr>
        <p:txBody>
          <a:bodyPr wrap="square" lIns="25400" tIns="12700" rIns="25400" bIns="12700" anchor="t">
            <a:spAutoFit/>
          </a:bodyPr>
          <a:lstStyle/>
          <a:p>
            <a:pPr algn="ctr"/>
            <a:r>
              <a:rPr b="1" dirty="0" err="1">
                <a:solidFill>
                  <a:srgbClr val="595F6E"/>
                </a:solidFill>
                <a:latin typeface="Meiryo"/>
                <a:ea typeface="メイリオ"/>
              </a:rPr>
              <a:t>首元の振動</a:t>
            </a:r>
            <a:endParaRPr b="1" dirty="0">
              <a:solidFill>
                <a:srgbClr val="595F6E"/>
              </a:solidFill>
              <a:latin typeface="Meiryo"/>
              <a:ea typeface="メイリオ"/>
            </a:endParaRPr>
          </a:p>
        </p:txBody>
      </p:sp>
      <p:sp>
        <p:nvSpPr>
          <p:cNvPr id="76" name="TextBox 44">
            <a:extLst>
              <a:ext uri="{FF2B5EF4-FFF2-40B4-BE49-F238E27FC236}">
                <a16:creationId xmlns:a16="http://schemas.microsoft.com/office/drawing/2014/main" id="{6EC8190A-188B-014D-2FA0-FAFF5FC2E305}"/>
              </a:ext>
            </a:extLst>
          </p:cNvPr>
          <p:cNvSpPr txBox="1"/>
          <p:nvPr/>
        </p:nvSpPr>
        <p:spPr>
          <a:xfrm>
            <a:off x="4635501" y="5209230"/>
            <a:ext cx="2857499" cy="271869"/>
          </a:xfrm>
          <a:prstGeom prst="rect">
            <a:avLst/>
          </a:prstGeom>
          <a:noFill/>
        </p:spPr>
        <p:txBody>
          <a:bodyPr wrap="square" lIns="25400" tIns="12700" rIns="25400" bIns="12700" anchor="t">
            <a:spAutoFit/>
          </a:bodyPr>
          <a:lstStyle/>
          <a:p>
            <a:pPr algn="l"/>
            <a:r>
              <a:rPr sz="1600" b="0" dirty="0" err="1">
                <a:solidFill>
                  <a:schemeClr val="bg2">
                    <a:lumMod val="50000"/>
                  </a:schemeClr>
                </a:solidFill>
                <a:latin typeface="Meiryo"/>
                <a:ea typeface="メイリオ"/>
              </a:rPr>
              <a:t>構想・未実装</a:t>
            </a:r>
            <a:endParaRPr sz="1600" b="0" dirty="0">
              <a:solidFill>
                <a:schemeClr val="bg2">
                  <a:lumMod val="50000"/>
                </a:schemeClr>
              </a:solidFill>
              <a:latin typeface="Meiryo"/>
              <a:ea typeface="メイリオ"/>
            </a:endParaRPr>
          </a:p>
        </p:txBody>
      </p:sp>
      <p:sp>
        <p:nvSpPr>
          <p:cNvPr id="23" name="Rounded Rectangle 97">
            <a:extLst>
              <a:ext uri="{FF2B5EF4-FFF2-40B4-BE49-F238E27FC236}">
                <a16:creationId xmlns:a16="http://schemas.microsoft.com/office/drawing/2014/main" id="{85CB096D-1D38-8BD0-4AF7-D2A146315AB5}"/>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5" name="Rounded Rectangle 96">
            <a:extLst>
              <a:ext uri="{FF2B5EF4-FFF2-40B4-BE49-F238E27FC236}">
                <a16:creationId xmlns:a16="http://schemas.microsoft.com/office/drawing/2014/main" id="{1629B68C-AED2-E0FA-DB10-C6EECBC8FFFC}"/>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7" name="Rounded Rectangle 95">
            <a:extLst>
              <a:ext uri="{FF2B5EF4-FFF2-40B4-BE49-F238E27FC236}">
                <a16:creationId xmlns:a16="http://schemas.microsoft.com/office/drawing/2014/main" id="{37600066-ACD0-1D15-C1AB-453D128E429C}"/>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29" name="Rounded Rectangle 94">
            <a:extLst>
              <a:ext uri="{FF2B5EF4-FFF2-40B4-BE49-F238E27FC236}">
                <a16:creationId xmlns:a16="http://schemas.microsoft.com/office/drawing/2014/main" id="{14865C57-9EB0-B362-22F6-46D0BB65A081}"/>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1" name="Rounded Rectangle 93">
            <a:extLst>
              <a:ext uri="{FF2B5EF4-FFF2-40B4-BE49-F238E27FC236}">
                <a16:creationId xmlns:a16="http://schemas.microsoft.com/office/drawing/2014/main" id="{EEF2350A-8802-4113-BA4C-0BB8ED02609E}"/>
              </a:ext>
            </a:extLst>
          </p:cNvPr>
          <p:cNvSpPr/>
          <p:nvPr/>
        </p:nvSpPr>
        <p:spPr>
          <a:xfrm>
            <a:off x="4244759" y="6392061"/>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研究の前提</a:t>
            </a:r>
            <a:endParaRPr sz="1600" b="1" dirty="0">
              <a:solidFill>
                <a:schemeClr val="bg1"/>
              </a:solidFill>
              <a:latin typeface="Meiryo"/>
              <a:ea typeface="メイリオ"/>
            </a:endParaRPr>
          </a:p>
        </p:txBody>
      </p:sp>
      <p:sp>
        <p:nvSpPr>
          <p:cNvPr id="33" name="Rounded Rectangle 92">
            <a:extLst>
              <a:ext uri="{FF2B5EF4-FFF2-40B4-BE49-F238E27FC236}">
                <a16:creationId xmlns:a16="http://schemas.microsoft.com/office/drawing/2014/main" id="{B3FCBAAC-74C9-D36F-2D51-E4B893F20B39}"/>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77" name="Rectangle 76"/>
          <p:cNvSpPr/>
          <p:nvPr/>
        </p:nvSpPr>
        <p:spPr>
          <a:xfrm>
            <a:off x="889000" y="2888355"/>
            <a:ext cx="10414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89000" y="4132955"/>
            <a:ext cx="10414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89000" y="5555355"/>
            <a:ext cx="10414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279991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9A111-D320-00B6-CBD5-E32EA2BB0FF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ECBCB3E-6EBF-F36C-1189-99650C000255}"/>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FE671BA-3744-D76A-5BAF-1B0D9765A304}"/>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AA9F2F3C-D75F-79CE-B75C-E78119C3FBF9}"/>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21C02637-E846-3D91-DFD0-1F418FF64525}"/>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3C0B8D52-C240-ADB0-5A03-749263DB03D1}"/>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26C72984-4EB9-C9FB-27A5-AF8E4F09FC96}"/>
              </a:ext>
            </a:extLst>
          </p:cNvPr>
          <p:cNvSpPr>
            <a:spLocks noGrp="1"/>
          </p:cNvSpPr>
          <p:nvPr>
            <p:ph type="dt" sz="half" idx="10"/>
          </p:nvPr>
        </p:nvSpPr>
        <p:spPr/>
        <p:txBody>
          <a:bodyPr/>
          <a:lstStyle/>
          <a:p>
            <a:r>
              <a:rPr kumimoji="1" lang="en-US" altLang="ja-JP"/>
              <a:t>2026/09/15</a:t>
            </a:r>
            <a:endParaRPr kumimoji="1" lang="ja-JP" altLang="en-US" dirty="0"/>
          </a:p>
        </p:txBody>
      </p:sp>
      <p:sp>
        <p:nvSpPr>
          <p:cNvPr id="9" name="スライド番号プレースホルダー 8">
            <a:extLst>
              <a:ext uri="{FF2B5EF4-FFF2-40B4-BE49-F238E27FC236}">
                <a16:creationId xmlns:a16="http://schemas.microsoft.com/office/drawing/2014/main" id="{E85C9F77-BDD5-55CA-746B-0452490A0DA5}"/>
              </a:ext>
            </a:extLst>
          </p:cNvPr>
          <p:cNvSpPr>
            <a:spLocks noGrp="1"/>
          </p:cNvSpPr>
          <p:nvPr>
            <p:ph type="sldNum" sz="quarter" idx="12"/>
          </p:nvPr>
        </p:nvSpPr>
        <p:spPr/>
        <p:txBody>
          <a:bodyPr/>
          <a:lstStyle/>
          <a:p>
            <a:fld id="{4E9148DC-F7ED-4428-85F4-2C78C4B0CFB7}" type="slidenum">
              <a:rPr kumimoji="1" lang="ja-JP" altLang="en-US" smtClean="0"/>
              <a:t>5</a:t>
            </a:fld>
            <a:endParaRPr kumimoji="1" lang="ja-JP" altLang="en-US"/>
          </a:p>
        </p:txBody>
      </p:sp>
      <p:sp>
        <p:nvSpPr>
          <p:cNvPr id="11" name="TextBox 13">
            <a:extLst>
              <a:ext uri="{FF2B5EF4-FFF2-40B4-BE49-F238E27FC236}">
                <a16:creationId xmlns:a16="http://schemas.microsoft.com/office/drawing/2014/main" id="{CBD11D0E-F90B-4245-3065-79F3A8CCBB0D}"/>
              </a:ext>
            </a:extLst>
          </p:cNvPr>
          <p:cNvSpPr txBox="1"/>
          <p:nvPr/>
        </p:nvSpPr>
        <p:spPr>
          <a:xfrm>
            <a:off x="1079564" y="159028"/>
            <a:ext cx="11112436"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提案手法② </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 </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通知層</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最接近の予測で出し分け</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a:t>
            </a:r>
            <a:endParaRPr lang="ja-JP" alt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35" name="TextBox 13">
            <a:extLst>
              <a:ext uri="{FF2B5EF4-FFF2-40B4-BE49-F238E27FC236}">
                <a16:creationId xmlns:a16="http://schemas.microsoft.com/office/drawing/2014/main" id="{1C59AB80-56D7-9B7A-56D7-8A9E7BABBE36}"/>
              </a:ext>
            </a:extLst>
          </p:cNvPr>
          <p:cNvSpPr txBox="1"/>
          <p:nvPr/>
        </p:nvSpPr>
        <p:spPr>
          <a:xfrm>
            <a:off x="1598770" y="1298088"/>
            <a:ext cx="9740664" cy="302647"/>
          </a:xfrm>
          <a:prstGeom prst="rect">
            <a:avLst/>
          </a:prstGeom>
          <a:noFill/>
        </p:spPr>
        <p:txBody>
          <a:bodyPr wrap="square" lIns="25400" tIns="12700" rIns="25400" bIns="12700" anchor="t">
            <a:spAutoFit/>
          </a:bodyPr>
          <a:lstStyle/>
          <a:p>
            <a:pPr algn="l"/>
            <a:r>
              <a:rPr b="0" dirty="0" err="1">
                <a:solidFill>
                  <a:schemeClr val="tx1">
                    <a:lumMod val="95000"/>
                    <a:lumOff val="5000"/>
                  </a:schemeClr>
                </a:solidFill>
                <a:latin typeface="Meiryo"/>
                <a:ea typeface="メイリオ"/>
              </a:rPr>
              <a:t>距離のしきい値ではなく、</a:t>
            </a:r>
            <a:r>
              <a:rPr b="1" dirty="0" err="1">
                <a:solidFill>
                  <a:schemeClr val="tx1">
                    <a:lumMod val="95000"/>
                    <a:lumOff val="5000"/>
                  </a:schemeClr>
                </a:solidFill>
                <a:latin typeface="Meiryo"/>
                <a:ea typeface="メイリオ"/>
              </a:rPr>
              <a:t>このまま進むとどこまで近づくか</a:t>
            </a:r>
            <a:r>
              <a:rPr lang="en-US" b="1" dirty="0">
                <a:solidFill>
                  <a:schemeClr val="tx1">
                    <a:lumMod val="95000"/>
                    <a:lumOff val="5000"/>
                  </a:schemeClr>
                </a:solidFill>
                <a:latin typeface="Meiryo"/>
                <a:ea typeface="メイリオ"/>
              </a:rPr>
              <a:t>(</a:t>
            </a:r>
            <a:r>
              <a:rPr b="1" dirty="0" err="1">
                <a:solidFill>
                  <a:schemeClr val="tx1">
                    <a:lumMod val="95000"/>
                    <a:lumOff val="5000"/>
                  </a:schemeClr>
                </a:solidFill>
                <a:latin typeface="Meiryo"/>
                <a:ea typeface="メイリオ"/>
              </a:rPr>
              <a:t>最接近</a:t>
            </a:r>
            <a:r>
              <a:rPr lang="en-US" b="1" dirty="0">
                <a:solidFill>
                  <a:schemeClr val="tx1">
                    <a:lumMod val="95000"/>
                    <a:lumOff val="5000"/>
                  </a:schemeClr>
                </a:solidFill>
                <a:latin typeface="Meiryo"/>
                <a:ea typeface="メイリオ"/>
              </a:rPr>
              <a:t>)</a:t>
            </a:r>
            <a:r>
              <a:rPr b="1" dirty="0" err="1">
                <a:solidFill>
                  <a:schemeClr val="tx1">
                    <a:lumMod val="95000"/>
                    <a:lumOff val="5000"/>
                  </a:schemeClr>
                </a:solidFill>
                <a:latin typeface="Meiryo"/>
                <a:ea typeface="メイリオ"/>
              </a:rPr>
              <a:t>を予測</a:t>
            </a:r>
            <a:r>
              <a:rPr b="0" dirty="0" err="1">
                <a:solidFill>
                  <a:schemeClr val="tx1">
                    <a:lumMod val="95000"/>
                    <a:lumOff val="5000"/>
                  </a:schemeClr>
                </a:solidFill>
                <a:latin typeface="Meiryo"/>
                <a:ea typeface="メイリオ"/>
              </a:rPr>
              <a:t>して</a:t>
            </a:r>
            <a:r>
              <a:rPr lang="ja-JP" altLang="en-US" b="0" dirty="0">
                <a:solidFill>
                  <a:schemeClr val="tx1">
                    <a:lumMod val="95000"/>
                    <a:lumOff val="5000"/>
                  </a:schemeClr>
                </a:solidFill>
                <a:latin typeface="Meiryo"/>
                <a:ea typeface="メイリオ"/>
              </a:rPr>
              <a:t>段階</a:t>
            </a:r>
            <a:r>
              <a:rPr b="0" dirty="0" err="1">
                <a:solidFill>
                  <a:schemeClr val="tx1">
                    <a:lumMod val="95000"/>
                    <a:lumOff val="5000"/>
                  </a:schemeClr>
                </a:solidFill>
                <a:latin typeface="Meiryo"/>
                <a:ea typeface="メイリオ"/>
              </a:rPr>
              <a:t>を決める</a:t>
            </a:r>
            <a:endParaRPr b="0" dirty="0">
              <a:solidFill>
                <a:schemeClr val="tx1">
                  <a:lumMod val="95000"/>
                  <a:lumOff val="5000"/>
                </a:schemeClr>
              </a:solidFill>
              <a:latin typeface="Meiryo"/>
              <a:ea typeface="メイリオ"/>
            </a:endParaRPr>
          </a:p>
        </p:txBody>
      </p:sp>
      <p:sp>
        <p:nvSpPr>
          <p:cNvPr id="37" name="Rectangle 14">
            <a:extLst>
              <a:ext uri="{FF2B5EF4-FFF2-40B4-BE49-F238E27FC236}">
                <a16:creationId xmlns:a16="http://schemas.microsoft.com/office/drawing/2014/main" id="{92565C0E-182F-E0ED-31DA-B5470E2D8546}"/>
              </a:ext>
            </a:extLst>
          </p:cNvPr>
          <p:cNvSpPr/>
          <p:nvPr/>
        </p:nvSpPr>
        <p:spPr>
          <a:xfrm>
            <a:off x="752013" y="2111142"/>
            <a:ext cx="6035430" cy="1317858"/>
          </a:xfrm>
          <a:prstGeom prst="rect">
            <a:avLst/>
          </a:prstGeom>
          <a:solidFill>
            <a:srgbClr val="FFFFFF"/>
          </a:solidFill>
          <a:ln w="17780">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9" name="TextBox 15">
            <a:extLst>
              <a:ext uri="{FF2B5EF4-FFF2-40B4-BE49-F238E27FC236}">
                <a16:creationId xmlns:a16="http://schemas.microsoft.com/office/drawing/2014/main" id="{06208B64-2606-F65F-4777-10AF9761ACA7}"/>
              </a:ext>
            </a:extLst>
          </p:cNvPr>
          <p:cNvSpPr txBox="1"/>
          <p:nvPr/>
        </p:nvSpPr>
        <p:spPr>
          <a:xfrm>
            <a:off x="803240" y="2323433"/>
            <a:ext cx="6124453" cy="1010533"/>
          </a:xfrm>
          <a:prstGeom prst="rect">
            <a:avLst/>
          </a:prstGeom>
          <a:noFill/>
        </p:spPr>
        <p:txBody>
          <a:bodyPr wrap="square" lIns="25400" tIns="12700" rIns="25400" bIns="12700" anchor="t">
            <a:spAutoFit/>
          </a:bodyPr>
          <a:lstStyle/>
          <a:p>
            <a:pPr>
              <a:spcAft>
                <a:spcPts val="600"/>
              </a:spcAft>
            </a:pPr>
            <a:r>
              <a:rPr lang="ja-JP" altLang="en-US" b="1" dirty="0">
                <a:solidFill>
                  <a:srgbClr val="C4432B"/>
                </a:solidFill>
                <a:latin typeface="Meiryo"/>
                <a:ea typeface="メイリオ"/>
              </a:rPr>
              <a:t>至近警告</a:t>
            </a:r>
            <a:r>
              <a:rPr lang="ja-JP" altLang="en-US" dirty="0">
                <a:solidFill>
                  <a:srgbClr val="3A4658"/>
                </a:solidFill>
                <a:latin typeface="Meiryo"/>
                <a:ea typeface="メイリオ"/>
              </a:rPr>
              <a:t> </a:t>
            </a:r>
            <a:r>
              <a:rPr lang="en-US" altLang="ja-JP" dirty="0">
                <a:solidFill>
                  <a:srgbClr val="3A4658"/>
                </a:solidFill>
                <a:latin typeface="Meiryo"/>
                <a:ea typeface="メイリオ"/>
              </a:rPr>
              <a:t>: </a:t>
            </a:r>
            <a:r>
              <a:rPr lang="ja-JP" altLang="en-US" dirty="0">
                <a:solidFill>
                  <a:schemeClr val="tx1">
                    <a:lumMod val="95000"/>
                    <a:lumOff val="5000"/>
                  </a:schemeClr>
                </a:solidFill>
                <a:latin typeface="Meiryo"/>
                <a:ea typeface="メイリオ"/>
              </a:rPr>
              <a:t>予測最接近</a:t>
            </a:r>
            <a:r>
              <a:rPr lang="en-US" altLang="ja-JP" dirty="0">
                <a:solidFill>
                  <a:schemeClr val="tx1">
                    <a:lumMod val="95000"/>
                    <a:lumOff val="5000"/>
                  </a:schemeClr>
                </a:solidFill>
                <a:latin typeface="Meiryo"/>
                <a:ea typeface="メイリオ"/>
              </a:rPr>
              <a:t>1.0m</a:t>
            </a:r>
            <a:r>
              <a:rPr lang="ja-JP" altLang="en-US" dirty="0">
                <a:solidFill>
                  <a:schemeClr val="tx1">
                    <a:lumMod val="95000"/>
                    <a:lumOff val="5000"/>
                  </a:schemeClr>
                </a:solidFill>
                <a:latin typeface="Meiryo"/>
                <a:ea typeface="メイリオ"/>
              </a:rPr>
              <a:t>以内・</a:t>
            </a:r>
            <a:r>
              <a:rPr lang="en-US" altLang="ja-JP" dirty="0">
                <a:solidFill>
                  <a:schemeClr val="tx1">
                    <a:lumMod val="95000"/>
                    <a:lumOff val="5000"/>
                  </a:schemeClr>
                </a:solidFill>
                <a:latin typeface="Meiryo"/>
                <a:ea typeface="メイリオ"/>
              </a:rPr>
              <a:t>2.5</a:t>
            </a:r>
            <a:r>
              <a:rPr lang="ja-JP" altLang="en-US" dirty="0">
                <a:solidFill>
                  <a:schemeClr val="tx1">
                    <a:lumMod val="95000"/>
                    <a:lumOff val="5000"/>
                  </a:schemeClr>
                </a:solidFill>
                <a:latin typeface="Meiryo"/>
                <a:ea typeface="メイリオ"/>
              </a:rPr>
              <a:t>秒以内が</a:t>
            </a:r>
            <a:r>
              <a:rPr lang="en-US" altLang="ja-JP" dirty="0">
                <a:solidFill>
                  <a:srgbClr val="FF0000"/>
                </a:solidFill>
                <a:latin typeface="Meiryo"/>
                <a:ea typeface="メイリオ"/>
              </a:rPr>
              <a:t>4</a:t>
            </a:r>
            <a:r>
              <a:rPr lang="ja-JP" altLang="en-US" dirty="0">
                <a:solidFill>
                  <a:schemeClr val="tx1">
                    <a:lumMod val="95000"/>
                    <a:lumOff val="5000"/>
                  </a:schemeClr>
                </a:solidFill>
                <a:latin typeface="Meiryo"/>
                <a:ea typeface="メイリオ"/>
              </a:rPr>
              <a:t>フレーム</a:t>
            </a:r>
          </a:p>
          <a:p>
            <a:pPr>
              <a:spcAft>
                <a:spcPts val="600"/>
              </a:spcAft>
            </a:pPr>
            <a:r>
              <a:rPr lang="ja-JP" altLang="en-US" b="1" dirty="0">
                <a:solidFill>
                  <a:srgbClr val="B37E00"/>
                </a:solidFill>
                <a:latin typeface="Meiryo"/>
                <a:ea typeface="メイリオ"/>
              </a:rPr>
              <a:t>　注意　</a:t>
            </a:r>
            <a:r>
              <a:rPr lang="ja-JP" altLang="en-US" dirty="0">
                <a:solidFill>
                  <a:srgbClr val="3A4658"/>
                </a:solidFill>
                <a:latin typeface="Meiryo"/>
                <a:ea typeface="メイリオ"/>
              </a:rPr>
              <a:t> </a:t>
            </a:r>
            <a:r>
              <a:rPr lang="en-US" altLang="ja-JP" dirty="0">
                <a:solidFill>
                  <a:srgbClr val="3A4658"/>
                </a:solidFill>
                <a:latin typeface="Meiryo"/>
                <a:ea typeface="メイリオ"/>
              </a:rPr>
              <a:t>: </a:t>
            </a:r>
            <a:r>
              <a:rPr lang="ja-JP" altLang="en-US" dirty="0">
                <a:solidFill>
                  <a:schemeClr val="tx1">
                    <a:lumMod val="95000"/>
                    <a:lumOff val="5000"/>
                  </a:schemeClr>
                </a:solidFill>
                <a:latin typeface="Meiryo"/>
                <a:ea typeface="メイリオ"/>
              </a:rPr>
              <a:t>予測最接近</a:t>
            </a:r>
            <a:r>
              <a:rPr lang="en-US" altLang="ja-JP" dirty="0">
                <a:solidFill>
                  <a:schemeClr val="tx1">
                    <a:lumMod val="95000"/>
                    <a:lumOff val="5000"/>
                  </a:schemeClr>
                </a:solidFill>
                <a:latin typeface="Meiryo"/>
                <a:ea typeface="メイリオ"/>
              </a:rPr>
              <a:t>2.0m</a:t>
            </a:r>
            <a:r>
              <a:rPr lang="ja-JP" altLang="en-US" dirty="0">
                <a:solidFill>
                  <a:schemeClr val="tx1">
                    <a:lumMod val="95000"/>
                    <a:lumOff val="5000"/>
                  </a:schemeClr>
                </a:solidFill>
                <a:latin typeface="Meiryo"/>
                <a:ea typeface="メイリオ"/>
              </a:rPr>
              <a:t>以内・</a:t>
            </a:r>
            <a:r>
              <a:rPr lang="en-US" altLang="ja-JP" dirty="0">
                <a:solidFill>
                  <a:schemeClr val="tx1">
                    <a:lumMod val="95000"/>
                    <a:lumOff val="5000"/>
                  </a:schemeClr>
                </a:solidFill>
                <a:latin typeface="Meiryo"/>
                <a:ea typeface="メイリオ"/>
              </a:rPr>
              <a:t>4.0</a:t>
            </a:r>
            <a:r>
              <a:rPr lang="ja-JP" altLang="en-US" dirty="0">
                <a:solidFill>
                  <a:schemeClr val="tx1">
                    <a:lumMod val="95000"/>
                    <a:lumOff val="5000"/>
                  </a:schemeClr>
                </a:solidFill>
                <a:latin typeface="Meiryo"/>
                <a:ea typeface="メイリオ"/>
              </a:rPr>
              <a:t>秒以内が</a:t>
            </a:r>
            <a:r>
              <a:rPr lang="en-US" altLang="ja-JP" dirty="0">
                <a:solidFill>
                  <a:srgbClr val="FF0000"/>
                </a:solidFill>
                <a:latin typeface="Meiryo"/>
                <a:ea typeface="メイリオ"/>
              </a:rPr>
              <a:t>4</a:t>
            </a:r>
            <a:r>
              <a:rPr lang="ja-JP" altLang="en-US" dirty="0">
                <a:solidFill>
                  <a:schemeClr val="tx1">
                    <a:lumMod val="95000"/>
                    <a:lumOff val="5000"/>
                  </a:schemeClr>
                </a:solidFill>
                <a:latin typeface="Meiryo"/>
                <a:ea typeface="メイリオ"/>
              </a:rPr>
              <a:t>フレーム</a:t>
            </a:r>
          </a:p>
          <a:p>
            <a:pPr>
              <a:spcAft>
                <a:spcPts val="600"/>
              </a:spcAft>
            </a:pPr>
            <a:r>
              <a:rPr lang="ja-JP" altLang="en-US" b="1" dirty="0">
                <a:solidFill>
                  <a:srgbClr val="2F7D6D"/>
                </a:solidFill>
                <a:latin typeface="Meiryo"/>
                <a:ea typeface="メイリオ"/>
              </a:rPr>
              <a:t>　抑制　</a:t>
            </a:r>
            <a:r>
              <a:rPr lang="ja-JP" altLang="en-US" dirty="0">
                <a:solidFill>
                  <a:srgbClr val="3A4658"/>
                </a:solidFill>
                <a:latin typeface="Meiryo"/>
                <a:ea typeface="メイリオ"/>
              </a:rPr>
              <a:t> </a:t>
            </a:r>
            <a:r>
              <a:rPr lang="en-US" altLang="ja-JP" dirty="0">
                <a:solidFill>
                  <a:srgbClr val="3A4658"/>
                </a:solidFill>
                <a:latin typeface="Meiryo"/>
                <a:ea typeface="メイリオ"/>
              </a:rPr>
              <a:t>:</a:t>
            </a:r>
            <a:r>
              <a:rPr lang="ja-JP" altLang="en-US" dirty="0">
                <a:solidFill>
                  <a:srgbClr val="3A4658"/>
                </a:solidFill>
                <a:latin typeface="Meiryo"/>
                <a:ea typeface="メイリオ"/>
              </a:rPr>
              <a:t> </a:t>
            </a:r>
            <a:r>
              <a:rPr lang="ja-JP" altLang="en-US" dirty="0">
                <a:solidFill>
                  <a:schemeClr val="tx1">
                    <a:lumMod val="95000"/>
                    <a:lumOff val="5000"/>
                  </a:schemeClr>
                </a:solidFill>
                <a:latin typeface="Meiryo"/>
                <a:ea typeface="メイリオ"/>
              </a:rPr>
              <a:t>横を通り過ぎるだけの対象は鳴らさない</a:t>
            </a:r>
          </a:p>
        </p:txBody>
      </p:sp>
      <p:sp>
        <p:nvSpPr>
          <p:cNvPr id="54" name="TextBox 21">
            <a:extLst>
              <a:ext uri="{FF2B5EF4-FFF2-40B4-BE49-F238E27FC236}">
                <a16:creationId xmlns:a16="http://schemas.microsoft.com/office/drawing/2014/main" id="{1AAE64D5-37D0-AA36-9DE9-A5F2070C38E8}"/>
              </a:ext>
            </a:extLst>
          </p:cNvPr>
          <p:cNvSpPr txBox="1"/>
          <p:nvPr/>
        </p:nvSpPr>
        <p:spPr>
          <a:xfrm>
            <a:off x="757089" y="3762193"/>
            <a:ext cx="6022697" cy="2068515"/>
          </a:xfrm>
          <a:prstGeom prst="rect">
            <a:avLst/>
          </a:prstGeom>
          <a:noFill/>
        </p:spPr>
        <p:txBody>
          <a:bodyPr wrap="square" lIns="25400" tIns="12700" rIns="25400" bIns="12700" anchor="t">
            <a:spAutoFit/>
          </a:bodyPr>
          <a:lstStyle/>
          <a:p>
            <a:pPr algn="l">
              <a:lnSpc>
                <a:spcPct val="150000"/>
              </a:lnSpc>
            </a:pPr>
            <a:r>
              <a:rPr b="1" dirty="0">
                <a:solidFill>
                  <a:schemeClr val="tx1">
                    <a:lumMod val="95000"/>
                    <a:lumOff val="5000"/>
                  </a:schemeClr>
                </a:solidFill>
                <a:latin typeface="Meiryo"/>
                <a:ea typeface="メイリオ"/>
              </a:rPr>
              <a:t>※ </a:t>
            </a:r>
            <a:r>
              <a:rPr b="1" dirty="0" err="1">
                <a:solidFill>
                  <a:schemeClr val="tx1">
                    <a:lumMod val="95000"/>
                    <a:lumOff val="5000"/>
                  </a:schemeClr>
                </a:solidFill>
                <a:latin typeface="Meiryo"/>
                <a:ea typeface="メイリオ"/>
              </a:rPr>
              <a:t>予測が出せないときの保険</a:t>
            </a:r>
            <a:endParaRPr b="1" dirty="0">
              <a:solidFill>
                <a:schemeClr val="tx1">
                  <a:lumMod val="95000"/>
                  <a:lumOff val="5000"/>
                </a:schemeClr>
              </a:solidFill>
              <a:latin typeface="Meiryo"/>
              <a:ea typeface="メイリオ"/>
            </a:endParaRPr>
          </a:p>
          <a:p>
            <a:pPr algn="l">
              <a:lnSpc>
                <a:spcPct val="150000"/>
              </a:lnSpc>
            </a:pPr>
            <a:r>
              <a:rPr b="0" dirty="0">
                <a:solidFill>
                  <a:schemeClr val="tx1">
                    <a:lumMod val="95000"/>
                    <a:lumOff val="5000"/>
                  </a:schemeClr>
                </a:solidFill>
                <a:latin typeface="Meiryo"/>
                <a:ea typeface="メイリオ"/>
              </a:rPr>
              <a:t>　 </a:t>
            </a:r>
            <a:r>
              <a:rPr b="0" dirty="0" err="1">
                <a:solidFill>
                  <a:schemeClr val="tx1">
                    <a:lumMod val="95000"/>
                    <a:lumOff val="5000"/>
                  </a:schemeClr>
                </a:solidFill>
                <a:latin typeface="Meiryo"/>
                <a:ea typeface="メイリオ"/>
              </a:rPr>
              <a:t>推定距離</a:t>
            </a:r>
            <a:r>
              <a:rPr b="0" dirty="0">
                <a:solidFill>
                  <a:schemeClr val="tx1">
                    <a:lumMod val="95000"/>
                    <a:lumOff val="5000"/>
                  </a:schemeClr>
                </a:solidFill>
                <a:latin typeface="Meiryo"/>
                <a:ea typeface="メイリオ"/>
              </a:rPr>
              <a:t> 1.5m</a:t>
            </a:r>
            <a:r>
              <a:rPr lang="en-US" b="0" dirty="0">
                <a:solidFill>
                  <a:schemeClr val="tx1">
                    <a:lumMod val="95000"/>
                    <a:lumOff val="5000"/>
                  </a:schemeClr>
                </a:solidFill>
                <a:latin typeface="Meiryo"/>
                <a:ea typeface="メイリオ"/>
              </a:rPr>
              <a:t>(</a:t>
            </a:r>
            <a:r>
              <a:rPr b="0" dirty="0" err="1">
                <a:solidFill>
                  <a:schemeClr val="tx1">
                    <a:lumMod val="95000"/>
                    <a:lumOff val="5000"/>
                  </a:schemeClr>
                </a:solidFill>
                <a:latin typeface="Meiryo"/>
                <a:ea typeface="メイリオ"/>
              </a:rPr>
              <a:t>至近</a:t>
            </a:r>
            <a:r>
              <a:rPr lang="ja-JP" altLang="en-US" dirty="0">
                <a:solidFill>
                  <a:schemeClr val="tx1">
                    <a:lumMod val="95000"/>
                    <a:lumOff val="5000"/>
                  </a:schemeClr>
                </a:solidFill>
                <a:latin typeface="Meiryo"/>
                <a:ea typeface="メイリオ"/>
              </a:rPr>
              <a:t>警告</a:t>
            </a:r>
            <a:r>
              <a:rPr lang="en-US" b="0" dirty="0">
                <a:solidFill>
                  <a:schemeClr val="tx1">
                    <a:lumMod val="95000"/>
                    <a:lumOff val="5000"/>
                  </a:schemeClr>
                </a:solidFill>
                <a:latin typeface="Meiryo"/>
                <a:ea typeface="メイリオ"/>
              </a:rPr>
              <a:t>) </a:t>
            </a:r>
            <a:r>
              <a:rPr b="0" dirty="0">
                <a:solidFill>
                  <a:schemeClr val="tx1">
                    <a:lumMod val="95000"/>
                    <a:lumOff val="5000"/>
                  </a:schemeClr>
                </a:solidFill>
                <a:latin typeface="Meiryo"/>
                <a:ea typeface="メイリオ"/>
              </a:rPr>
              <a:t>/ 3.2m</a:t>
            </a:r>
            <a:r>
              <a:rPr lang="en-US" b="0" dirty="0">
                <a:solidFill>
                  <a:schemeClr val="tx1">
                    <a:lumMod val="95000"/>
                    <a:lumOff val="5000"/>
                  </a:schemeClr>
                </a:solidFill>
                <a:latin typeface="Meiryo"/>
                <a:ea typeface="メイリオ"/>
              </a:rPr>
              <a:t>(</a:t>
            </a:r>
            <a:r>
              <a:rPr b="0" dirty="0" err="1">
                <a:solidFill>
                  <a:schemeClr val="tx1">
                    <a:lumMod val="95000"/>
                    <a:lumOff val="5000"/>
                  </a:schemeClr>
                </a:solidFill>
                <a:latin typeface="Meiryo"/>
                <a:ea typeface="メイリオ"/>
              </a:rPr>
              <a:t>注意</a:t>
            </a:r>
            <a:r>
              <a:rPr lang="en-US" dirty="0">
                <a:solidFill>
                  <a:schemeClr val="tx1">
                    <a:lumMod val="95000"/>
                    <a:lumOff val="5000"/>
                  </a:schemeClr>
                </a:solidFill>
                <a:latin typeface="Meiryo"/>
                <a:ea typeface="メイリオ"/>
              </a:rPr>
              <a:t>)</a:t>
            </a:r>
            <a:r>
              <a:rPr b="0" dirty="0" err="1">
                <a:solidFill>
                  <a:schemeClr val="tx1">
                    <a:lumMod val="95000"/>
                    <a:lumOff val="5000"/>
                  </a:schemeClr>
                </a:solidFill>
                <a:latin typeface="Meiryo"/>
                <a:ea typeface="メイリオ"/>
              </a:rPr>
              <a:t>を切ったら</a:t>
            </a:r>
            <a:endParaRPr lang="en-US" b="0" dirty="0">
              <a:solidFill>
                <a:schemeClr val="tx1">
                  <a:lumMod val="95000"/>
                  <a:lumOff val="5000"/>
                </a:schemeClr>
              </a:solidFill>
              <a:latin typeface="Meiryo"/>
              <a:ea typeface="メイリオ"/>
            </a:endParaRPr>
          </a:p>
          <a:p>
            <a:pPr algn="l">
              <a:lnSpc>
                <a:spcPct val="150000"/>
              </a:lnSpc>
            </a:pPr>
            <a:r>
              <a:rPr lang="en-US" dirty="0">
                <a:solidFill>
                  <a:schemeClr val="tx1">
                    <a:lumMod val="95000"/>
                    <a:lumOff val="5000"/>
                  </a:schemeClr>
                </a:solidFill>
                <a:latin typeface="Meiryo"/>
                <a:ea typeface="メイリオ"/>
              </a:rPr>
              <a:t>    </a:t>
            </a:r>
            <a:r>
              <a:rPr b="0" dirty="0">
                <a:solidFill>
                  <a:schemeClr val="tx1">
                    <a:lumMod val="95000"/>
                    <a:lumOff val="5000"/>
                  </a:schemeClr>
                </a:solidFill>
                <a:latin typeface="Meiryo"/>
                <a:ea typeface="メイリオ"/>
              </a:rPr>
              <a:t>2フレームで通知</a:t>
            </a:r>
          </a:p>
          <a:p>
            <a:pPr algn="l">
              <a:lnSpc>
                <a:spcPct val="150000"/>
              </a:lnSpc>
            </a:pPr>
            <a:r>
              <a:rPr b="0" dirty="0">
                <a:solidFill>
                  <a:schemeClr val="tx1">
                    <a:lumMod val="95000"/>
                    <a:lumOff val="5000"/>
                  </a:schemeClr>
                </a:solidFill>
                <a:latin typeface="Meiryo"/>
                <a:ea typeface="メイリオ"/>
              </a:rPr>
              <a:t>※ </a:t>
            </a:r>
            <a:r>
              <a:rPr b="0" dirty="0" err="1">
                <a:solidFill>
                  <a:schemeClr val="tx1">
                    <a:lumMod val="95000"/>
                    <a:lumOff val="5000"/>
                  </a:schemeClr>
                </a:solidFill>
                <a:latin typeface="Meiryo"/>
                <a:ea typeface="メイリオ"/>
              </a:rPr>
              <a:t>距離を使うのは車の走行音・キックボード・バイクの</a:t>
            </a:r>
            <a:endParaRPr lang="en-US" dirty="0">
              <a:solidFill>
                <a:schemeClr val="tx1">
                  <a:lumMod val="95000"/>
                  <a:lumOff val="5000"/>
                </a:schemeClr>
              </a:solidFill>
              <a:latin typeface="Meiryo"/>
              <a:ea typeface="メイリオ"/>
            </a:endParaRPr>
          </a:p>
          <a:p>
            <a:pPr algn="l">
              <a:lnSpc>
                <a:spcPct val="150000"/>
              </a:lnSpc>
            </a:pPr>
            <a:r>
              <a:rPr lang="en-US" b="0" dirty="0">
                <a:solidFill>
                  <a:schemeClr val="tx1">
                    <a:lumMod val="95000"/>
                    <a:lumOff val="5000"/>
                  </a:schemeClr>
                </a:solidFill>
                <a:latin typeface="Meiryo"/>
                <a:ea typeface="メイリオ"/>
              </a:rPr>
              <a:t>    </a:t>
            </a:r>
            <a:r>
              <a:rPr b="0" dirty="0">
                <a:solidFill>
                  <a:schemeClr val="tx1">
                    <a:lumMod val="95000"/>
                    <a:lumOff val="5000"/>
                  </a:schemeClr>
                </a:solidFill>
                <a:latin typeface="Meiryo"/>
                <a:ea typeface="メイリオ"/>
              </a:rPr>
              <a:t>3クラ</a:t>
            </a:r>
            <a:r>
              <a:rPr lang="ja-JP" altLang="en-US" b="0" dirty="0">
                <a:solidFill>
                  <a:schemeClr val="tx1">
                    <a:lumMod val="95000"/>
                    <a:lumOff val="5000"/>
                  </a:schemeClr>
                </a:solidFill>
                <a:latin typeface="Meiryo"/>
                <a:ea typeface="メイリオ"/>
              </a:rPr>
              <a:t>ス</a:t>
            </a:r>
            <a:r>
              <a:rPr lang="en-US" altLang="ja-JP" b="0" dirty="0">
                <a:solidFill>
                  <a:schemeClr val="tx1">
                    <a:lumMod val="95000"/>
                    <a:lumOff val="5000"/>
                  </a:schemeClr>
                </a:solidFill>
                <a:latin typeface="Meiryo"/>
                <a:ea typeface="メイリオ"/>
              </a:rPr>
              <a:t>(</a:t>
            </a:r>
            <a:r>
              <a:rPr lang="ja-JP" altLang="en-US" b="0" dirty="0">
                <a:solidFill>
                  <a:schemeClr val="tx1">
                    <a:lumMod val="95000"/>
                    <a:lumOff val="5000"/>
                  </a:schemeClr>
                </a:solidFill>
                <a:latin typeface="Meiryo"/>
                <a:ea typeface="メイリオ"/>
              </a:rPr>
              <a:t>サイレンなど</a:t>
            </a:r>
            <a:r>
              <a:rPr lang="ja-JP" altLang="en-US" dirty="0">
                <a:solidFill>
                  <a:schemeClr val="tx1">
                    <a:lumMod val="95000"/>
                    <a:lumOff val="5000"/>
                  </a:schemeClr>
                </a:solidFill>
                <a:latin typeface="Meiryo"/>
                <a:ea typeface="メイリオ"/>
              </a:rPr>
              <a:t>他</a:t>
            </a:r>
            <a:r>
              <a:rPr lang="en-US" altLang="ja-JP" b="0" dirty="0">
                <a:solidFill>
                  <a:schemeClr val="tx1">
                    <a:lumMod val="95000"/>
                    <a:lumOff val="5000"/>
                  </a:schemeClr>
                </a:solidFill>
                <a:latin typeface="Meiryo"/>
                <a:ea typeface="メイリオ"/>
              </a:rPr>
              <a:t>5</a:t>
            </a:r>
            <a:r>
              <a:rPr lang="ja-JP" altLang="en-US" b="0" dirty="0">
                <a:solidFill>
                  <a:schemeClr val="tx1">
                    <a:lumMod val="95000"/>
                    <a:lumOff val="5000"/>
                  </a:schemeClr>
                </a:solidFill>
                <a:latin typeface="Meiryo"/>
                <a:ea typeface="メイリオ"/>
              </a:rPr>
              <a:t>クラスは検出したら即通知</a:t>
            </a:r>
            <a:r>
              <a:rPr lang="en-US" altLang="ja-JP" b="0" dirty="0">
                <a:solidFill>
                  <a:schemeClr val="tx1">
                    <a:lumMod val="95000"/>
                    <a:lumOff val="5000"/>
                  </a:schemeClr>
                </a:solidFill>
                <a:latin typeface="Meiryo"/>
                <a:ea typeface="メイリオ"/>
              </a:rPr>
              <a:t>)</a:t>
            </a:r>
          </a:p>
        </p:txBody>
      </p:sp>
      <p:sp>
        <p:nvSpPr>
          <p:cNvPr id="56" name="Rectangle 9">
            <a:extLst>
              <a:ext uri="{FF2B5EF4-FFF2-40B4-BE49-F238E27FC236}">
                <a16:creationId xmlns:a16="http://schemas.microsoft.com/office/drawing/2014/main" id="{15A4E584-AFC8-6FCE-F74F-4B83347279C4}"/>
              </a:ext>
            </a:extLst>
          </p:cNvPr>
          <p:cNvSpPr/>
          <p:nvPr/>
        </p:nvSpPr>
        <p:spPr>
          <a:xfrm>
            <a:off x="6960402" y="1952881"/>
            <a:ext cx="4849152" cy="3918530"/>
          </a:xfrm>
          <a:prstGeom prst="rect">
            <a:avLst/>
          </a:prstGeom>
          <a:solidFill>
            <a:srgbClr val="FFFFFF"/>
          </a:solidFill>
          <a:ln w="12700">
            <a:solidFill>
              <a:srgbClr val="D9DAD2"/>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58" name="TextBox 10">
            <a:extLst>
              <a:ext uri="{FF2B5EF4-FFF2-40B4-BE49-F238E27FC236}">
                <a16:creationId xmlns:a16="http://schemas.microsoft.com/office/drawing/2014/main" id="{8CA932B5-D34F-56C9-C22D-14355548FABE}"/>
              </a:ext>
            </a:extLst>
          </p:cNvPr>
          <p:cNvSpPr txBox="1"/>
          <p:nvPr/>
        </p:nvSpPr>
        <p:spPr>
          <a:xfrm>
            <a:off x="7241527" y="2032260"/>
            <a:ext cx="4385816" cy="339324"/>
          </a:xfrm>
          <a:prstGeom prst="rect">
            <a:avLst/>
          </a:prstGeom>
          <a:noFill/>
        </p:spPr>
        <p:txBody>
          <a:bodyPr wrap="none" lIns="0" tIns="0" rIns="0" bIns="0">
            <a:spAutoFit/>
          </a:bodyPr>
          <a:lstStyle/>
          <a:p>
            <a:pPr algn="ctr">
              <a:lnSpc>
                <a:spcPct val="130000"/>
              </a:lnSpc>
              <a:spcAft>
                <a:spcPts val="0"/>
              </a:spcAft>
            </a:pPr>
            <a:r>
              <a:rPr lang="ja-JP" altLang="en-US" b="1" dirty="0">
                <a:solidFill>
                  <a:srgbClr val="16233A"/>
                </a:solidFill>
                <a:latin typeface="メイリオ" panose="020B0604030504040204" pitchFamily="50" charset="-128"/>
                <a:ea typeface="メイリオ" panose="020B0604030504040204" pitchFamily="50" charset="-128"/>
              </a:rPr>
              <a:t>同じ「近づく」でも、鳴らすのは片方だけ</a:t>
            </a:r>
            <a:endParaRPr b="1" dirty="0">
              <a:solidFill>
                <a:srgbClr val="16233A"/>
              </a:solidFill>
              <a:latin typeface="メイリオ" panose="020B0604030504040204" pitchFamily="50" charset="-128"/>
              <a:ea typeface="メイリオ" panose="020B0604030504040204" pitchFamily="50" charset="-128"/>
            </a:endParaRPr>
          </a:p>
        </p:txBody>
      </p:sp>
      <p:sp>
        <p:nvSpPr>
          <p:cNvPr id="60" name="Oval 11">
            <a:extLst>
              <a:ext uri="{FF2B5EF4-FFF2-40B4-BE49-F238E27FC236}">
                <a16:creationId xmlns:a16="http://schemas.microsoft.com/office/drawing/2014/main" id="{CBEAF8F1-EC74-35B3-EE66-1970C6791331}"/>
              </a:ext>
            </a:extLst>
          </p:cNvPr>
          <p:cNvSpPr/>
          <p:nvPr/>
        </p:nvSpPr>
        <p:spPr>
          <a:xfrm>
            <a:off x="7224634" y="3962660"/>
            <a:ext cx="1168400" cy="1168400"/>
          </a:xfrm>
          <a:prstGeom prst="ellipse">
            <a:avLst/>
          </a:prstGeom>
          <a:noFill/>
          <a:ln w="12700">
            <a:solidFill>
              <a:srgbClr val="BFC6CC"/>
            </a:solidFill>
            <a:prstDash val="dash"/>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62" name="Oval 12">
            <a:extLst>
              <a:ext uri="{FF2B5EF4-FFF2-40B4-BE49-F238E27FC236}">
                <a16:creationId xmlns:a16="http://schemas.microsoft.com/office/drawing/2014/main" id="{19DB4650-A04A-0871-F349-9E19A80D7BC4}"/>
              </a:ext>
            </a:extLst>
          </p:cNvPr>
          <p:cNvSpPr/>
          <p:nvPr/>
        </p:nvSpPr>
        <p:spPr>
          <a:xfrm>
            <a:off x="7529434" y="4267460"/>
            <a:ext cx="558800" cy="558800"/>
          </a:xfrm>
          <a:prstGeom prst="ellipse">
            <a:avLst/>
          </a:prstGeom>
          <a:noFill/>
          <a:ln w="12700">
            <a:solidFill>
              <a:srgbClr val="BFC6CC"/>
            </a:solidFill>
            <a:prstDash val="dash"/>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cxnSp>
        <p:nvCxnSpPr>
          <p:cNvPr id="63" name="Connector 13">
            <a:extLst>
              <a:ext uri="{FF2B5EF4-FFF2-40B4-BE49-F238E27FC236}">
                <a16:creationId xmlns:a16="http://schemas.microsoft.com/office/drawing/2014/main" id="{0D76FA87-1F8F-F0EC-B899-A2A761721C65}"/>
              </a:ext>
            </a:extLst>
          </p:cNvPr>
          <p:cNvCxnSpPr/>
          <p:nvPr/>
        </p:nvCxnSpPr>
        <p:spPr>
          <a:xfrm flipH="1">
            <a:off x="7377034" y="2895860"/>
            <a:ext cx="4191000" cy="0"/>
          </a:xfrm>
          <a:prstGeom prst="line">
            <a:avLst/>
          </a:prstGeom>
          <a:ln w="31750">
            <a:solidFill>
              <a:srgbClr val="2F7D6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4" name="Connector 14">
            <a:extLst>
              <a:ext uri="{FF2B5EF4-FFF2-40B4-BE49-F238E27FC236}">
                <a16:creationId xmlns:a16="http://schemas.microsoft.com/office/drawing/2014/main" id="{604D1ACE-160B-EB4D-189C-5007EB1618E0}"/>
              </a:ext>
            </a:extLst>
          </p:cNvPr>
          <p:cNvCxnSpPr/>
          <p:nvPr/>
        </p:nvCxnSpPr>
        <p:spPr>
          <a:xfrm flipV="1">
            <a:off x="7808834" y="2895860"/>
            <a:ext cx="3530600" cy="1651000"/>
          </a:xfrm>
          <a:prstGeom prst="line">
            <a:avLst/>
          </a:prstGeom>
          <a:ln w="12700">
            <a:solidFill>
              <a:srgbClr val="BFC6CC"/>
            </a:solidFill>
            <a:prstDash val="sysDot"/>
          </a:ln>
          <a:effectLst/>
        </p:spPr>
        <p:style>
          <a:lnRef idx="2">
            <a:schemeClr val="accent1"/>
          </a:lnRef>
          <a:fillRef idx="0">
            <a:schemeClr val="accent1"/>
          </a:fillRef>
          <a:effectRef idx="1">
            <a:schemeClr val="accent1"/>
          </a:effectRef>
          <a:fontRef idx="minor">
            <a:schemeClr val="tx1"/>
          </a:fontRef>
        </p:style>
      </p:cxnSp>
      <p:sp>
        <p:nvSpPr>
          <p:cNvPr id="66" name="Oval 15">
            <a:extLst>
              <a:ext uri="{FF2B5EF4-FFF2-40B4-BE49-F238E27FC236}">
                <a16:creationId xmlns:a16="http://schemas.microsoft.com/office/drawing/2014/main" id="{01AFD9BF-FAD3-4A92-1545-80524A6BF624}"/>
              </a:ext>
            </a:extLst>
          </p:cNvPr>
          <p:cNvSpPr/>
          <p:nvPr/>
        </p:nvSpPr>
        <p:spPr>
          <a:xfrm>
            <a:off x="11275934" y="2832360"/>
            <a:ext cx="127000" cy="127000"/>
          </a:xfrm>
          <a:prstGeom prst="ellipse">
            <a:avLst/>
          </a:prstGeom>
          <a:solidFill>
            <a:srgbClr val="2F7D6D"/>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cxnSp>
        <p:nvCxnSpPr>
          <p:cNvPr id="68" name="Connector 16">
            <a:extLst>
              <a:ext uri="{FF2B5EF4-FFF2-40B4-BE49-F238E27FC236}">
                <a16:creationId xmlns:a16="http://schemas.microsoft.com/office/drawing/2014/main" id="{D39B5E96-0D58-8977-A698-423E16646258}"/>
              </a:ext>
            </a:extLst>
          </p:cNvPr>
          <p:cNvCxnSpPr/>
          <p:nvPr/>
        </p:nvCxnSpPr>
        <p:spPr>
          <a:xfrm flipV="1">
            <a:off x="7808834" y="2895860"/>
            <a:ext cx="1117600" cy="1651000"/>
          </a:xfrm>
          <a:prstGeom prst="line">
            <a:avLst/>
          </a:prstGeom>
          <a:ln w="12700">
            <a:solidFill>
              <a:srgbClr val="BFC6CC"/>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Oval 17">
            <a:extLst>
              <a:ext uri="{FF2B5EF4-FFF2-40B4-BE49-F238E27FC236}">
                <a16:creationId xmlns:a16="http://schemas.microsoft.com/office/drawing/2014/main" id="{D4DEE666-7865-747C-A02A-095170BAF255}"/>
              </a:ext>
            </a:extLst>
          </p:cNvPr>
          <p:cNvSpPr/>
          <p:nvPr/>
        </p:nvSpPr>
        <p:spPr>
          <a:xfrm>
            <a:off x="8862934" y="2832360"/>
            <a:ext cx="127000" cy="127000"/>
          </a:xfrm>
          <a:prstGeom prst="ellipse">
            <a:avLst/>
          </a:prstGeom>
          <a:solidFill>
            <a:srgbClr val="2F7D6D"/>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72" name="TextBox 18">
            <a:extLst>
              <a:ext uri="{FF2B5EF4-FFF2-40B4-BE49-F238E27FC236}">
                <a16:creationId xmlns:a16="http://schemas.microsoft.com/office/drawing/2014/main" id="{109A92E7-E876-165E-ACF8-341A703252D1}"/>
              </a:ext>
            </a:extLst>
          </p:cNvPr>
          <p:cNvSpPr txBox="1"/>
          <p:nvPr/>
        </p:nvSpPr>
        <p:spPr>
          <a:xfrm>
            <a:off x="8514923" y="2514860"/>
            <a:ext cx="3154711" cy="339324"/>
          </a:xfrm>
          <a:prstGeom prst="rect">
            <a:avLst/>
          </a:prstGeom>
          <a:noFill/>
        </p:spPr>
        <p:txBody>
          <a:bodyPr wrap="none" lIns="0" tIns="0" rIns="0" bIns="0">
            <a:spAutoFit/>
          </a:bodyPr>
          <a:lstStyle/>
          <a:p>
            <a:pPr algn="r">
              <a:lnSpc>
                <a:spcPct val="130000"/>
              </a:lnSpc>
              <a:spcAft>
                <a:spcPts val="0"/>
              </a:spcAft>
            </a:pPr>
            <a:r>
              <a:rPr b="1" dirty="0" err="1">
                <a:solidFill>
                  <a:srgbClr val="2F7D6D"/>
                </a:solidFill>
                <a:latin typeface="メイリオ" panose="020B0604030504040204" pitchFamily="50" charset="-128"/>
                <a:ea typeface="メイリオ" panose="020B0604030504040204" pitchFamily="50" charset="-128"/>
              </a:rPr>
              <a:t>横を通り過ぎる</a:t>
            </a:r>
            <a:r>
              <a:rPr b="1" dirty="0">
                <a:solidFill>
                  <a:srgbClr val="2F7D6D"/>
                </a:solidFill>
                <a:latin typeface="メイリオ" panose="020B0604030504040204" pitchFamily="50" charset="-128"/>
                <a:ea typeface="メイリオ" panose="020B0604030504040204" pitchFamily="50" charset="-128"/>
              </a:rPr>
              <a:t> → </a:t>
            </a:r>
            <a:r>
              <a:rPr b="1" dirty="0" err="1">
                <a:solidFill>
                  <a:srgbClr val="2F7D6D"/>
                </a:solidFill>
                <a:latin typeface="メイリオ" panose="020B0604030504040204" pitchFamily="50" charset="-128"/>
                <a:ea typeface="メイリオ" panose="020B0604030504040204" pitchFamily="50" charset="-128"/>
              </a:rPr>
              <a:t>鳴らさない</a:t>
            </a:r>
            <a:endParaRPr b="1" dirty="0">
              <a:solidFill>
                <a:srgbClr val="2F7D6D"/>
              </a:solidFill>
              <a:latin typeface="メイリオ" panose="020B0604030504040204" pitchFamily="50" charset="-128"/>
              <a:ea typeface="メイリオ" panose="020B0604030504040204" pitchFamily="50" charset="-128"/>
            </a:endParaRPr>
          </a:p>
        </p:txBody>
      </p:sp>
      <p:sp>
        <p:nvSpPr>
          <p:cNvPr id="73" name="TextBox 19">
            <a:extLst>
              <a:ext uri="{FF2B5EF4-FFF2-40B4-BE49-F238E27FC236}">
                <a16:creationId xmlns:a16="http://schemas.microsoft.com/office/drawing/2014/main" id="{3F0E3272-C675-F5D7-A5FE-C51796CDD0E7}"/>
              </a:ext>
            </a:extLst>
          </p:cNvPr>
          <p:cNvSpPr txBox="1"/>
          <p:nvPr/>
        </p:nvSpPr>
        <p:spPr>
          <a:xfrm>
            <a:off x="7413617" y="2991515"/>
            <a:ext cx="1846659" cy="339324"/>
          </a:xfrm>
          <a:prstGeom prst="rect">
            <a:avLst/>
          </a:prstGeom>
          <a:noFill/>
        </p:spPr>
        <p:txBody>
          <a:bodyPr wrap="none" lIns="0" tIns="0" rIns="0" bIns="0">
            <a:spAutoFit/>
          </a:bodyPr>
          <a:lstStyle/>
          <a:p>
            <a:pPr algn="l">
              <a:lnSpc>
                <a:spcPct val="130000"/>
              </a:lnSpc>
              <a:spcAft>
                <a:spcPts val="0"/>
              </a:spcAft>
            </a:pPr>
            <a:r>
              <a:rPr b="0" dirty="0" err="1">
                <a:solidFill>
                  <a:srgbClr val="2F7D6D"/>
                </a:solidFill>
                <a:latin typeface="メイリオ" panose="020B0604030504040204" pitchFamily="50" charset="-128"/>
                <a:ea typeface="メイリオ" panose="020B0604030504040204" pitchFamily="50" charset="-128"/>
              </a:rPr>
              <a:t>方位が横に流れる</a:t>
            </a:r>
            <a:endParaRPr b="0" dirty="0">
              <a:solidFill>
                <a:srgbClr val="2F7D6D"/>
              </a:solidFill>
              <a:latin typeface="メイリオ" panose="020B0604030504040204" pitchFamily="50" charset="-128"/>
              <a:ea typeface="メイリオ" panose="020B0604030504040204" pitchFamily="50" charset="-128"/>
            </a:endParaRPr>
          </a:p>
        </p:txBody>
      </p:sp>
      <p:cxnSp>
        <p:nvCxnSpPr>
          <p:cNvPr id="74" name="Connector 20">
            <a:extLst>
              <a:ext uri="{FF2B5EF4-FFF2-40B4-BE49-F238E27FC236}">
                <a16:creationId xmlns:a16="http://schemas.microsoft.com/office/drawing/2014/main" id="{9BFD60F9-75AB-1FF9-E4BE-AEC91ABC8DD0}"/>
              </a:ext>
            </a:extLst>
          </p:cNvPr>
          <p:cNvCxnSpPr/>
          <p:nvPr/>
        </p:nvCxnSpPr>
        <p:spPr>
          <a:xfrm flipV="1">
            <a:off x="7808834" y="2895860"/>
            <a:ext cx="0" cy="1066800"/>
          </a:xfrm>
          <a:prstGeom prst="line">
            <a:avLst/>
          </a:prstGeom>
          <a:ln w="12700">
            <a:solidFill>
              <a:srgbClr val="66707F"/>
            </a:solidFill>
            <a:prstDash val="dash"/>
          </a:ln>
          <a:effectLst/>
        </p:spPr>
        <p:style>
          <a:lnRef idx="2">
            <a:schemeClr val="accent1"/>
          </a:lnRef>
          <a:fillRef idx="0">
            <a:schemeClr val="accent1"/>
          </a:fillRef>
          <a:effectRef idx="1">
            <a:schemeClr val="accent1"/>
          </a:effectRef>
          <a:fontRef idx="minor">
            <a:schemeClr val="tx1"/>
          </a:fontRef>
        </p:style>
      </p:cxnSp>
      <p:sp>
        <p:nvSpPr>
          <p:cNvPr id="75" name="TextBox 21">
            <a:extLst>
              <a:ext uri="{FF2B5EF4-FFF2-40B4-BE49-F238E27FC236}">
                <a16:creationId xmlns:a16="http://schemas.microsoft.com/office/drawing/2014/main" id="{623EED82-0E38-B29A-91E8-0C77B2B62D8A}"/>
              </a:ext>
            </a:extLst>
          </p:cNvPr>
          <p:cNvSpPr txBox="1"/>
          <p:nvPr/>
        </p:nvSpPr>
        <p:spPr>
          <a:xfrm>
            <a:off x="7071886" y="3457840"/>
            <a:ext cx="692498" cy="339324"/>
          </a:xfrm>
          <a:prstGeom prst="rect">
            <a:avLst/>
          </a:prstGeom>
          <a:noFill/>
        </p:spPr>
        <p:txBody>
          <a:bodyPr wrap="none" lIns="0" tIns="0" rIns="0" bIns="0">
            <a:spAutoFit/>
          </a:bodyPr>
          <a:lstStyle/>
          <a:p>
            <a:pPr algn="r">
              <a:lnSpc>
                <a:spcPct val="130000"/>
              </a:lnSpc>
              <a:spcAft>
                <a:spcPts val="0"/>
              </a:spcAft>
            </a:pPr>
            <a:r>
              <a:rPr b="0" dirty="0" err="1">
                <a:solidFill>
                  <a:schemeClr val="tx1">
                    <a:lumMod val="95000"/>
                    <a:lumOff val="5000"/>
                  </a:schemeClr>
                </a:solidFill>
                <a:latin typeface="メイリオ" panose="020B0604030504040204" pitchFamily="50" charset="-128"/>
                <a:ea typeface="メイリオ" panose="020B0604030504040204" pitchFamily="50" charset="-128"/>
              </a:rPr>
              <a:t>最接近</a:t>
            </a:r>
            <a:endParaRPr b="0" dirty="0">
              <a:solidFill>
                <a:schemeClr val="tx1">
                  <a:lumMod val="95000"/>
                  <a:lumOff val="5000"/>
                </a:schemeClr>
              </a:solidFill>
              <a:latin typeface="メイリオ" panose="020B0604030504040204" pitchFamily="50" charset="-128"/>
              <a:ea typeface="メイリオ" panose="020B0604030504040204" pitchFamily="50" charset="-128"/>
            </a:endParaRPr>
          </a:p>
        </p:txBody>
      </p:sp>
      <p:cxnSp>
        <p:nvCxnSpPr>
          <p:cNvPr id="76" name="Connector 22">
            <a:extLst>
              <a:ext uri="{FF2B5EF4-FFF2-40B4-BE49-F238E27FC236}">
                <a16:creationId xmlns:a16="http://schemas.microsoft.com/office/drawing/2014/main" id="{CCCB89EA-FCF5-FE2B-10F9-BC333F0B9496}"/>
              </a:ext>
            </a:extLst>
          </p:cNvPr>
          <p:cNvCxnSpPr/>
          <p:nvPr/>
        </p:nvCxnSpPr>
        <p:spPr>
          <a:xfrm flipH="1">
            <a:off x="8520034" y="4546860"/>
            <a:ext cx="3048000" cy="0"/>
          </a:xfrm>
          <a:prstGeom prst="line">
            <a:avLst/>
          </a:prstGeom>
          <a:ln w="31750">
            <a:solidFill>
              <a:srgbClr val="C443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7" name="Oval 23">
            <a:extLst>
              <a:ext uri="{FF2B5EF4-FFF2-40B4-BE49-F238E27FC236}">
                <a16:creationId xmlns:a16="http://schemas.microsoft.com/office/drawing/2014/main" id="{03D130AF-CF58-A0A5-8182-1913EFEB5944}"/>
              </a:ext>
            </a:extLst>
          </p:cNvPr>
          <p:cNvSpPr/>
          <p:nvPr/>
        </p:nvSpPr>
        <p:spPr>
          <a:xfrm>
            <a:off x="11275934" y="4483360"/>
            <a:ext cx="127000" cy="127000"/>
          </a:xfrm>
          <a:prstGeom prst="ellipse">
            <a:avLst/>
          </a:prstGeom>
          <a:solidFill>
            <a:srgbClr val="C4432B"/>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78" name="Oval 24">
            <a:extLst>
              <a:ext uri="{FF2B5EF4-FFF2-40B4-BE49-F238E27FC236}">
                <a16:creationId xmlns:a16="http://schemas.microsoft.com/office/drawing/2014/main" id="{0D6F5A2F-E1DA-C1B4-8471-38B39DEBF166}"/>
              </a:ext>
            </a:extLst>
          </p:cNvPr>
          <p:cNvSpPr/>
          <p:nvPr/>
        </p:nvSpPr>
        <p:spPr>
          <a:xfrm>
            <a:off x="9320134" y="4483360"/>
            <a:ext cx="127000" cy="127000"/>
          </a:xfrm>
          <a:prstGeom prst="ellipse">
            <a:avLst/>
          </a:prstGeom>
          <a:solidFill>
            <a:srgbClr val="C4432B"/>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79" name="TextBox 25">
            <a:extLst>
              <a:ext uri="{FF2B5EF4-FFF2-40B4-BE49-F238E27FC236}">
                <a16:creationId xmlns:a16="http://schemas.microsoft.com/office/drawing/2014/main" id="{80711FA3-89E9-3B32-710C-C62C9C219695}"/>
              </a:ext>
            </a:extLst>
          </p:cNvPr>
          <p:cNvSpPr txBox="1"/>
          <p:nvPr/>
        </p:nvSpPr>
        <p:spPr>
          <a:xfrm>
            <a:off x="9207420" y="4140460"/>
            <a:ext cx="2462214" cy="339324"/>
          </a:xfrm>
          <a:prstGeom prst="rect">
            <a:avLst/>
          </a:prstGeom>
          <a:noFill/>
        </p:spPr>
        <p:txBody>
          <a:bodyPr wrap="none" lIns="0" tIns="0" rIns="0" bIns="0">
            <a:spAutoFit/>
          </a:bodyPr>
          <a:lstStyle/>
          <a:p>
            <a:pPr algn="r">
              <a:lnSpc>
                <a:spcPct val="130000"/>
              </a:lnSpc>
              <a:spcAft>
                <a:spcPts val="0"/>
              </a:spcAft>
            </a:pPr>
            <a:r>
              <a:rPr b="1" dirty="0" err="1">
                <a:solidFill>
                  <a:srgbClr val="C4432B"/>
                </a:solidFill>
                <a:latin typeface="メイリオ" panose="020B0604030504040204" pitchFamily="50" charset="-128"/>
                <a:ea typeface="メイリオ" panose="020B0604030504040204" pitchFamily="50" charset="-128"/>
              </a:rPr>
              <a:t>正面に来る</a:t>
            </a:r>
            <a:r>
              <a:rPr b="1" dirty="0">
                <a:solidFill>
                  <a:srgbClr val="C4432B"/>
                </a:solidFill>
                <a:latin typeface="メイリオ" panose="020B0604030504040204" pitchFamily="50" charset="-128"/>
                <a:ea typeface="メイリオ" panose="020B0604030504040204" pitchFamily="50" charset="-128"/>
              </a:rPr>
              <a:t> → </a:t>
            </a:r>
            <a:r>
              <a:rPr b="1" dirty="0" err="1">
                <a:solidFill>
                  <a:srgbClr val="C4432B"/>
                </a:solidFill>
                <a:latin typeface="メイリオ" panose="020B0604030504040204" pitchFamily="50" charset="-128"/>
                <a:ea typeface="メイリオ" panose="020B0604030504040204" pitchFamily="50" charset="-128"/>
              </a:rPr>
              <a:t>至近警告</a:t>
            </a:r>
            <a:endParaRPr b="1" dirty="0">
              <a:solidFill>
                <a:srgbClr val="C4432B"/>
              </a:solidFill>
              <a:latin typeface="メイリオ" panose="020B0604030504040204" pitchFamily="50" charset="-128"/>
              <a:ea typeface="メイリオ" panose="020B0604030504040204" pitchFamily="50" charset="-128"/>
            </a:endParaRPr>
          </a:p>
        </p:txBody>
      </p:sp>
      <p:sp>
        <p:nvSpPr>
          <p:cNvPr id="80" name="TextBox 26">
            <a:extLst>
              <a:ext uri="{FF2B5EF4-FFF2-40B4-BE49-F238E27FC236}">
                <a16:creationId xmlns:a16="http://schemas.microsoft.com/office/drawing/2014/main" id="{F87C183D-51AD-246E-2DD2-A9D30CC40C9F}"/>
              </a:ext>
            </a:extLst>
          </p:cNvPr>
          <p:cNvSpPr txBox="1"/>
          <p:nvPr/>
        </p:nvSpPr>
        <p:spPr>
          <a:xfrm>
            <a:off x="8668813" y="4724660"/>
            <a:ext cx="3000821" cy="339324"/>
          </a:xfrm>
          <a:prstGeom prst="rect">
            <a:avLst/>
          </a:prstGeom>
          <a:noFill/>
        </p:spPr>
        <p:txBody>
          <a:bodyPr wrap="none" lIns="0" tIns="0" rIns="0" bIns="0">
            <a:spAutoFit/>
          </a:bodyPr>
          <a:lstStyle/>
          <a:p>
            <a:pPr algn="r">
              <a:lnSpc>
                <a:spcPct val="130000"/>
              </a:lnSpc>
              <a:spcAft>
                <a:spcPts val="0"/>
              </a:spcAft>
            </a:pPr>
            <a:r>
              <a:rPr b="0" dirty="0" err="1">
                <a:solidFill>
                  <a:srgbClr val="C4432B"/>
                </a:solidFill>
                <a:latin typeface="メイリオ" panose="020B0604030504040204" pitchFamily="50" charset="-128"/>
                <a:ea typeface="メイリオ" panose="020B0604030504040204" pitchFamily="50" charset="-128"/>
              </a:rPr>
              <a:t>方位が変わらないまま近づく</a:t>
            </a:r>
            <a:endParaRPr b="0" dirty="0">
              <a:solidFill>
                <a:srgbClr val="C4432B"/>
              </a:solidFill>
              <a:latin typeface="メイリオ" panose="020B0604030504040204" pitchFamily="50" charset="-128"/>
              <a:ea typeface="メイリオ" panose="020B0604030504040204" pitchFamily="50" charset="-128"/>
            </a:endParaRPr>
          </a:p>
        </p:txBody>
      </p:sp>
      <p:sp>
        <p:nvSpPr>
          <p:cNvPr id="81" name="Oval 27">
            <a:extLst>
              <a:ext uri="{FF2B5EF4-FFF2-40B4-BE49-F238E27FC236}">
                <a16:creationId xmlns:a16="http://schemas.microsoft.com/office/drawing/2014/main" id="{A25E8916-E7DF-2B4C-7225-4EE3DF6F41B4}"/>
              </a:ext>
            </a:extLst>
          </p:cNvPr>
          <p:cNvSpPr/>
          <p:nvPr/>
        </p:nvSpPr>
        <p:spPr>
          <a:xfrm>
            <a:off x="7719934" y="4457960"/>
            <a:ext cx="177800" cy="177800"/>
          </a:xfrm>
          <a:prstGeom prst="ellipse">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82" name="TextBox 28">
            <a:extLst>
              <a:ext uri="{FF2B5EF4-FFF2-40B4-BE49-F238E27FC236}">
                <a16:creationId xmlns:a16="http://schemas.microsoft.com/office/drawing/2014/main" id="{4FFA3B6C-0B33-33F5-A367-4793E8A53608}"/>
              </a:ext>
            </a:extLst>
          </p:cNvPr>
          <p:cNvSpPr txBox="1"/>
          <p:nvPr/>
        </p:nvSpPr>
        <p:spPr>
          <a:xfrm>
            <a:off x="7462585" y="5169955"/>
            <a:ext cx="692497" cy="339324"/>
          </a:xfrm>
          <a:prstGeom prst="rect">
            <a:avLst/>
          </a:prstGeom>
          <a:noFill/>
        </p:spPr>
        <p:txBody>
          <a:bodyPr wrap="none" lIns="0" tIns="0" rIns="0" bIns="0">
            <a:spAutoFit/>
          </a:bodyPr>
          <a:lstStyle/>
          <a:p>
            <a:pPr algn="ctr">
              <a:lnSpc>
                <a:spcPct val="130000"/>
              </a:lnSpc>
              <a:spcAft>
                <a:spcPts val="0"/>
              </a:spcAft>
            </a:pPr>
            <a:r>
              <a:rPr b="0" dirty="0" err="1">
                <a:solidFill>
                  <a:schemeClr val="tx1">
                    <a:lumMod val="95000"/>
                    <a:lumOff val="5000"/>
                  </a:schemeClr>
                </a:solidFill>
                <a:latin typeface="メイリオ" panose="020B0604030504040204" pitchFamily="50" charset="-128"/>
                <a:ea typeface="メイリオ" panose="020B0604030504040204" pitchFamily="50" charset="-128"/>
              </a:rPr>
              <a:t>歩行者</a:t>
            </a:r>
            <a:endParaRPr b="0" dirty="0">
              <a:solidFill>
                <a:schemeClr val="tx1">
                  <a:lumMod val="95000"/>
                  <a:lumOff val="5000"/>
                </a:schemeClr>
              </a:solidFill>
              <a:latin typeface="メイリオ" panose="020B0604030504040204" pitchFamily="50" charset="-128"/>
              <a:ea typeface="メイリオ" panose="020B0604030504040204" pitchFamily="50" charset="-128"/>
            </a:endParaRPr>
          </a:p>
        </p:txBody>
      </p:sp>
      <p:sp>
        <p:nvSpPr>
          <p:cNvPr id="83" name="TextBox 29">
            <a:extLst>
              <a:ext uri="{FF2B5EF4-FFF2-40B4-BE49-F238E27FC236}">
                <a16:creationId xmlns:a16="http://schemas.microsoft.com/office/drawing/2014/main" id="{B089571C-DFD3-DFC6-4F0C-7382203C8B44}"/>
              </a:ext>
            </a:extLst>
          </p:cNvPr>
          <p:cNvSpPr txBox="1"/>
          <p:nvPr/>
        </p:nvSpPr>
        <p:spPr>
          <a:xfrm>
            <a:off x="7894186" y="5442218"/>
            <a:ext cx="3359895" cy="339324"/>
          </a:xfrm>
          <a:prstGeom prst="rect">
            <a:avLst/>
          </a:prstGeom>
          <a:noFill/>
        </p:spPr>
        <p:txBody>
          <a:bodyPr wrap="none" lIns="0" tIns="0" rIns="0" bIns="0">
            <a:spAutoFit/>
          </a:bodyPr>
          <a:lstStyle/>
          <a:p>
            <a:pPr algn="ctr">
              <a:lnSpc>
                <a:spcPct val="130000"/>
              </a:lnSpc>
              <a:spcAft>
                <a:spcPts val="0"/>
              </a:spcAft>
            </a:pPr>
            <a:r>
              <a:rPr lang="ja-JP" altLang="en-US" b="0" dirty="0">
                <a:solidFill>
                  <a:schemeClr val="bg2">
                    <a:lumMod val="50000"/>
                  </a:schemeClr>
                </a:solidFill>
                <a:latin typeface="メイリオ" panose="020B0604030504040204" pitchFamily="50" charset="-128"/>
                <a:ea typeface="メイリオ" panose="020B0604030504040204" pitchFamily="50" charset="-128"/>
              </a:rPr>
              <a:t>点線</a:t>
            </a:r>
            <a:r>
              <a:rPr lang="ja-JP" altLang="en-US" dirty="0">
                <a:solidFill>
                  <a:schemeClr val="bg2">
                    <a:lumMod val="50000"/>
                  </a:schemeClr>
                </a:solidFill>
                <a:latin typeface="メイリオ" panose="020B0604030504040204" pitchFamily="50" charset="-128"/>
                <a:ea typeface="メイリオ" panose="020B0604030504040204" pitchFamily="50" charset="-128"/>
              </a:rPr>
              <a:t>の円</a:t>
            </a:r>
            <a:r>
              <a:rPr lang="ja-JP" altLang="en-US" b="0" dirty="0">
                <a:solidFill>
                  <a:schemeClr val="bg2">
                    <a:lumMod val="50000"/>
                  </a:schemeClr>
                </a:solidFill>
                <a:latin typeface="メイリオ" panose="020B0604030504040204" pitchFamily="50" charset="-128"/>
                <a:ea typeface="メイリオ" panose="020B0604030504040204" pitchFamily="50" charset="-128"/>
              </a:rPr>
              <a:t> ＝ 距離しきい値</a:t>
            </a:r>
            <a:r>
              <a:rPr lang="en-US" altLang="ja-JP" b="0" dirty="0">
                <a:solidFill>
                  <a:schemeClr val="bg2">
                    <a:lumMod val="50000"/>
                  </a:schemeClr>
                </a:solidFill>
                <a:latin typeface="メイリオ" panose="020B0604030504040204" pitchFamily="50" charset="-128"/>
                <a:ea typeface="メイリオ" panose="020B0604030504040204" pitchFamily="50" charset="-128"/>
              </a:rPr>
              <a:t>(</a:t>
            </a:r>
            <a:r>
              <a:rPr lang="ja-JP" altLang="en-US" b="0" dirty="0">
                <a:solidFill>
                  <a:schemeClr val="bg2">
                    <a:lumMod val="50000"/>
                  </a:schemeClr>
                </a:solidFill>
                <a:latin typeface="メイリオ" panose="020B0604030504040204" pitchFamily="50" charset="-128"/>
                <a:ea typeface="メイリオ" panose="020B0604030504040204" pitchFamily="50" charset="-128"/>
              </a:rPr>
              <a:t>保険</a:t>
            </a:r>
            <a:r>
              <a:rPr lang="en-US" altLang="ja-JP" b="0" dirty="0">
                <a:solidFill>
                  <a:schemeClr val="bg2">
                    <a:lumMod val="50000"/>
                  </a:schemeClr>
                </a:solidFill>
                <a:latin typeface="メイリオ" panose="020B0604030504040204" pitchFamily="50" charset="-128"/>
                <a:ea typeface="メイリオ" panose="020B0604030504040204" pitchFamily="50" charset="-128"/>
              </a:rPr>
              <a:t>)</a:t>
            </a:r>
            <a:endParaRPr b="0" dirty="0">
              <a:solidFill>
                <a:schemeClr val="bg2">
                  <a:lumMod val="50000"/>
                </a:schemeClr>
              </a:solidFill>
              <a:latin typeface="メイリオ" panose="020B0604030504040204" pitchFamily="50" charset="-128"/>
              <a:ea typeface="メイリオ" panose="020B0604030504040204" pitchFamily="50" charset="-128"/>
            </a:endParaRPr>
          </a:p>
        </p:txBody>
      </p:sp>
      <p:sp>
        <p:nvSpPr>
          <p:cNvPr id="23" name="Rounded Rectangle 97">
            <a:extLst>
              <a:ext uri="{FF2B5EF4-FFF2-40B4-BE49-F238E27FC236}">
                <a16:creationId xmlns:a16="http://schemas.microsoft.com/office/drawing/2014/main" id="{421FC055-5F10-842E-3096-5EB9E593FA21}"/>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5" name="Rounded Rectangle 96">
            <a:extLst>
              <a:ext uri="{FF2B5EF4-FFF2-40B4-BE49-F238E27FC236}">
                <a16:creationId xmlns:a16="http://schemas.microsoft.com/office/drawing/2014/main" id="{B1FF2BD3-3355-6D6A-645E-91AEFD7DCF91}"/>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7" name="Rounded Rectangle 95">
            <a:extLst>
              <a:ext uri="{FF2B5EF4-FFF2-40B4-BE49-F238E27FC236}">
                <a16:creationId xmlns:a16="http://schemas.microsoft.com/office/drawing/2014/main" id="{4C47DCB5-A5BD-5437-7CB6-35DF6D814B64}"/>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29" name="Rounded Rectangle 94">
            <a:extLst>
              <a:ext uri="{FF2B5EF4-FFF2-40B4-BE49-F238E27FC236}">
                <a16:creationId xmlns:a16="http://schemas.microsoft.com/office/drawing/2014/main" id="{76375D7D-8644-85F4-1E5E-F2A77F541E73}"/>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1" name="Rounded Rectangle 93">
            <a:extLst>
              <a:ext uri="{FF2B5EF4-FFF2-40B4-BE49-F238E27FC236}">
                <a16:creationId xmlns:a16="http://schemas.microsoft.com/office/drawing/2014/main" id="{0EF7E343-92BA-5C8A-8B14-D511269B07B6}"/>
              </a:ext>
            </a:extLst>
          </p:cNvPr>
          <p:cNvSpPr/>
          <p:nvPr/>
        </p:nvSpPr>
        <p:spPr>
          <a:xfrm>
            <a:off x="4244759" y="6392061"/>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研究の前提</a:t>
            </a:r>
            <a:endParaRPr sz="1600" b="1" dirty="0">
              <a:solidFill>
                <a:schemeClr val="bg1"/>
              </a:solidFill>
              <a:latin typeface="Meiryo"/>
              <a:ea typeface="メイリオ"/>
            </a:endParaRPr>
          </a:p>
        </p:txBody>
      </p:sp>
      <p:sp>
        <p:nvSpPr>
          <p:cNvPr id="33" name="Rounded Rectangle 92">
            <a:extLst>
              <a:ext uri="{FF2B5EF4-FFF2-40B4-BE49-F238E27FC236}">
                <a16:creationId xmlns:a16="http://schemas.microsoft.com/office/drawing/2014/main" id="{AF8BE0E2-EE15-3D42-3F41-9888377ABA42}"/>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2551885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D867D-B7ED-E75B-FB98-AEB7484BE33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39F70F6-FC23-B485-19CB-40086E4D81B6}"/>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5FF51DA5-ED43-1258-0C9C-5AA9A7DB04B1}"/>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F7AE4AD6-D6D7-9BCF-95CB-C42A2C337A64}"/>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BA6EBF0B-DF33-4A6D-C295-FFE94F7B7AB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66DD5BF9-F780-DE3A-455C-8338B1227631}"/>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575FF166-9A68-A2D8-43AC-6AEA9B51EA1A}"/>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3A462C4D-8CE1-C0B5-7975-7B8E065ACBF5}"/>
              </a:ext>
            </a:extLst>
          </p:cNvPr>
          <p:cNvSpPr>
            <a:spLocks noGrp="1"/>
          </p:cNvSpPr>
          <p:nvPr>
            <p:ph type="sldNum" sz="quarter" idx="12"/>
          </p:nvPr>
        </p:nvSpPr>
        <p:spPr/>
        <p:txBody>
          <a:bodyPr/>
          <a:lstStyle/>
          <a:p>
            <a:fld id="{4E9148DC-F7ED-4428-85F4-2C78C4B0CFB7}" type="slidenum">
              <a:rPr kumimoji="1" lang="ja-JP" altLang="en-US" smtClean="0"/>
              <a:t>6</a:t>
            </a:fld>
            <a:endParaRPr kumimoji="1" lang="ja-JP" altLang="en-US"/>
          </a:p>
        </p:txBody>
      </p:sp>
      <p:sp>
        <p:nvSpPr>
          <p:cNvPr id="9" name="TextBox 28">
            <a:extLst>
              <a:ext uri="{FF2B5EF4-FFF2-40B4-BE49-F238E27FC236}">
                <a16:creationId xmlns:a16="http://schemas.microsoft.com/office/drawing/2014/main" id="{6E7306C2-7491-0754-7844-65B87972B605}"/>
              </a:ext>
            </a:extLst>
          </p:cNvPr>
          <p:cNvSpPr txBox="1"/>
          <p:nvPr/>
        </p:nvSpPr>
        <p:spPr>
          <a:xfrm>
            <a:off x="938240" y="1592777"/>
            <a:ext cx="10997086" cy="4117153"/>
          </a:xfrm>
          <a:prstGeom prst="rect">
            <a:avLst/>
          </a:prstGeom>
        </p:spPr>
        <p:txBody>
          <a:bodyPr wrap="square" lIns="0" tIns="0" rIns="0" bIns="0" rtlCol="0" anchor="t">
            <a:spAutoFit/>
          </a:bodyPr>
          <a:lstStyle/>
          <a:p>
            <a:pPr>
              <a:lnSpc>
                <a:spcPts val="2300"/>
              </a:lnSpc>
            </a:pPr>
            <a:r>
              <a:rPr lang="ja-JP" altLang="en-US"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①</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狭いところをすり抜けていく車と対向してくる車が、同じ至近警告になって区別できないのではないか。</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方位の変化率で区別する仕組みを実装。</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②</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振動による方向指示のデバイスは、全盲や弱視の方向けの製品やノウハウもいろいろあるため、参考になるかもしれない。</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先行研究を調べ、首元は</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4〜6</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方向が現実的。</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③</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前方を検出対象外としているが、研究上はとりあえず全方位録ってみるでいいのでは。</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記録紙に前方の欄を追加。</a:t>
            </a:r>
          </a:p>
          <a:p>
            <a:pPr marL="285750" indent="-285750">
              <a:lnSpc>
                <a:spcPts val="2300"/>
              </a:lnSpc>
              <a:buFont typeface="Wingdings" panose="05000000000000000000" pitchFamily="2" charset="2"/>
              <a:buChar char="Ø"/>
            </a:pP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④振動デバイスを一から作るとハードルが高そう。</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Joy-con</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と</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Unity</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とかで簡単に作ってみてもいいかもしれない。</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自身の</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Switch</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の</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Joy-con</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を用いて</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Unity</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で作成し、振動成功。</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p:txBody>
      </p:sp>
      <p:sp>
        <p:nvSpPr>
          <p:cNvPr id="24" name="TextBox 13">
            <a:extLst>
              <a:ext uri="{FF2B5EF4-FFF2-40B4-BE49-F238E27FC236}">
                <a16:creationId xmlns:a16="http://schemas.microsoft.com/office/drawing/2014/main" id="{BE262F6C-BC81-9AE4-EB38-A60169E8097A}"/>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夏ゼミの振り返り</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40" name="Rounded Rectangle 97">
            <a:extLst>
              <a:ext uri="{FF2B5EF4-FFF2-40B4-BE49-F238E27FC236}">
                <a16:creationId xmlns:a16="http://schemas.microsoft.com/office/drawing/2014/main" id="{914DE949-0991-67D4-AB2B-98F3B2ECCDF1}"/>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3" name="Rounded Rectangle 96">
            <a:extLst>
              <a:ext uri="{FF2B5EF4-FFF2-40B4-BE49-F238E27FC236}">
                <a16:creationId xmlns:a16="http://schemas.microsoft.com/office/drawing/2014/main" id="{7A994D12-DD0C-75EE-8644-2BF9590498AD}"/>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5" name="Rounded Rectangle 95">
            <a:extLst>
              <a:ext uri="{FF2B5EF4-FFF2-40B4-BE49-F238E27FC236}">
                <a16:creationId xmlns:a16="http://schemas.microsoft.com/office/drawing/2014/main" id="{A56F7C01-3AD6-BB61-CB1B-36F569B6E173}"/>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7" name="Rounded Rectangle 94">
            <a:extLst>
              <a:ext uri="{FF2B5EF4-FFF2-40B4-BE49-F238E27FC236}">
                <a16:creationId xmlns:a16="http://schemas.microsoft.com/office/drawing/2014/main" id="{4733988C-0032-8CA4-A3BC-927E2D2529E4}"/>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9" name="Rounded Rectangle 93">
            <a:extLst>
              <a:ext uri="{FF2B5EF4-FFF2-40B4-BE49-F238E27FC236}">
                <a16:creationId xmlns:a16="http://schemas.microsoft.com/office/drawing/2014/main" id="{9B7B63CE-4523-B8B6-419E-5BB95734BDD4}"/>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2" name="Rounded Rectangle 92">
            <a:extLst>
              <a:ext uri="{FF2B5EF4-FFF2-40B4-BE49-F238E27FC236}">
                <a16:creationId xmlns:a16="http://schemas.microsoft.com/office/drawing/2014/main" id="{D10AA6A2-653A-C47C-98E3-CF66B115F269}"/>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423241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8194D-3126-63EE-9794-B2B5524750B6}"/>
            </a:ext>
          </a:extLst>
        </p:cNvPr>
        <p:cNvGrpSpPr/>
        <p:nvPr/>
      </p:nvGrpSpPr>
      <p:grpSpPr>
        <a:xfrm>
          <a:off x="0" y="0"/>
          <a:ext cx="0" cy="0"/>
          <a:chOff x="0" y="0"/>
          <a:chExt cx="0" cy="0"/>
        </a:xfrm>
      </p:grpSpPr>
      <p:sp>
        <p:nvSpPr>
          <p:cNvPr id="10" name="Rectangle 30">
            <a:extLst>
              <a:ext uri="{FF2B5EF4-FFF2-40B4-BE49-F238E27FC236}">
                <a16:creationId xmlns:a16="http://schemas.microsoft.com/office/drawing/2014/main" id="{9DB4937B-B01D-A5C2-7DC2-915689D430E3}"/>
              </a:ext>
            </a:extLst>
          </p:cNvPr>
          <p:cNvSpPr/>
          <p:nvPr/>
        </p:nvSpPr>
        <p:spPr>
          <a:xfrm>
            <a:off x="6676411" y="1521482"/>
            <a:ext cx="4699000" cy="3482323"/>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AutoShape 2">
            <a:extLst>
              <a:ext uri="{FF2B5EF4-FFF2-40B4-BE49-F238E27FC236}">
                <a16:creationId xmlns:a16="http://schemas.microsoft.com/office/drawing/2014/main" id="{9F1ECED9-6CFC-1ABF-39BA-27628B29E482}"/>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5AD6201-8330-3647-4109-30012DEF790F}"/>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4BA0D73D-7419-7BC0-2A8F-A0D47B6F9571}"/>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D63D2835-8811-F829-F30C-71E35A2ACC39}"/>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7BC4D4C4-9944-0DA2-2035-5A5EBCBF2CD1}"/>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CBFF9B14-11A6-6E10-C746-14CDEC5E5AB2}"/>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5944C6CB-9BE6-D528-DBC6-F471CCF94877}"/>
              </a:ext>
            </a:extLst>
          </p:cNvPr>
          <p:cNvSpPr>
            <a:spLocks noGrp="1"/>
          </p:cNvSpPr>
          <p:nvPr>
            <p:ph type="sldNum" sz="quarter" idx="12"/>
          </p:nvPr>
        </p:nvSpPr>
        <p:spPr/>
        <p:txBody>
          <a:bodyPr/>
          <a:lstStyle/>
          <a:p>
            <a:fld id="{4E9148DC-F7ED-4428-85F4-2C78C4B0CFB7}" type="slidenum">
              <a:rPr kumimoji="1" lang="ja-JP" altLang="en-US" smtClean="0"/>
              <a:t>7</a:t>
            </a:fld>
            <a:endParaRPr kumimoji="1" lang="ja-JP" altLang="en-US"/>
          </a:p>
        </p:txBody>
      </p:sp>
      <p:sp>
        <p:nvSpPr>
          <p:cNvPr id="24" name="TextBox 13">
            <a:extLst>
              <a:ext uri="{FF2B5EF4-FFF2-40B4-BE49-F238E27FC236}">
                <a16:creationId xmlns:a16="http://schemas.microsoft.com/office/drawing/2014/main" id="{4F25F2BC-488D-E2C4-B4CD-B07A0602120B}"/>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①すり抜けと対向を、どう区別するか</a:t>
            </a:r>
          </a:p>
        </p:txBody>
      </p:sp>
      <p:sp>
        <p:nvSpPr>
          <p:cNvPr id="11" name="Rectangle 11">
            <a:extLst>
              <a:ext uri="{FF2B5EF4-FFF2-40B4-BE49-F238E27FC236}">
                <a16:creationId xmlns:a16="http://schemas.microsoft.com/office/drawing/2014/main" id="{57EBCEEF-039C-CB49-2DE5-A1E04C16876C}"/>
              </a:ext>
            </a:extLst>
          </p:cNvPr>
          <p:cNvSpPr/>
          <p:nvPr/>
        </p:nvSpPr>
        <p:spPr>
          <a:xfrm>
            <a:off x="976651" y="1521482"/>
            <a:ext cx="5461000" cy="3482323"/>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2">
            <a:extLst>
              <a:ext uri="{FF2B5EF4-FFF2-40B4-BE49-F238E27FC236}">
                <a16:creationId xmlns:a16="http://schemas.microsoft.com/office/drawing/2014/main" id="{CD87BDC3-133D-DF0E-FB49-0D42731D63BC}"/>
              </a:ext>
            </a:extLst>
          </p:cNvPr>
          <p:cNvSpPr txBox="1"/>
          <p:nvPr/>
        </p:nvSpPr>
        <p:spPr>
          <a:xfrm>
            <a:off x="1179851" y="1673883"/>
            <a:ext cx="503174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装着者から見た「方向」の変わり方</a:t>
            </a:r>
            <a:endParaRPr b="1" dirty="0">
              <a:solidFill>
                <a:schemeClr val="tx1">
                  <a:lumMod val="95000"/>
                  <a:lumOff val="5000"/>
                </a:schemeClr>
              </a:solidFill>
              <a:latin typeface="Meiryo"/>
              <a:ea typeface="メイリオ"/>
            </a:endParaRPr>
          </a:p>
        </p:txBody>
      </p:sp>
      <p:sp>
        <p:nvSpPr>
          <p:cNvPr id="13" name="Oval 13">
            <a:extLst>
              <a:ext uri="{FF2B5EF4-FFF2-40B4-BE49-F238E27FC236}">
                <a16:creationId xmlns:a16="http://schemas.microsoft.com/office/drawing/2014/main" id="{D4E5CB31-41BC-3C5C-1066-D00BFB7C0A77}"/>
              </a:ext>
            </a:extLst>
          </p:cNvPr>
          <p:cNvSpPr/>
          <p:nvPr/>
        </p:nvSpPr>
        <p:spPr>
          <a:xfrm>
            <a:off x="3605551" y="4086883"/>
            <a:ext cx="203200" cy="203200"/>
          </a:xfrm>
          <a:prstGeom prst="ellipse">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a:extLst>
              <a:ext uri="{FF2B5EF4-FFF2-40B4-BE49-F238E27FC236}">
                <a16:creationId xmlns:a16="http://schemas.microsoft.com/office/drawing/2014/main" id="{5B071D2B-BE82-36BB-A6C1-4FDD937356FB}"/>
              </a:ext>
            </a:extLst>
          </p:cNvPr>
          <p:cNvSpPr txBox="1"/>
          <p:nvPr/>
        </p:nvSpPr>
        <p:spPr>
          <a:xfrm>
            <a:off x="2818151" y="4340883"/>
            <a:ext cx="1778000" cy="271869"/>
          </a:xfrm>
          <a:prstGeom prst="rect">
            <a:avLst/>
          </a:prstGeom>
          <a:noFill/>
        </p:spPr>
        <p:txBody>
          <a:bodyPr wrap="square" lIns="25400" tIns="12700" rIns="25400" bIns="12700" anchor="t">
            <a:spAutoFit/>
          </a:bodyPr>
          <a:lstStyle/>
          <a:p>
            <a:pPr algn="ctr"/>
            <a:r>
              <a:rPr sz="1600" b="0" dirty="0" err="1">
                <a:solidFill>
                  <a:srgbClr val="595F6E"/>
                </a:solidFill>
                <a:latin typeface="Meiryo"/>
                <a:ea typeface="メイリオ"/>
              </a:rPr>
              <a:t>装着者</a:t>
            </a:r>
            <a:endParaRPr sz="1600" b="0" dirty="0">
              <a:solidFill>
                <a:srgbClr val="595F6E"/>
              </a:solidFill>
              <a:latin typeface="Meiryo"/>
              <a:ea typeface="メイリオ"/>
            </a:endParaRPr>
          </a:p>
        </p:txBody>
      </p:sp>
      <p:sp>
        <p:nvSpPr>
          <p:cNvPr id="15" name="Rectangle 15">
            <a:extLst>
              <a:ext uri="{FF2B5EF4-FFF2-40B4-BE49-F238E27FC236}">
                <a16:creationId xmlns:a16="http://schemas.microsoft.com/office/drawing/2014/main" id="{E81CE798-BB06-8357-BFBC-CF0A64F8E22A}"/>
              </a:ext>
            </a:extLst>
          </p:cNvPr>
          <p:cNvSpPr/>
          <p:nvPr/>
        </p:nvSpPr>
        <p:spPr>
          <a:xfrm>
            <a:off x="3691911" y="2258083"/>
            <a:ext cx="30480" cy="1752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6">
            <a:extLst>
              <a:ext uri="{FF2B5EF4-FFF2-40B4-BE49-F238E27FC236}">
                <a16:creationId xmlns:a16="http://schemas.microsoft.com/office/drawing/2014/main" id="{97777B49-6871-BBD0-528D-FB0BB7E68DBC}"/>
              </a:ext>
            </a:extLst>
          </p:cNvPr>
          <p:cNvSpPr/>
          <p:nvPr/>
        </p:nvSpPr>
        <p:spPr>
          <a:xfrm>
            <a:off x="3618251" y="2181883"/>
            <a:ext cx="177800" cy="1778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7">
            <a:extLst>
              <a:ext uri="{FF2B5EF4-FFF2-40B4-BE49-F238E27FC236}">
                <a16:creationId xmlns:a16="http://schemas.microsoft.com/office/drawing/2014/main" id="{650BD9BA-1184-008A-6A01-4F376D3F4D8D}"/>
              </a:ext>
            </a:extLst>
          </p:cNvPr>
          <p:cNvSpPr txBox="1"/>
          <p:nvPr/>
        </p:nvSpPr>
        <p:spPr>
          <a:xfrm>
            <a:off x="1802151" y="2134824"/>
            <a:ext cx="1779249" cy="589264"/>
          </a:xfrm>
          <a:prstGeom prst="rect">
            <a:avLst/>
          </a:prstGeom>
          <a:noFill/>
        </p:spPr>
        <p:txBody>
          <a:bodyPr wrap="square" lIns="25400" tIns="12700" rIns="25400" bIns="12700" anchor="t">
            <a:spAutoFit/>
          </a:bodyPr>
          <a:lstStyle/>
          <a:p>
            <a:pPr algn="r">
              <a:lnSpc>
                <a:spcPct val="125000"/>
              </a:lnSpc>
            </a:pPr>
            <a:r>
              <a:rPr sz="1600" b="1" dirty="0" err="1">
                <a:solidFill>
                  <a:srgbClr val="C0392B"/>
                </a:solidFill>
                <a:latin typeface="Meiryo"/>
                <a:ea typeface="メイリオ"/>
              </a:rPr>
              <a:t>対向型</a:t>
            </a:r>
            <a:endParaRPr sz="1600" b="1" dirty="0">
              <a:solidFill>
                <a:srgbClr val="C0392B"/>
              </a:solidFill>
              <a:latin typeface="Meiryo"/>
              <a:ea typeface="メイリオ"/>
            </a:endParaRPr>
          </a:p>
          <a:p>
            <a:pPr algn="r">
              <a:lnSpc>
                <a:spcPct val="125000"/>
              </a:lnSpc>
            </a:pPr>
            <a:r>
              <a:rPr sz="1400" b="0" dirty="0" err="1">
                <a:solidFill>
                  <a:srgbClr val="595F6E"/>
                </a:solidFill>
                <a:latin typeface="Meiryo"/>
                <a:ea typeface="メイリオ"/>
              </a:rPr>
              <a:t>方位が変わらない</a:t>
            </a:r>
            <a:endParaRPr sz="1400" b="0" dirty="0">
              <a:solidFill>
                <a:srgbClr val="595F6E"/>
              </a:solidFill>
              <a:latin typeface="Meiryo"/>
              <a:ea typeface="メイリオ"/>
            </a:endParaRPr>
          </a:p>
        </p:txBody>
      </p:sp>
      <p:sp>
        <p:nvSpPr>
          <p:cNvPr id="18" name="Rectangle 18">
            <a:extLst>
              <a:ext uri="{FF2B5EF4-FFF2-40B4-BE49-F238E27FC236}">
                <a16:creationId xmlns:a16="http://schemas.microsoft.com/office/drawing/2014/main" id="{29E0792E-4652-0D66-60EC-6065521004EC}"/>
              </a:ext>
            </a:extLst>
          </p:cNvPr>
          <p:cNvSpPr/>
          <p:nvPr/>
        </p:nvSpPr>
        <p:spPr>
          <a:xfrm>
            <a:off x="1484651" y="3020083"/>
            <a:ext cx="4445000" cy="304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Isosceles Triangle 19">
            <a:extLst>
              <a:ext uri="{FF2B5EF4-FFF2-40B4-BE49-F238E27FC236}">
                <a16:creationId xmlns:a16="http://schemas.microsoft.com/office/drawing/2014/main" id="{1D50F52C-28B1-6BE9-C83A-CAC628C79FC4}"/>
              </a:ext>
            </a:extLst>
          </p:cNvPr>
          <p:cNvSpPr/>
          <p:nvPr/>
        </p:nvSpPr>
        <p:spPr>
          <a:xfrm>
            <a:off x="5497851" y="2943883"/>
            <a:ext cx="177800" cy="177800"/>
          </a:xfrm>
          <a:prstGeom prst="triangl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0">
            <a:extLst>
              <a:ext uri="{FF2B5EF4-FFF2-40B4-BE49-F238E27FC236}">
                <a16:creationId xmlns:a16="http://schemas.microsoft.com/office/drawing/2014/main" id="{0D3A5680-8D0E-FF34-1B37-B4D31F5F0BF0}"/>
              </a:ext>
            </a:extLst>
          </p:cNvPr>
          <p:cNvSpPr txBox="1"/>
          <p:nvPr/>
        </p:nvSpPr>
        <p:spPr>
          <a:xfrm>
            <a:off x="3921637" y="2443519"/>
            <a:ext cx="1613807" cy="589264"/>
          </a:xfrm>
          <a:prstGeom prst="rect">
            <a:avLst/>
          </a:prstGeom>
          <a:noFill/>
        </p:spPr>
        <p:txBody>
          <a:bodyPr wrap="square" lIns="25400" tIns="12700" rIns="25400" bIns="12700" anchor="t">
            <a:spAutoFit/>
          </a:bodyPr>
          <a:lstStyle/>
          <a:p>
            <a:pPr algn="l">
              <a:lnSpc>
                <a:spcPct val="125000"/>
              </a:lnSpc>
            </a:pPr>
            <a:r>
              <a:rPr sz="1600" b="1" dirty="0" err="1">
                <a:solidFill>
                  <a:srgbClr val="2E7D5B"/>
                </a:solidFill>
                <a:latin typeface="Meiryo"/>
                <a:ea typeface="メイリオ"/>
              </a:rPr>
              <a:t>すり抜け型</a:t>
            </a:r>
            <a:endParaRPr sz="1600" b="1" dirty="0">
              <a:solidFill>
                <a:srgbClr val="2E7D5B"/>
              </a:solidFill>
              <a:latin typeface="Meiryo"/>
              <a:ea typeface="メイリオ"/>
            </a:endParaRPr>
          </a:p>
          <a:p>
            <a:pPr algn="l">
              <a:lnSpc>
                <a:spcPct val="125000"/>
              </a:lnSpc>
            </a:pPr>
            <a:r>
              <a:rPr sz="1400" b="0" dirty="0" err="1">
                <a:solidFill>
                  <a:srgbClr val="595F6E"/>
                </a:solidFill>
                <a:latin typeface="Meiryo"/>
                <a:ea typeface="メイリオ"/>
              </a:rPr>
              <a:t>方位が速く変わる</a:t>
            </a:r>
            <a:endParaRPr sz="1400" b="0" dirty="0">
              <a:solidFill>
                <a:srgbClr val="595F6E"/>
              </a:solidFill>
              <a:latin typeface="Meiryo"/>
              <a:ea typeface="メイリオ"/>
            </a:endParaRPr>
          </a:p>
        </p:txBody>
      </p:sp>
      <p:sp>
        <p:nvSpPr>
          <p:cNvPr id="21" name="Rectangle 21">
            <a:extLst>
              <a:ext uri="{FF2B5EF4-FFF2-40B4-BE49-F238E27FC236}">
                <a16:creationId xmlns:a16="http://schemas.microsoft.com/office/drawing/2014/main" id="{5981F55D-891E-82ED-A5DD-B7E2354EA482}"/>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2">
            <a:extLst>
              <a:ext uri="{FF2B5EF4-FFF2-40B4-BE49-F238E27FC236}">
                <a16:creationId xmlns:a16="http://schemas.microsoft.com/office/drawing/2014/main" id="{38493D0F-423A-4FC0-10AA-F34889786FEB}"/>
              </a:ext>
            </a:extLst>
          </p:cNvPr>
          <p:cNvCxnSpPr/>
          <p:nvPr/>
        </p:nvCxnSpPr>
        <p:spPr>
          <a:xfrm flipH="1" flipV="1">
            <a:off x="1802151" y="3032783"/>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DB124A70-5D35-6E6E-B947-788A8FF9AC99}"/>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1F2FC0BF-C816-0728-66A0-0803DA93193F}"/>
              </a:ext>
            </a:extLst>
          </p:cNvPr>
          <p:cNvCxnSpPr/>
          <p:nvPr/>
        </p:nvCxnSpPr>
        <p:spPr>
          <a:xfrm flipH="1" flipV="1">
            <a:off x="2945151" y="3032783"/>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9F593768-FE32-5255-9C25-23A84665EC40}"/>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6">
            <a:extLst>
              <a:ext uri="{FF2B5EF4-FFF2-40B4-BE49-F238E27FC236}">
                <a16:creationId xmlns:a16="http://schemas.microsoft.com/office/drawing/2014/main" id="{2E75C03D-7DCD-462F-5A77-0E4D9105C8DC}"/>
              </a:ext>
            </a:extLst>
          </p:cNvPr>
          <p:cNvCxnSpPr/>
          <p:nvPr/>
        </p:nvCxnSpPr>
        <p:spPr>
          <a:xfrm flipV="1">
            <a:off x="3707151" y="3032783"/>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9" name="Rectangle 27">
            <a:extLst>
              <a:ext uri="{FF2B5EF4-FFF2-40B4-BE49-F238E27FC236}">
                <a16:creationId xmlns:a16="http://schemas.microsoft.com/office/drawing/2014/main" id="{551C0798-77BF-FD6D-AC28-08F0AEBA808B}"/>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28">
            <a:extLst>
              <a:ext uri="{FF2B5EF4-FFF2-40B4-BE49-F238E27FC236}">
                <a16:creationId xmlns:a16="http://schemas.microsoft.com/office/drawing/2014/main" id="{5C81035E-7F95-3459-B3F8-F190736CB27C}"/>
              </a:ext>
            </a:extLst>
          </p:cNvPr>
          <p:cNvCxnSpPr/>
          <p:nvPr/>
        </p:nvCxnSpPr>
        <p:spPr>
          <a:xfrm flipV="1">
            <a:off x="3707151" y="3032783"/>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32" name="TextBox 29">
            <a:extLst>
              <a:ext uri="{FF2B5EF4-FFF2-40B4-BE49-F238E27FC236}">
                <a16:creationId xmlns:a16="http://schemas.microsoft.com/office/drawing/2014/main" id="{E26C1ED9-01AD-A232-2FB3-7C23EABC30FF}"/>
              </a:ext>
            </a:extLst>
          </p:cNvPr>
          <p:cNvSpPr txBox="1"/>
          <p:nvPr/>
        </p:nvSpPr>
        <p:spPr>
          <a:xfrm>
            <a:off x="1179851" y="4691878"/>
            <a:ext cx="5054600" cy="271869"/>
          </a:xfrm>
          <a:prstGeom prst="rect">
            <a:avLst/>
          </a:prstGeom>
          <a:noFill/>
        </p:spPr>
        <p:txBody>
          <a:bodyPr wrap="square" lIns="25400" tIns="12700" rIns="25400" bIns="12700" anchor="t">
            <a:spAutoFit/>
          </a:bodyPr>
          <a:lstStyle/>
          <a:p>
            <a:pPr algn="ctr"/>
            <a:r>
              <a:rPr sz="1600" b="0" dirty="0">
                <a:solidFill>
                  <a:srgbClr val="8A8F9A"/>
                </a:solidFill>
                <a:latin typeface="Meiryo"/>
                <a:ea typeface="メイリオ"/>
              </a:rPr>
              <a:t>判定に使うのは、最接近の2.5〜1.5秒前の区間</a:t>
            </a:r>
          </a:p>
        </p:txBody>
      </p:sp>
      <p:sp>
        <p:nvSpPr>
          <p:cNvPr id="36" name="TextBox 32">
            <a:extLst>
              <a:ext uri="{FF2B5EF4-FFF2-40B4-BE49-F238E27FC236}">
                <a16:creationId xmlns:a16="http://schemas.microsoft.com/office/drawing/2014/main" id="{B51C1368-5613-6BC1-C2E6-95C5835A948C}"/>
              </a:ext>
            </a:extLst>
          </p:cNvPr>
          <p:cNvSpPr txBox="1"/>
          <p:nvPr/>
        </p:nvSpPr>
        <p:spPr>
          <a:xfrm>
            <a:off x="6894851" y="1699283"/>
            <a:ext cx="5669094" cy="302647"/>
          </a:xfrm>
          <a:prstGeom prst="rect">
            <a:avLst/>
          </a:prstGeom>
          <a:noFill/>
        </p:spPr>
        <p:txBody>
          <a:bodyPr wrap="square" lIns="25400" tIns="12700" rIns="25400" bIns="12700" anchor="t">
            <a:spAutoFit/>
          </a:bodyPr>
          <a:lstStyle/>
          <a:p>
            <a:pPr algn="l"/>
            <a:r>
              <a:rPr b="1" dirty="0">
                <a:solidFill>
                  <a:schemeClr val="tx1">
                    <a:lumMod val="95000"/>
                    <a:lumOff val="5000"/>
                  </a:schemeClr>
                </a:solidFill>
                <a:latin typeface="Meiryo"/>
                <a:ea typeface="メイリオ"/>
              </a:rPr>
              <a:t>救済ルートを1本足した</a:t>
            </a:r>
          </a:p>
        </p:txBody>
      </p:sp>
      <p:sp>
        <p:nvSpPr>
          <p:cNvPr id="39" name="Oval 34">
            <a:extLst>
              <a:ext uri="{FF2B5EF4-FFF2-40B4-BE49-F238E27FC236}">
                <a16:creationId xmlns:a16="http://schemas.microsoft.com/office/drawing/2014/main" id="{5DEDFF64-ACA4-94F5-9299-9617903EEF85}"/>
              </a:ext>
            </a:extLst>
          </p:cNvPr>
          <p:cNvSpPr/>
          <p:nvPr/>
        </p:nvSpPr>
        <p:spPr>
          <a:xfrm>
            <a:off x="6920251" y="2317711"/>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100" b="1">
                <a:solidFill>
                  <a:srgbClr val="FFFFFF"/>
                </a:solidFill>
                <a:latin typeface="Meiryo"/>
                <a:ea typeface="メイリオ"/>
              </a:rPr>
              <a:t>1</a:t>
            </a:r>
          </a:p>
        </p:txBody>
      </p:sp>
      <p:sp>
        <p:nvSpPr>
          <p:cNvPr id="40" name="TextBox 35">
            <a:extLst>
              <a:ext uri="{FF2B5EF4-FFF2-40B4-BE49-F238E27FC236}">
                <a16:creationId xmlns:a16="http://schemas.microsoft.com/office/drawing/2014/main" id="{84B5F30F-610B-65B3-8E49-9A057760BB16}"/>
              </a:ext>
            </a:extLst>
          </p:cNvPr>
          <p:cNvSpPr txBox="1"/>
          <p:nvPr/>
        </p:nvSpPr>
        <p:spPr>
          <a:xfrm>
            <a:off x="7275851" y="2100996"/>
            <a:ext cx="3937000" cy="534442"/>
          </a:xfrm>
          <a:prstGeom prst="rect">
            <a:avLst/>
          </a:prstGeom>
          <a:noFill/>
        </p:spPr>
        <p:txBody>
          <a:bodyPr wrap="square" lIns="25400" tIns="12700" rIns="25400" bIns="12700" anchor="t">
            <a:spAutoFit/>
          </a:bodyPr>
          <a:lstStyle/>
          <a:p>
            <a:pPr algn="l">
              <a:lnSpc>
                <a:spcPct val="125000"/>
              </a:lnSpc>
            </a:pPr>
            <a:r>
              <a:rPr sz="1600" b="1" dirty="0" err="1">
                <a:solidFill>
                  <a:schemeClr val="tx1">
                    <a:lumMod val="95000"/>
                    <a:lumOff val="5000"/>
                  </a:schemeClr>
                </a:solidFill>
                <a:latin typeface="Meiryo"/>
                <a:ea typeface="メイリオ"/>
              </a:rPr>
              <a:t>方位がほとんど変わらない</a:t>
            </a:r>
            <a:endParaRPr sz="1600" b="1" dirty="0">
              <a:solidFill>
                <a:schemeClr val="tx1">
                  <a:lumMod val="95000"/>
                  <a:lumOff val="5000"/>
                </a:schemeClr>
              </a:solidFill>
              <a:latin typeface="Meiryo"/>
              <a:ea typeface="メイリオ"/>
            </a:endParaRPr>
          </a:p>
          <a:p>
            <a:pPr algn="l">
              <a:lnSpc>
                <a:spcPct val="125000"/>
              </a:lnSpc>
            </a:pPr>
            <a:r>
              <a:rPr sz="1100" b="0" dirty="0">
                <a:solidFill>
                  <a:srgbClr val="8A8F9A"/>
                </a:solidFill>
                <a:latin typeface="Meiryo"/>
                <a:ea typeface="メイリオ"/>
              </a:rPr>
              <a:t>|</a:t>
            </a:r>
            <a:r>
              <a:rPr sz="1100" b="0" dirty="0" err="1">
                <a:solidFill>
                  <a:srgbClr val="8A8F9A"/>
                </a:solidFill>
                <a:latin typeface="Meiryo"/>
                <a:ea typeface="メイリオ"/>
              </a:rPr>
              <a:t>dθ</a:t>
            </a:r>
            <a:r>
              <a:rPr sz="1100" b="0" dirty="0">
                <a:solidFill>
                  <a:srgbClr val="8A8F9A"/>
                </a:solidFill>
                <a:latin typeface="Meiryo"/>
                <a:ea typeface="メイリオ"/>
              </a:rPr>
              <a:t>/dt| ≤ 0.10 rad/s</a:t>
            </a:r>
          </a:p>
        </p:txBody>
      </p:sp>
      <p:sp>
        <p:nvSpPr>
          <p:cNvPr id="42" name="Oval 36">
            <a:extLst>
              <a:ext uri="{FF2B5EF4-FFF2-40B4-BE49-F238E27FC236}">
                <a16:creationId xmlns:a16="http://schemas.microsoft.com/office/drawing/2014/main" id="{EEFFF364-F411-94D8-D0D8-75B01E3CC81B}"/>
              </a:ext>
            </a:extLst>
          </p:cNvPr>
          <p:cNvSpPr/>
          <p:nvPr/>
        </p:nvSpPr>
        <p:spPr>
          <a:xfrm>
            <a:off x="6920251" y="2825711"/>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100" b="1">
                <a:solidFill>
                  <a:srgbClr val="FFFFFF"/>
                </a:solidFill>
                <a:latin typeface="Meiryo"/>
                <a:ea typeface="メイリオ"/>
              </a:rPr>
              <a:t>2</a:t>
            </a:r>
          </a:p>
        </p:txBody>
      </p:sp>
      <p:sp>
        <p:nvSpPr>
          <p:cNvPr id="43" name="TextBox 37">
            <a:extLst>
              <a:ext uri="{FF2B5EF4-FFF2-40B4-BE49-F238E27FC236}">
                <a16:creationId xmlns:a16="http://schemas.microsoft.com/office/drawing/2014/main" id="{2334ABF1-FFEC-8007-964E-782932ED7569}"/>
              </a:ext>
            </a:extLst>
          </p:cNvPr>
          <p:cNvSpPr txBox="1"/>
          <p:nvPr/>
        </p:nvSpPr>
        <p:spPr>
          <a:xfrm>
            <a:off x="7275851" y="2625062"/>
            <a:ext cx="3937000" cy="534442"/>
          </a:xfrm>
          <a:prstGeom prst="rect">
            <a:avLst/>
          </a:prstGeom>
          <a:noFill/>
        </p:spPr>
        <p:txBody>
          <a:bodyPr wrap="square" lIns="25400" tIns="12700" rIns="25400" bIns="12700" anchor="t">
            <a:spAutoFit/>
          </a:bodyPr>
          <a:lstStyle/>
          <a:p>
            <a:pPr algn="l">
              <a:lnSpc>
                <a:spcPct val="125000"/>
              </a:lnSpc>
            </a:pPr>
            <a:r>
              <a:rPr sz="1600" b="1" dirty="0" err="1">
                <a:solidFill>
                  <a:schemeClr val="tx1">
                    <a:lumMod val="95000"/>
                    <a:lumOff val="5000"/>
                  </a:schemeClr>
                </a:solidFill>
                <a:latin typeface="Meiryo"/>
                <a:ea typeface="メイリオ"/>
              </a:rPr>
              <a:t>距離が縮んでいる</a:t>
            </a:r>
            <a:endParaRPr sz="1600" b="1" dirty="0">
              <a:solidFill>
                <a:schemeClr val="tx1">
                  <a:lumMod val="95000"/>
                  <a:lumOff val="5000"/>
                </a:schemeClr>
              </a:solidFill>
              <a:latin typeface="Meiryo"/>
              <a:ea typeface="メイリオ"/>
            </a:endParaRPr>
          </a:p>
          <a:p>
            <a:pPr algn="l">
              <a:lnSpc>
                <a:spcPct val="125000"/>
              </a:lnSpc>
            </a:pPr>
            <a:r>
              <a:rPr sz="1100" b="0" dirty="0" err="1">
                <a:solidFill>
                  <a:srgbClr val="8A8F9A"/>
                </a:solidFill>
                <a:latin typeface="Meiryo"/>
                <a:ea typeface="メイリオ"/>
              </a:rPr>
              <a:t>頑健な傾きがマイナス</a:t>
            </a:r>
            <a:endParaRPr sz="1100" b="0" dirty="0">
              <a:solidFill>
                <a:srgbClr val="8A8F9A"/>
              </a:solidFill>
              <a:latin typeface="Meiryo"/>
              <a:ea typeface="メイリオ"/>
            </a:endParaRPr>
          </a:p>
        </p:txBody>
      </p:sp>
      <p:sp>
        <p:nvSpPr>
          <p:cNvPr id="44" name="Oval 38">
            <a:extLst>
              <a:ext uri="{FF2B5EF4-FFF2-40B4-BE49-F238E27FC236}">
                <a16:creationId xmlns:a16="http://schemas.microsoft.com/office/drawing/2014/main" id="{A0E750E0-AC75-4ACF-A793-25299E2D5CAC}"/>
              </a:ext>
            </a:extLst>
          </p:cNvPr>
          <p:cNvSpPr/>
          <p:nvPr/>
        </p:nvSpPr>
        <p:spPr>
          <a:xfrm>
            <a:off x="6920251" y="3333711"/>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100" b="1">
                <a:solidFill>
                  <a:srgbClr val="FFFFFF"/>
                </a:solidFill>
                <a:latin typeface="Meiryo"/>
                <a:ea typeface="メイリオ"/>
              </a:rPr>
              <a:t>3</a:t>
            </a:r>
          </a:p>
        </p:txBody>
      </p:sp>
      <p:sp>
        <p:nvSpPr>
          <p:cNvPr id="45" name="TextBox 39">
            <a:extLst>
              <a:ext uri="{FF2B5EF4-FFF2-40B4-BE49-F238E27FC236}">
                <a16:creationId xmlns:a16="http://schemas.microsoft.com/office/drawing/2014/main" id="{B294D421-6ADF-7505-6FC9-67DB013CB384}"/>
              </a:ext>
            </a:extLst>
          </p:cNvPr>
          <p:cNvSpPr txBox="1"/>
          <p:nvPr/>
        </p:nvSpPr>
        <p:spPr>
          <a:xfrm>
            <a:off x="7275851" y="3193490"/>
            <a:ext cx="3937000" cy="534442"/>
          </a:xfrm>
          <a:prstGeom prst="rect">
            <a:avLst/>
          </a:prstGeom>
          <a:noFill/>
        </p:spPr>
        <p:txBody>
          <a:bodyPr wrap="square" lIns="25400" tIns="12700" rIns="25400" bIns="12700" anchor="t">
            <a:spAutoFit/>
          </a:bodyPr>
          <a:lstStyle/>
          <a:p>
            <a:pPr algn="l">
              <a:lnSpc>
                <a:spcPct val="125000"/>
              </a:lnSpc>
            </a:pPr>
            <a:r>
              <a:rPr sz="1600" b="1" dirty="0">
                <a:solidFill>
                  <a:schemeClr val="tx1">
                    <a:lumMod val="95000"/>
                    <a:lumOff val="5000"/>
                  </a:schemeClr>
                </a:solidFill>
                <a:latin typeface="Meiryo"/>
                <a:ea typeface="メイリオ"/>
              </a:rPr>
              <a:t>15m以内にいる</a:t>
            </a:r>
          </a:p>
          <a:p>
            <a:pPr algn="l">
              <a:lnSpc>
                <a:spcPct val="125000"/>
              </a:lnSpc>
            </a:pPr>
            <a:r>
              <a:rPr sz="1100" b="0" dirty="0" err="1">
                <a:solidFill>
                  <a:srgbClr val="8A8F9A"/>
                </a:solidFill>
                <a:latin typeface="Meiryo"/>
                <a:ea typeface="メイリオ"/>
              </a:rPr>
              <a:t>距離ゲート</a:t>
            </a:r>
            <a:endParaRPr sz="1100" b="0" dirty="0">
              <a:solidFill>
                <a:srgbClr val="8A8F9A"/>
              </a:solidFill>
              <a:latin typeface="Meiryo"/>
              <a:ea typeface="メイリオ"/>
            </a:endParaRPr>
          </a:p>
        </p:txBody>
      </p:sp>
      <p:sp>
        <p:nvSpPr>
          <p:cNvPr id="46" name="Rectangle 40">
            <a:extLst>
              <a:ext uri="{FF2B5EF4-FFF2-40B4-BE49-F238E27FC236}">
                <a16:creationId xmlns:a16="http://schemas.microsoft.com/office/drawing/2014/main" id="{5993804F-C4A5-B806-D24F-0E2B0834B260}"/>
              </a:ext>
            </a:extLst>
          </p:cNvPr>
          <p:cNvSpPr/>
          <p:nvPr/>
        </p:nvSpPr>
        <p:spPr>
          <a:xfrm>
            <a:off x="6920251" y="3909085"/>
            <a:ext cx="4241800" cy="946985"/>
          </a:xfrm>
          <a:prstGeom prst="rect">
            <a:avLst/>
          </a:prstGeom>
          <a:solidFill>
            <a:srgbClr val="FDF7E8"/>
          </a:solidFill>
          <a:ln>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1">
            <a:extLst>
              <a:ext uri="{FF2B5EF4-FFF2-40B4-BE49-F238E27FC236}">
                <a16:creationId xmlns:a16="http://schemas.microsoft.com/office/drawing/2014/main" id="{A3B00681-88CE-E7BD-A0FA-B16214E40317}"/>
              </a:ext>
            </a:extLst>
          </p:cNvPr>
          <p:cNvSpPr txBox="1"/>
          <p:nvPr/>
        </p:nvSpPr>
        <p:spPr>
          <a:xfrm>
            <a:off x="7072651" y="4010686"/>
            <a:ext cx="3962400" cy="696409"/>
          </a:xfrm>
          <a:prstGeom prst="rect">
            <a:avLst/>
          </a:prstGeom>
          <a:noFill/>
        </p:spPr>
        <p:txBody>
          <a:bodyPr wrap="square" lIns="25400" tIns="12700" rIns="25400" bIns="12700" anchor="t">
            <a:spAutoFit/>
          </a:bodyPr>
          <a:lstStyle/>
          <a:p>
            <a:pPr algn="l">
              <a:lnSpc>
                <a:spcPct val="135000"/>
              </a:lnSpc>
            </a:pPr>
            <a:r>
              <a:rPr sz="1100" b="0" dirty="0" err="1">
                <a:solidFill>
                  <a:srgbClr val="595F6E"/>
                </a:solidFill>
                <a:latin typeface="Meiryo"/>
                <a:ea typeface="メイリオ"/>
              </a:rPr>
              <a:t>船の衝突回避と同じ原則</a:t>
            </a:r>
            <a:r>
              <a:rPr lang="ja-JP" altLang="en-US" sz="1100" dirty="0">
                <a:solidFill>
                  <a:srgbClr val="595F6E"/>
                </a:solidFill>
                <a:latin typeface="Meiryo"/>
                <a:ea typeface="メイリオ"/>
              </a:rPr>
              <a:t>。</a:t>
            </a:r>
            <a:endParaRPr lang="en-US" altLang="ja-JP" sz="1100" dirty="0">
              <a:solidFill>
                <a:srgbClr val="595F6E"/>
              </a:solidFill>
              <a:latin typeface="Meiryo"/>
              <a:ea typeface="メイリオ"/>
            </a:endParaRPr>
          </a:p>
          <a:p>
            <a:pPr algn="l">
              <a:lnSpc>
                <a:spcPct val="135000"/>
              </a:lnSpc>
            </a:pPr>
            <a:r>
              <a:rPr sz="1100" b="0" dirty="0" err="1">
                <a:solidFill>
                  <a:srgbClr val="595F6E"/>
                </a:solidFill>
                <a:latin typeface="Meiryo"/>
                <a:ea typeface="メイリオ"/>
              </a:rPr>
              <a:t>方位が変わらないまま近づいてくる相手は、衝突コース</a:t>
            </a:r>
            <a:r>
              <a:rPr lang="ja-JP" altLang="en-US" sz="1100" b="0" dirty="0">
                <a:solidFill>
                  <a:srgbClr val="595F6E"/>
                </a:solidFill>
                <a:latin typeface="Meiryo"/>
                <a:ea typeface="メイリオ"/>
              </a:rPr>
              <a:t>にいると判断。</a:t>
            </a:r>
            <a:endParaRPr sz="1100" b="0" dirty="0">
              <a:solidFill>
                <a:srgbClr val="595F6E"/>
              </a:solidFill>
              <a:latin typeface="Meiryo"/>
              <a:ea typeface="メイリオ"/>
            </a:endParaRPr>
          </a:p>
        </p:txBody>
      </p:sp>
      <p:sp>
        <p:nvSpPr>
          <p:cNvPr id="48" name="Rectangle 42">
            <a:extLst>
              <a:ext uri="{FF2B5EF4-FFF2-40B4-BE49-F238E27FC236}">
                <a16:creationId xmlns:a16="http://schemas.microsoft.com/office/drawing/2014/main" id="{C462BAD1-1D0B-7AD3-F29E-5F3EF70B534D}"/>
              </a:ext>
            </a:extLst>
          </p:cNvPr>
          <p:cNvSpPr/>
          <p:nvPr/>
        </p:nvSpPr>
        <p:spPr>
          <a:xfrm>
            <a:off x="976651" y="5271361"/>
            <a:ext cx="10414000" cy="900000"/>
          </a:xfrm>
          <a:prstGeom prst="rect">
            <a:avLst/>
          </a:prstGeom>
          <a:solidFill>
            <a:srgbClr val="F5F3F9"/>
          </a:solidFill>
          <a:ln>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4">
            <a:extLst>
              <a:ext uri="{FF2B5EF4-FFF2-40B4-BE49-F238E27FC236}">
                <a16:creationId xmlns:a16="http://schemas.microsoft.com/office/drawing/2014/main" id="{4DD3327E-405D-9843-A5C0-F776FF9CC588}"/>
              </a:ext>
            </a:extLst>
          </p:cNvPr>
          <p:cNvSpPr txBox="1"/>
          <p:nvPr/>
        </p:nvSpPr>
        <p:spPr>
          <a:xfrm>
            <a:off x="1256053" y="5284330"/>
            <a:ext cx="10097747" cy="875111"/>
          </a:xfrm>
          <a:prstGeom prst="rect">
            <a:avLst/>
          </a:prstGeom>
          <a:noFill/>
        </p:spPr>
        <p:txBody>
          <a:bodyPr wrap="square" lIns="25400" tIns="12700" rIns="25400" bIns="12700" anchor="t">
            <a:spAutoFit/>
          </a:bodyPr>
          <a:lstStyle/>
          <a:p>
            <a:pPr algn="l">
              <a:lnSpc>
                <a:spcPct val="140000"/>
              </a:lnSpc>
            </a:pPr>
            <a:r>
              <a:rPr b="1" dirty="0">
                <a:solidFill>
                  <a:srgbClr val="7E6F98"/>
                </a:solidFill>
                <a:latin typeface="Meiryo"/>
                <a:ea typeface="メイリオ"/>
              </a:rPr>
              <a:t>なぜ15mで切るのか</a:t>
            </a:r>
          </a:p>
          <a:p>
            <a:pPr algn="l">
              <a:lnSpc>
                <a:spcPts val="1800"/>
              </a:lnSpc>
            </a:pPr>
            <a:r>
              <a:rPr sz="1400" b="0" dirty="0">
                <a:solidFill>
                  <a:srgbClr val="595F6E"/>
                </a:solidFill>
                <a:latin typeface="Meiryo"/>
                <a:ea typeface="メイリオ"/>
              </a:rPr>
              <a:t>方位の変化率は距離の2乗に反比例します。遠くをまっすぐ通り過ぎる安全な車も「方位が変わらない」ように見えるので、距離で切らないと遠い車まで強い警告になります。</a:t>
            </a:r>
          </a:p>
        </p:txBody>
      </p:sp>
      <p:sp>
        <p:nvSpPr>
          <p:cNvPr id="62" name="Rounded Rectangle 97">
            <a:extLst>
              <a:ext uri="{FF2B5EF4-FFF2-40B4-BE49-F238E27FC236}">
                <a16:creationId xmlns:a16="http://schemas.microsoft.com/office/drawing/2014/main" id="{DA0469AD-6043-26B6-FF09-3BE8397CFD9E}"/>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64" name="Rounded Rectangle 96">
            <a:extLst>
              <a:ext uri="{FF2B5EF4-FFF2-40B4-BE49-F238E27FC236}">
                <a16:creationId xmlns:a16="http://schemas.microsoft.com/office/drawing/2014/main" id="{45B9DF2A-687D-D023-554F-8E890D0F5270}"/>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66" name="Rounded Rectangle 95">
            <a:extLst>
              <a:ext uri="{FF2B5EF4-FFF2-40B4-BE49-F238E27FC236}">
                <a16:creationId xmlns:a16="http://schemas.microsoft.com/office/drawing/2014/main" id="{60A30604-D298-2AA9-D08E-9B8251C289D9}"/>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68" name="Rounded Rectangle 94">
            <a:extLst>
              <a:ext uri="{FF2B5EF4-FFF2-40B4-BE49-F238E27FC236}">
                <a16:creationId xmlns:a16="http://schemas.microsoft.com/office/drawing/2014/main" id="{5174B101-CB1A-D965-6F17-079805F88B97}"/>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70" name="Rounded Rectangle 93">
            <a:extLst>
              <a:ext uri="{FF2B5EF4-FFF2-40B4-BE49-F238E27FC236}">
                <a16:creationId xmlns:a16="http://schemas.microsoft.com/office/drawing/2014/main" id="{51CD59B5-BC7E-049D-4C49-148246FE74A8}"/>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72" name="Rounded Rectangle 92">
            <a:extLst>
              <a:ext uri="{FF2B5EF4-FFF2-40B4-BE49-F238E27FC236}">
                <a16:creationId xmlns:a16="http://schemas.microsoft.com/office/drawing/2014/main" id="{E09377D5-82BA-209C-1149-7F5BD451484B}"/>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73" name="Rectangle 72"/>
          <p:cNvSpPr/>
          <p:nvPr/>
        </p:nvSpPr>
        <p:spPr>
          <a:xfrm>
            <a:off x="6676411" y="2027330"/>
            <a:ext cx="4699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918306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81F6E-F52E-C2D2-3A88-69B6D6CD02FE}"/>
            </a:ext>
          </a:extLst>
        </p:cNvPr>
        <p:cNvGrpSpPr/>
        <p:nvPr/>
      </p:nvGrpSpPr>
      <p:grpSpPr>
        <a:xfrm>
          <a:off x="0" y="0"/>
          <a:ext cx="0" cy="0"/>
          <a:chOff x="0" y="0"/>
          <a:chExt cx="0" cy="0"/>
        </a:xfrm>
      </p:grpSpPr>
      <p:sp>
        <p:nvSpPr>
          <p:cNvPr id="10" name="Rectangle 41">
            <a:extLst>
              <a:ext uri="{FF2B5EF4-FFF2-40B4-BE49-F238E27FC236}">
                <a16:creationId xmlns:a16="http://schemas.microsoft.com/office/drawing/2014/main" id="{848A268F-0B45-4A23-98AC-9CACD630FFB2}"/>
              </a:ext>
            </a:extLst>
          </p:cNvPr>
          <p:cNvSpPr/>
          <p:nvPr/>
        </p:nvSpPr>
        <p:spPr>
          <a:xfrm>
            <a:off x="889000" y="4420559"/>
            <a:ext cx="5080000" cy="965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4">
            <a:extLst>
              <a:ext uri="{FF2B5EF4-FFF2-40B4-BE49-F238E27FC236}">
                <a16:creationId xmlns:a16="http://schemas.microsoft.com/office/drawing/2014/main" id="{9F7C6D12-D9E8-833A-239E-A6057F94B629}"/>
              </a:ext>
            </a:extLst>
          </p:cNvPr>
          <p:cNvSpPr/>
          <p:nvPr/>
        </p:nvSpPr>
        <p:spPr>
          <a:xfrm>
            <a:off x="6223000" y="4420559"/>
            <a:ext cx="5080000" cy="965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AutoShape 2">
            <a:extLst>
              <a:ext uri="{FF2B5EF4-FFF2-40B4-BE49-F238E27FC236}">
                <a16:creationId xmlns:a16="http://schemas.microsoft.com/office/drawing/2014/main" id="{93DB369F-06FC-CF41-1CD5-5870AC5C443C}"/>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8ADF383-A6AB-0123-2CE0-571EECD54513}"/>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CFE381C0-3D3F-D2A9-686B-07744BD4B9A2}"/>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CF7E4642-626B-FCB0-6388-0D2AD9AEA506}"/>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417291F3-6BC3-37D0-652B-AD5A99AEF016}"/>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1E6F3956-7819-C859-8C11-3F1212951EF8}"/>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4E2638CE-FD79-C4F6-CE36-029A3927A3D8}"/>
              </a:ext>
            </a:extLst>
          </p:cNvPr>
          <p:cNvSpPr>
            <a:spLocks noGrp="1"/>
          </p:cNvSpPr>
          <p:nvPr>
            <p:ph type="sldNum" sz="quarter" idx="12"/>
          </p:nvPr>
        </p:nvSpPr>
        <p:spPr/>
        <p:txBody>
          <a:bodyPr/>
          <a:lstStyle/>
          <a:p>
            <a:fld id="{4E9148DC-F7ED-4428-85F4-2C78C4B0CFB7}" type="slidenum">
              <a:rPr kumimoji="1" lang="ja-JP" altLang="en-US" smtClean="0"/>
              <a:t>8</a:t>
            </a:fld>
            <a:endParaRPr kumimoji="1" lang="ja-JP" altLang="en-US"/>
          </a:p>
        </p:txBody>
      </p:sp>
      <p:sp>
        <p:nvSpPr>
          <p:cNvPr id="24" name="TextBox 13">
            <a:extLst>
              <a:ext uri="{FF2B5EF4-FFF2-40B4-BE49-F238E27FC236}">
                <a16:creationId xmlns:a16="http://schemas.microsoft.com/office/drawing/2014/main" id="{D9F35259-5B1A-FFA1-C7FB-206E715222E7}"/>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①その結果</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1" name="TextBox 10">
            <a:extLst>
              <a:ext uri="{FF2B5EF4-FFF2-40B4-BE49-F238E27FC236}">
                <a16:creationId xmlns:a16="http://schemas.microsoft.com/office/drawing/2014/main" id="{C017BD81-1FCF-E0E6-4095-30B10D509F6A}"/>
              </a:ext>
            </a:extLst>
          </p:cNvPr>
          <p:cNvSpPr txBox="1"/>
          <p:nvPr/>
        </p:nvSpPr>
        <p:spPr>
          <a:xfrm>
            <a:off x="889000" y="1270000"/>
            <a:ext cx="10414000" cy="271869"/>
          </a:xfrm>
          <a:prstGeom prst="rect">
            <a:avLst/>
          </a:prstGeom>
          <a:noFill/>
        </p:spPr>
        <p:txBody>
          <a:bodyPr wrap="square" lIns="25400" tIns="12700" rIns="25400" bIns="12700" anchor="t">
            <a:spAutoFit/>
          </a:bodyPr>
          <a:lstStyle/>
          <a:p>
            <a:pPr algn="l"/>
            <a:r>
              <a:rPr sz="1600" b="0" dirty="0" err="1">
                <a:solidFill>
                  <a:schemeClr val="tx1">
                    <a:lumMod val="95000"/>
                    <a:lumOff val="5000"/>
                  </a:schemeClr>
                </a:solidFill>
                <a:latin typeface="Meiryo"/>
                <a:ea typeface="メイリオ"/>
              </a:rPr>
              <a:t>車を「対向型」と「すり抜け型」に分けて、前の版と</a:t>
            </a:r>
            <a:r>
              <a:rPr lang="ja-JP" altLang="en-US" sz="1600" b="0" dirty="0">
                <a:solidFill>
                  <a:schemeClr val="tx1">
                    <a:lumMod val="95000"/>
                    <a:lumOff val="5000"/>
                  </a:schemeClr>
                </a:solidFill>
                <a:latin typeface="Meiryo"/>
                <a:ea typeface="メイリオ"/>
              </a:rPr>
              <a:t>比較。</a:t>
            </a:r>
            <a:endParaRPr sz="1600" b="0" dirty="0">
              <a:solidFill>
                <a:schemeClr val="tx1">
                  <a:lumMod val="95000"/>
                  <a:lumOff val="5000"/>
                </a:schemeClr>
              </a:solidFill>
              <a:latin typeface="Meiryo"/>
              <a:ea typeface="メイリオ"/>
            </a:endParaRPr>
          </a:p>
        </p:txBody>
      </p:sp>
      <p:sp>
        <p:nvSpPr>
          <p:cNvPr id="13" name="Rectangle 11">
            <a:extLst>
              <a:ext uri="{FF2B5EF4-FFF2-40B4-BE49-F238E27FC236}">
                <a16:creationId xmlns:a16="http://schemas.microsoft.com/office/drawing/2014/main" id="{3F5FAAF4-9BDE-C1FB-1139-EA1246837422}"/>
              </a:ext>
            </a:extLst>
          </p:cNvPr>
          <p:cNvSpPr/>
          <p:nvPr/>
        </p:nvSpPr>
        <p:spPr>
          <a:xfrm>
            <a:off x="889000" y="1651000"/>
            <a:ext cx="10414000" cy="3556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2">
            <a:extLst>
              <a:ext uri="{FF2B5EF4-FFF2-40B4-BE49-F238E27FC236}">
                <a16:creationId xmlns:a16="http://schemas.microsoft.com/office/drawing/2014/main" id="{56B200D8-634E-C5D7-45A4-C1406570A2CD}"/>
              </a:ext>
            </a:extLst>
          </p:cNvPr>
          <p:cNvSpPr txBox="1"/>
          <p:nvPr/>
        </p:nvSpPr>
        <p:spPr>
          <a:xfrm>
            <a:off x="1066800" y="1700305"/>
            <a:ext cx="3175000" cy="302647"/>
          </a:xfrm>
          <a:prstGeom prst="rect">
            <a:avLst/>
          </a:prstGeom>
          <a:noFill/>
        </p:spPr>
        <p:txBody>
          <a:bodyPr wrap="square" lIns="25400" tIns="12700" rIns="25400" bIns="12700" anchor="t">
            <a:spAutoFit/>
          </a:bodyPr>
          <a:lstStyle/>
          <a:p>
            <a:pPr algn="l"/>
            <a:r>
              <a:rPr b="1" dirty="0" err="1">
                <a:solidFill>
                  <a:srgbClr val="FFFFFF"/>
                </a:solidFill>
                <a:latin typeface="Meiryo"/>
                <a:ea typeface="メイリオ"/>
              </a:rPr>
              <a:t>どんな車か</a:t>
            </a:r>
            <a:endParaRPr b="1" dirty="0">
              <a:solidFill>
                <a:srgbClr val="FFFFFF"/>
              </a:solidFill>
              <a:latin typeface="Meiryo"/>
              <a:ea typeface="メイリオ"/>
            </a:endParaRPr>
          </a:p>
        </p:txBody>
      </p:sp>
      <p:sp>
        <p:nvSpPr>
          <p:cNvPr id="17" name="TextBox 13">
            <a:extLst>
              <a:ext uri="{FF2B5EF4-FFF2-40B4-BE49-F238E27FC236}">
                <a16:creationId xmlns:a16="http://schemas.microsoft.com/office/drawing/2014/main" id="{6434FEE2-B5CC-3C7B-F524-E414D36CB9AF}"/>
              </a:ext>
            </a:extLst>
          </p:cNvPr>
          <p:cNvSpPr txBox="1"/>
          <p:nvPr/>
        </p:nvSpPr>
        <p:spPr>
          <a:xfrm>
            <a:off x="4318000" y="1700305"/>
            <a:ext cx="1397000" cy="302647"/>
          </a:xfrm>
          <a:prstGeom prst="rect">
            <a:avLst/>
          </a:prstGeom>
          <a:noFill/>
        </p:spPr>
        <p:txBody>
          <a:bodyPr wrap="square" lIns="25400" tIns="12700" rIns="25400" bIns="12700" anchor="t">
            <a:spAutoFit/>
          </a:bodyPr>
          <a:lstStyle/>
          <a:p>
            <a:pPr algn="l"/>
            <a:r>
              <a:rPr b="1" dirty="0">
                <a:solidFill>
                  <a:srgbClr val="FFFFFF"/>
                </a:solidFill>
                <a:latin typeface="Meiryo"/>
                <a:ea typeface="メイリオ"/>
              </a:rPr>
              <a:t>型</a:t>
            </a:r>
          </a:p>
        </p:txBody>
      </p:sp>
      <p:sp>
        <p:nvSpPr>
          <p:cNvPr id="19" name="TextBox 14">
            <a:extLst>
              <a:ext uri="{FF2B5EF4-FFF2-40B4-BE49-F238E27FC236}">
                <a16:creationId xmlns:a16="http://schemas.microsoft.com/office/drawing/2014/main" id="{CFE7921B-CD71-52EA-F411-EC828C9BA404}"/>
              </a:ext>
            </a:extLst>
          </p:cNvPr>
          <p:cNvSpPr txBox="1"/>
          <p:nvPr/>
        </p:nvSpPr>
        <p:spPr>
          <a:xfrm>
            <a:off x="5791200" y="1700305"/>
            <a:ext cx="1143000" cy="302647"/>
          </a:xfrm>
          <a:prstGeom prst="rect">
            <a:avLst/>
          </a:prstGeom>
          <a:noFill/>
        </p:spPr>
        <p:txBody>
          <a:bodyPr wrap="square" lIns="25400" tIns="12700" rIns="25400" bIns="12700" anchor="t">
            <a:spAutoFit/>
          </a:bodyPr>
          <a:lstStyle/>
          <a:p>
            <a:pPr algn="l"/>
            <a:r>
              <a:rPr b="1">
                <a:solidFill>
                  <a:srgbClr val="FFFFFF"/>
                </a:solidFill>
                <a:latin typeface="Meiryo"/>
                <a:ea typeface="メイリオ"/>
              </a:rPr>
              <a:t>件数</a:t>
            </a:r>
          </a:p>
        </p:txBody>
      </p:sp>
      <p:sp>
        <p:nvSpPr>
          <p:cNvPr id="21" name="TextBox 15">
            <a:extLst>
              <a:ext uri="{FF2B5EF4-FFF2-40B4-BE49-F238E27FC236}">
                <a16:creationId xmlns:a16="http://schemas.microsoft.com/office/drawing/2014/main" id="{3E54B023-D416-3A72-71D4-689387D86446}"/>
              </a:ext>
            </a:extLst>
          </p:cNvPr>
          <p:cNvSpPr txBox="1"/>
          <p:nvPr/>
        </p:nvSpPr>
        <p:spPr>
          <a:xfrm>
            <a:off x="7010400" y="1700305"/>
            <a:ext cx="1905000" cy="302647"/>
          </a:xfrm>
          <a:prstGeom prst="rect">
            <a:avLst/>
          </a:prstGeom>
          <a:noFill/>
        </p:spPr>
        <p:txBody>
          <a:bodyPr wrap="square" lIns="25400" tIns="12700" rIns="25400" bIns="12700" anchor="t">
            <a:spAutoFit/>
          </a:bodyPr>
          <a:lstStyle/>
          <a:p>
            <a:pPr algn="l"/>
            <a:r>
              <a:rPr b="1" dirty="0">
                <a:solidFill>
                  <a:srgbClr val="FFFFFF"/>
                </a:solidFill>
                <a:latin typeface="Meiryo"/>
                <a:ea typeface="メイリオ"/>
              </a:rPr>
              <a:t>前</a:t>
            </a:r>
          </a:p>
        </p:txBody>
      </p:sp>
      <p:sp>
        <p:nvSpPr>
          <p:cNvPr id="23" name="TextBox 16">
            <a:extLst>
              <a:ext uri="{FF2B5EF4-FFF2-40B4-BE49-F238E27FC236}">
                <a16:creationId xmlns:a16="http://schemas.microsoft.com/office/drawing/2014/main" id="{22F96D18-A221-72AE-34B3-B9568553632E}"/>
              </a:ext>
            </a:extLst>
          </p:cNvPr>
          <p:cNvSpPr txBox="1"/>
          <p:nvPr/>
        </p:nvSpPr>
        <p:spPr>
          <a:xfrm>
            <a:off x="8991600" y="1700305"/>
            <a:ext cx="1905000" cy="302647"/>
          </a:xfrm>
          <a:prstGeom prst="rect">
            <a:avLst/>
          </a:prstGeom>
          <a:noFill/>
        </p:spPr>
        <p:txBody>
          <a:bodyPr wrap="square" lIns="25400" tIns="12700" rIns="25400" bIns="12700" anchor="t">
            <a:spAutoFit/>
          </a:bodyPr>
          <a:lstStyle/>
          <a:p>
            <a:pPr algn="l"/>
            <a:r>
              <a:rPr lang="ja-JP" altLang="en-US" b="1" dirty="0">
                <a:solidFill>
                  <a:srgbClr val="FFFFFF"/>
                </a:solidFill>
                <a:latin typeface="Meiryo"/>
                <a:ea typeface="メイリオ"/>
              </a:rPr>
              <a:t>今</a:t>
            </a:r>
            <a:endParaRPr b="1" dirty="0">
              <a:solidFill>
                <a:srgbClr val="FFFFFF"/>
              </a:solidFill>
              <a:latin typeface="Meiryo"/>
              <a:ea typeface="メイリオ"/>
            </a:endParaRPr>
          </a:p>
        </p:txBody>
      </p:sp>
      <p:sp>
        <p:nvSpPr>
          <p:cNvPr id="26" name="Rectangle 17">
            <a:extLst>
              <a:ext uri="{FF2B5EF4-FFF2-40B4-BE49-F238E27FC236}">
                <a16:creationId xmlns:a16="http://schemas.microsoft.com/office/drawing/2014/main" id="{57FFB633-5FF6-21E5-3DD4-997CD44751AA}"/>
              </a:ext>
            </a:extLst>
          </p:cNvPr>
          <p:cNvSpPr/>
          <p:nvPr/>
        </p:nvSpPr>
        <p:spPr>
          <a:xfrm>
            <a:off x="889000" y="20066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18">
            <a:extLst>
              <a:ext uri="{FF2B5EF4-FFF2-40B4-BE49-F238E27FC236}">
                <a16:creationId xmlns:a16="http://schemas.microsoft.com/office/drawing/2014/main" id="{2D46889C-145F-B6BF-EFF3-961A144BEF24}"/>
              </a:ext>
            </a:extLst>
          </p:cNvPr>
          <p:cNvSpPr txBox="1"/>
          <p:nvPr/>
        </p:nvSpPr>
        <p:spPr>
          <a:xfrm>
            <a:off x="1066800" y="2171700"/>
            <a:ext cx="3175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危ない（1.5m以内）</a:t>
            </a:r>
          </a:p>
        </p:txBody>
      </p:sp>
      <p:sp>
        <p:nvSpPr>
          <p:cNvPr id="32" name="TextBox 19">
            <a:extLst>
              <a:ext uri="{FF2B5EF4-FFF2-40B4-BE49-F238E27FC236}">
                <a16:creationId xmlns:a16="http://schemas.microsoft.com/office/drawing/2014/main" id="{9ECBCC86-8B90-CC7C-AE0D-4FF56E01383E}"/>
              </a:ext>
            </a:extLst>
          </p:cNvPr>
          <p:cNvSpPr txBox="1"/>
          <p:nvPr/>
        </p:nvSpPr>
        <p:spPr>
          <a:xfrm>
            <a:off x="4318000" y="2171700"/>
            <a:ext cx="1397000" cy="241092"/>
          </a:xfrm>
          <a:prstGeom prst="rect">
            <a:avLst/>
          </a:prstGeom>
          <a:noFill/>
        </p:spPr>
        <p:txBody>
          <a:bodyPr wrap="square" lIns="25400" tIns="12700" rIns="25400" bIns="12700" anchor="t">
            <a:spAutoFit/>
          </a:bodyPr>
          <a:lstStyle/>
          <a:p>
            <a:pPr algn="l"/>
            <a:r>
              <a:rPr sz="1400" b="1" dirty="0" err="1">
                <a:solidFill>
                  <a:srgbClr val="C0392B"/>
                </a:solidFill>
                <a:latin typeface="Meiryo"/>
                <a:ea typeface="メイリオ"/>
              </a:rPr>
              <a:t>対向</a:t>
            </a:r>
            <a:endParaRPr sz="1400" b="1" dirty="0">
              <a:solidFill>
                <a:srgbClr val="C0392B"/>
              </a:solidFill>
              <a:latin typeface="Meiryo"/>
              <a:ea typeface="メイリオ"/>
            </a:endParaRPr>
          </a:p>
        </p:txBody>
      </p:sp>
      <p:sp>
        <p:nvSpPr>
          <p:cNvPr id="35" name="TextBox 20">
            <a:extLst>
              <a:ext uri="{FF2B5EF4-FFF2-40B4-BE49-F238E27FC236}">
                <a16:creationId xmlns:a16="http://schemas.microsoft.com/office/drawing/2014/main" id="{10E0EF26-4A00-F8F6-0BB9-7FB1DFF5D1E9}"/>
              </a:ext>
            </a:extLst>
          </p:cNvPr>
          <p:cNvSpPr txBox="1"/>
          <p:nvPr/>
        </p:nvSpPr>
        <p:spPr>
          <a:xfrm>
            <a:off x="5791200" y="2171700"/>
            <a:ext cx="1143000" cy="241092"/>
          </a:xfrm>
          <a:prstGeom prst="rect">
            <a:avLst/>
          </a:prstGeom>
          <a:noFill/>
        </p:spPr>
        <p:txBody>
          <a:bodyPr wrap="square" lIns="25400" tIns="12700" rIns="25400" bIns="12700" anchor="t">
            <a:spAutoFit/>
          </a:bodyPr>
          <a:lstStyle/>
          <a:p>
            <a:pPr algn="l"/>
            <a:r>
              <a:rPr sz="1400" b="0" dirty="0">
                <a:solidFill>
                  <a:schemeClr val="tx1">
                    <a:lumMod val="95000"/>
                    <a:lumOff val="5000"/>
                  </a:schemeClr>
                </a:solidFill>
                <a:latin typeface="Meiryo"/>
                <a:ea typeface="メイリオ"/>
              </a:rPr>
              <a:t>460</a:t>
            </a:r>
          </a:p>
        </p:txBody>
      </p:sp>
      <p:sp>
        <p:nvSpPr>
          <p:cNvPr id="38" name="TextBox 21">
            <a:extLst>
              <a:ext uri="{FF2B5EF4-FFF2-40B4-BE49-F238E27FC236}">
                <a16:creationId xmlns:a16="http://schemas.microsoft.com/office/drawing/2014/main" id="{6C4BE516-F2B0-0621-8E8A-4076F7A76D5A}"/>
              </a:ext>
            </a:extLst>
          </p:cNvPr>
          <p:cNvSpPr txBox="1"/>
          <p:nvPr/>
        </p:nvSpPr>
        <p:spPr>
          <a:xfrm>
            <a:off x="7010400" y="2171700"/>
            <a:ext cx="1905000" cy="241092"/>
          </a:xfrm>
          <a:prstGeom prst="rect">
            <a:avLst/>
          </a:prstGeom>
          <a:noFill/>
        </p:spPr>
        <p:txBody>
          <a:bodyPr wrap="square" lIns="25400" tIns="12700" rIns="25400" bIns="12700" anchor="t">
            <a:spAutoFit/>
          </a:bodyPr>
          <a:lstStyle/>
          <a:p>
            <a:pPr algn="l"/>
            <a:r>
              <a:rPr sz="1400" b="0" dirty="0" err="1">
                <a:solidFill>
                  <a:srgbClr val="595F6E"/>
                </a:solidFill>
                <a:latin typeface="Meiryo"/>
                <a:ea typeface="メイリオ"/>
              </a:rPr>
              <a:t>強い警告</a:t>
            </a:r>
            <a:r>
              <a:rPr sz="1400" b="0" dirty="0">
                <a:solidFill>
                  <a:srgbClr val="595F6E"/>
                </a:solidFill>
                <a:latin typeface="Meiryo"/>
                <a:ea typeface="メイリオ"/>
              </a:rPr>
              <a:t> 81%</a:t>
            </a:r>
          </a:p>
        </p:txBody>
      </p:sp>
      <p:sp>
        <p:nvSpPr>
          <p:cNvPr id="40" name="TextBox 22">
            <a:extLst>
              <a:ext uri="{FF2B5EF4-FFF2-40B4-BE49-F238E27FC236}">
                <a16:creationId xmlns:a16="http://schemas.microsoft.com/office/drawing/2014/main" id="{CEEA9C29-E56C-4A0C-13AB-6640B14807B2}"/>
              </a:ext>
            </a:extLst>
          </p:cNvPr>
          <p:cNvSpPr txBox="1"/>
          <p:nvPr/>
        </p:nvSpPr>
        <p:spPr>
          <a:xfrm>
            <a:off x="8991600" y="2133600"/>
            <a:ext cx="1905000" cy="241092"/>
          </a:xfrm>
          <a:prstGeom prst="rect">
            <a:avLst/>
          </a:prstGeom>
          <a:noFill/>
        </p:spPr>
        <p:txBody>
          <a:bodyPr wrap="square" lIns="25400" tIns="12700" rIns="25400" bIns="12700" anchor="t">
            <a:spAutoFit/>
          </a:bodyPr>
          <a:lstStyle/>
          <a:p>
            <a:pPr algn="l"/>
            <a:r>
              <a:rPr sz="1400" b="1" dirty="0">
                <a:solidFill>
                  <a:srgbClr val="C0392B"/>
                </a:solidFill>
                <a:latin typeface="Meiryo"/>
                <a:ea typeface="メイリオ"/>
              </a:rPr>
              <a:t>90%</a:t>
            </a:r>
          </a:p>
        </p:txBody>
      </p:sp>
      <p:sp>
        <p:nvSpPr>
          <p:cNvPr id="43" name="Rectangle 23">
            <a:extLst>
              <a:ext uri="{FF2B5EF4-FFF2-40B4-BE49-F238E27FC236}">
                <a16:creationId xmlns:a16="http://schemas.microsoft.com/office/drawing/2014/main" id="{7BF2E70B-4BDC-5CCB-ADEB-CDA63CD5094D}"/>
              </a:ext>
            </a:extLst>
          </p:cNvPr>
          <p:cNvSpPr/>
          <p:nvPr/>
        </p:nvSpPr>
        <p:spPr>
          <a:xfrm>
            <a:off x="889000" y="25654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24">
            <a:extLst>
              <a:ext uri="{FF2B5EF4-FFF2-40B4-BE49-F238E27FC236}">
                <a16:creationId xmlns:a16="http://schemas.microsoft.com/office/drawing/2014/main" id="{961EE52C-F8C4-C15D-590B-7F258E60197B}"/>
              </a:ext>
            </a:extLst>
          </p:cNvPr>
          <p:cNvSpPr txBox="1"/>
          <p:nvPr/>
        </p:nvSpPr>
        <p:spPr>
          <a:xfrm>
            <a:off x="1066800" y="2730500"/>
            <a:ext cx="3175000" cy="241092"/>
          </a:xfrm>
          <a:prstGeom prst="rect">
            <a:avLst/>
          </a:prstGeom>
          <a:noFill/>
        </p:spPr>
        <p:txBody>
          <a:bodyPr wrap="square" lIns="25400" tIns="12700" rIns="25400" bIns="12700" anchor="t">
            <a:spAutoFit/>
          </a:bodyPr>
          <a:lstStyle/>
          <a:p>
            <a:pPr algn="l"/>
            <a:r>
              <a:rPr sz="1400" b="0">
                <a:solidFill>
                  <a:srgbClr val="222838"/>
                </a:solidFill>
                <a:latin typeface="Meiryo"/>
                <a:ea typeface="メイリオ"/>
              </a:rPr>
              <a:t>危ない（1.5m以内）</a:t>
            </a:r>
          </a:p>
        </p:txBody>
      </p:sp>
      <p:sp>
        <p:nvSpPr>
          <p:cNvPr id="47" name="TextBox 25">
            <a:extLst>
              <a:ext uri="{FF2B5EF4-FFF2-40B4-BE49-F238E27FC236}">
                <a16:creationId xmlns:a16="http://schemas.microsoft.com/office/drawing/2014/main" id="{9FE021B9-3E1E-0F0F-1A37-46FB7637BB99}"/>
              </a:ext>
            </a:extLst>
          </p:cNvPr>
          <p:cNvSpPr txBox="1"/>
          <p:nvPr/>
        </p:nvSpPr>
        <p:spPr>
          <a:xfrm>
            <a:off x="4318000" y="2730500"/>
            <a:ext cx="1397000" cy="241092"/>
          </a:xfrm>
          <a:prstGeom prst="rect">
            <a:avLst/>
          </a:prstGeom>
          <a:noFill/>
        </p:spPr>
        <p:txBody>
          <a:bodyPr wrap="square" lIns="25400" tIns="12700" rIns="25400" bIns="12700" anchor="t">
            <a:spAutoFit/>
          </a:bodyPr>
          <a:lstStyle/>
          <a:p>
            <a:pPr algn="l"/>
            <a:r>
              <a:rPr sz="1400" b="1" dirty="0" err="1">
                <a:solidFill>
                  <a:srgbClr val="C0392B"/>
                </a:solidFill>
                <a:latin typeface="Meiryo"/>
                <a:ea typeface="メイリオ"/>
              </a:rPr>
              <a:t>すり抜け</a:t>
            </a:r>
            <a:endParaRPr sz="1400" b="1" dirty="0">
              <a:solidFill>
                <a:srgbClr val="C0392B"/>
              </a:solidFill>
              <a:latin typeface="Meiryo"/>
              <a:ea typeface="メイリオ"/>
            </a:endParaRPr>
          </a:p>
        </p:txBody>
      </p:sp>
      <p:sp>
        <p:nvSpPr>
          <p:cNvPr id="49" name="TextBox 26">
            <a:extLst>
              <a:ext uri="{FF2B5EF4-FFF2-40B4-BE49-F238E27FC236}">
                <a16:creationId xmlns:a16="http://schemas.microsoft.com/office/drawing/2014/main" id="{FAC770C2-971C-62B1-D751-1018CC18E5AC}"/>
              </a:ext>
            </a:extLst>
          </p:cNvPr>
          <p:cNvSpPr txBox="1"/>
          <p:nvPr/>
        </p:nvSpPr>
        <p:spPr>
          <a:xfrm>
            <a:off x="5791200" y="2730500"/>
            <a:ext cx="1143000" cy="241092"/>
          </a:xfrm>
          <a:prstGeom prst="rect">
            <a:avLst/>
          </a:prstGeom>
          <a:noFill/>
        </p:spPr>
        <p:txBody>
          <a:bodyPr wrap="square" lIns="25400" tIns="12700" rIns="25400" bIns="12700" anchor="t">
            <a:spAutoFit/>
          </a:bodyPr>
          <a:lstStyle/>
          <a:p>
            <a:pPr algn="l"/>
            <a:r>
              <a:rPr sz="1400" b="0" dirty="0">
                <a:solidFill>
                  <a:schemeClr val="tx1">
                    <a:lumMod val="95000"/>
                    <a:lumOff val="5000"/>
                  </a:schemeClr>
                </a:solidFill>
                <a:latin typeface="Meiryo"/>
                <a:ea typeface="メイリオ"/>
              </a:rPr>
              <a:t>43</a:t>
            </a:r>
          </a:p>
        </p:txBody>
      </p:sp>
      <p:sp>
        <p:nvSpPr>
          <p:cNvPr id="52" name="TextBox 27">
            <a:extLst>
              <a:ext uri="{FF2B5EF4-FFF2-40B4-BE49-F238E27FC236}">
                <a16:creationId xmlns:a16="http://schemas.microsoft.com/office/drawing/2014/main" id="{AC355FA1-D8B1-C4AD-BAD9-1995BB3B253B}"/>
              </a:ext>
            </a:extLst>
          </p:cNvPr>
          <p:cNvSpPr txBox="1"/>
          <p:nvPr/>
        </p:nvSpPr>
        <p:spPr>
          <a:xfrm>
            <a:off x="7010400" y="2730500"/>
            <a:ext cx="1905000" cy="241092"/>
          </a:xfrm>
          <a:prstGeom prst="rect">
            <a:avLst/>
          </a:prstGeom>
          <a:noFill/>
        </p:spPr>
        <p:txBody>
          <a:bodyPr wrap="square" lIns="25400" tIns="12700" rIns="25400" bIns="12700" anchor="t">
            <a:spAutoFit/>
          </a:bodyPr>
          <a:lstStyle/>
          <a:p>
            <a:pPr algn="l"/>
            <a:r>
              <a:rPr sz="1400" b="0">
                <a:solidFill>
                  <a:srgbClr val="595F6E"/>
                </a:solidFill>
                <a:latin typeface="Meiryo"/>
                <a:ea typeface="メイリオ"/>
              </a:rPr>
              <a:t>強い警告 77%</a:t>
            </a:r>
          </a:p>
        </p:txBody>
      </p:sp>
      <p:sp>
        <p:nvSpPr>
          <p:cNvPr id="54" name="TextBox 28">
            <a:extLst>
              <a:ext uri="{FF2B5EF4-FFF2-40B4-BE49-F238E27FC236}">
                <a16:creationId xmlns:a16="http://schemas.microsoft.com/office/drawing/2014/main" id="{88DD13D8-4535-BE9D-E05C-48EBF229F738}"/>
              </a:ext>
            </a:extLst>
          </p:cNvPr>
          <p:cNvSpPr txBox="1"/>
          <p:nvPr/>
        </p:nvSpPr>
        <p:spPr>
          <a:xfrm>
            <a:off x="8991600" y="2692400"/>
            <a:ext cx="1905000" cy="241092"/>
          </a:xfrm>
          <a:prstGeom prst="rect">
            <a:avLst/>
          </a:prstGeom>
          <a:noFill/>
        </p:spPr>
        <p:txBody>
          <a:bodyPr wrap="square" lIns="25400" tIns="12700" rIns="25400" bIns="12700" anchor="t">
            <a:spAutoFit/>
          </a:bodyPr>
          <a:lstStyle/>
          <a:p>
            <a:pPr algn="l"/>
            <a:r>
              <a:rPr sz="1400" b="1">
                <a:solidFill>
                  <a:srgbClr val="C0392B"/>
                </a:solidFill>
                <a:latin typeface="Meiryo"/>
                <a:ea typeface="メイリオ"/>
              </a:rPr>
              <a:t>93%</a:t>
            </a:r>
          </a:p>
        </p:txBody>
      </p:sp>
      <p:sp>
        <p:nvSpPr>
          <p:cNvPr id="56" name="Rectangle 29">
            <a:extLst>
              <a:ext uri="{FF2B5EF4-FFF2-40B4-BE49-F238E27FC236}">
                <a16:creationId xmlns:a16="http://schemas.microsoft.com/office/drawing/2014/main" id="{76BC228D-7848-A048-A3A4-E402586814B6}"/>
              </a:ext>
            </a:extLst>
          </p:cNvPr>
          <p:cNvSpPr/>
          <p:nvPr/>
        </p:nvSpPr>
        <p:spPr>
          <a:xfrm>
            <a:off x="889000" y="31242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30">
            <a:extLst>
              <a:ext uri="{FF2B5EF4-FFF2-40B4-BE49-F238E27FC236}">
                <a16:creationId xmlns:a16="http://schemas.microsoft.com/office/drawing/2014/main" id="{07319E2A-6600-5B31-9929-7E6B06450778}"/>
              </a:ext>
            </a:extLst>
          </p:cNvPr>
          <p:cNvSpPr txBox="1"/>
          <p:nvPr/>
        </p:nvSpPr>
        <p:spPr>
          <a:xfrm>
            <a:off x="1066800" y="3289300"/>
            <a:ext cx="3175000" cy="241092"/>
          </a:xfrm>
          <a:prstGeom prst="rect">
            <a:avLst/>
          </a:prstGeom>
          <a:noFill/>
        </p:spPr>
        <p:txBody>
          <a:bodyPr wrap="square" lIns="25400" tIns="12700" rIns="25400" bIns="12700" anchor="t">
            <a:spAutoFit/>
          </a:bodyPr>
          <a:lstStyle/>
          <a:p>
            <a:pPr algn="l"/>
            <a:r>
              <a:rPr sz="1400" b="0">
                <a:solidFill>
                  <a:srgbClr val="222838"/>
                </a:solidFill>
                <a:latin typeface="Meiryo"/>
                <a:ea typeface="メイリオ"/>
              </a:rPr>
              <a:t>鳴らすべきでない（3.2m超）</a:t>
            </a:r>
          </a:p>
        </p:txBody>
      </p:sp>
      <p:sp>
        <p:nvSpPr>
          <p:cNvPr id="60" name="TextBox 31">
            <a:extLst>
              <a:ext uri="{FF2B5EF4-FFF2-40B4-BE49-F238E27FC236}">
                <a16:creationId xmlns:a16="http://schemas.microsoft.com/office/drawing/2014/main" id="{E54D26EF-01DD-273B-DBD5-F3E6FA1F2F7F}"/>
              </a:ext>
            </a:extLst>
          </p:cNvPr>
          <p:cNvSpPr txBox="1"/>
          <p:nvPr/>
        </p:nvSpPr>
        <p:spPr>
          <a:xfrm>
            <a:off x="4318000" y="3289300"/>
            <a:ext cx="1397000" cy="241092"/>
          </a:xfrm>
          <a:prstGeom prst="rect">
            <a:avLst/>
          </a:prstGeom>
          <a:noFill/>
        </p:spPr>
        <p:txBody>
          <a:bodyPr wrap="square" lIns="25400" tIns="12700" rIns="25400" bIns="12700" anchor="t">
            <a:spAutoFit/>
          </a:bodyPr>
          <a:lstStyle/>
          <a:p>
            <a:pPr algn="l"/>
            <a:r>
              <a:rPr sz="1400" b="1">
                <a:solidFill>
                  <a:srgbClr val="2E7D5B"/>
                </a:solidFill>
                <a:latin typeface="Meiryo"/>
                <a:ea typeface="メイリオ"/>
              </a:rPr>
              <a:t>対向</a:t>
            </a:r>
          </a:p>
        </p:txBody>
      </p:sp>
      <p:sp>
        <p:nvSpPr>
          <p:cNvPr id="62" name="TextBox 32">
            <a:extLst>
              <a:ext uri="{FF2B5EF4-FFF2-40B4-BE49-F238E27FC236}">
                <a16:creationId xmlns:a16="http://schemas.microsoft.com/office/drawing/2014/main" id="{F8A9BA07-138F-85D1-92C3-5C0DB99D9EB2}"/>
              </a:ext>
            </a:extLst>
          </p:cNvPr>
          <p:cNvSpPr txBox="1"/>
          <p:nvPr/>
        </p:nvSpPr>
        <p:spPr>
          <a:xfrm>
            <a:off x="5791200" y="3289300"/>
            <a:ext cx="1143000" cy="241092"/>
          </a:xfrm>
          <a:prstGeom prst="rect">
            <a:avLst/>
          </a:prstGeom>
          <a:noFill/>
        </p:spPr>
        <p:txBody>
          <a:bodyPr wrap="square" lIns="25400" tIns="12700" rIns="25400" bIns="12700" anchor="t">
            <a:spAutoFit/>
          </a:bodyPr>
          <a:lstStyle/>
          <a:p>
            <a:pPr algn="l"/>
            <a:r>
              <a:rPr sz="1400" b="0">
                <a:solidFill>
                  <a:schemeClr val="tx1">
                    <a:lumMod val="95000"/>
                    <a:lumOff val="5000"/>
                  </a:schemeClr>
                </a:solidFill>
                <a:latin typeface="Meiryo"/>
                <a:ea typeface="メイリオ"/>
              </a:rPr>
              <a:t>52</a:t>
            </a:r>
          </a:p>
        </p:txBody>
      </p:sp>
      <p:sp>
        <p:nvSpPr>
          <p:cNvPr id="64" name="TextBox 33">
            <a:extLst>
              <a:ext uri="{FF2B5EF4-FFF2-40B4-BE49-F238E27FC236}">
                <a16:creationId xmlns:a16="http://schemas.microsoft.com/office/drawing/2014/main" id="{34308D62-94DE-8388-35C3-1B22C11E4D57}"/>
              </a:ext>
            </a:extLst>
          </p:cNvPr>
          <p:cNvSpPr txBox="1"/>
          <p:nvPr/>
        </p:nvSpPr>
        <p:spPr>
          <a:xfrm>
            <a:off x="7010400" y="3289300"/>
            <a:ext cx="1905000" cy="241092"/>
          </a:xfrm>
          <a:prstGeom prst="rect">
            <a:avLst/>
          </a:prstGeom>
          <a:noFill/>
        </p:spPr>
        <p:txBody>
          <a:bodyPr wrap="square" lIns="25400" tIns="12700" rIns="25400" bIns="12700" anchor="t">
            <a:spAutoFit/>
          </a:bodyPr>
          <a:lstStyle/>
          <a:p>
            <a:pPr algn="l"/>
            <a:r>
              <a:rPr sz="1400" b="0">
                <a:solidFill>
                  <a:srgbClr val="595F6E"/>
                </a:solidFill>
                <a:latin typeface="Meiryo"/>
                <a:ea typeface="メイリオ"/>
              </a:rPr>
              <a:t>黙れた 33%</a:t>
            </a:r>
          </a:p>
        </p:txBody>
      </p:sp>
      <p:sp>
        <p:nvSpPr>
          <p:cNvPr id="66" name="TextBox 34">
            <a:extLst>
              <a:ext uri="{FF2B5EF4-FFF2-40B4-BE49-F238E27FC236}">
                <a16:creationId xmlns:a16="http://schemas.microsoft.com/office/drawing/2014/main" id="{A93AFC76-62DB-0AAA-7441-E1E52EB54709}"/>
              </a:ext>
            </a:extLst>
          </p:cNvPr>
          <p:cNvSpPr txBox="1"/>
          <p:nvPr/>
        </p:nvSpPr>
        <p:spPr>
          <a:xfrm>
            <a:off x="8991600" y="3251200"/>
            <a:ext cx="1905000" cy="241092"/>
          </a:xfrm>
          <a:prstGeom prst="rect">
            <a:avLst/>
          </a:prstGeom>
          <a:noFill/>
        </p:spPr>
        <p:txBody>
          <a:bodyPr wrap="square" lIns="25400" tIns="12700" rIns="25400" bIns="12700" anchor="t">
            <a:spAutoFit/>
          </a:bodyPr>
          <a:lstStyle/>
          <a:p>
            <a:pPr algn="l"/>
            <a:r>
              <a:rPr sz="1400" b="1" dirty="0">
                <a:solidFill>
                  <a:srgbClr val="2E7D5B"/>
                </a:solidFill>
                <a:latin typeface="Meiryo"/>
                <a:ea typeface="メイリオ"/>
              </a:rPr>
              <a:t>71%</a:t>
            </a:r>
          </a:p>
        </p:txBody>
      </p:sp>
      <p:sp>
        <p:nvSpPr>
          <p:cNvPr id="68" name="Rectangle 35">
            <a:extLst>
              <a:ext uri="{FF2B5EF4-FFF2-40B4-BE49-F238E27FC236}">
                <a16:creationId xmlns:a16="http://schemas.microsoft.com/office/drawing/2014/main" id="{FA746CBF-69EF-7B05-2809-D760135B608B}"/>
              </a:ext>
            </a:extLst>
          </p:cNvPr>
          <p:cNvSpPr/>
          <p:nvPr/>
        </p:nvSpPr>
        <p:spPr>
          <a:xfrm>
            <a:off x="889000" y="36830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36">
            <a:extLst>
              <a:ext uri="{FF2B5EF4-FFF2-40B4-BE49-F238E27FC236}">
                <a16:creationId xmlns:a16="http://schemas.microsoft.com/office/drawing/2014/main" id="{EA0951F4-370F-C95C-E415-856A68EA1162}"/>
              </a:ext>
            </a:extLst>
          </p:cNvPr>
          <p:cNvSpPr txBox="1"/>
          <p:nvPr/>
        </p:nvSpPr>
        <p:spPr>
          <a:xfrm>
            <a:off x="1066800" y="3848100"/>
            <a:ext cx="3175000" cy="241092"/>
          </a:xfrm>
          <a:prstGeom prst="rect">
            <a:avLst/>
          </a:prstGeom>
          <a:noFill/>
        </p:spPr>
        <p:txBody>
          <a:bodyPr wrap="square" lIns="25400" tIns="12700" rIns="25400" bIns="12700" anchor="t">
            <a:spAutoFit/>
          </a:bodyPr>
          <a:lstStyle/>
          <a:p>
            <a:pPr algn="l"/>
            <a:r>
              <a:rPr sz="1400" b="0">
                <a:solidFill>
                  <a:srgbClr val="222838"/>
                </a:solidFill>
                <a:latin typeface="Meiryo"/>
                <a:ea typeface="メイリオ"/>
              </a:rPr>
              <a:t>鳴らすべきでない（3.2m超）</a:t>
            </a:r>
          </a:p>
        </p:txBody>
      </p:sp>
      <p:sp>
        <p:nvSpPr>
          <p:cNvPr id="72" name="TextBox 37">
            <a:extLst>
              <a:ext uri="{FF2B5EF4-FFF2-40B4-BE49-F238E27FC236}">
                <a16:creationId xmlns:a16="http://schemas.microsoft.com/office/drawing/2014/main" id="{359B3583-5DBD-9C79-76F6-F93489B14E03}"/>
              </a:ext>
            </a:extLst>
          </p:cNvPr>
          <p:cNvSpPr txBox="1"/>
          <p:nvPr/>
        </p:nvSpPr>
        <p:spPr>
          <a:xfrm>
            <a:off x="4318000" y="3848100"/>
            <a:ext cx="1397000" cy="241092"/>
          </a:xfrm>
          <a:prstGeom prst="rect">
            <a:avLst/>
          </a:prstGeom>
          <a:noFill/>
        </p:spPr>
        <p:txBody>
          <a:bodyPr wrap="square" lIns="25400" tIns="12700" rIns="25400" bIns="12700" anchor="t">
            <a:spAutoFit/>
          </a:bodyPr>
          <a:lstStyle/>
          <a:p>
            <a:pPr algn="l"/>
            <a:r>
              <a:rPr sz="1400" b="1" dirty="0" err="1">
                <a:solidFill>
                  <a:srgbClr val="8A8F9A"/>
                </a:solidFill>
                <a:latin typeface="Meiryo"/>
                <a:ea typeface="メイリオ"/>
              </a:rPr>
              <a:t>すり抜け</a:t>
            </a:r>
            <a:endParaRPr sz="1400" b="1" dirty="0">
              <a:solidFill>
                <a:srgbClr val="8A8F9A"/>
              </a:solidFill>
              <a:latin typeface="Meiryo"/>
              <a:ea typeface="メイリオ"/>
            </a:endParaRPr>
          </a:p>
        </p:txBody>
      </p:sp>
      <p:sp>
        <p:nvSpPr>
          <p:cNvPr id="74" name="TextBox 38">
            <a:extLst>
              <a:ext uri="{FF2B5EF4-FFF2-40B4-BE49-F238E27FC236}">
                <a16:creationId xmlns:a16="http://schemas.microsoft.com/office/drawing/2014/main" id="{45A86E56-A5E2-6ECF-0167-0B7063B0B5A8}"/>
              </a:ext>
            </a:extLst>
          </p:cNvPr>
          <p:cNvSpPr txBox="1"/>
          <p:nvPr/>
        </p:nvSpPr>
        <p:spPr>
          <a:xfrm>
            <a:off x="5791200" y="3848100"/>
            <a:ext cx="1143000" cy="241092"/>
          </a:xfrm>
          <a:prstGeom prst="rect">
            <a:avLst/>
          </a:prstGeom>
          <a:noFill/>
        </p:spPr>
        <p:txBody>
          <a:bodyPr wrap="square" lIns="25400" tIns="12700" rIns="25400" bIns="12700" anchor="t">
            <a:spAutoFit/>
          </a:bodyPr>
          <a:lstStyle/>
          <a:p>
            <a:pPr algn="l"/>
            <a:r>
              <a:rPr sz="1400" b="0">
                <a:solidFill>
                  <a:schemeClr val="tx1">
                    <a:lumMod val="95000"/>
                    <a:lumOff val="5000"/>
                  </a:schemeClr>
                </a:solidFill>
                <a:latin typeface="Meiryo"/>
                <a:ea typeface="メイリオ"/>
              </a:rPr>
              <a:t>501</a:t>
            </a:r>
          </a:p>
        </p:txBody>
      </p:sp>
      <p:sp>
        <p:nvSpPr>
          <p:cNvPr id="76" name="TextBox 39">
            <a:extLst>
              <a:ext uri="{FF2B5EF4-FFF2-40B4-BE49-F238E27FC236}">
                <a16:creationId xmlns:a16="http://schemas.microsoft.com/office/drawing/2014/main" id="{E15EA0C1-C3D0-40CA-4FCE-3F67654B6847}"/>
              </a:ext>
            </a:extLst>
          </p:cNvPr>
          <p:cNvSpPr txBox="1"/>
          <p:nvPr/>
        </p:nvSpPr>
        <p:spPr>
          <a:xfrm>
            <a:off x="7010400" y="3848100"/>
            <a:ext cx="1905000" cy="241092"/>
          </a:xfrm>
          <a:prstGeom prst="rect">
            <a:avLst/>
          </a:prstGeom>
          <a:noFill/>
        </p:spPr>
        <p:txBody>
          <a:bodyPr wrap="square" lIns="25400" tIns="12700" rIns="25400" bIns="12700" anchor="t">
            <a:spAutoFit/>
          </a:bodyPr>
          <a:lstStyle/>
          <a:p>
            <a:pPr algn="l"/>
            <a:r>
              <a:rPr sz="1400" b="0">
                <a:solidFill>
                  <a:srgbClr val="595F6E"/>
                </a:solidFill>
                <a:latin typeface="Meiryo"/>
                <a:ea typeface="メイリオ"/>
              </a:rPr>
              <a:t>黙れた 62%</a:t>
            </a:r>
          </a:p>
        </p:txBody>
      </p:sp>
      <p:sp>
        <p:nvSpPr>
          <p:cNvPr id="78" name="TextBox 40">
            <a:extLst>
              <a:ext uri="{FF2B5EF4-FFF2-40B4-BE49-F238E27FC236}">
                <a16:creationId xmlns:a16="http://schemas.microsoft.com/office/drawing/2014/main" id="{2AC4E71D-5710-8EF3-D67B-2CE3F0C466B2}"/>
              </a:ext>
            </a:extLst>
          </p:cNvPr>
          <p:cNvSpPr txBox="1"/>
          <p:nvPr/>
        </p:nvSpPr>
        <p:spPr>
          <a:xfrm>
            <a:off x="8991600" y="3810000"/>
            <a:ext cx="1905000" cy="241092"/>
          </a:xfrm>
          <a:prstGeom prst="rect">
            <a:avLst/>
          </a:prstGeom>
          <a:noFill/>
        </p:spPr>
        <p:txBody>
          <a:bodyPr wrap="square" lIns="25400" tIns="12700" rIns="25400" bIns="12700" anchor="t">
            <a:spAutoFit/>
          </a:bodyPr>
          <a:lstStyle/>
          <a:p>
            <a:pPr algn="l"/>
            <a:r>
              <a:rPr sz="1400" b="1" dirty="0">
                <a:solidFill>
                  <a:srgbClr val="8A8F9A"/>
                </a:solidFill>
                <a:latin typeface="Meiryo"/>
                <a:ea typeface="メイリオ"/>
              </a:rPr>
              <a:t>64%</a:t>
            </a:r>
          </a:p>
        </p:txBody>
      </p:sp>
      <p:sp>
        <p:nvSpPr>
          <p:cNvPr id="84" name="TextBox 43">
            <a:extLst>
              <a:ext uri="{FF2B5EF4-FFF2-40B4-BE49-F238E27FC236}">
                <a16:creationId xmlns:a16="http://schemas.microsoft.com/office/drawing/2014/main" id="{2FF2C9E6-D43F-9F4B-D13B-7C232913338B}"/>
              </a:ext>
            </a:extLst>
          </p:cNvPr>
          <p:cNvSpPr txBox="1"/>
          <p:nvPr/>
        </p:nvSpPr>
        <p:spPr>
          <a:xfrm>
            <a:off x="1117600" y="4432508"/>
            <a:ext cx="4699000" cy="962443"/>
          </a:xfrm>
          <a:prstGeom prst="rect">
            <a:avLst/>
          </a:prstGeom>
          <a:noFill/>
        </p:spPr>
        <p:txBody>
          <a:bodyPr wrap="square" lIns="25400" tIns="12700" rIns="25400" bIns="12700" anchor="t">
            <a:spAutoFit/>
          </a:bodyPr>
          <a:lstStyle/>
          <a:p>
            <a:pPr algn="l">
              <a:lnSpc>
                <a:spcPct val="135000"/>
              </a:lnSpc>
            </a:pPr>
            <a:r>
              <a:rPr lang="ja-JP" altLang="en-US" b="1" dirty="0">
                <a:solidFill>
                  <a:schemeClr val="tx1">
                    <a:lumMod val="95000"/>
                    <a:lumOff val="5000"/>
                  </a:schemeClr>
                </a:solidFill>
                <a:latin typeface="Meiryo"/>
                <a:ea typeface="メイリオ"/>
              </a:rPr>
              <a:t>結果</a:t>
            </a:r>
          </a:p>
          <a:p>
            <a:pPr algn="l">
              <a:lnSpc>
                <a:spcPct val="135000"/>
              </a:lnSpc>
            </a:pPr>
            <a:r>
              <a:rPr sz="1400" b="0" dirty="0" err="1">
                <a:solidFill>
                  <a:schemeClr val="tx1">
                    <a:lumMod val="95000"/>
                    <a:lumOff val="5000"/>
                  </a:schemeClr>
                </a:solidFill>
                <a:latin typeface="Meiryo"/>
                <a:ea typeface="メイリオ"/>
              </a:rPr>
              <a:t>危ない車には強く鳴るようになり、鳴らすべきでない対向車では黙るようにな</a:t>
            </a:r>
            <a:r>
              <a:rPr lang="ja-JP" altLang="en-US" sz="1400" b="0" dirty="0">
                <a:solidFill>
                  <a:schemeClr val="tx1">
                    <a:lumMod val="95000"/>
                    <a:lumOff val="5000"/>
                  </a:schemeClr>
                </a:solidFill>
                <a:latin typeface="Meiryo"/>
                <a:ea typeface="メイリオ"/>
              </a:rPr>
              <a:t>った。</a:t>
            </a:r>
            <a:endParaRPr sz="1400" b="0" dirty="0">
              <a:solidFill>
                <a:schemeClr val="tx1">
                  <a:lumMod val="95000"/>
                  <a:lumOff val="5000"/>
                </a:schemeClr>
              </a:solidFill>
              <a:latin typeface="Meiryo"/>
              <a:ea typeface="メイリオ"/>
            </a:endParaRPr>
          </a:p>
        </p:txBody>
      </p:sp>
      <p:sp>
        <p:nvSpPr>
          <p:cNvPr id="90" name="TextBox 46">
            <a:extLst>
              <a:ext uri="{FF2B5EF4-FFF2-40B4-BE49-F238E27FC236}">
                <a16:creationId xmlns:a16="http://schemas.microsoft.com/office/drawing/2014/main" id="{1D70C4FC-04AA-EE23-D7C2-9AC9D68E1BD5}"/>
              </a:ext>
            </a:extLst>
          </p:cNvPr>
          <p:cNvSpPr txBox="1"/>
          <p:nvPr/>
        </p:nvSpPr>
        <p:spPr>
          <a:xfrm>
            <a:off x="6451600" y="4432508"/>
            <a:ext cx="4699000" cy="962443"/>
          </a:xfrm>
          <a:prstGeom prst="rect">
            <a:avLst/>
          </a:prstGeom>
          <a:noFill/>
        </p:spPr>
        <p:txBody>
          <a:bodyPr wrap="square" lIns="25400" tIns="12700" rIns="25400" bIns="12700" anchor="t">
            <a:spAutoFit/>
          </a:bodyPr>
          <a:lstStyle/>
          <a:p>
            <a:pPr algn="l">
              <a:lnSpc>
                <a:spcPct val="135000"/>
              </a:lnSpc>
            </a:pPr>
            <a:r>
              <a:rPr b="1" dirty="0" err="1">
                <a:solidFill>
                  <a:schemeClr val="tx1">
                    <a:lumMod val="95000"/>
                    <a:lumOff val="5000"/>
                  </a:schemeClr>
                </a:solidFill>
                <a:latin typeface="Meiryo"/>
                <a:ea typeface="メイリオ"/>
              </a:rPr>
              <a:t>弱点</a:t>
            </a:r>
            <a:endParaRPr b="1" dirty="0">
              <a:solidFill>
                <a:schemeClr val="tx1">
                  <a:lumMod val="95000"/>
                  <a:lumOff val="5000"/>
                </a:schemeClr>
              </a:solidFill>
              <a:latin typeface="Meiryo"/>
              <a:ea typeface="メイリオ"/>
            </a:endParaRPr>
          </a:p>
          <a:p>
            <a:pPr algn="l">
              <a:lnSpc>
                <a:spcPct val="135000"/>
              </a:lnSpc>
            </a:pPr>
            <a:r>
              <a:rPr sz="1400" b="0" dirty="0">
                <a:solidFill>
                  <a:schemeClr val="tx1">
                    <a:lumMod val="95000"/>
                    <a:lumOff val="5000"/>
                  </a:schemeClr>
                </a:solidFill>
                <a:latin typeface="Meiryo"/>
                <a:ea typeface="メイリオ"/>
              </a:rPr>
              <a:t>すり抜けていく安全な車での無駄鳴りは、62→64%と</a:t>
            </a:r>
            <a:endParaRPr lang="en-US" sz="1400" b="0" dirty="0">
              <a:solidFill>
                <a:schemeClr val="tx1">
                  <a:lumMod val="95000"/>
                  <a:lumOff val="5000"/>
                </a:schemeClr>
              </a:solidFill>
              <a:latin typeface="Meiryo"/>
              <a:ea typeface="メイリオ"/>
            </a:endParaRPr>
          </a:p>
          <a:p>
            <a:pPr algn="l">
              <a:lnSpc>
                <a:spcPct val="135000"/>
              </a:lnSpc>
            </a:pPr>
            <a:r>
              <a:rPr sz="1400" b="0" dirty="0" err="1">
                <a:solidFill>
                  <a:schemeClr val="tx1">
                    <a:lumMod val="95000"/>
                    <a:lumOff val="5000"/>
                  </a:schemeClr>
                </a:solidFill>
                <a:latin typeface="Meiryo"/>
                <a:ea typeface="メイリオ"/>
              </a:rPr>
              <a:t>ほぼ改善してい</a:t>
            </a:r>
            <a:r>
              <a:rPr lang="ja-JP" altLang="en-US" sz="1400" b="0" dirty="0">
                <a:solidFill>
                  <a:schemeClr val="tx1">
                    <a:lumMod val="95000"/>
                    <a:lumOff val="5000"/>
                  </a:schemeClr>
                </a:solidFill>
                <a:latin typeface="Meiryo"/>
                <a:ea typeface="メイリオ"/>
              </a:rPr>
              <a:t>ない。</a:t>
            </a:r>
            <a:endParaRPr sz="1400" b="0" dirty="0">
              <a:solidFill>
                <a:schemeClr val="tx1">
                  <a:lumMod val="95000"/>
                  <a:lumOff val="5000"/>
                </a:schemeClr>
              </a:solidFill>
              <a:latin typeface="Meiryo"/>
              <a:ea typeface="メイリオ"/>
            </a:endParaRPr>
          </a:p>
        </p:txBody>
      </p:sp>
      <p:sp>
        <p:nvSpPr>
          <p:cNvPr id="92" name="TextBox 47">
            <a:extLst>
              <a:ext uri="{FF2B5EF4-FFF2-40B4-BE49-F238E27FC236}">
                <a16:creationId xmlns:a16="http://schemas.microsoft.com/office/drawing/2014/main" id="{17BAAED1-D6A9-3CD5-FE66-57746C08F9AC}"/>
              </a:ext>
            </a:extLst>
          </p:cNvPr>
          <p:cNvSpPr txBox="1"/>
          <p:nvPr/>
        </p:nvSpPr>
        <p:spPr>
          <a:xfrm>
            <a:off x="889000" y="5944559"/>
            <a:ext cx="10414000" cy="364202"/>
          </a:xfrm>
          <a:prstGeom prst="rect">
            <a:avLst/>
          </a:prstGeom>
          <a:noFill/>
        </p:spPr>
        <p:txBody>
          <a:bodyPr wrap="square" lIns="25400" tIns="12700" rIns="25400" bIns="12700" anchor="t">
            <a:spAutoFit/>
          </a:bodyPr>
          <a:lstStyle/>
          <a:p>
            <a:pPr algn="l">
              <a:lnSpc>
                <a:spcPct val="150000"/>
              </a:lnSpc>
            </a:pPr>
            <a:r>
              <a:rPr sz="1600" b="0" dirty="0">
                <a:solidFill>
                  <a:schemeClr val="tx1">
                    <a:lumMod val="95000"/>
                    <a:lumOff val="5000"/>
                  </a:schemeClr>
                </a:solidFill>
                <a:latin typeface="Meiryo"/>
                <a:ea typeface="メイリオ"/>
              </a:rPr>
              <a:t>※</a:t>
            </a:r>
            <a:r>
              <a:rPr sz="1600" b="0" dirty="0" err="1">
                <a:solidFill>
                  <a:schemeClr val="tx1">
                    <a:lumMod val="95000"/>
                    <a:lumOff val="5000"/>
                  </a:schemeClr>
                </a:solidFill>
                <a:latin typeface="Meiryo"/>
                <a:ea typeface="メイリオ"/>
              </a:rPr>
              <a:t>合成データ・調整用の新しい検証セット</a:t>
            </a:r>
            <a:r>
              <a:rPr lang="en-US" sz="1600" b="0" dirty="0">
                <a:solidFill>
                  <a:schemeClr val="tx1">
                    <a:lumMod val="95000"/>
                    <a:lumOff val="5000"/>
                  </a:schemeClr>
                </a:solidFill>
                <a:latin typeface="Meiryo"/>
                <a:ea typeface="メイリオ"/>
              </a:rPr>
              <a:t>(</a:t>
            </a:r>
            <a:r>
              <a:rPr sz="1600" b="0" dirty="0">
                <a:solidFill>
                  <a:schemeClr val="tx1">
                    <a:lumMod val="95000"/>
                    <a:lumOff val="5000"/>
                  </a:schemeClr>
                </a:solidFill>
                <a:latin typeface="Meiryo"/>
                <a:ea typeface="メイリオ"/>
              </a:rPr>
              <a:t>1,800本</a:t>
            </a:r>
            <a:r>
              <a:rPr lang="en-US" sz="1600" b="0" dirty="0">
                <a:solidFill>
                  <a:schemeClr val="tx1">
                    <a:lumMod val="95000"/>
                    <a:lumOff val="5000"/>
                  </a:schemeClr>
                </a:solidFill>
                <a:latin typeface="Meiryo"/>
                <a:ea typeface="メイリオ"/>
              </a:rPr>
              <a:t>)</a:t>
            </a:r>
            <a:r>
              <a:rPr sz="1600" b="0" dirty="0" err="1">
                <a:solidFill>
                  <a:schemeClr val="tx1">
                    <a:lumMod val="95000"/>
                    <a:lumOff val="5000"/>
                  </a:schemeClr>
                </a:solidFill>
                <a:latin typeface="Meiryo"/>
                <a:ea typeface="メイリオ"/>
              </a:rPr>
              <a:t>での値</a:t>
            </a:r>
            <a:r>
              <a:rPr lang="ja-JP" altLang="en-US" sz="1600" b="0" dirty="0">
                <a:solidFill>
                  <a:schemeClr val="tx1">
                    <a:lumMod val="95000"/>
                    <a:lumOff val="5000"/>
                  </a:schemeClr>
                </a:solidFill>
                <a:latin typeface="Meiryo"/>
                <a:ea typeface="メイリオ"/>
              </a:rPr>
              <a:t>。</a:t>
            </a:r>
            <a:endParaRPr sz="1600" b="0" dirty="0">
              <a:solidFill>
                <a:schemeClr val="tx1">
                  <a:lumMod val="95000"/>
                  <a:lumOff val="5000"/>
                </a:schemeClr>
              </a:solidFill>
              <a:latin typeface="Meiryo"/>
              <a:ea typeface="メイリオ"/>
            </a:endParaRPr>
          </a:p>
        </p:txBody>
      </p:sp>
      <p:sp>
        <p:nvSpPr>
          <p:cNvPr id="39" name="Rounded Rectangle 97">
            <a:extLst>
              <a:ext uri="{FF2B5EF4-FFF2-40B4-BE49-F238E27FC236}">
                <a16:creationId xmlns:a16="http://schemas.microsoft.com/office/drawing/2014/main" id="{E7AAC976-C235-C86B-46BB-717D0E06638D}"/>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4" name="Rounded Rectangle 96">
            <a:extLst>
              <a:ext uri="{FF2B5EF4-FFF2-40B4-BE49-F238E27FC236}">
                <a16:creationId xmlns:a16="http://schemas.microsoft.com/office/drawing/2014/main" id="{03E08090-D77B-27D7-9B21-0AC5F761A7B1}"/>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8" name="Rounded Rectangle 95">
            <a:extLst>
              <a:ext uri="{FF2B5EF4-FFF2-40B4-BE49-F238E27FC236}">
                <a16:creationId xmlns:a16="http://schemas.microsoft.com/office/drawing/2014/main" id="{92756D62-7C1D-4E70-2567-31A99660B925}"/>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53" name="Rounded Rectangle 94">
            <a:extLst>
              <a:ext uri="{FF2B5EF4-FFF2-40B4-BE49-F238E27FC236}">
                <a16:creationId xmlns:a16="http://schemas.microsoft.com/office/drawing/2014/main" id="{FD63D787-56D8-2C31-406A-AEB833C59D87}"/>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57" name="Rounded Rectangle 93">
            <a:extLst>
              <a:ext uri="{FF2B5EF4-FFF2-40B4-BE49-F238E27FC236}">
                <a16:creationId xmlns:a16="http://schemas.microsoft.com/office/drawing/2014/main" id="{9F1785D3-53F0-B48E-A839-B4BD471B9807}"/>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61" name="Rounded Rectangle 92">
            <a:extLst>
              <a:ext uri="{FF2B5EF4-FFF2-40B4-BE49-F238E27FC236}">
                <a16:creationId xmlns:a16="http://schemas.microsoft.com/office/drawing/2014/main" id="{F29489C0-B8AF-4122-9E72-2B6064D84B00}"/>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93" name="Rectangle 92"/>
          <p:cNvSpPr/>
          <p:nvPr/>
        </p:nvSpPr>
        <p:spPr>
          <a:xfrm>
            <a:off x="889000" y="5420351"/>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3000" y="5420351"/>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096000" y="4522159"/>
            <a:ext cx="10160" cy="7620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9310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0D151-7D2A-01D3-576A-C1C11DF3C521}"/>
            </a:ext>
          </a:extLst>
        </p:cNvPr>
        <p:cNvGrpSpPr/>
        <p:nvPr/>
      </p:nvGrpSpPr>
      <p:grpSpPr>
        <a:xfrm>
          <a:off x="0" y="0"/>
          <a:ext cx="0" cy="0"/>
          <a:chOff x="0" y="0"/>
          <a:chExt cx="0" cy="0"/>
        </a:xfrm>
      </p:grpSpPr>
      <p:sp>
        <p:nvSpPr>
          <p:cNvPr id="11" name="Rectangle 14">
            <a:extLst>
              <a:ext uri="{FF2B5EF4-FFF2-40B4-BE49-F238E27FC236}">
                <a16:creationId xmlns:a16="http://schemas.microsoft.com/office/drawing/2014/main" id="{A76BCAC1-813C-484B-53E5-8611DD5B3147}"/>
              </a:ext>
            </a:extLst>
          </p:cNvPr>
          <p:cNvSpPr/>
          <p:nvPr/>
        </p:nvSpPr>
        <p:spPr>
          <a:xfrm>
            <a:off x="942698" y="1570733"/>
            <a:ext cx="5080000" cy="4561125"/>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Rectangle 31">
            <a:extLst>
              <a:ext uri="{FF2B5EF4-FFF2-40B4-BE49-F238E27FC236}">
                <a16:creationId xmlns:a16="http://schemas.microsoft.com/office/drawing/2014/main" id="{609EE17A-423C-BAA6-13EA-32F07BA70E3F}"/>
              </a:ext>
            </a:extLst>
          </p:cNvPr>
          <p:cNvSpPr/>
          <p:nvPr/>
        </p:nvSpPr>
        <p:spPr>
          <a:xfrm>
            <a:off x="6273800" y="1532841"/>
            <a:ext cx="5080000" cy="4561125"/>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ectangle 17">
            <a:extLst>
              <a:ext uri="{FF2B5EF4-FFF2-40B4-BE49-F238E27FC236}">
                <a16:creationId xmlns:a16="http://schemas.microsoft.com/office/drawing/2014/main" id="{5DF66AED-D553-63DF-0483-18C55F6A6606}"/>
              </a:ext>
            </a:extLst>
          </p:cNvPr>
          <p:cNvSpPr/>
          <p:nvPr/>
        </p:nvSpPr>
        <p:spPr>
          <a:xfrm>
            <a:off x="1172400" y="3536900"/>
            <a:ext cx="4618800" cy="388800"/>
          </a:xfrm>
          <a:prstGeom prst="rect">
            <a:avLst/>
          </a:prstGeom>
          <a:solidFill>
            <a:srgbClr val="FFFFFF"/>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ectangle 23">
            <a:extLst>
              <a:ext uri="{FF2B5EF4-FFF2-40B4-BE49-F238E27FC236}">
                <a16:creationId xmlns:a16="http://schemas.microsoft.com/office/drawing/2014/main" id="{4B32C21B-ECA3-6D64-A77B-95C4687C297E}"/>
              </a:ext>
            </a:extLst>
          </p:cNvPr>
          <p:cNvSpPr/>
          <p:nvPr/>
        </p:nvSpPr>
        <p:spPr>
          <a:xfrm>
            <a:off x="1173162" y="3146666"/>
            <a:ext cx="4618800" cy="388800"/>
          </a:xfrm>
          <a:prstGeom prst="rect">
            <a:avLst/>
          </a:prstGeom>
          <a:solidFill>
            <a:srgbClr val="F2F3F5"/>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12" name="Rectangle 17">
            <a:extLst>
              <a:ext uri="{FF2B5EF4-FFF2-40B4-BE49-F238E27FC236}">
                <a16:creationId xmlns:a16="http://schemas.microsoft.com/office/drawing/2014/main" id="{8ED4A9CA-FC01-EB21-5076-6A3BF74EEE7E}"/>
              </a:ext>
            </a:extLst>
          </p:cNvPr>
          <p:cNvSpPr/>
          <p:nvPr/>
        </p:nvSpPr>
        <p:spPr>
          <a:xfrm>
            <a:off x="1173467" y="2781066"/>
            <a:ext cx="4618800" cy="388800"/>
          </a:xfrm>
          <a:prstGeom prst="rect">
            <a:avLst/>
          </a:prstGeom>
          <a:solidFill>
            <a:srgbClr val="FFFFFF"/>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 name="AutoShape 2">
            <a:extLst>
              <a:ext uri="{FF2B5EF4-FFF2-40B4-BE49-F238E27FC236}">
                <a16:creationId xmlns:a16="http://schemas.microsoft.com/office/drawing/2014/main" id="{09060105-93F9-2FF5-DA43-2E788103582F}"/>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D7910F5A-E52C-BA2F-3164-F931EE2CD45A}"/>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FBDEF8D4-AA76-0ECD-4FE4-CD03A754BCAA}"/>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CF4D50BA-D550-99F6-F34D-4CF68E085691}"/>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45887CB8-FD4B-ACA2-5204-26C4AD4FBDA4}"/>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6A3E66B6-815B-5CF0-A375-79A0F00CBD90}"/>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BB350A72-9C75-A302-401C-94CDD6B116B9}"/>
              </a:ext>
            </a:extLst>
          </p:cNvPr>
          <p:cNvSpPr>
            <a:spLocks noGrp="1"/>
          </p:cNvSpPr>
          <p:nvPr>
            <p:ph type="sldNum" sz="quarter" idx="12"/>
          </p:nvPr>
        </p:nvSpPr>
        <p:spPr/>
        <p:txBody>
          <a:bodyPr/>
          <a:lstStyle/>
          <a:p>
            <a:fld id="{4E9148DC-F7ED-4428-85F4-2C78C4B0CFB7}" type="slidenum">
              <a:rPr kumimoji="1" lang="ja-JP" altLang="en-US" smtClean="0"/>
              <a:t>9</a:t>
            </a:fld>
            <a:endParaRPr kumimoji="1" lang="ja-JP" altLang="en-US"/>
          </a:p>
        </p:txBody>
      </p:sp>
      <p:sp>
        <p:nvSpPr>
          <p:cNvPr id="24" name="TextBox 13">
            <a:extLst>
              <a:ext uri="{FF2B5EF4-FFF2-40B4-BE49-F238E27FC236}">
                <a16:creationId xmlns:a16="http://schemas.microsoft.com/office/drawing/2014/main" id="{B112EEB0-1FD7-F9A9-1BFF-2D3179EAFAD9}"/>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②③触覚の先行調査と前方の記録</a:t>
            </a:r>
          </a:p>
        </p:txBody>
      </p:sp>
      <p:sp>
        <p:nvSpPr>
          <p:cNvPr id="40" name="Rounded Rectangle 97">
            <a:extLst>
              <a:ext uri="{FF2B5EF4-FFF2-40B4-BE49-F238E27FC236}">
                <a16:creationId xmlns:a16="http://schemas.microsoft.com/office/drawing/2014/main" id="{B68FFBF5-FBF6-C3D6-580C-52AD052BF508}"/>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3" name="Rounded Rectangle 96">
            <a:extLst>
              <a:ext uri="{FF2B5EF4-FFF2-40B4-BE49-F238E27FC236}">
                <a16:creationId xmlns:a16="http://schemas.microsoft.com/office/drawing/2014/main" id="{5473E350-E640-3146-397B-B1FEE71892DB}"/>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5" name="Rounded Rectangle 95">
            <a:extLst>
              <a:ext uri="{FF2B5EF4-FFF2-40B4-BE49-F238E27FC236}">
                <a16:creationId xmlns:a16="http://schemas.microsoft.com/office/drawing/2014/main" id="{5FA346B2-FC9B-27C0-57B7-F3F615120219}"/>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7" name="Rounded Rectangle 94">
            <a:extLst>
              <a:ext uri="{FF2B5EF4-FFF2-40B4-BE49-F238E27FC236}">
                <a16:creationId xmlns:a16="http://schemas.microsoft.com/office/drawing/2014/main" id="{FA5E49E3-F927-F466-0F18-D5A3A40BB0E2}"/>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9" name="Rounded Rectangle 93">
            <a:extLst>
              <a:ext uri="{FF2B5EF4-FFF2-40B4-BE49-F238E27FC236}">
                <a16:creationId xmlns:a16="http://schemas.microsoft.com/office/drawing/2014/main" id="{918D4FBA-B460-2CF3-0C4C-955864CC254B}"/>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2" name="Rounded Rectangle 92">
            <a:extLst>
              <a:ext uri="{FF2B5EF4-FFF2-40B4-BE49-F238E27FC236}">
                <a16:creationId xmlns:a16="http://schemas.microsoft.com/office/drawing/2014/main" id="{A85DAC6D-EFCD-5E94-B7C4-6E70A2BA70FB}"/>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7" name="TextBox 16">
            <a:extLst>
              <a:ext uri="{FF2B5EF4-FFF2-40B4-BE49-F238E27FC236}">
                <a16:creationId xmlns:a16="http://schemas.microsoft.com/office/drawing/2014/main" id="{D0DD4E02-259F-5FBD-6838-B70C3FB67D37}"/>
              </a:ext>
            </a:extLst>
          </p:cNvPr>
          <p:cNvSpPr txBox="1"/>
          <p:nvPr/>
        </p:nvSpPr>
        <p:spPr>
          <a:xfrm>
            <a:off x="1168400" y="1710642"/>
            <a:ext cx="46228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② </a:t>
            </a:r>
            <a:r>
              <a:rPr b="1" dirty="0" err="1">
                <a:solidFill>
                  <a:srgbClr val="222838"/>
                </a:solidFill>
                <a:latin typeface="Meiryo"/>
                <a:ea typeface="メイリオ"/>
              </a:rPr>
              <a:t>触覚で方向は、どこまで伝わるのか</a:t>
            </a:r>
            <a:endParaRPr b="1" dirty="0">
              <a:solidFill>
                <a:srgbClr val="222838"/>
              </a:solidFill>
              <a:latin typeface="Meiryo"/>
              <a:ea typeface="メイリオ"/>
            </a:endParaRPr>
          </a:p>
        </p:txBody>
      </p:sp>
      <p:sp>
        <p:nvSpPr>
          <p:cNvPr id="19" name="TextBox 17">
            <a:extLst>
              <a:ext uri="{FF2B5EF4-FFF2-40B4-BE49-F238E27FC236}">
                <a16:creationId xmlns:a16="http://schemas.microsoft.com/office/drawing/2014/main" id="{476D0E10-BF28-1B2E-5042-103A1A8B592E}"/>
              </a:ext>
            </a:extLst>
          </p:cNvPr>
          <p:cNvSpPr txBox="1"/>
          <p:nvPr/>
        </p:nvSpPr>
        <p:spPr>
          <a:xfrm>
            <a:off x="1173467" y="2196866"/>
            <a:ext cx="4622800" cy="241092"/>
          </a:xfrm>
          <a:prstGeom prst="rect">
            <a:avLst/>
          </a:prstGeom>
          <a:noFill/>
        </p:spPr>
        <p:txBody>
          <a:bodyPr wrap="square" lIns="25400" tIns="12700" rIns="25400" bIns="12700" anchor="t">
            <a:spAutoFit/>
          </a:bodyPr>
          <a:lstStyle/>
          <a:p>
            <a:pPr algn="l"/>
            <a:r>
              <a:rPr sz="1400" b="0" dirty="0" err="1">
                <a:solidFill>
                  <a:srgbClr val="8A8F9A"/>
                </a:solidFill>
                <a:latin typeface="Meiryo"/>
                <a:ea typeface="メイリオ"/>
              </a:rPr>
              <a:t>腰の振動ベルトで測った先行研究の値</a:t>
            </a:r>
            <a:r>
              <a:rPr lang="en-US" sz="1400" b="0" dirty="0">
                <a:solidFill>
                  <a:srgbClr val="8A8F9A"/>
                </a:solidFill>
                <a:latin typeface="Meiryo"/>
                <a:ea typeface="メイリオ"/>
              </a:rPr>
              <a:t>(bioRxiv 2021)</a:t>
            </a:r>
            <a:endParaRPr sz="1400" b="0" dirty="0">
              <a:solidFill>
                <a:srgbClr val="8A8F9A"/>
              </a:solidFill>
              <a:latin typeface="Meiryo"/>
              <a:ea typeface="メイリオ"/>
            </a:endParaRPr>
          </a:p>
        </p:txBody>
      </p:sp>
      <p:sp>
        <p:nvSpPr>
          <p:cNvPr id="21" name="Rectangle 18">
            <a:extLst>
              <a:ext uri="{FF2B5EF4-FFF2-40B4-BE49-F238E27FC236}">
                <a16:creationId xmlns:a16="http://schemas.microsoft.com/office/drawing/2014/main" id="{54E17B2A-344E-FB34-7831-9958090ED77E}"/>
              </a:ext>
            </a:extLst>
          </p:cNvPr>
          <p:cNvSpPr/>
          <p:nvPr/>
        </p:nvSpPr>
        <p:spPr>
          <a:xfrm>
            <a:off x="1172621" y="2476266"/>
            <a:ext cx="4618800" cy="304800"/>
          </a:xfrm>
          <a:prstGeom prst="rect">
            <a:avLst/>
          </a:prstGeom>
          <a:solidFill>
            <a:srgbClr val="F2F3F5"/>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19">
            <a:extLst>
              <a:ext uri="{FF2B5EF4-FFF2-40B4-BE49-F238E27FC236}">
                <a16:creationId xmlns:a16="http://schemas.microsoft.com/office/drawing/2014/main" id="{5CC45FC3-FE90-D5C6-7C82-A6D963DC4F46}"/>
              </a:ext>
            </a:extLst>
          </p:cNvPr>
          <p:cNvSpPr txBox="1"/>
          <p:nvPr/>
        </p:nvSpPr>
        <p:spPr>
          <a:xfrm>
            <a:off x="1275067" y="2527066"/>
            <a:ext cx="1905000" cy="241092"/>
          </a:xfrm>
          <a:prstGeom prst="rect">
            <a:avLst/>
          </a:prstGeom>
          <a:noFill/>
        </p:spPr>
        <p:txBody>
          <a:bodyPr wrap="square" lIns="25400" tIns="12700" rIns="25400" bIns="12700" anchor="t">
            <a:spAutoFit/>
          </a:bodyPr>
          <a:lstStyle/>
          <a:p>
            <a:pPr algn="l"/>
            <a:r>
              <a:rPr sz="1400" b="1" dirty="0" err="1">
                <a:solidFill>
                  <a:srgbClr val="222838"/>
                </a:solidFill>
                <a:latin typeface="Meiryo"/>
                <a:ea typeface="メイリオ"/>
              </a:rPr>
              <a:t>並べ方</a:t>
            </a:r>
            <a:endParaRPr sz="1400" b="1" dirty="0">
              <a:solidFill>
                <a:srgbClr val="222838"/>
              </a:solidFill>
              <a:latin typeface="Meiryo"/>
              <a:ea typeface="メイリオ"/>
            </a:endParaRPr>
          </a:p>
        </p:txBody>
      </p:sp>
      <p:sp>
        <p:nvSpPr>
          <p:cNvPr id="26" name="TextBox 20">
            <a:extLst>
              <a:ext uri="{FF2B5EF4-FFF2-40B4-BE49-F238E27FC236}">
                <a16:creationId xmlns:a16="http://schemas.microsoft.com/office/drawing/2014/main" id="{4B1875B5-EE79-C15C-5525-DDEB468D8C85}"/>
              </a:ext>
            </a:extLst>
          </p:cNvPr>
          <p:cNvSpPr txBox="1"/>
          <p:nvPr/>
        </p:nvSpPr>
        <p:spPr>
          <a:xfrm>
            <a:off x="3865867" y="2527066"/>
            <a:ext cx="1905000" cy="241092"/>
          </a:xfrm>
          <a:prstGeom prst="rect">
            <a:avLst/>
          </a:prstGeom>
          <a:noFill/>
        </p:spPr>
        <p:txBody>
          <a:bodyPr wrap="square" lIns="25400" tIns="12700" rIns="25400" bIns="12700" anchor="t">
            <a:spAutoFit/>
          </a:bodyPr>
          <a:lstStyle/>
          <a:p>
            <a:pPr algn="r"/>
            <a:r>
              <a:rPr sz="1400" b="1" dirty="0" err="1">
                <a:solidFill>
                  <a:srgbClr val="222838"/>
                </a:solidFill>
                <a:latin typeface="Meiryo"/>
                <a:ea typeface="メイリオ"/>
              </a:rPr>
              <a:t>方向を当てられた割合</a:t>
            </a:r>
            <a:endParaRPr sz="1400" b="1" dirty="0">
              <a:solidFill>
                <a:srgbClr val="222838"/>
              </a:solidFill>
              <a:latin typeface="Meiryo"/>
              <a:ea typeface="メイリオ"/>
            </a:endParaRPr>
          </a:p>
        </p:txBody>
      </p:sp>
      <p:sp>
        <p:nvSpPr>
          <p:cNvPr id="28" name="TextBox 21">
            <a:extLst>
              <a:ext uri="{FF2B5EF4-FFF2-40B4-BE49-F238E27FC236}">
                <a16:creationId xmlns:a16="http://schemas.microsoft.com/office/drawing/2014/main" id="{A197697D-8B82-B215-35D0-E074DAA39551}"/>
              </a:ext>
            </a:extLst>
          </p:cNvPr>
          <p:cNvSpPr txBox="1"/>
          <p:nvPr/>
        </p:nvSpPr>
        <p:spPr>
          <a:xfrm>
            <a:off x="1275067" y="2856016"/>
            <a:ext cx="2540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8個・間隔 107mm</a:t>
            </a:r>
          </a:p>
        </p:txBody>
      </p:sp>
      <p:sp>
        <p:nvSpPr>
          <p:cNvPr id="30" name="TextBox 22">
            <a:extLst>
              <a:ext uri="{FF2B5EF4-FFF2-40B4-BE49-F238E27FC236}">
                <a16:creationId xmlns:a16="http://schemas.microsoft.com/office/drawing/2014/main" id="{1439445B-7D0C-4AC8-7EE5-EE9106FE861C}"/>
              </a:ext>
            </a:extLst>
          </p:cNvPr>
          <p:cNvSpPr txBox="1"/>
          <p:nvPr/>
        </p:nvSpPr>
        <p:spPr>
          <a:xfrm>
            <a:off x="4119867" y="2846062"/>
            <a:ext cx="1651000" cy="241092"/>
          </a:xfrm>
          <a:prstGeom prst="rect">
            <a:avLst/>
          </a:prstGeom>
          <a:noFill/>
        </p:spPr>
        <p:txBody>
          <a:bodyPr wrap="square" lIns="25400" tIns="12700" rIns="25400" bIns="12700" anchor="t">
            <a:spAutoFit/>
          </a:bodyPr>
          <a:lstStyle/>
          <a:p>
            <a:pPr algn="r"/>
            <a:r>
              <a:rPr sz="1400" b="1" dirty="0">
                <a:solidFill>
                  <a:schemeClr val="tx1">
                    <a:lumMod val="95000"/>
                    <a:lumOff val="5000"/>
                  </a:schemeClr>
                </a:solidFill>
                <a:latin typeface="Meiryo"/>
                <a:ea typeface="メイリオ"/>
              </a:rPr>
              <a:t>98%</a:t>
            </a:r>
          </a:p>
        </p:txBody>
      </p:sp>
      <p:sp>
        <p:nvSpPr>
          <p:cNvPr id="32" name="TextBox 23">
            <a:extLst>
              <a:ext uri="{FF2B5EF4-FFF2-40B4-BE49-F238E27FC236}">
                <a16:creationId xmlns:a16="http://schemas.microsoft.com/office/drawing/2014/main" id="{9AF1C6A3-157A-5FE4-193E-2D19C1CE9202}"/>
              </a:ext>
            </a:extLst>
          </p:cNvPr>
          <p:cNvSpPr txBox="1"/>
          <p:nvPr/>
        </p:nvSpPr>
        <p:spPr>
          <a:xfrm>
            <a:off x="1275067" y="3265716"/>
            <a:ext cx="2540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12個・間隔 72mm</a:t>
            </a:r>
          </a:p>
        </p:txBody>
      </p:sp>
      <p:sp>
        <p:nvSpPr>
          <p:cNvPr id="34" name="TextBox 24">
            <a:extLst>
              <a:ext uri="{FF2B5EF4-FFF2-40B4-BE49-F238E27FC236}">
                <a16:creationId xmlns:a16="http://schemas.microsoft.com/office/drawing/2014/main" id="{D98677F6-7422-282F-CC6B-6F53DC41BD5A}"/>
              </a:ext>
            </a:extLst>
          </p:cNvPr>
          <p:cNvSpPr txBox="1"/>
          <p:nvPr/>
        </p:nvSpPr>
        <p:spPr>
          <a:xfrm>
            <a:off x="4119867" y="3257949"/>
            <a:ext cx="1651000" cy="241092"/>
          </a:xfrm>
          <a:prstGeom prst="rect">
            <a:avLst/>
          </a:prstGeom>
          <a:noFill/>
        </p:spPr>
        <p:txBody>
          <a:bodyPr wrap="square" lIns="25400" tIns="12700" rIns="25400" bIns="12700" anchor="t">
            <a:spAutoFit/>
          </a:bodyPr>
          <a:lstStyle/>
          <a:p>
            <a:pPr algn="r"/>
            <a:r>
              <a:rPr sz="1400" b="1" dirty="0">
                <a:solidFill>
                  <a:schemeClr val="tx1">
                    <a:lumMod val="95000"/>
                    <a:lumOff val="5000"/>
                  </a:schemeClr>
                </a:solidFill>
                <a:latin typeface="Meiryo"/>
                <a:ea typeface="メイリオ"/>
              </a:rPr>
              <a:t>74%</a:t>
            </a:r>
          </a:p>
        </p:txBody>
      </p:sp>
      <p:sp>
        <p:nvSpPr>
          <p:cNvPr id="36" name="TextBox 25">
            <a:extLst>
              <a:ext uri="{FF2B5EF4-FFF2-40B4-BE49-F238E27FC236}">
                <a16:creationId xmlns:a16="http://schemas.microsoft.com/office/drawing/2014/main" id="{9B3D57C6-C684-C94F-5853-D08110084058}"/>
              </a:ext>
            </a:extLst>
          </p:cNvPr>
          <p:cNvSpPr txBox="1"/>
          <p:nvPr/>
        </p:nvSpPr>
        <p:spPr>
          <a:xfrm>
            <a:off x="1148067" y="3639445"/>
            <a:ext cx="4622800" cy="241092"/>
          </a:xfrm>
          <a:prstGeom prst="rect">
            <a:avLst/>
          </a:prstGeom>
          <a:noFill/>
        </p:spPr>
        <p:txBody>
          <a:bodyPr wrap="square" lIns="25400" tIns="12700" rIns="25400" bIns="12700" anchor="t">
            <a:spAutoFit/>
          </a:bodyPr>
          <a:lstStyle/>
          <a:p>
            <a:pPr algn="ctr"/>
            <a:r>
              <a:rPr sz="1400" b="0" dirty="0" err="1">
                <a:solidFill>
                  <a:srgbClr val="8A8F9A"/>
                </a:solidFill>
                <a:latin typeface="Meiryo"/>
                <a:ea typeface="メイリオ"/>
              </a:rPr>
              <a:t>間隔が狭くなると急に落ちる</a:t>
            </a:r>
            <a:endParaRPr sz="1400" b="0" dirty="0">
              <a:solidFill>
                <a:srgbClr val="8A8F9A"/>
              </a:solidFill>
              <a:latin typeface="Meiryo"/>
              <a:ea typeface="メイリオ"/>
            </a:endParaRPr>
          </a:p>
        </p:txBody>
      </p:sp>
      <p:sp>
        <p:nvSpPr>
          <p:cNvPr id="41" name="TextBox 27">
            <a:extLst>
              <a:ext uri="{FF2B5EF4-FFF2-40B4-BE49-F238E27FC236}">
                <a16:creationId xmlns:a16="http://schemas.microsoft.com/office/drawing/2014/main" id="{5C771EB0-61AA-5866-AE17-D2A796629937}"/>
              </a:ext>
            </a:extLst>
          </p:cNvPr>
          <p:cNvSpPr txBox="1"/>
          <p:nvPr/>
        </p:nvSpPr>
        <p:spPr>
          <a:xfrm>
            <a:off x="1173467" y="4076466"/>
            <a:ext cx="4724400" cy="1379865"/>
          </a:xfrm>
          <a:prstGeom prst="rect">
            <a:avLst/>
          </a:prstGeom>
          <a:noFill/>
        </p:spPr>
        <p:txBody>
          <a:bodyPr wrap="square" lIns="25400" tIns="12700" rIns="25400" bIns="12700" anchor="t">
            <a:spAutoFit/>
          </a:bodyPr>
          <a:lstStyle/>
          <a:p>
            <a:pPr algn="l">
              <a:lnSpc>
                <a:spcPct val="140000"/>
              </a:lnSpc>
            </a:pPr>
            <a:r>
              <a:rPr sz="1600" b="0" dirty="0">
                <a:solidFill>
                  <a:schemeClr val="tx1">
                    <a:lumMod val="95000"/>
                    <a:lumOff val="5000"/>
                  </a:schemeClr>
                </a:solidFill>
                <a:latin typeface="Meiryo"/>
                <a:ea typeface="メイリオ"/>
              </a:rPr>
              <a:t>首回りは35〜40cmしかないので、8方向にすると</a:t>
            </a:r>
            <a:endParaRPr lang="en-US" sz="1600" b="0" dirty="0">
              <a:solidFill>
                <a:schemeClr val="tx1">
                  <a:lumMod val="95000"/>
                  <a:lumOff val="5000"/>
                </a:schemeClr>
              </a:solidFill>
              <a:latin typeface="Meiryo"/>
              <a:ea typeface="メイリオ"/>
            </a:endParaRPr>
          </a:p>
          <a:p>
            <a:pPr algn="l">
              <a:lnSpc>
                <a:spcPct val="140000"/>
              </a:lnSpc>
            </a:pPr>
            <a:r>
              <a:rPr sz="1600" b="0" dirty="0">
                <a:solidFill>
                  <a:schemeClr val="tx1">
                    <a:lumMod val="95000"/>
                    <a:lumOff val="5000"/>
                  </a:schemeClr>
                </a:solidFill>
                <a:latin typeface="Meiryo"/>
                <a:ea typeface="メイリオ"/>
              </a:rPr>
              <a:t>間隔45〜50mm。</a:t>
            </a:r>
          </a:p>
          <a:p>
            <a:pPr algn="l">
              <a:lnSpc>
                <a:spcPct val="140000"/>
              </a:lnSpc>
            </a:pPr>
            <a:r>
              <a:rPr sz="1600" b="0" dirty="0">
                <a:solidFill>
                  <a:schemeClr val="tx1">
                    <a:lumMod val="95000"/>
                    <a:lumOff val="5000"/>
                  </a:schemeClr>
                </a:solidFill>
                <a:latin typeface="Meiryo"/>
                <a:ea typeface="メイリオ"/>
              </a:rPr>
              <a:t>これは腰で74%に落ちた間隔より狭く、首は腰より鈍い。</a:t>
            </a:r>
          </a:p>
        </p:txBody>
      </p:sp>
      <p:sp>
        <p:nvSpPr>
          <p:cNvPr id="48" name="TextBox 29">
            <a:extLst>
              <a:ext uri="{FF2B5EF4-FFF2-40B4-BE49-F238E27FC236}">
                <a16:creationId xmlns:a16="http://schemas.microsoft.com/office/drawing/2014/main" id="{B077AF8A-4FE1-FD20-2977-E90B75AEBD27}"/>
              </a:ext>
            </a:extLst>
          </p:cNvPr>
          <p:cNvSpPr txBox="1"/>
          <p:nvPr/>
        </p:nvSpPr>
        <p:spPr>
          <a:xfrm>
            <a:off x="1168400" y="5596031"/>
            <a:ext cx="4318000" cy="271869"/>
          </a:xfrm>
          <a:prstGeom prst="rect">
            <a:avLst/>
          </a:prstGeom>
          <a:noFill/>
        </p:spPr>
        <p:txBody>
          <a:bodyPr wrap="square" lIns="25400" tIns="12700" rIns="25400" bIns="12700" anchor="t">
            <a:spAutoFit/>
          </a:bodyPr>
          <a:lstStyle/>
          <a:p>
            <a:pPr algn="l"/>
            <a:r>
              <a:rPr sz="1600" b="0" dirty="0">
                <a:solidFill>
                  <a:srgbClr val="222838"/>
                </a:solidFill>
                <a:latin typeface="Meiryo"/>
                <a:ea typeface="メイリオ"/>
              </a:rPr>
              <a:t>→ 首元は</a:t>
            </a:r>
            <a:r>
              <a:rPr sz="1600" b="1" dirty="0">
                <a:solidFill>
                  <a:schemeClr val="tx1">
                    <a:lumMod val="95000"/>
                    <a:lumOff val="5000"/>
                  </a:schemeClr>
                </a:solidFill>
                <a:latin typeface="Meiryo"/>
                <a:ea typeface="メイリオ"/>
              </a:rPr>
              <a:t>4〜6方向</a:t>
            </a:r>
            <a:r>
              <a:rPr sz="1600" b="0" dirty="0">
                <a:solidFill>
                  <a:srgbClr val="222838"/>
                </a:solidFill>
                <a:latin typeface="Meiryo"/>
                <a:ea typeface="メイリオ"/>
              </a:rPr>
              <a:t>が現実的</a:t>
            </a:r>
          </a:p>
        </p:txBody>
      </p:sp>
      <p:sp>
        <p:nvSpPr>
          <p:cNvPr id="58" name="TextBox 33">
            <a:extLst>
              <a:ext uri="{FF2B5EF4-FFF2-40B4-BE49-F238E27FC236}">
                <a16:creationId xmlns:a16="http://schemas.microsoft.com/office/drawing/2014/main" id="{B05AAA3D-AF79-BCA4-772D-925598153286}"/>
              </a:ext>
            </a:extLst>
          </p:cNvPr>
          <p:cNvSpPr txBox="1"/>
          <p:nvPr/>
        </p:nvSpPr>
        <p:spPr>
          <a:xfrm>
            <a:off x="6502400" y="1710642"/>
            <a:ext cx="46228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③ </a:t>
            </a:r>
            <a:r>
              <a:rPr b="1" dirty="0" err="1">
                <a:solidFill>
                  <a:srgbClr val="222838"/>
                </a:solidFill>
                <a:latin typeface="Meiryo"/>
                <a:ea typeface="メイリオ"/>
              </a:rPr>
              <a:t>前方も記録する</a:t>
            </a:r>
            <a:endParaRPr b="1" dirty="0">
              <a:solidFill>
                <a:srgbClr val="222838"/>
              </a:solidFill>
              <a:latin typeface="Meiryo"/>
              <a:ea typeface="メイリオ"/>
            </a:endParaRPr>
          </a:p>
        </p:txBody>
      </p:sp>
      <p:sp>
        <p:nvSpPr>
          <p:cNvPr id="66" name="TextBox 37">
            <a:extLst>
              <a:ext uri="{FF2B5EF4-FFF2-40B4-BE49-F238E27FC236}">
                <a16:creationId xmlns:a16="http://schemas.microsoft.com/office/drawing/2014/main" id="{42457662-B924-DAC2-6008-A719AAA838C2}"/>
              </a:ext>
            </a:extLst>
          </p:cNvPr>
          <p:cNvSpPr txBox="1"/>
          <p:nvPr/>
        </p:nvSpPr>
        <p:spPr>
          <a:xfrm>
            <a:off x="6564426" y="2320242"/>
            <a:ext cx="4687774" cy="3226524"/>
          </a:xfrm>
          <a:prstGeom prst="rect">
            <a:avLst/>
          </a:prstGeom>
          <a:noFill/>
        </p:spPr>
        <p:txBody>
          <a:bodyPr wrap="square" lIns="25400" tIns="12700" rIns="25400" bIns="12700" anchor="t">
            <a:spAutoFit/>
          </a:bodyPr>
          <a:lstStyle/>
          <a:p>
            <a:pPr marL="171450" indent="-171450" algn="l">
              <a:buFont typeface="Wingdings" panose="05000000000000000000" pitchFamily="2" charset="2"/>
              <a:buChar char="Ø"/>
            </a:pPr>
            <a:r>
              <a:rPr sz="1600" b="1" dirty="0" err="1">
                <a:solidFill>
                  <a:schemeClr val="tx1">
                    <a:lumMod val="95000"/>
                    <a:lumOff val="5000"/>
                  </a:schemeClr>
                </a:solidFill>
                <a:latin typeface="Meiryo"/>
                <a:ea typeface="メイリオ"/>
              </a:rPr>
              <a:t>変えるのは記録紙だけ</a:t>
            </a:r>
            <a:endParaRPr lang="en-US"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前方のイベントも</a:t>
            </a:r>
            <a:r>
              <a:rPr lang="en-US" altLang="ja-JP" sz="1600" dirty="0">
                <a:solidFill>
                  <a:schemeClr val="tx1">
                    <a:lumMod val="95000"/>
                    <a:lumOff val="5000"/>
                  </a:schemeClr>
                </a:solidFill>
                <a:latin typeface="Meiryo"/>
                <a:ea typeface="メイリオ"/>
              </a:rPr>
              <a:t>1</a:t>
            </a:r>
            <a:r>
              <a:rPr lang="ja-JP" altLang="en-US" sz="1600" dirty="0">
                <a:solidFill>
                  <a:schemeClr val="tx1">
                    <a:lumMod val="95000"/>
                    <a:lumOff val="5000"/>
                  </a:schemeClr>
                </a:solidFill>
                <a:latin typeface="Meiryo"/>
                <a:ea typeface="メイリオ"/>
              </a:rPr>
              <a:t>行書く。</a:t>
            </a:r>
            <a:endParaRPr lang="en-US" altLang="ja-JP" sz="1600" dirty="0">
              <a:solidFill>
                <a:schemeClr val="tx1">
                  <a:lumMod val="95000"/>
                  <a:lumOff val="5000"/>
                </a:schemeClr>
              </a:solidFill>
              <a:latin typeface="Meiryo"/>
              <a:ea typeface="メイリオ"/>
            </a:endParaRPr>
          </a:p>
          <a:p>
            <a:endParaRPr lang="en-US" sz="1600" b="1" dirty="0">
              <a:solidFill>
                <a:schemeClr val="tx1">
                  <a:lumMod val="95000"/>
                  <a:lumOff val="5000"/>
                </a:schemeClr>
              </a:solidFill>
              <a:latin typeface="Meiryo"/>
              <a:ea typeface="メイリオ"/>
            </a:endParaRPr>
          </a:p>
          <a:p>
            <a:pPr marL="171450" indent="-171450">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採点では既定で除外する</a:t>
            </a:r>
            <a:endParaRPr lang="en-US" altLang="ja-JP"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別の列に入れて別集計。前提として前方は</a:t>
            </a:r>
            <a:endParaRPr lang="en-US" altLang="ja-JP" sz="1600"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通知の対象外。</a:t>
            </a:r>
            <a:endParaRPr lang="en-US" altLang="ja-JP" sz="1600" dirty="0">
              <a:solidFill>
                <a:schemeClr val="tx1">
                  <a:lumMod val="95000"/>
                  <a:lumOff val="5000"/>
                </a:schemeClr>
              </a:solidFill>
              <a:latin typeface="Meiryo"/>
              <a:ea typeface="メイリオ"/>
            </a:endParaRPr>
          </a:p>
          <a:p>
            <a:endParaRPr lang="ja-JP" altLang="en-US" sz="1600" b="1" dirty="0">
              <a:solidFill>
                <a:schemeClr val="tx1">
                  <a:lumMod val="95000"/>
                  <a:lumOff val="5000"/>
                </a:schemeClr>
              </a:solidFill>
              <a:latin typeface="Meiryo"/>
              <a:ea typeface="メイリオ"/>
            </a:endParaRPr>
          </a:p>
          <a:p>
            <a:pPr marL="171450" indent="-171450">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実録</a:t>
            </a:r>
            <a:r>
              <a:rPr lang="en-US" altLang="ja-JP" sz="1600" b="1" dirty="0">
                <a:solidFill>
                  <a:schemeClr val="tx1">
                    <a:lumMod val="95000"/>
                    <a:lumOff val="5000"/>
                  </a:schemeClr>
                </a:solidFill>
                <a:latin typeface="Meiryo"/>
                <a:ea typeface="メイリオ"/>
              </a:rPr>
              <a:t>110</a:t>
            </a:r>
            <a:r>
              <a:rPr lang="ja-JP" altLang="en-US" sz="1600" b="1" dirty="0">
                <a:solidFill>
                  <a:schemeClr val="tx1">
                    <a:lumMod val="95000"/>
                    <a:lumOff val="5000"/>
                  </a:schemeClr>
                </a:solidFill>
                <a:latin typeface="Meiryo"/>
                <a:ea typeface="メイリオ"/>
              </a:rPr>
              <a:t>本の内訳は動かさない</a:t>
            </a:r>
            <a:endParaRPr lang="en-US" altLang="ja-JP"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録る前に決めた配分はそのまま。</a:t>
            </a:r>
            <a:endParaRPr lang="en-US" altLang="ja-JP" sz="1600" dirty="0">
              <a:solidFill>
                <a:schemeClr val="tx1">
                  <a:lumMod val="95000"/>
                  <a:lumOff val="5000"/>
                </a:schemeClr>
              </a:solidFill>
              <a:latin typeface="Meiryo"/>
              <a:ea typeface="メイリオ"/>
            </a:endParaRPr>
          </a:p>
          <a:p>
            <a:endParaRPr lang="ja-JP" altLang="en-US" sz="1600" b="1" dirty="0">
              <a:solidFill>
                <a:schemeClr val="tx1">
                  <a:lumMod val="95000"/>
                  <a:lumOff val="5000"/>
                </a:schemeClr>
              </a:solidFill>
              <a:latin typeface="Meiryo"/>
              <a:ea typeface="メイリオ"/>
            </a:endParaRPr>
          </a:p>
          <a:p>
            <a:pPr marL="171450" indent="-171450">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録らなければ二度と取れない</a:t>
            </a:r>
            <a:endParaRPr lang="en-US" altLang="ja-JP"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解析の段階なら後から外せるが、</a:t>
            </a:r>
            <a:endParaRPr lang="en-US" altLang="ja-JP" sz="1600"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録音は撮り直せない</a:t>
            </a:r>
          </a:p>
        </p:txBody>
      </p:sp>
      <p:sp>
        <p:nvSpPr>
          <p:cNvPr id="88" name="Rectangle 48">
            <a:extLst>
              <a:ext uri="{FF2B5EF4-FFF2-40B4-BE49-F238E27FC236}">
                <a16:creationId xmlns:a16="http://schemas.microsoft.com/office/drawing/2014/main" id="{3786D778-5560-0A8B-9CE9-2E3A707E3E8B}"/>
              </a:ext>
            </a:extLst>
          </p:cNvPr>
          <p:cNvSpPr/>
          <p:nvPr/>
        </p:nvSpPr>
        <p:spPr>
          <a:xfrm>
            <a:off x="6502400" y="4957833"/>
            <a:ext cx="4622800" cy="127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9" name="Rectangle 88"/>
          <p:cNvSpPr/>
          <p:nvPr/>
        </p:nvSpPr>
        <p:spPr>
          <a:xfrm>
            <a:off x="942698" y="2038689"/>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73800" y="2038689"/>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148249" y="1672333"/>
            <a:ext cx="10160" cy="4357925"/>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494354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C3DD-0B30-D4AC-5D54-C783F1819F7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9716B1E-DC5F-5654-E66B-48F4A77911D2}"/>
              </a:ext>
            </a:extLst>
          </p:cNvPr>
          <p:cNvSpPr/>
          <p:nvPr/>
        </p:nvSpPr>
        <p:spPr>
          <a:xfrm>
            <a:off x="938240" y="1456522"/>
            <a:ext cx="5080000" cy="2235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18" name="Rectangle 18">
            <a:extLst>
              <a:ext uri="{FF2B5EF4-FFF2-40B4-BE49-F238E27FC236}">
                <a16:creationId xmlns:a16="http://schemas.microsoft.com/office/drawing/2014/main" id="{6EC3751C-8B14-2FC5-CD2E-B96B1C1AC175}"/>
              </a:ext>
            </a:extLst>
          </p:cNvPr>
          <p:cNvSpPr/>
          <p:nvPr/>
        </p:nvSpPr>
        <p:spPr>
          <a:xfrm>
            <a:off x="6272240" y="1454411"/>
            <a:ext cx="5080000" cy="2219959"/>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AutoShape 2">
            <a:extLst>
              <a:ext uri="{FF2B5EF4-FFF2-40B4-BE49-F238E27FC236}">
                <a16:creationId xmlns:a16="http://schemas.microsoft.com/office/drawing/2014/main" id="{3F483267-5141-DD18-077A-E9E01F100E19}"/>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321A4B73-FF08-962C-66B7-03140BAF2126}"/>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2BCF3D7D-E7B3-EFE3-C407-693E295DFFF6}"/>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61662B59-9C80-7487-3C9F-4D4120154C50}"/>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2B863AA5-53F1-F8BE-E706-25E59CE849F9}"/>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AA9FD6C4-F8CA-7A5B-E46C-1E52763B9AD5}"/>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C54D001C-C917-840F-6720-6EC4E509FB21}"/>
              </a:ext>
            </a:extLst>
          </p:cNvPr>
          <p:cNvSpPr>
            <a:spLocks noGrp="1"/>
          </p:cNvSpPr>
          <p:nvPr>
            <p:ph type="sldNum" sz="quarter" idx="12"/>
          </p:nvPr>
        </p:nvSpPr>
        <p:spPr/>
        <p:txBody>
          <a:bodyPr/>
          <a:lstStyle/>
          <a:p>
            <a:fld id="{4E9148DC-F7ED-4428-85F4-2C78C4B0CFB7}" type="slidenum">
              <a:rPr kumimoji="1" lang="ja-JP" altLang="en-US" smtClean="0"/>
              <a:t>10</a:t>
            </a:fld>
            <a:endParaRPr kumimoji="1" lang="ja-JP" altLang="en-US"/>
          </a:p>
        </p:txBody>
      </p:sp>
      <p:sp>
        <p:nvSpPr>
          <p:cNvPr id="24" name="TextBox 13">
            <a:extLst>
              <a:ext uri="{FF2B5EF4-FFF2-40B4-BE49-F238E27FC236}">
                <a16:creationId xmlns:a16="http://schemas.microsoft.com/office/drawing/2014/main" id="{9F203D28-CBA1-7765-57D1-E782B10530DE}"/>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④触覚デモを動かした</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5" name="TextBox 13">
            <a:extLst>
              <a:ext uri="{FF2B5EF4-FFF2-40B4-BE49-F238E27FC236}">
                <a16:creationId xmlns:a16="http://schemas.microsoft.com/office/drawing/2014/main" id="{34C3FE4F-AAA7-A9CC-71ED-A69FC5C0C76E}"/>
              </a:ext>
            </a:extLst>
          </p:cNvPr>
          <p:cNvSpPr txBox="1"/>
          <p:nvPr/>
        </p:nvSpPr>
        <p:spPr>
          <a:xfrm>
            <a:off x="1141440" y="1635783"/>
            <a:ext cx="46736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実機で振動</a:t>
            </a:r>
            <a:endParaRPr lang="en-US" b="1" dirty="0">
              <a:solidFill>
                <a:schemeClr val="tx1">
                  <a:lumMod val="95000"/>
                  <a:lumOff val="5000"/>
                </a:schemeClr>
              </a:solidFill>
              <a:latin typeface="Meiryo"/>
              <a:ea typeface="メイリオ"/>
            </a:endParaRPr>
          </a:p>
        </p:txBody>
      </p:sp>
      <p:sp>
        <p:nvSpPr>
          <p:cNvPr id="19" name="TextBox 15">
            <a:extLst>
              <a:ext uri="{FF2B5EF4-FFF2-40B4-BE49-F238E27FC236}">
                <a16:creationId xmlns:a16="http://schemas.microsoft.com/office/drawing/2014/main" id="{40A3BED1-FE7D-9FE5-C5D2-48B9BFBA3253}"/>
              </a:ext>
            </a:extLst>
          </p:cNvPr>
          <p:cNvSpPr txBox="1"/>
          <p:nvPr/>
        </p:nvSpPr>
        <p:spPr>
          <a:xfrm>
            <a:off x="1141440" y="2015196"/>
            <a:ext cx="4772081" cy="1613262"/>
          </a:xfrm>
          <a:prstGeom prst="rect">
            <a:avLst/>
          </a:prstGeom>
          <a:noFill/>
        </p:spPr>
        <p:txBody>
          <a:bodyPr wrap="square" lIns="25400" tIns="12700" rIns="25400" bIns="12700" anchor="t">
            <a:spAutoFit/>
          </a:bodyPr>
          <a:lstStyle/>
          <a:p>
            <a:pPr marL="171450" indent="-171450" algn="l">
              <a:lnSpc>
                <a:spcPct val="134000"/>
              </a:lnSpc>
              <a:buFont typeface="Wingdings" panose="05000000000000000000" pitchFamily="2" charset="2"/>
              <a:buChar char="Ø"/>
            </a:pPr>
            <a:r>
              <a:rPr sz="1600" b="1" dirty="0" err="1">
                <a:solidFill>
                  <a:schemeClr val="tx1">
                    <a:lumMod val="95000"/>
                    <a:lumOff val="5000"/>
                  </a:schemeClr>
                </a:solidFill>
                <a:latin typeface="Meiryo"/>
                <a:ea typeface="メイリオ"/>
              </a:rPr>
              <a:t>使ったもの</a:t>
            </a:r>
            <a:r>
              <a:rPr lang="ja-JP" altLang="en-US" sz="1600" dirty="0">
                <a:solidFill>
                  <a:schemeClr val="tx1">
                    <a:lumMod val="95000"/>
                    <a:lumOff val="5000"/>
                  </a:schemeClr>
                </a:solidFill>
                <a:latin typeface="Meiryo"/>
                <a:ea typeface="メイリオ"/>
              </a:rPr>
              <a:t>：</a:t>
            </a:r>
            <a:r>
              <a:rPr lang="en-US" altLang="ja-JP" sz="1600" dirty="0">
                <a:solidFill>
                  <a:schemeClr val="tx1">
                    <a:lumMod val="95000"/>
                    <a:lumOff val="5000"/>
                  </a:schemeClr>
                </a:solidFill>
                <a:latin typeface="Meiryo"/>
                <a:ea typeface="メイリオ"/>
              </a:rPr>
              <a:t>Switch</a:t>
            </a:r>
            <a:r>
              <a:rPr lang="ja-JP" altLang="en-US" sz="1600" dirty="0">
                <a:solidFill>
                  <a:schemeClr val="tx1">
                    <a:lumMod val="95000"/>
                    <a:lumOff val="5000"/>
                  </a:schemeClr>
                </a:solidFill>
                <a:latin typeface="Meiryo"/>
                <a:ea typeface="メイリオ"/>
              </a:rPr>
              <a:t>の</a:t>
            </a:r>
            <a:r>
              <a:rPr sz="1600" b="0" dirty="0">
                <a:solidFill>
                  <a:schemeClr val="tx1">
                    <a:lumMod val="95000"/>
                    <a:lumOff val="5000"/>
                  </a:schemeClr>
                </a:solidFill>
                <a:latin typeface="Meiryo"/>
                <a:ea typeface="メイリオ"/>
              </a:rPr>
              <a:t>Joy-conとUnity 6.6</a:t>
            </a:r>
            <a:endParaRPr lang="en-US" sz="1600" b="0" dirty="0">
              <a:solidFill>
                <a:schemeClr val="tx1">
                  <a:lumMod val="95000"/>
                  <a:lumOff val="5000"/>
                </a:schemeClr>
              </a:solidFill>
              <a:latin typeface="Meiryo"/>
              <a:ea typeface="メイリオ"/>
            </a:endParaRPr>
          </a:p>
          <a:p>
            <a:pPr>
              <a:lnSpc>
                <a:spcPct val="134000"/>
              </a:lnSpc>
            </a:pPr>
            <a:endParaRPr lang="en-US" altLang="ja-JP" sz="700" b="1" dirty="0">
              <a:solidFill>
                <a:schemeClr val="tx1">
                  <a:lumMod val="95000"/>
                  <a:lumOff val="5000"/>
                </a:schemeClr>
              </a:solidFill>
              <a:latin typeface="Meiryo"/>
              <a:ea typeface="メイリオ"/>
            </a:endParaRPr>
          </a:p>
          <a:p>
            <a:pPr marL="171450" indent="-171450">
              <a:lnSpc>
                <a:spcPct val="134000"/>
              </a:lnSpc>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鳴らす中身</a:t>
            </a:r>
            <a:r>
              <a:rPr lang="ja-JP" altLang="en-US" sz="1600" dirty="0">
                <a:solidFill>
                  <a:schemeClr val="tx1">
                    <a:lumMod val="95000"/>
                    <a:lumOff val="5000"/>
                  </a:schemeClr>
                </a:solidFill>
                <a:latin typeface="Meiryo"/>
                <a:ea typeface="メイリオ"/>
              </a:rPr>
              <a:t>：本物のモデル出力</a:t>
            </a:r>
            <a:r>
              <a:rPr lang="en-US" altLang="ja-JP" sz="1600" dirty="0">
                <a:solidFill>
                  <a:schemeClr val="tx1">
                    <a:lumMod val="95000"/>
                    <a:lumOff val="5000"/>
                  </a:schemeClr>
                </a:solidFill>
                <a:latin typeface="Meiryo"/>
                <a:ea typeface="メイリオ"/>
              </a:rPr>
              <a:t>5</a:t>
            </a:r>
            <a:r>
              <a:rPr lang="ja-JP" altLang="en-US" sz="1600" dirty="0">
                <a:solidFill>
                  <a:schemeClr val="tx1">
                    <a:lumMod val="95000"/>
                    <a:lumOff val="5000"/>
                  </a:schemeClr>
                </a:solidFill>
                <a:latin typeface="Meiryo"/>
                <a:ea typeface="メイリオ"/>
              </a:rPr>
              <a:t>本と、</a:t>
            </a:r>
            <a:endParaRPr lang="en-US" altLang="ja-JP" sz="1600" dirty="0">
              <a:solidFill>
                <a:schemeClr val="tx1">
                  <a:lumMod val="95000"/>
                  <a:lumOff val="5000"/>
                </a:schemeClr>
              </a:solidFill>
              <a:latin typeface="Meiryo"/>
              <a:ea typeface="メイリオ"/>
            </a:endParaRPr>
          </a:p>
          <a:p>
            <a:pPr>
              <a:lnSpc>
                <a:spcPct val="134000"/>
              </a:lnSpc>
            </a:pPr>
            <a:r>
              <a:rPr lang="ja-JP" altLang="en-US" sz="1600" dirty="0">
                <a:solidFill>
                  <a:schemeClr val="tx1">
                    <a:lumMod val="95000"/>
                    <a:lumOff val="5000"/>
                  </a:schemeClr>
                </a:solidFill>
                <a:latin typeface="Meiryo"/>
                <a:ea typeface="メイリオ"/>
              </a:rPr>
              <a:t>                   </a:t>
            </a:r>
            <a:r>
              <a:rPr lang="ja-JP" altLang="en-US" sz="1400" dirty="0">
                <a:solidFill>
                  <a:schemeClr val="tx1">
                    <a:lumMod val="95000"/>
                    <a:lumOff val="5000"/>
                  </a:schemeClr>
                </a:solidFill>
                <a:latin typeface="Meiryo"/>
                <a:ea typeface="メイリオ"/>
              </a:rPr>
              <a:t> </a:t>
            </a:r>
            <a:r>
              <a:rPr lang="ja-JP" altLang="en-US" sz="1600" dirty="0">
                <a:solidFill>
                  <a:schemeClr val="tx1">
                    <a:lumMod val="95000"/>
                    <a:lumOff val="5000"/>
                  </a:schemeClr>
                </a:solidFill>
                <a:latin typeface="Meiryo"/>
                <a:ea typeface="メイリオ"/>
              </a:rPr>
              <a:t>自作した歩道のシナリオ</a:t>
            </a:r>
            <a:r>
              <a:rPr lang="en-US" altLang="ja-JP" sz="1600" dirty="0">
                <a:solidFill>
                  <a:schemeClr val="tx1">
                    <a:lumMod val="95000"/>
                    <a:lumOff val="5000"/>
                  </a:schemeClr>
                </a:solidFill>
                <a:latin typeface="Meiryo"/>
                <a:ea typeface="メイリオ"/>
              </a:rPr>
              <a:t>28</a:t>
            </a:r>
            <a:r>
              <a:rPr lang="ja-JP" altLang="en-US" sz="1600" dirty="0">
                <a:solidFill>
                  <a:schemeClr val="tx1">
                    <a:lumMod val="95000"/>
                    <a:lumOff val="5000"/>
                  </a:schemeClr>
                </a:solidFill>
                <a:latin typeface="Meiryo"/>
                <a:ea typeface="メイリオ"/>
              </a:rPr>
              <a:t>本</a:t>
            </a:r>
            <a:endParaRPr lang="en-US" altLang="ja-JP" sz="1600" dirty="0">
              <a:solidFill>
                <a:schemeClr val="tx1">
                  <a:lumMod val="95000"/>
                  <a:lumOff val="5000"/>
                </a:schemeClr>
              </a:solidFill>
              <a:latin typeface="Meiryo"/>
              <a:ea typeface="メイリオ"/>
            </a:endParaRPr>
          </a:p>
          <a:p>
            <a:pPr>
              <a:lnSpc>
                <a:spcPct val="134000"/>
              </a:lnSpc>
            </a:pPr>
            <a:endParaRPr lang="en-US" altLang="ja-JP" sz="700" dirty="0">
              <a:solidFill>
                <a:schemeClr val="tx1">
                  <a:lumMod val="95000"/>
                  <a:lumOff val="5000"/>
                </a:schemeClr>
              </a:solidFill>
              <a:latin typeface="Meiryo"/>
              <a:ea typeface="メイリオ"/>
            </a:endParaRPr>
          </a:p>
          <a:p>
            <a:pPr marL="171450" indent="-171450">
              <a:lnSpc>
                <a:spcPct val="134000"/>
              </a:lnSpc>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伝え方</a:t>
            </a:r>
            <a:r>
              <a:rPr lang="ja-JP" altLang="en-US" sz="1600" dirty="0">
                <a:solidFill>
                  <a:schemeClr val="tx1">
                    <a:lumMod val="95000"/>
                    <a:lumOff val="5000"/>
                  </a:schemeClr>
                </a:solidFill>
                <a:latin typeface="Meiryo"/>
                <a:ea typeface="メイリオ"/>
              </a:rPr>
              <a:t>：強＝</a:t>
            </a:r>
            <a:r>
              <a:rPr lang="en-US" altLang="ja-JP" sz="1600" dirty="0">
                <a:solidFill>
                  <a:schemeClr val="tx1">
                    <a:lumMod val="95000"/>
                    <a:lumOff val="5000"/>
                  </a:schemeClr>
                </a:solidFill>
                <a:latin typeface="Meiryo"/>
                <a:ea typeface="メイリオ"/>
              </a:rPr>
              <a:t>4</a:t>
            </a:r>
            <a:r>
              <a:rPr lang="ja-JP" altLang="en-US" sz="1600" dirty="0">
                <a:solidFill>
                  <a:schemeClr val="tx1">
                    <a:lumMod val="95000"/>
                    <a:lumOff val="5000"/>
                  </a:schemeClr>
                </a:solidFill>
                <a:latin typeface="Meiryo"/>
                <a:ea typeface="メイリオ"/>
              </a:rPr>
              <a:t>連打 </a:t>
            </a:r>
            <a:r>
              <a:rPr lang="en-US" altLang="ja-JP" sz="1600" dirty="0">
                <a:solidFill>
                  <a:schemeClr val="tx1">
                    <a:lumMod val="95000"/>
                    <a:lumOff val="5000"/>
                  </a:schemeClr>
                </a:solidFill>
                <a:latin typeface="Meiryo"/>
                <a:ea typeface="メイリオ"/>
              </a:rPr>
              <a:t>/ </a:t>
            </a:r>
            <a:r>
              <a:rPr lang="ja-JP" altLang="en-US" sz="1600" dirty="0">
                <a:solidFill>
                  <a:schemeClr val="tx1">
                    <a:lumMod val="95000"/>
                    <a:lumOff val="5000"/>
                  </a:schemeClr>
                </a:solidFill>
                <a:latin typeface="Meiryo"/>
                <a:ea typeface="メイリオ"/>
              </a:rPr>
              <a:t>中＝</a:t>
            </a:r>
            <a:r>
              <a:rPr lang="en-US" altLang="ja-JP" sz="1600" dirty="0">
                <a:solidFill>
                  <a:schemeClr val="tx1">
                    <a:lumMod val="95000"/>
                    <a:lumOff val="5000"/>
                  </a:schemeClr>
                </a:solidFill>
                <a:latin typeface="Meiryo"/>
                <a:ea typeface="メイリオ"/>
              </a:rPr>
              <a:t>2</a:t>
            </a:r>
            <a:r>
              <a:rPr lang="ja-JP" altLang="en-US" sz="1600" dirty="0">
                <a:solidFill>
                  <a:schemeClr val="tx1">
                    <a:lumMod val="95000"/>
                    <a:lumOff val="5000"/>
                  </a:schemeClr>
                </a:solidFill>
                <a:latin typeface="Meiryo"/>
                <a:ea typeface="メイリオ"/>
              </a:rPr>
              <a:t>発 </a:t>
            </a:r>
            <a:r>
              <a:rPr lang="en-US" altLang="ja-JP" sz="1600" dirty="0">
                <a:solidFill>
                  <a:schemeClr val="tx1">
                    <a:lumMod val="95000"/>
                    <a:lumOff val="5000"/>
                  </a:schemeClr>
                </a:solidFill>
                <a:latin typeface="Meiryo"/>
                <a:ea typeface="メイリオ"/>
              </a:rPr>
              <a:t>/ </a:t>
            </a:r>
            <a:r>
              <a:rPr lang="ja-JP" altLang="en-US" sz="1600" dirty="0">
                <a:solidFill>
                  <a:schemeClr val="tx1">
                    <a:lumMod val="95000"/>
                    <a:lumOff val="5000"/>
                  </a:schemeClr>
                </a:solidFill>
                <a:latin typeface="Meiryo"/>
                <a:ea typeface="メイリオ"/>
              </a:rPr>
              <a:t>警告音＝</a:t>
            </a:r>
            <a:r>
              <a:rPr lang="en-US" altLang="ja-JP" sz="1600" dirty="0">
                <a:solidFill>
                  <a:schemeClr val="tx1">
                    <a:lumMod val="95000"/>
                    <a:lumOff val="5000"/>
                  </a:schemeClr>
                </a:solidFill>
                <a:latin typeface="Meiryo"/>
                <a:ea typeface="メイリオ"/>
              </a:rPr>
              <a:t>1</a:t>
            </a:r>
            <a:r>
              <a:rPr lang="ja-JP" altLang="en-US" sz="1600" dirty="0">
                <a:solidFill>
                  <a:schemeClr val="tx1">
                    <a:lumMod val="95000"/>
                    <a:lumOff val="5000"/>
                  </a:schemeClr>
                </a:solidFill>
                <a:latin typeface="Meiryo"/>
                <a:ea typeface="メイリオ"/>
              </a:rPr>
              <a:t>発</a:t>
            </a:r>
          </a:p>
        </p:txBody>
      </p:sp>
      <p:sp>
        <p:nvSpPr>
          <p:cNvPr id="56" name="Rectangle 30">
            <a:extLst>
              <a:ext uri="{FF2B5EF4-FFF2-40B4-BE49-F238E27FC236}">
                <a16:creationId xmlns:a16="http://schemas.microsoft.com/office/drawing/2014/main" id="{1D8AB2E3-BB38-1A9A-27FC-D29B4C91467C}"/>
              </a:ext>
            </a:extLst>
          </p:cNvPr>
          <p:cNvSpPr/>
          <p:nvPr/>
        </p:nvSpPr>
        <p:spPr>
          <a:xfrm>
            <a:off x="938240" y="3860759"/>
            <a:ext cx="10414000" cy="2249041"/>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58" name="TextBox 31">
            <a:extLst>
              <a:ext uri="{FF2B5EF4-FFF2-40B4-BE49-F238E27FC236}">
                <a16:creationId xmlns:a16="http://schemas.microsoft.com/office/drawing/2014/main" id="{1FCEF4FF-E924-63A7-CF4E-4903649C23A9}"/>
              </a:ext>
            </a:extLst>
          </p:cNvPr>
          <p:cNvSpPr txBox="1"/>
          <p:nvPr/>
        </p:nvSpPr>
        <p:spPr>
          <a:xfrm>
            <a:off x="1141440" y="4021750"/>
            <a:ext cx="50800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この先に作る首元デバイス</a:t>
            </a:r>
            <a:r>
              <a:rPr lang="en-US" b="1" dirty="0">
                <a:solidFill>
                  <a:schemeClr val="tx1">
                    <a:lumMod val="95000"/>
                    <a:lumOff val="5000"/>
                  </a:schemeClr>
                </a:solidFill>
                <a:latin typeface="Meiryo"/>
                <a:ea typeface="メイリオ"/>
              </a:rPr>
              <a:t>(</a:t>
            </a:r>
            <a:r>
              <a:rPr b="1" dirty="0" err="1">
                <a:solidFill>
                  <a:schemeClr val="tx1">
                    <a:lumMod val="95000"/>
                    <a:lumOff val="5000"/>
                  </a:schemeClr>
                </a:solidFill>
                <a:latin typeface="Meiryo"/>
                <a:ea typeface="メイリオ"/>
              </a:rPr>
              <a:t>構想</a:t>
            </a:r>
            <a:r>
              <a:rPr lang="en-US" b="1" dirty="0">
                <a:solidFill>
                  <a:schemeClr val="tx1">
                    <a:lumMod val="95000"/>
                    <a:lumOff val="5000"/>
                  </a:schemeClr>
                </a:solidFill>
                <a:latin typeface="Meiryo"/>
                <a:ea typeface="メイリオ"/>
              </a:rPr>
              <a:t>)</a:t>
            </a:r>
            <a:endParaRPr b="1" dirty="0">
              <a:solidFill>
                <a:schemeClr val="tx1">
                  <a:lumMod val="95000"/>
                  <a:lumOff val="5000"/>
                </a:schemeClr>
              </a:solidFill>
              <a:latin typeface="Meiryo"/>
              <a:ea typeface="メイリオ"/>
            </a:endParaRPr>
          </a:p>
        </p:txBody>
      </p:sp>
      <p:sp>
        <p:nvSpPr>
          <p:cNvPr id="60" name="Oval 32">
            <a:extLst>
              <a:ext uri="{FF2B5EF4-FFF2-40B4-BE49-F238E27FC236}">
                <a16:creationId xmlns:a16="http://schemas.microsoft.com/office/drawing/2014/main" id="{96B894ED-EC17-B17B-0AE7-4044BE5BD38E}"/>
              </a:ext>
            </a:extLst>
          </p:cNvPr>
          <p:cNvSpPr/>
          <p:nvPr/>
        </p:nvSpPr>
        <p:spPr>
          <a:xfrm>
            <a:off x="2563840" y="4706442"/>
            <a:ext cx="1574800" cy="1016000"/>
          </a:xfrm>
          <a:prstGeom prst="ellipse">
            <a:avLst/>
          </a:prstGeom>
          <a:noFill/>
          <a:ln w="114300">
            <a:solidFill>
              <a:srgbClr val="232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62" name="Oval 33">
            <a:extLst>
              <a:ext uri="{FF2B5EF4-FFF2-40B4-BE49-F238E27FC236}">
                <a16:creationId xmlns:a16="http://schemas.microsoft.com/office/drawing/2014/main" id="{5ADCA530-46E6-66B8-FB7E-0C1F74F64842}"/>
              </a:ext>
            </a:extLst>
          </p:cNvPr>
          <p:cNvSpPr/>
          <p:nvPr/>
        </p:nvSpPr>
        <p:spPr>
          <a:xfrm>
            <a:off x="2970240" y="4960442"/>
            <a:ext cx="762000" cy="508000"/>
          </a:xfrm>
          <a:prstGeom prst="ellipse">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64" name="TextBox 34">
            <a:extLst>
              <a:ext uri="{FF2B5EF4-FFF2-40B4-BE49-F238E27FC236}">
                <a16:creationId xmlns:a16="http://schemas.microsoft.com/office/drawing/2014/main" id="{CECF0B71-773F-AAC0-F66A-50CEECC5EFBE}"/>
              </a:ext>
            </a:extLst>
          </p:cNvPr>
          <p:cNvSpPr txBox="1"/>
          <p:nvPr/>
        </p:nvSpPr>
        <p:spPr>
          <a:xfrm>
            <a:off x="2970240" y="5100142"/>
            <a:ext cx="762000" cy="241092"/>
          </a:xfrm>
          <a:prstGeom prst="rect">
            <a:avLst/>
          </a:prstGeom>
          <a:noFill/>
        </p:spPr>
        <p:txBody>
          <a:bodyPr wrap="square" lIns="25400" tIns="12700" rIns="25400" bIns="12700" anchor="t">
            <a:spAutoFit/>
          </a:bodyPr>
          <a:lstStyle/>
          <a:p>
            <a:pPr algn="ctr"/>
            <a:r>
              <a:rPr sz="1400" b="0" dirty="0">
                <a:solidFill>
                  <a:schemeClr val="tx1">
                    <a:lumMod val="95000"/>
                    <a:lumOff val="5000"/>
                  </a:schemeClr>
                </a:solidFill>
                <a:latin typeface="Meiryo"/>
                <a:ea typeface="メイリオ"/>
              </a:rPr>
              <a:t>首</a:t>
            </a:r>
          </a:p>
        </p:txBody>
      </p:sp>
      <p:sp>
        <p:nvSpPr>
          <p:cNvPr id="66" name="Oval 35">
            <a:extLst>
              <a:ext uri="{FF2B5EF4-FFF2-40B4-BE49-F238E27FC236}">
                <a16:creationId xmlns:a16="http://schemas.microsoft.com/office/drawing/2014/main" id="{2FA76A17-57BC-09CF-3FE2-2AC1F8A9D193}"/>
              </a:ext>
            </a:extLst>
          </p:cNvPr>
          <p:cNvSpPr/>
          <p:nvPr/>
        </p:nvSpPr>
        <p:spPr>
          <a:xfrm>
            <a:off x="2474940" y="5125542"/>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68" name="Oval 36">
            <a:extLst>
              <a:ext uri="{FF2B5EF4-FFF2-40B4-BE49-F238E27FC236}">
                <a16:creationId xmlns:a16="http://schemas.microsoft.com/office/drawing/2014/main" id="{C6EA8275-CA7E-E937-A2CA-3EBB6D5835A3}"/>
              </a:ext>
            </a:extLst>
          </p:cNvPr>
          <p:cNvSpPr/>
          <p:nvPr/>
        </p:nvSpPr>
        <p:spPr>
          <a:xfrm>
            <a:off x="2703540" y="5489978"/>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0" name="Oval 37">
            <a:extLst>
              <a:ext uri="{FF2B5EF4-FFF2-40B4-BE49-F238E27FC236}">
                <a16:creationId xmlns:a16="http://schemas.microsoft.com/office/drawing/2014/main" id="{FDCD6D76-A0E0-09CE-4F4F-046B135AD1AE}"/>
              </a:ext>
            </a:extLst>
          </p:cNvPr>
          <p:cNvSpPr/>
          <p:nvPr/>
        </p:nvSpPr>
        <p:spPr>
          <a:xfrm>
            <a:off x="3262340" y="5631333"/>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2" name="Oval 38">
            <a:extLst>
              <a:ext uri="{FF2B5EF4-FFF2-40B4-BE49-F238E27FC236}">
                <a16:creationId xmlns:a16="http://schemas.microsoft.com/office/drawing/2014/main" id="{732DCE47-7C4C-B420-28D4-1FFEDA9774CD}"/>
              </a:ext>
            </a:extLst>
          </p:cNvPr>
          <p:cNvSpPr/>
          <p:nvPr/>
        </p:nvSpPr>
        <p:spPr>
          <a:xfrm>
            <a:off x="3821140" y="5489970"/>
            <a:ext cx="177800" cy="177800"/>
          </a:xfrm>
          <a:prstGeom prst="ellipse">
            <a:avLst/>
          </a:prstGeom>
          <a:solidFill>
            <a:srgbClr val="E0A526"/>
          </a:solidFill>
          <a:ln w="2032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4" name="Oval 39">
            <a:extLst>
              <a:ext uri="{FF2B5EF4-FFF2-40B4-BE49-F238E27FC236}">
                <a16:creationId xmlns:a16="http://schemas.microsoft.com/office/drawing/2014/main" id="{4A53021A-B854-5A0F-58CC-755072A3B033}"/>
              </a:ext>
            </a:extLst>
          </p:cNvPr>
          <p:cNvSpPr/>
          <p:nvPr/>
        </p:nvSpPr>
        <p:spPr>
          <a:xfrm>
            <a:off x="4049740" y="5125542"/>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6" name="TextBox 40">
            <a:extLst>
              <a:ext uri="{FF2B5EF4-FFF2-40B4-BE49-F238E27FC236}">
                <a16:creationId xmlns:a16="http://schemas.microsoft.com/office/drawing/2014/main" id="{2D1A69C6-CC78-91EA-3EEF-404187A5BC92}"/>
              </a:ext>
            </a:extLst>
          </p:cNvPr>
          <p:cNvSpPr txBox="1"/>
          <p:nvPr/>
        </p:nvSpPr>
        <p:spPr>
          <a:xfrm>
            <a:off x="2081240" y="4376242"/>
            <a:ext cx="2540000" cy="271869"/>
          </a:xfrm>
          <a:prstGeom prst="rect">
            <a:avLst/>
          </a:prstGeom>
          <a:noFill/>
        </p:spPr>
        <p:txBody>
          <a:bodyPr wrap="square" lIns="25400" tIns="12700" rIns="25400" bIns="12700" anchor="t">
            <a:spAutoFit/>
          </a:bodyPr>
          <a:lstStyle/>
          <a:p>
            <a:pPr algn="ctr"/>
            <a:r>
              <a:rPr sz="1600" b="0" dirty="0" err="1">
                <a:solidFill>
                  <a:schemeClr val="tx1">
                    <a:lumMod val="95000"/>
                    <a:lumOff val="5000"/>
                  </a:schemeClr>
                </a:solidFill>
                <a:latin typeface="Meiryo"/>
                <a:ea typeface="メイリオ"/>
              </a:rPr>
              <a:t>歩く向き</a:t>
            </a:r>
            <a:r>
              <a:rPr lang="en-US" sz="1600" b="0" dirty="0">
                <a:solidFill>
                  <a:schemeClr val="tx1">
                    <a:lumMod val="95000"/>
                    <a:lumOff val="5000"/>
                  </a:schemeClr>
                </a:solidFill>
                <a:latin typeface="Meiryo"/>
                <a:ea typeface="メイリオ"/>
              </a:rPr>
              <a:t>(</a:t>
            </a:r>
            <a:r>
              <a:rPr lang="ja-JP" altLang="en-US" sz="1600" b="0" dirty="0">
                <a:solidFill>
                  <a:schemeClr val="tx1">
                    <a:lumMod val="95000"/>
                    <a:lumOff val="5000"/>
                  </a:schemeClr>
                </a:solidFill>
                <a:latin typeface="Meiryo"/>
                <a:ea typeface="メイリオ"/>
              </a:rPr>
              <a:t>前</a:t>
            </a:r>
            <a:r>
              <a:rPr lang="en-US" sz="1600" b="0" dirty="0">
                <a:solidFill>
                  <a:schemeClr val="tx1">
                    <a:lumMod val="95000"/>
                    <a:lumOff val="5000"/>
                  </a:schemeClr>
                </a:solidFill>
                <a:latin typeface="Meiryo"/>
                <a:ea typeface="メイリオ"/>
              </a:rPr>
              <a:t>)</a:t>
            </a:r>
            <a:endParaRPr sz="1600" b="0" dirty="0">
              <a:solidFill>
                <a:schemeClr val="tx1">
                  <a:lumMod val="95000"/>
                  <a:lumOff val="5000"/>
                </a:schemeClr>
              </a:solidFill>
              <a:latin typeface="Meiryo"/>
              <a:ea typeface="メイリオ"/>
            </a:endParaRPr>
          </a:p>
        </p:txBody>
      </p:sp>
      <p:sp>
        <p:nvSpPr>
          <p:cNvPr id="78" name="TextBox 41">
            <a:extLst>
              <a:ext uri="{FF2B5EF4-FFF2-40B4-BE49-F238E27FC236}">
                <a16:creationId xmlns:a16="http://schemas.microsoft.com/office/drawing/2014/main" id="{A36F6996-52EB-5110-00D3-D22BE8A4CE8D}"/>
              </a:ext>
            </a:extLst>
          </p:cNvPr>
          <p:cNvSpPr txBox="1"/>
          <p:nvPr/>
        </p:nvSpPr>
        <p:spPr>
          <a:xfrm>
            <a:off x="1420839" y="5847477"/>
            <a:ext cx="4217959" cy="271869"/>
          </a:xfrm>
          <a:prstGeom prst="rect">
            <a:avLst/>
          </a:prstGeom>
          <a:noFill/>
        </p:spPr>
        <p:txBody>
          <a:bodyPr wrap="square" lIns="25400" tIns="12700" rIns="25400" bIns="12700" anchor="t">
            <a:spAutoFit/>
          </a:bodyPr>
          <a:lstStyle/>
          <a:p>
            <a:pPr algn="ctr"/>
            <a:r>
              <a:rPr sz="1600" b="0" dirty="0">
                <a:solidFill>
                  <a:schemeClr val="tx1">
                    <a:lumMod val="95000"/>
                    <a:lumOff val="5000"/>
                  </a:schemeClr>
                </a:solidFill>
                <a:latin typeface="Meiryo"/>
                <a:ea typeface="メイリオ"/>
              </a:rPr>
              <a:t>振動子5個＋4chマイクを同じバンドに載せる</a:t>
            </a:r>
          </a:p>
        </p:txBody>
      </p:sp>
      <p:sp>
        <p:nvSpPr>
          <p:cNvPr id="80" name="TextBox 42">
            <a:extLst>
              <a:ext uri="{FF2B5EF4-FFF2-40B4-BE49-F238E27FC236}">
                <a16:creationId xmlns:a16="http://schemas.microsoft.com/office/drawing/2014/main" id="{AC1FFD46-82F4-87D2-0EDC-2E6D6226E2EA}"/>
              </a:ext>
            </a:extLst>
          </p:cNvPr>
          <p:cNvSpPr txBox="1"/>
          <p:nvPr/>
        </p:nvSpPr>
        <p:spPr>
          <a:xfrm>
            <a:off x="5764240" y="4647343"/>
            <a:ext cx="5334000" cy="1069011"/>
          </a:xfrm>
          <a:prstGeom prst="rect">
            <a:avLst/>
          </a:prstGeom>
          <a:noFill/>
        </p:spPr>
        <p:txBody>
          <a:bodyPr wrap="square" lIns="25400" tIns="12700" rIns="25400" bIns="12700" anchor="t">
            <a:spAutoFit/>
          </a:bodyPr>
          <a:lstStyle/>
          <a:p>
            <a:pPr algn="l">
              <a:lnSpc>
                <a:spcPct val="145000"/>
              </a:lnSpc>
            </a:pPr>
            <a:r>
              <a:rPr lang="ja-JP" altLang="en-US" sz="1600" b="1" dirty="0">
                <a:solidFill>
                  <a:schemeClr val="tx1">
                    <a:lumMod val="95000"/>
                    <a:lumOff val="5000"/>
                  </a:schemeClr>
                </a:solidFill>
                <a:latin typeface="Meiryo"/>
                <a:ea typeface="メイリオ"/>
              </a:rPr>
              <a:t>鳴っている位置で方向を、鳴り方で危険度を伝えます。</a:t>
            </a:r>
          </a:p>
          <a:p>
            <a:pPr algn="l">
              <a:lnSpc>
                <a:spcPct val="145000"/>
              </a:lnSpc>
            </a:pPr>
            <a:r>
              <a:rPr lang="ja-JP" altLang="en-US" sz="1600" b="0" dirty="0">
                <a:solidFill>
                  <a:schemeClr val="tx1">
                    <a:lumMod val="95000"/>
                    <a:lumOff val="5000"/>
                  </a:schemeClr>
                </a:solidFill>
                <a:latin typeface="Meiryo"/>
                <a:ea typeface="メイリオ"/>
              </a:rPr>
              <a:t>マイクと振動子を同じバンドに載せるので、「マイクから見た右」と「体から見た右」が一致します。</a:t>
            </a:r>
          </a:p>
        </p:txBody>
      </p:sp>
      <p:sp>
        <p:nvSpPr>
          <p:cNvPr id="28" name="Rounded Rectangle 97">
            <a:extLst>
              <a:ext uri="{FF2B5EF4-FFF2-40B4-BE49-F238E27FC236}">
                <a16:creationId xmlns:a16="http://schemas.microsoft.com/office/drawing/2014/main" id="{CDB5241C-C987-86F8-C57A-B9703E598163}"/>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31" name="Rounded Rectangle 96">
            <a:extLst>
              <a:ext uri="{FF2B5EF4-FFF2-40B4-BE49-F238E27FC236}">
                <a16:creationId xmlns:a16="http://schemas.microsoft.com/office/drawing/2014/main" id="{2834CF8E-F873-CD78-1CAF-A6AA95D39A69}"/>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36" name="Rounded Rectangle 95">
            <a:extLst>
              <a:ext uri="{FF2B5EF4-FFF2-40B4-BE49-F238E27FC236}">
                <a16:creationId xmlns:a16="http://schemas.microsoft.com/office/drawing/2014/main" id="{6C62AE16-ECC5-3ADD-A227-243BCD61988F}"/>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2" name="Rounded Rectangle 94">
            <a:extLst>
              <a:ext uri="{FF2B5EF4-FFF2-40B4-BE49-F238E27FC236}">
                <a16:creationId xmlns:a16="http://schemas.microsoft.com/office/drawing/2014/main" id="{02ADDAB6-7315-4771-A920-E3065047A5FE}"/>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6" name="Rounded Rectangle 93">
            <a:extLst>
              <a:ext uri="{FF2B5EF4-FFF2-40B4-BE49-F238E27FC236}">
                <a16:creationId xmlns:a16="http://schemas.microsoft.com/office/drawing/2014/main" id="{7FA41A37-7CE6-1789-EF98-CBBD34906F8B}"/>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1" name="Rounded Rectangle 92">
            <a:extLst>
              <a:ext uri="{FF2B5EF4-FFF2-40B4-BE49-F238E27FC236}">
                <a16:creationId xmlns:a16="http://schemas.microsoft.com/office/drawing/2014/main" id="{4B47CB64-D646-F5FD-5A8E-7E4F77DEAA66}"/>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7" name="TextBox 20">
            <a:extLst>
              <a:ext uri="{FF2B5EF4-FFF2-40B4-BE49-F238E27FC236}">
                <a16:creationId xmlns:a16="http://schemas.microsoft.com/office/drawing/2014/main" id="{D03699C5-7510-1434-D5E4-BE9B57054F8B}"/>
              </a:ext>
            </a:extLst>
          </p:cNvPr>
          <p:cNvSpPr txBox="1"/>
          <p:nvPr/>
        </p:nvSpPr>
        <p:spPr>
          <a:xfrm>
            <a:off x="6475440" y="1633672"/>
            <a:ext cx="46736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3つの震え方</a:t>
            </a:r>
            <a:r>
              <a:rPr sz="1200" b="0" dirty="0">
                <a:solidFill>
                  <a:srgbClr val="8A8F9A"/>
                </a:solidFill>
                <a:latin typeface="Meiryo"/>
                <a:ea typeface="メイリオ"/>
              </a:rPr>
              <a:t>　</a:t>
            </a:r>
            <a:r>
              <a:rPr sz="1200" b="0" dirty="0" err="1">
                <a:solidFill>
                  <a:srgbClr val="8A8F9A"/>
                </a:solidFill>
                <a:latin typeface="Meiryo"/>
                <a:ea typeface="メイリオ"/>
              </a:rPr>
              <a:t>実際の長さと間隔</a:t>
            </a:r>
            <a:endParaRPr sz="1200" b="0" dirty="0">
              <a:solidFill>
                <a:srgbClr val="8A8F9A"/>
              </a:solidFill>
              <a:latin typeface="Meiryo"/>
              <a:ea typeface="メイリオ"/>
            </a:endParaRPr>
          </a:p>
        </p:txBody>
      </p:sp>
      <p:sp>
        <p:nvSpPr>
          <p:cNvPr id="20" name="Rectangle 21">
            <a:extLst>
              <a:ext uri="{FF2B5EF4-FFF2-40B4-BE49-F238E27FC236}">
                <a16:creationId xmlns:a16="http://schemas.microsoft.com/office/drawing/2014/main" id="{64E57594-ABB8-DCFA-2197-9898F973B759}"/>
              </a:ext>
            </a:extLst>
          </p:cNvPr>
          <p:cNvSpPr/>
          <p:nvPr/>
        </p:nvSpPr>
        <p:spPr>
          <a:xfrm>
            <a:off x="7763554" y="2381213"/>
            <a:ext cx="33274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2">
            <a:extLst>
              <a:ext uri="{FF2B5EF4-FFF2-40B4-BE49-F238E27FC236}">
                <a16:creationId xmlns:a16="http://schemas.microsoft.com/office/drawing/2014/main" id="{D4FD42EE-2961-C982-3A06-F91A5A19772A}"/>
              </a:ext>
            </a:extLst>
          </p:cNvPr>
          <p:cNvSpPr txBox="1"/>
          <p:nvPr/>
        </p:nvSpPr>
        <p:spPr>
          <a:xfrm>
            <a:off x="6487839" y="2049319"/>
            <a:ext cx="1219200" cy="302647"/>
          </a:xfrm>
          <a:prstGeom prst="rect">
            <a:avLst/>
          </a:prstGeom>
          <a:noFill/>
        </p:spPr>
        <p:txBody>
          <a:bodyPr wrap="square" lIns="25400" tIns="12700" rIns="25400" bIns="12700" anchor="t">
            <a:spAutoFit/>
          </a:bodyPr>
          <a:lstStyle/>
          <a:p>
            <a:pPr algn="l"/>
            <a:r>
              <a:rPr b="1" dirty="0">
                <a:solidFill>
                  <a:srgbClr val="C0392B"/>
                </a:solidFill>
                <a:latin typeface="Meiryo"/>
                <a:ea typeface="メイリオ"/>
              </a:rPr>
              <a:t>強</a:t>
            </a:r>
          </a:p>
        </p:txBody>
      </p:sp>
      <p:sp>
        <p:nvSpPr>
          <p:cNvPr id="25" name="TextBox 23">
            <a:extLst>
              <a:ext uri="{FF2B5EF4-FFF2-40B4-BE49-F238E27FC236}">
                <a16:creationId xmlns:a16="http://schemas.microsoft.com/office/drawing/2014/main" id="{3FFFD9AA-6A4E-F1DA-0CC4-B212D47406C0}"/>
              </a:ext>
            </a:extLst>
          </p:cNvPr>
          <p:cNvSpPr txBox="1"/>
          <p:nvPr/>
        </p:nvSpPr>
        <p:spPr>
          <a:xfrm>
            <a:off x="6487839" y="2291504"/>
            <a:ext cx="1219200" cy="210314"/>
          </a:xfrm>
          <a:prstGeom prst="rect">
            <a:avLst/>
          </a:prstGeom>
          <a:noFill/>
        </p:spPr>
        <p:txBody>
          <a:bodyPr wrap="square" lIns="25400" tIns="12700" rIns="25400" bIns="12700" anchor="t">
            <a:spAutoFit/>
          </a:bodyPr>
          <a:lstStyle/>
          <a:p>
            <a:pPr algn="l"/>
            <a:r>
              <a:rPr sz="1200" b="0" dirty="0" err="1">
                <a:solidFill>
                  <a:srgbClr val="8A8F9A"/>
                </a:solidFill>
                <a:latin typeface="Meiryo"/>
                <a:ea typeface="メイリオ"/>
              </a:rPr>
              <a:t>至近警告</a:t>
            </a:r>
            <a:endParaRPr sz="1200" b="0" dirty="0">
              <a:solidFill>
                <a:srgbClr val="8A8F9A"/>
              </a:solidFill>
              <a:latin typeface="Meiryo"/>
              <a:ea typeface="メイリオ"/>
            </a:endParaRPr>
          </a:p>
        </p:txBody>
      </p:sp>
      <p:sp>
        <p:nvSpPr>
          <p:cNvPr id="27" name="Rectangle 24">
            <a:extLst>
              <a:ext uri="{FF2B5EF4-FFF2-40B4-BE49-F238E27FC236}">
                <a16:creationId xmlns:a16="http://schemas.microsoft.com/office/drawing/2014/main" id="{D6151DBC-1585-867C-565A-4A0FEA1F6A5D}"/>
              </a:ext>
            </a:extLst>
          </p:cNvPr>
          <p:cNvSpPr/>
          <p:nvPr/>
        </p:nvSpPr>
        <p:spPr>
          <a:xfrm>
            <a:off x="776355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5">
            <a:extLst>
              <a:ext uri="{FF2B5EF4-FFF2-40B4-BE49-F238E27FC236}">
                <a16:creationId xmlns:a16="http://schemas.microsoft.com/office/drawing/2014/main" id="{FC60F517-3B6D-1A97-E52C-2931E8E365FC}"/>
              </a:ext>
            </a:extLst>
          </p:cNvPr>
          <p:cNvSpPr/>
          <p:nvPr/>
        </p:nvSpPr>
        <p:spPr>
          <a:xfrm>
            <a:off x="854079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26">
            <a:extLst>
              <a:ext uri="{FF2B5EF4-FFF2-40B4-BE49-F238E27FC236}">
                <a16:creationId xmlns:a16="http://schemas.microsoft.com/office/drawing/2014/main" id="{D7147974-EFF9-F2A9-5B8E-13DEAB977C57}"/>
              </a:ext>
            </a:extLst>
          </p:cNvPr>
          <p:cNvSpPr/>
          <p:nvPr/>
        </p:nvSpPr>
        <p:spPr>
          <a:xfrm>
            <a:off x="931803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27">
            <a:extLst>
              <a:ext uri="{FF2B5EF4-FFF2-40B4-BE49-F238E27FC236}">
                <a16:creationId xmlns:a16="http://schemas.microsoft.com/office/drawing/2014/main" id="{CA9CE113-2AF1-3F8F-AFF7-92EBE9E839E5}"/>
              </a:ext>
            </a:extLst>
          </p:cNvPr>
          <p:cNvSpPr/>
          <p:nvPr/>
        </p:nvSpPr>
        <p:spPr>
          <a:xfrm>
            <a:off x="1009527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29">
            <a:extLst>
              <a:ext uri="{FF2B5EF4-FFF2-40B4-BE49-F238E27FC236}">
                <a16:creationId xmlns:a16="http://schemas.microsoft.com/office/drawing/2014/main" id="{B007667E-2A14-6ED9-D9A0-14353B25DB3A}"/>
              </a:ext>
            </a:extLst>
          </p:cNvPr>
          <p:cNvSpPr/>
          <p:nvPr/>
        </p:nvSpPr>
        <p:spPr>
          <a:xfrm>
            <a:off x="7763554" y="2884972"/>
            <a:ext cx="33274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30">
            <a:extLst>
              <a:ext uri="{FF2B5EF4-FFF2-40B4-BE49-F238E27FC236}">
                <a16:creationId xmlns:a16="http://schemas.microsoft.com/office/drawing/2014/main" id="{C1397C00-30EC-6A4C-6A78-B2E5A4281ECD}"/>
              </a:ext>
            </a:extLst>
          </p:cNvPr>
          <p:cNvSpPr txBox="1"/>
          <p:nvPr/>
        </p:nvSpPr>
        <p:spPr>
          <a:xfrm>
            <a:off x="6487920" y="2567516"/>
            <a:ext cx="1219200" cy="302647"/>
          </a:xfrm>
          <a:prstGeom prst="rect">
            <a:avLst/>
          </a:prstGeom>
          <a:noFill/>
        </p:spPr>
        <p:txBody>
          <a:bodyPr wrap="square" lIns="25400" tIns="12700" rIns="25400" bIns="12700" anchor="t">
            <a:spAutoFit/>
          </a:bodyPr>
          <a:lstStyle/>
          <a:p>
            <a:pPr algn="l"/>
            <a:r>
              <a:rPr b="1" dirty="0">
                <a:solidFill>
                  <a:srgbClr val="E0A526"/>
                </a:solidFill>
                <a:latin typeface="Meiryo"/>
                <a:ea typeface="メイリオ"/>
              </a:rPr>
              <a:t>中</a:t>
            </a:r>
          </a:p>
        </p:txBody>
      </p:sp>
      <p:sp>
        <p:nvSpPr>
          <p:cNvPr id="59" name="TextBox 31">
            <a:extLst>
              <a:ext uri="{FF2B5EF4-FFF2-40B4-BE49-F238E27FC236}">
                <a16:creationId xmlns:a16="http://schemas.microsoft.com/office/drawing/2014/main" id="{935BA79E-D8F3-231B-95C6-53DAC6838F1F}"/>
              </a:ext>
            </a:extLst>
          </p:cNvPr>
          <p:cNvSpPr txBox="1"/>
          <p:nvPr/>
        </p:nvSpPr>
        <p:spPr>
          <a:xfrm>
            <a:off x="6487839" y="2790849"/>
            <a:ext cx="1219200" cy="210314"/>
          </a:xfrm>
          <a:prstGeom prst="rect">
            <a:avLst/>
          </a:prstGeom>
          <a:noFill/>
        </p:spPr>
        <p:txBody>
          <a:bodyPr wrap="square" lIns="25400" tIns="12700" rIns="25400" bIns="12700" anchor="t">
            <a:spAutoFit/>
          </a:bodyPr>
          <a:lstStyle/>
          <a:p>
            <a:pPr algn="l"/>
            <a:r>
              <a:rPr sz="1200" b="0" dirty="0" err="1">
                <a:solidFill>
                  <a:srgbClr val="8A8F9A"/>
                </a:solidFill>
                <a:latin typeface="Meiryo"/>
                <a:ea typeface="メイリオ"/>
              </a:rPr>
              <a:t>注意</a:t>
            </a:r>
            <a:endParaRPr sz="1200" b="0" dirty="0">
              <a:solidFill>
                <a:srgbClr val="8A8F9A"/>
              </a:solidFill>
              <a:latin typeface="Meiryo"/>
              <a:ea typeface="メイリオ"/>
            </a:endParaRPr>
          </a:p>
        </p:txBody>
      </p:sp>
      <p:sp>
        <p:nvSpPr>
          <p:cNvPr id="63" name="Rectangle 32">
            <a:extLst>
              <a:ext uri="{FF2B5EF4-FFF2-40B4-BE49-F238E27FC236}">
                <a16:creationId xmlns:a16="http://schemas.microsoft.com/office/drawing/2014/main" id="{00BD0D1D-8AA7-FC96-8000-8322D62D5A77}"/>
              </a:ext>
            </a:extLst>
          </p:cNvPr>
          <p:cNvSpPr/>
          <p:nvPr/>
        </p:nvSpPr>
        <p:spPr>
          <a:xfrm>
            <a:off x="7763554" y="2715714"/>
            <a:ext cx="475200" cy="176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33">
            <a:extLst>
              <a:ext uri="{FF2B5EF4-FFF2-40B4-BE49-F238E27FC236}">
                <a16:creationId xmlns:a16="http://schemas.microsoft.com/office/drawing/2014/main" id="{53CEA7D6-90C3-FAA7-E905-80C6EDF11033}"/>
              </a:ext>
            </a:extLst>
          </p:cNvPr>
          <p:cNvSpPr/>
          <p:nvPr/>
        </p:nvSpPr>
        <p:spPr>
          <a:xfrm>
            <a:off x="9318034" y="2715714"/>
            <a:ext cx="475200" cy="176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35">
            <a:extLst>
              <a:ext uri="{FF2B5EF4-FFF2-40B4-BE49-F238E27FC236}">
                <a16:creationId xmlns:a16="http://schemas.microsoft.com/office/drawing/2014/main" id="{E4B4CA3F-A75C-48B1-C4D0-1A179676D4D9}"/>
              </a:ext>
            </a:extLst>
          </p:cNvPr>
          <p:cNvSpPr/>
          <p:nvPr/>
        </p:nvSpPr>
        <p:spPr>
          <a:xfrm>
            <a:off x="7763554" y="3411417"/>
            <a:ext cx="33274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36">
            <a:extLst>
              <a:ext uri="{FF2B5EF4-FFF2-40B4-BE49-F238E27FC236}">
                <a16:creationId xmlns:a16="http://schemas.microsoft.com/office/drawing/2014/main" id="{08950348-A8ED-95A7-AEF1-C195FD550CB5}"/>
              </a:ext>
            </a:extLst>
          </p:cNvPr>
          <p:cNvSpPr txBox="1"/>
          <p:nvPr/>
        </p:nvSpPr>
        <p:spPr>
          <a:xfrm>
            <a:off x="6487839" y="3110935"/>
            <a:ext cx="1219200" cy="302647"/>
          </a:xfrm>
          <a:prstGeom prst="rect">
            <a:avLst/>
          </a:prstGeom>
          <a:noFill/>
        </p:spPr>
        <p:txBody>
          <a:bodyPr wrap="square" lIns="25400" tIns="12700" rIns="25400" bIns="12700" anchor="t">
            <a:spAutoFit/>
          </a:bodyPr>
          <a:lstStyle/>
          <a:p>
            <a:pPr algn="l"/>
            <a:r>
              <a:rPr b="1" dirty="0" err="1">
                <a:solidFill>
                  <a:srgbClr val="2E7D5B"/>
                </a:solidFill>
                <a:latin typeface="Meiryo"/>
                <a:ea typeface="メイリオ"/>
              </a:rPr>
              <a:t>警告</a:t>
            </a:r>
            <a:endParaRPr b="1" dirty="0">
              <a:solidFill>
                <a:srgbClr val="2E7D5B"/>
              </a:solidFill>
              <a:latin typeface="Meiryo"/>
              <a:ea typeface="メイリオ"/>
            </a:endParaRPr>
          </a:p>
        </p:txBody>
      </p:sp>
      <p:sp>
        <p:nvSpPr>
          <p:cNvPr id="82" name="TextBox 37">
            <a:extLst>
              <a:ext uri="{FF2B5EF4-FFF2-40B4-BE49-F238E27FC236}">
                <a16:creationId xmlns:a16="http://schemas.microsoft.com/office/drawing/2014/main" id="{5CB419B1-07B5-2C38-A3E4-523E1791742F}"/>
              </a:ext>
            </a:extLst>
          </p:cNvPr>
          <p:cNvSpPr txBox="1"/>
          <p:nvPr/>
        </p:nvSpPr>
        <p:spPr>
          <a:xfrm>
            <a:off x="6487839" y="3408227"/>
            <a:ext cx="1219200" cy="210314"/>
          </a:xfrm>
          <a:prstGeom prst="rect">
            <a:avLst/>
          </a:prstGeom>
          <a:noFill/>
        </p:spPr>
        <p:txBody>
          <a:bodyPr wrap="square" lIns="25400" tIns="12700" rIns="25400" bIns="12700" anchor="t">
            <a:spAutoFit/>
          </a:bodyPr>
          <a:lstStyle/>
          <a:p>
            <a:pPr algn="l"/>
            <a:r>
              <a:rPr sz="1200" b="0" dirty="0" err="1">
                <a:solidFill>
                  <a:srgbClr val="8A8F9A"/>
                </a:solidFill>
                <a:latin typeface="Meiryo"/>
                <a:ea typeface="メイリオ"/>
              </a:rPr>
              <a:t>サイレン等</a:t>
            </a:r>
            <a:endParaRPr sz="1200" b="0" dirty="0">
              <a:solidFill>
                <a:srgbClr val="8A8F9A"/>
              </a:solidFill>
              <a:latin typeface="Meiryo"/>
              <a:ea typeface="メイリオ"/>
            </a:endParaRPr>
          </a:p>
        </p:txBody>
      </p:sp>
      <p:sp>
        <p:nvSpPr>
          <p:cNvPr id="84" name="Rectangle 38">
            <a:extLst>
              <a:ext uri="{FF2B5EF4-FFF2-40B4-BE49-F238E27FC236}">
                <a16:creationId xmlns:a16="http://schemas.microsoft.com/office/drawing/2014/main" id="{0C7FCD97-E4D7-37DF-912F-592E7D5A7FA8}"/>
              </a:ext>
            </a:extLst>
          </p:cNvPr>
          <p:cNvSpPr/>
          <p:nvPr/>
        </p:nvSpPr>
        <p:spPr>
          <a:xfrm>
            <a:off x="7763554" y="3233617"/>
            <a:ext cx="1295400" cy="1778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38240" y="1963830"/>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72240" y="1961719"/>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145240" y="1558122"/>
            <a:ext cx="10160" cy="20320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47452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02234-7C81-3CE1-CED7-A7DC39E31B7D}"/>
            </a:ext>
          </a:extLst>
        </p:cNvPr>
        <p:cNvGrpSpPr/>
        <p:nvPr/>
      </p:nvGrpSpPr>
      <p:grpSpPr>
        <a:xfrm>
          <a:off x="0" y="0"/>
          <a:ext cx="0" cy="0"/>
          <a:chOff x="0" y="0"/>
          <a:chExt cx="0" cy="0"/>
        </a:xfrm>
      </p:grpSpPr>
      <p:sp>
        <p:nvSpPr>
          <p:cNvPr id="11" name="Rectangle 51">
            <a:extLst>
              <a:ext uri="{FF2B5EF4-FFF2-40B4-BE49-F238E27FC236}">
                <a16:creationId xmlns:a16="http://schemas.microsoft.com/office/drawing/2014/main" id="{298362B8-A94F-053E-9AA7-9BC09F8234E0}"/>
              </a:ext>
            </a:extLst>
          </p:cNvPr>
          <p:cNvSpPr/>
          <p:nvPr/>
        </p:nvSpPr>
        <p:spPr>
          <a:xfrm>
            <a:off x="889000" y="5249263"/>
            <a:ext cx="5080000" cy="711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54">
            <a:extLst>
              <a:ext uri="{FF2B5EF4-FFF2-40B4-BE49-F238E27FC236}">
                <a16:creationId xmlns:a16="http://schemas.microsoft.com/office/drawing/2014/main" id="{8912975D-DEF3-1539-420F-4F4037FEFE5C}"/>
              </a:ext>
            </a:extLst>
          </p:cNvPr>
          <p:cNvSpPr/>
          <p:nvPr/>
        </p:nvSpPr>
        <p:spPr>
          <a:xfrm>
            <a:off x="6223000" y="5249263"/>
            <a:ext cx="5080000" cy="711200"/>
          </a:xfrm>
          <a:prstGeom prst="rect">
            <a:avLst/>
          </a:prstGeom>
          <a:solidFill>
            <a:srgbClr val="FFFFFF"/>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AutoShape 2">
            <a:extLst>
              <a:ext uri="{FF2B5EF4-FFF2-40B4-BE49-F238E27FC236}">
                <a16:creationId xmlns:a16="http://schemas.microsoft.com/office/drawing/2014/main" id="{79F25F56-CCB5-9EC2-C19D-82CAD5057CD7}"/>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587D4825-D130-83F2-F773-4917D5C903E8}"/>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89F8FA5C-121F-BF34-A3DD-0D332154440D}"/>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ACDAF7DC-1D80-C99B-A44D-6472C9B9FB9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D42192AF-D9D4-B37B-94BE-65D65718661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8A1A3D1A-B8F4-E314-8B06-1F353F714C46}"/>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4354FB6D-A803-4E56-CAD7-4A91B04B0C62}"/>
              </a:ext>
            </a:extLst>
          </p:cNvPr>
          <p:cNvSpPr>
            <a:spLocks noGrp="1"/>
          </p:cNvSpPr>
          <p:nvPr>
            <p:ph type="sldNum" sz="quarter" idx="12"/>
          </p:nvPr>
        </p:nvSpPr>
        <p:spPr/>
        <p:txBody>
          <a:bodyPr/>
          <a:lstStyle/>
          <a:p>
            <a:fld id="{4E9148DC-F7ED-4428-85F4-2C78C4B0CFB7}" type="slidenum">
              <a:rPr kumimoji="1" lang="ja-JP" altLang="en-US" smtClean="0"/>
              <a:t>11</a:t>
            </a:fld>
            <a:endParaRPr kumimoji="1" lang="ja-JP" altLang="en-US"/>
          </a:p>
        </p:txBody>
      </p:sp>
      <p:sp>
        <p:nvSpPr>
          <p:cNvPr id="24" name="TextBox 13">
            <a:extLst>
              <a:ext uri="{FF2B5EF4-FFF2-40B4-BE49-F238E27FC236}">
                <a16:creationId xmlns:a16="http://schemas.microsoft.com/office/drawing/2014/main" id="{83A489EC-5C53-2B9F-3445-C9BC1EC0A4F5}"/>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④同じ場面で、鳴る車と鳴らない車</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28" name="Rounded Rectangle 97">
            <a:extLst>
              <a:ext uri="{FF2B5EF4-FFF2-40B4-BE49-F238E27FC236}">
                <a16:creationId xmlns:a16="http://schemas.microsoft.com/office/drawing/2014/main" id="{21D63405-D57A-4D7A-1944-7795580FA0BB}"/>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31" name="Rounded Rectangle 96">
            <a:extLst>
              <a:ext uri="{FF2B5EF4-FFF2-40B4-BE49-F238E27FC236}">
                <a16:creationId xmlns:a16="http://schemas.microsoft.com/office/drawing/2014/main" id="{9F4DAC79-F29B-C1C5-7765-DAA9D4BB43D9}"/>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36" name="Rounded Rectangle 95">
            <a:extLst>
              <a:ext uri="{FF2B5EF4-FFF2-40B4-BE49-F238E27FC236}">
                <a16:creationId xmlns:a16="http://schemas.microsoft.com/office/drawing/2014/main" id="{1F785F7F-3FE8-88D4-E871-2E1C9E08D436}"/>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2" name="Rounded Rectangle 94">
            <a:extLst>
              <a:ext uri="{FF2B5EF4-FFF2-40B4-BE49-F238E27FC236}">
                <a16:creationId xmlns:a16="http://schemas.microsoft.com/office/drawing/2014/main" id="{E90EFF52-1943-8B77-568E-56EEF4FD7E09}"/>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6" name="Rounded Rectangle 93">
            <a:extLst>
              <a:ext uri="{FF2B5EF4-FFF2-40B4-BE49-F238E27FC236}">
                <a16:creationId xmlns:a16="http://schemas.microsoft.com/office/drawing/2014/main" id="{EE19F732-0CDC-54BA-7B4D-641E032D4873}"/>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1" name="Rounded Rectangle 92">
            <a:extLst>
              <a:ext uri="{FF2B5EF4-FFF2-40B4-BE49-F238E27FC236}">
                <a16:creationId xmlns:a16="http://schemas.microsoft.com/office/drawing/2014/main" id="{BDA73EE4-1702-CD35-AD17-289A4F21443B}"/>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0" name="TextBox 5">
            <a:extLst>
              <a:ext uri="{FF2B5EF4-FFF2-40B4-BE49-F238E27FC236}">
                <a16:creationId xmlns:a16="http://schemas.microsoft.com/office/drawing/2014/main" id="{09C8B174-E7F1-6181-1799-3663BB754CA4}"/>
              </a:ext>
            </a:extLst>
          </p:cNvPr>
          <p:cNvSpPr txBox="1"/>
          <p:nvPr/>
        </p:nvSpPr>
        <p:spPr>
          <a:xfrm>
            <a:off x="889000" y="1270000"/>
            <a:ext cx="10414000" cy="241092"/>
          </a:xfrm>
          <a:prstGeom prst="rect">
            <a:avLst/>
          </a:prstGeom>
          <a:noFill/>
        </p:spPr>
        <p:txBody>
          <a:bodyPr wrap="square" lIns="25400" tIns="12700" rIns="25400" bIns="12700" anchor="t">
            <a:spAutoFit/>
          </a:bodyPr>
          <a:lstStyle/>
          <a:p>
            <a:pPr algn="l"/>
            <a:r>
              <a:rPr sz="1400" b="0" dirty="0" err="1">
                <a:solidFill>
                  <a:srgbClr val="8A8F9A"/>
                </a:solidFill>
                <a:latin typeface="Meiryo"/>
                <a:ea typeface="メイリオ"/>
              </a:rPr>
              <a:t>助言</a:t>
            </a:r>
            <a:r>
              <a:rPr lang="ja-JP" altLang="en-US" sz="1400" b="0" dirty="0">
                <a:solidFill>
                  <a:srgbClr val="8A8F9A"/>
                </a:solidFill>
                <a:latin typeface="Meiryo"/>
                <a:ea typeface="メイリオ"/>
              </a:rPr>
              <a:t>通り</a:t>
            </a:r>
            <a:r>
              <a:rPr sz="1400" b="0" dirty="0" err="1">
                <a:solidFill>
                  <a:srgbClr val="8A8F9A"/>
                </a:solidFill>
                <a:latin typeface="Meiryo"/>
                <a:ea typeface="メイリオ"/>
              </a:rPr>
              <a:t>Joy-conとUnityで作り、実機で振動</a:t>
            </a:r>
            <a:r>
              <a:rPr lang="ja-JP" altLang="en-US" sz="1400" b="0" dirty="0">
                <a:solidFill>
                  <a:srgbClr val="8A8F9A"/>
                </a:solidFill>
                <a:latin typeface="Meiryo"/>
                <a:ea typeface="メイリオ"/>
              </a:rPr>
              <a:t>した</a:t>
            </a:r>
            <a:r>
              <a:rPr sz="1400" b="0" dirty="0">
                <a:solidFill>
                  <a:srgbClr val="8A8F9A"/>
                </a:solidFill>
                <a:latin typeface="Meiryo"/>
                <a:ea typeface="メイリオ"/>
              </a:rPr>
              <a:t>。</a:t>
            </a:r>
            <a:r>
              <a:rPr lang="ja-JP" altLang="en-US" sz="1400" b="0" dirty="0">
                <a:solidFill>
                  <a:srgbClr val="8A8F9A"/>
                </a:solidFill>
                <a:latin typeface="Meiryo"/>
                <a:ea typeface="メイリオ"/>
              </a:rPr>
              <a:t>例として、</a:t>
            </a:r>
            <a:r>
              <a:rPr sz="1400" b="0" dirty="0">
                <a:solidFill>
                  <a:srgbClr val="8A8F9A"/>
                </a:solidFill>
                <a:latin typeface="Meiryo"/>
                <a:ea typeface="メイリオ"/>
              </a:rPr>
              <a:t>1本のクリップの中に、鳴る車と鳴らない車が両方入っている。</a:t>
            </a:r>
          </a:p>
        </p:txBody>
      </p:sp>
      <p:sp>
        <p:nvSpPr>
          <p:cNvPr id="17" name="TextBox 7">
            <a:extLst>
              <a:ext uri="{FF2B5EF4-FFF2-40B4-BE49-F238E27FC236}">
                <a16:creationId xmlns:a16="http://schemas.microsoft.com/office/drawing/2014/main" id="{09F23461-33F9-A0B1-9508-3BCE41018383}"/>
              </a:ext>
            </a:extLst>
          </p:cNvPr>
          <p:cNvSpPr txBox="1"/>
          <p:nvPr/>
        </p:nvSpPr>
        <p:spPr>
          <a:xfrm>
            <a:off x="889000" y="1663772"/>
            <a:ext cx="1270000" cy="538609"/>
          </a:xfrm>
          <a:prstGeom prst="rect">
            <a:avLst/>
          </a:prstGeom>
          <a:noFill/>
        </p:spPr>
        <p:txBody>
          <a:bodyPr wrap="square" lIns="25400" tIns="12700" rIns="25400" bIns="12700" anchor="t">
            <a:spAutoFit/>
          </a:bodyPr>
          <a:lstStyle/>
          <a:p>
            <a:pPr marL="171450" indent="-171450" algn="l">
              <a:lnSpc>
                <a:spcPts val="2000"/>
              </a:lnSpc>
              <a:buFont typeface="Meiryo" panose="020B0604030504040204" pitchFamily="50" charset="-128"/>
              <a:buChar char="❑"/>
            </a:pPr>
            <a:r>
              <a:rPr sz="1600" b="1" dirty="0" err="1">
                <a:solidFill>
                  <a:srgbClr val="222838"/>
                </a:solidFill>
                <a:latin typeface="Meiryo"/>
                <a:ea typeface="メイリオ"/>
              </a:rPr>
              <a:t>使ったもの</a:t>
            </a:r>
            <a:endParaRPr lang="en-US" sz="1600" b="1" dirty="0">
              <a:solidFill>
                <a:srgbClr val="222838"/>
              </a:solidFill>
              <a:latin typeface="Meiryo"/>
              <a:ea typeface="メイリオ"/>
            </a:endParaRPr>
          </a:p>
          <a:p>
            <a:pPr marL="171450" indent="-171450">
              <a:lnSpc>
                <a:spcPts val="2000"/>
              </a:lnSpc>
              <a:buFont typeface="Meiryo" panose="020B0604030504040204" pitchFamily="50" charset="-128"/>
              <a:buChar char="❑"/>
            </a:pPr>
            <a:r>
              <a:rPr lang="ja-JP" altLang="en-US" sz="1600" b="1" dirty="0">
                <a:solidFill>
                  <a:srgbClr val="222838"/>
                </a:solidFill>
                <a:latin typeface="Meiryo"/>
                <a:ea typeface="メイリオ"/>
              </a:rPr>
              <a:t>伝え方</a:t>
            </a:r>
          </a:p>
        </p:txBody>
      </p:sp>
      <p:sp>
        <p:nvSpPr>
          <p:cNvPr id="20" name="TextBox 8">
            <a:extLst>
              <a:ext uri="{FF2B5EF4-FFF2-40B4-BE49-F238E27FC236}">
                <a16:creationId xmlns:a16="http://schemas.microsoft.com/office/drawing/2014/main" id="{DA596D0D-E1EC-C8C8-B9E7-A8E778F99742}"/>
              </a:ext>
            </a:extLst>
          </p:cNvPr>
          <p:cNvSpPr txBox="1"/>
          <p:nvPr/>
        </p:nvSpPr>
        <p:spPr>
          <a:xfrm>
            <a:off x="2413000" y="1663772"/>
            <a:ext cx="8890000" cy="538609"/>
          </a:xfrm>
          <a:prstGeom prst="rect">
            <a:avLst/>
          </a:prstGeom>
          <a:noFill/>
        </p:spPr>
        <p:txBody>
          <a:bodyPr wrap="square" lIns="25400" tIns="12700" rIns="25400" bIns="12700" anchor="t">
            <a:spAutoFit/>
          </a:bodyPr>
          <a:lstStyle/>
          <a:p>
            <a:pPr algn="l">
              <a:lnSpc>
                <a:spcPts val="2000"/>
              </a:lnSpc>
            </a:pPr>
            <a:r>
              <a:rPr sz="1600" b="0" dirty="0" err="1">
                <a:solidFill>
                  <a:schemeClr val="tx1">
                    <a:lumMod val="95000"/>
                    <a:lumOff val="5000"/>
                  </a:schemeClr>
                </a:solidFill>
                <a:latin typeface="Meiryo"/>
                <a:ea typeface="メイリオ"/>
              </a:rPr>
              <a:t>SwitchのJoy-conとUnity</a:t>
            </a:r>
            <a:r>
              <a:rPr sz="1600" b="0" dirty="0">
                <a:solidFill>
                  <a:schemeClr val="tx1">
                    <a:lumMod val="95000"/>
                    <a:lumOff val="5000"/>
                  </a:schemeClr>
                </a:solidFill>
                <a:latin typeface="Meiryo"/>
                <a:ea typeface="メイリオ"/>
              </a:rPr>
              <a:t> 6.6</a:t>
            </a:r>
            <a:endParaRPr lang="en-US" sz="1600" b="0" dirty="0">
              <a:solidFill>
                <a:schemeClr val="tx1">
                  <a:lumMod val="95000"/>
                  <a:lumOff val="5000"/>
                </a:schemeClr>
              </a:solidFill>
              <a:latin typeface="Meiryo"/>
              <a:ea typeface="メイリオ"/>
            </a:endParaRPr>
          </a:p>
          <a:p>
            <a:pPr>
              <a:lnSpc>
                <a:spcPts val="2000"/>
              </a:lnSpc>
            </a:pPr>
            <a:r>
              <a:rPr lang="ja-JP" altLang="en-US" sz="1600" dirty="0">
                <a:solidFill>
                  <a:schemeClr val="tx1">
                    <a:lumMod val="95000"/>
                    <a:lumOff val="5000"/>
                  </a:schemeClr>
                </a:solidFill>
                <a:latin typeface="Meiryo"/>
                <a:ea typeface="メイリオ"/>
              </a:rPr>
              <a:t>強＝</a:t>
            </a:r>
            <a:r>
              <a:rPr lang="en-US" altLang="ja-JP" sz="1600" dirty="0">
                <a:solidFill>
                  <a:schemeClr val="tx1">
                    <a:lumMod val="95000"/>
                    <a:lumOff val="5000"/>
                  </a:schemeClr>
                </a:solidFill>
                <a:latin typeface="Meiryo"/>
                <a:ea typeface="メイリオ"/>
              </a:rPr>
              <a:t>4</a:t>
            </a:r>
            <a:r>
              <a:rPr lang="ja-JP" altLang="en-US" sz="1600" dirty="0">
                <a:solidFill>
                  <a:schemeClr val="tx1">
                    <a:lumMod val="95000"/>
                    <a:lumOff val="5000"/>
                  </a:schemeClr>
                </a:solidFill>
                <a:latin typeface="Meiryo"/>
                <a:ea typeface="メイリオ"/>
              </a:rPr>
              <a:t>連打 </a:t>
            </a:r>
            <a:r>
              <a:rPr lang="en-US" altLang="ja-JP" sz="1600" dirty="0">
                <a:solidFill>
                  <a:schemeClr val="tx1">
                    <a:lumMod val="95000"/>
                    <a:lumOff val="5000"/>
                  </a:schemeClr>
                </a:solidFill>
                <a:latin typeface="Meiryo"/>
                <a:ea typeface="メイリオ"/>
              </a:rPr>
              <a:t>/</a:t>
            </a:r>
            <a:r>
              <a:rPr lang="ja-JP" altLang="en-US" sz="1600" dirty="0">
                <a:solidFill>
                  <a:schemeClr val="tx1">
                    <a:lumMod val="95000"/>
                    <a:lumOff val="5000"/>
                  </a:schemeClr>
                </a:solidFill>
                <a:latin typeface="Meiryo"/>
                <a:ea typeface="メイリオ"/>
              </a:rPr>
              <a:t> 中＝</a:t>
            </a:r>
            <a:r>
              <a:rPr lang="en-US" altLang="ja-JP" sz="1600" dirty="0">
                <a:solidFill>
                  <a:schemeClr val="tx1">
                    <a:lumMod val="95000"/>
                    <a:lumOff val="5000"/>
                  </a:schemeClr>
                </a:solidFill>
                <a:latin typeface="Meiryo"/>
                <a:ea typeface="メイリオ"/>
              </a:rPr>
              <a:t>2</a:t>
            </a:r>
            <a:r>
              <a:rPr lang="ja-JP" altLang="en-US" sz="1600" dirty="0">
                <a:solidFill>
                  <a:schemeClr val="tx1">
                    <a:lumMod val="95000"/>
                    <a:lumOff val="5000"/>
                  </a:schemeClr>
                </a:solidFill>
                <a:latin typeface="Meiryo"/>
                <a:ea typeface="メイリオ"/>
              </a:rPr>
              <a:t>発 </a:t>
            </a:r>
            <a:r>
              <a:rPr lang="en-US" altLang="ja-JP" sz="1600" dirty="0">
                <a:solidFill>
                  <a:schemeClr val="tx1">
                    <a:lumMod val="95000"/>
                    <a:lumOff val="5000"/>
                  </a:schemeClr>
                </a:solidFill>
                <a:latin typeface="Meiryo"/>
                <a:ea typeface="メイリオ"/>
              </a:rPr>
              <a:t>/</a:t>
            </a:r>
            <a:r>
              <a:rPr lang="ja-JP" altLang="en-US" sz="1600" dirty="0">
                <a:solidFill>
                  <a:schemeClr val="tx1">
                    <a:lumMod val="95000"/>
                    <a:lumOff val="5000"/>
                  </a:schemeClr>
                </a:solidFill>
                <a:latin typeface="Meiryo"/>
                <a:ea typeface="メイリオ"/>
              </a:rPr>
              <a:t> 警告音＝単発のパルス</a:t>
            </a:r>
          </a:p>
        </p:txBody>
      </p:sp>
      <p:sp>
        <p:nvSpPr>
          <p:cNvPr id="30" name="Rectangle 12">
            <a:extLst>
              <a:ext uri="{FF2B5EF4-FFF2-40B4-BE49-F238E27FC236}">
                <a16:creationId xmlns:a16="http://schemas.microsoft.com/office/drawing/2014/main" id="{06D59CB5-93B3-E98E-88F2-30924552A129}"/>
              </a:ext>
            </a:extLst>
          </p:cNvPr>
          <p:cNvSpPr/>
          <p:nvPr/>
        </p:nvSpPr>
        <p:spPr>
          <a:xfrm>
            <a:off x="3272120" y="2665931"/>
            <a:ext cx="83312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4" name="Rectangle 13">
            <a:extLst>
              <a:ext uri="{FF2B5EF4-FFF2-40B4-BE49-F238E27FC236}">
                <a16:creationId xmlns:a16="http://schemas.microsoft.com/office/drawing/2014/main" id="{5E117A96-51AE-021B-A50B-D0F8FB688184}"/>
              </a:ext>
            </a:extLst>
          </p:cNvPr>
          <p:cNvSpPr/>
          <p:nvPr/>
        </p:nvSpPr>
        <p:spPr>
          <a:xfrm>
            <a:off x="327212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5400"/>
          </a:p>
        </p:txBody>
      </p:sp>
      <p:sp>
        <p:nvSpPr>
          <p:cNvPr id="39" name="TextBox 14">
            <a:extLst>
              <a:ext uri="{FF2B5EF4-FFF2-40B4-BE49-F238E27FC236}">
                <a16:creationId xmlns:a16="http://schemas.microsoft.com/office/drawing/2014/main" id="{5B028872-6C13-C643-7594-ABEE63EB0802}"/>
              </a:ext>
            </a:extLst>
          </p:cNvPr>
          <p:cNvSpPr txBox="1"/>
          <p:nvPr/>
        </p:nvSpPr>
        <p:spPr>
          <a:xfrm>
            <a:off x="301812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0s</a:t>
            </a:r>
          </a:p>
        </p:txBody>
      </p:sp>
      <p:sp>
        <p:nvSpPr>
          <p:cNvPr id="44" name="Rectangle 15">
            <a:extLst>
              <a:ext uri="{FF2B5EF4-FFF2-40B4-BE49-F238E27FC236}">
                <a16:creationId xmlns:a16="http://schemas.microsoft.com/office/drawing/2014/main" id="{355F670E-9647-EF2B-4A81-883E53E696B3}"/>
              </a:ext>
            </a:extLst>
          </p:cNvPr>
          <p:cNvSpPr/>
          <p:nvPr/>
        </p:nvSpPr>
        <p:spPr>
          <a:xfrm>
            <a:off x="493836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0" name="TextBox 16">
            <a:extLst>
              <a:ext uri="{FF2B5EF4-FFF2-40B4-BE49-F238E27FC236}">
                <a16:creationId xmlns:a16="http://schemas.microsoft.com/office/drawing/2014/main" id="{FE37EFC3-7C22-FC77-EF27-2ECE17515D9A}"/>
              </a:ext>
            </a:extLst>
          </p:cNvPr>
          <p:cNvSpPr txBox="1"/>
          <p:nvPr/>
        </p:nvSpPr>
        <p:spPr>
          <a:xfrm>
            <a:off x="468436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2s</a:t>
            </a:r>
          </a:p>
        </p:txBody>
      </p:sp>
      <p:sp>
        <p:nvSpPr>
          <p:cNvPr id="55" name="Rectangle 17">
            <a:extLst>
              <a:ext uri="{FF2B5EF4-FFF2-40B4-BE49-F238E27FC236}">
                <a16:creationId xmlns:a16="http://schemas.microsoft.com/office/drawing/2014/main" id="{525B562B-B706-110C-D281-4ABEF769525C}"/>
              </a:ext>
            </a:extLst>
          </p:cNvPr>
          <p:cNvSpPr/>
          <p:nvPr/>
        </p:nvSpPr>
        <p:spPr>
          <a:xfrm>
            <a:off x="660460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9" name="TextBox 18">
            <a:extLst>
              <a:ext uri="{FF2B5EF4-FFF2-40B4-BE49-F238E27FC236}">
                <a16:creationId xmlns:a16="http://schemas.microsoft.com/office/drawing/2014/main" id="{164CA370-15E5-1279-DFF5-621CF46F7FA5}"/>
              </a:ext>
            </a:extLst>
          </p:cNvPr>
          <p:cNvSpPr txBox="1"/>
          <p:nvPr/>
        </p:nvSpPr>
        <p:spPr>
          <a:xfrm>
            <a:off x="635060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4s</a:t>
            </a:r>
          </a:p>
        </p:txBody>
      </p:sp>
      <p:sp>
        <p:nvSpPr>
          <p:cNvPr id="63" name="Rectangle 19">
            <a:extLst>
              <a:ext uri="{FF2B5EF4-FFF2-40B4-BE49-F238E27FC236}">
                <a16:creationId xmlns:a16="http://schemas.microsoft.com/office/drawing/2014/main" id="{A83954F8-DA90-9FCD-E390-D57C58ACC41D}"/>
              </a:ext>
            </a:extLst>
          </p:cNvPr>
          <p:cNvSpPr/>
          <p:nvPr/>
        </p:nvSpPr>
        <p:spPr>
          <a:xfrm>
            <a:off x="827084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7" name="TextBox 20">
            <a:extLst>
              <a:ext uri="{FF2B5EF4-FFF2-40B4-BE49-F238E27FC236}">
                <a16:creationId xmlns:a16="http://schemas.microsoft.com/office/drawing/2014/main" id="{51DBF2AE-3E9C-0512-C2BF-4DD771561A9C}"/>
              </a:ext>
            </a:extLst>
          </p:cNvPr>
          <p:cNvSpPr txBox="1"/>
          <p:nvPr/>
        </p:nvSpPr>
        <p:spPr>
          <a:xfrm>
            <a:off x="801684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6s</a:t>
            </a:r>
          </a:p>
        </p:txBody>
      </p:sp>
      <p:sp>
        <p:nvSpPr>
          <p:cNvPr id="71" name="Rectangle 21">
            <a:extLst>
              <a:ext uri="{FF2B5EF4-FFF2-40B4-BE49-F238E27FC236}">
                <a16:creationId xmlns:a16="http://schemas.microsoft.com/office/drawing/2014/main" id="{0B9448FB-9F36-5922-A3D0-92A41EFC1419}"/>
              </a:ext>
            </a:extLst>
          </p:cNvPr>
          <p:cNvSpPr/>
          <p:nvPr/>
        </p:nvSpPr>
        <p:spPr>
          <a:xfrm>
            <a:off x="993708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5" name="TextBox 22">
            <a:extLst>
              <a:ext uri="{FF2B5EF4-FFF2-40B4-BE49-F238E27FC236}">
                <a16:creationId xmlns:a16="http://schemas.microsoft.com/office/drawing/2014/main" id="{A0DD8E4C-9D5A-0BCB-51A4-E761E3A90394}"/>
              </a:ext>
            </a:extLst>
          </p:cNvPr>
          <p:cNvSpPr txBox="1"/>
          <p:nvPr/>
        </p:nvSpPr>
        <p:spPr>
          <a:xfrm>
            <a:off x="968308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8s</a:t>
            </a:r>
          </a:p>
        </p:txBody>
      </p:sp>
      <p:sp>
        <p:nvSpPr>
          <p:cNvPr id="79" name="Rectangle 23">
            <a:extLst>
              <a:ext uri="{FF2B5EF4-FFF2-40B4-BE49-F238E27FC236}">
                <a16:creationId xmlns:a16="http://schemas.microsoft.com/office/drawing/2014/main" id="{9DB3EDC7-E2D9-F0E0-1815-14D099058F0E}"/>
              </a:ext>
            </a:extLst>
          </p:cNvPr>
          <p:cNvSpPr/>
          <p:nvPr/>
        </p:nvSpPr>
        <p:spPr>
          <a:xfrm>
            <a:off x="1160332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2" name="TextBox 24">
            <a:extLst>
              <a:ext uri="{FF2B5EF4-FFF2-40B4-BE49-F238E27FC236}">
                <a16:creationId xmlns:a16="http://schemas.microsoft.com/office/drawing/2014/main" id="{35BA0E82-3A92-A510-7072-DFE85997BF97}"/>
              </a:ext>
            </a:extLst>
          </p:cNvPr>
          <p:cNvSpPr txBox="1"/>
          <p:nvPr/>
        </p:nvSpPr>
        <p:spPr>
          <a:xfrm>
            <a:off x="1134932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10s</a:t>
            </a:r>
          </a:p>
        </p:txBody>
      </p:sp>
      <p:sp>
        <p:nvSpPr>
          <p:cNvPr id="84" name="TextBox 25">
            <a:extLst>
              <a:ext uri="{FF2B5EF4-FFF2-40B4-BE49-F238E27FC236}">
                <a16:creationId xmlns:a16="http://schemas.microsoft.com/office/drawing/2014/main" id="{E69AAEFA-E112-5157-B083-0D0BBECF18EE}"/>
              </a:ext>
            </a:extLst>
          </p:cNvPr>
          <p:cNvSpPr txBox="1"/>
          <p:nvPr/>
        </p:nvSpPr>
        <p:spPr>
          <a:xfrm>
            <a:off x="888999" y="2945331"/>
            <a:ext cx="2402839"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車①　</a:t>
            </a:r>
            <a:r>
              <a:rPr sz="1600" b="1" dirty="0" err="1">
                <a:solidFill>
                  <a:srgbClr val="222838"/>
                </a:solidFill>
                <a:latin typeface="Meiryo"/>
                <a:ea typeface="メイリオ"/>
              </a:rPr>
              <a:t>正面から来る</a:t>
            </a:r>
            <a:endParaRPr sz="1600" b="1" dirty="0">
              <a:solidFill>
                <a:srgbClr val="222838"/>
              </a:solidFill>
              <a:latin typeface="Meiryo"/>
              <a:ea typeface="メイリオ"/>
            </a:endParaRPr>
          </a:p>
        </p:txBody>
      </p:sp>
      <p:sp>
        <p:nvSpPr>
          <p:cNvPr id="86" name="TextBox 26">
            <a:extLst>
              <a:ext uri="{FF2B5EF4-FFF2-40B4-BE49-F238E27FC236}">
                <a16:creationId xmlns:a16="http://schemas.microsoft.com/office/drawing/2014/main" id="{A2A5E192-2F1A-494F-4F23-029940F308FF}"/>
              </a:ext>
            </a:extLst>
          </p:cNvPr>
          <p:cNvSpPr txBox="1"/>
          <p:nvPr/>
        </p:nvSpPr>
        <p:spPr>
          <a:xfrm>
            <a:off x="889000" y="3173931"/>
            <a:ext cx="1778000" cy="271869"/>
          </a:xfrm>
          <a:prstGeom prst="rect">
            <a:avLst/>
          </a:prstGeom>
          <a:noFill/>
        </p:spPr>
        <p:txBody>
          <a:bodyPr wrap="square" lIns="25400" tIns="12700" rIns="25400" bIns="12700" anchor="t">
            <a:spAutoFit/>
          </a:bodyPr>
          <a:lstStyle/>
          <a:p>
            <a:pPr algn="l"/>
            <a:r>
              <a:rPr sz="1600" b="0" dirty="0">
                <a:solidFill>
                  <a:srgbClr val="8A8F9A"/>
                </a:solidFill>
                <a:latin typeface="Meiryo"/>
                <a:ea typeface="メイリオ"/>
              </a:rPr>
              <a:t>横1.0m・30km/h</a:t>
            </a:r>
          </a:p>
        </p:txBody>
      </p:sp>
      <p:sp>
        <p:nvSpPr>
          <p:cNvPr id="88" name="Rectangle 27">
            <a:extLst>
              <a:ext uri="{FF2B5EF4-FFF2-40B4-BE49-F238E27FC236}">
                <a16:creationId xmlns:a16="http://schemas.microsoft.com/office/drawing/2014/main" id="{DEA44C97-21E0-9EB6-7B15-4164C9461C0B}"/>
              </a:ext>
            </a:extLst>
          </p:cNvPr>
          <p:cNvSpPr/>
          <p:nvPr/>
        </p:nvSpPr>
        <p:spPr>
          <a:xfrm>
            <a:off x="3438744" y="3021531"/>
            <a:ext cx="1832864"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0" name="Rectangle 28">
            <a:extLst>
              <a:ext uri="{FF2B5EF4-FFF2-40B4-BE49-F238E27FC236}">
                <a16:creationId xmlns:a16="http://schemas.microsoft.com/office/drawing/2014/main" id="{188F7846-F8E5-0C0F-5379-B8476D6A31E4}"/>
              </a:ext>
            </a:extLst>
          </p:cNvPr>
          <p:cNvSpPr/>
          <p:nvPr/>
        </p:nvSpPr>
        <p:spPr>
          <a:xfrm>
            <a:off x="5354920" y="2919931"/>
            <a:ext cx="833120" cy="330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2" name="Rectangle 29">
            <a:extLst>
              <a:ext uri="{FF2B5EF4-FFF2-40B4-BE49-F238E27FC236}">
                <a16:creationId xmlns:a16="http://schemas.microsoft.com/office/drawing/2014/main" id="{B034D446-D2C2-7B98-3A6E-7467F411DF0D}"/>
              </a:ext>
            </a:extLst>
          </p:cNvPr>
          <p:cNvSpPr/>
          <p:nvPr/>
        </p:nvSpPr>
        <p:spPr>
          <a:xfrm>
            <a:off x="6271352" y="2919931"/>
            <a:ext cx="2082800" cy="330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4" name="Rectangle 30">
            <a:extLst>
              <a:ext uri="{FF2B5EF4-FFF2-40B4-BE49-F238E27FC236}">
                <a16:creationId xmlns:a16="http://schemas.microsoft.com/office/drawing/2014/main" id="{6F616289-C5AA-E483-FE33-C9D50BF1F2C0}"/>
              </a:ext>
            </a:extLst>
          </p:cNvPr>
          <p:cNvSpPr/>
          <p:nvPr/>
        </p:nvSpPr>
        <p:spPr>
          <a:xfrm>
            <a:off x="8437464" y="2919931"/>
            <a:ext cx="25400" cy="330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6" name="Rectangle 31">
            <a:extLst>
              <a:ext uri="{FF2B5EF4-FFF2-40B4-BE49-F238E27FC236}">
                <a16:creationId xmlns:a16="http://schemas.microsoft.com/office/drawing/2014/main" id="{7DE8653D-D409-3634-B27E-E81CCD496DCA}"/>
              </a:ext>
            </a:extLst>
          </p:cNvPr>
          <p:cNvSpPr/>
          <p:nvPr/>
        </p:nvSpPr>
        <p:spPr>
          <a:xfrm>
            <a:off x="8520776" y="3021531"/>
            <a:ext cx="2999232"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8" name="TextBox 32">
            <a:extLst>
              <a:ext uri="{FF2B5EF4-FFF2-40B4-BE49-F238E27FC236}">
                <a16:creationId xmlns:a16="http://schemas.microsoft.com/office/drawing/2014/main" id="{22EEBFFE-1127-089D-EBDC-9A699FCB15C0}"/>
              </a:ext>
            </a:extLst>
          </p:cNvPr>
          <p:cNvSpPr txBox="1"/>
          <p:nvPr/>
        </p:nvSpPr>
        <p:spPr>
          <a:xfrm>
            <a:off x="5354920" y="2983431"/>
            <a:ext cx="1092200" cy="271869"/>
          </a:xfrm>
          <a:prstGeom prst="rect">
            <a:avLst/>
          </a:prstGeom>
          <a:noFill/>
        </p:spPr>
        <p:txBody>
          <a:bodyPr wrap="square" lIns="25400" tIns="12700" rIns="25400" bIns="12700" anchor="t">
            <a:spAutoFit/>
          </a:bodyPr>
          <a:lstStyle/>
          <a:p>
            <a:pPr algn="l"/>
            <a:r>
              <a:rPr sz="1600" b="1" dirty="0" err="1">
                <a:solidFill>
                  <a:srgbClr val="FFFFFF"/>
                </a:solidFill>
                <a:latin typeface="Meiryo"/>
                <a:ea typeface="メイリオ"/>
              </a:rPr>
              <a:t>注意</a:t>
            </a:r>
            <a:r>
              <a:rPr lang="en-US" sz="1600" b="1" dirty="0">
                <a:solidFill>
                  <a:srgbClr val="FFFFFF"/>
                </a:solidFill>
                <a:latin typeface="Meiryo"/>
                <a:ea typeface="メイリオ"/>
              </a:rPr>
              <a:t>(</a:t>
            </a:r>
            <a:r>
              <a:rPr sz="1600" b="1" dirty="0">
                <a:solidFill>
                  <a:srgbClr val="FFFFFF"/>
                </a:solidFill>
                <a:latin typeface="Meiryo"/>
                <a:ea typeface="メイリオ"/>
              </a:rPr>
              <a:t>中</a:t>
            </a:r>
            <a:r>
              <a:rPr lang="en-US" sz="1600" b="1" dirty="0">
                <a:solidFill>
                  <a:srgbClr val="FFFFFF"/>
                </a:solidFill>
                <a:latin typeface="Meiryo"/>
                <a:ea typeface="メイリオ"/>
              </a:rPr>
              <a:t>)</a:t>
            </a:r>
            <a:endParaRPr sz="1600" b="1" dirty="0">
              <a:solidFill>
                <a:srgbClr val="FFFFFF"/>
              </a:solidFill>
              <a:latin typeface="Meiryo"/>
              <a:ea typeface="メイリオ"/>
            </a:endParaRPr>
          </a:p>
        </p:txBody>
      </p:sp>
      <p:sp>
        <p:nvSpPr>
          <p:cNvPr id="100" name="TextBox 33">
            <a:extLst>
              <a:ext uri="{FF2B5EF4-FFF2-40B4-BE49-F238E27FC236}">
                <a16:creationId xmlns:a16="http://schemas.microsoft.com/office/drawing/2014/main" id="{C0BCFCE0-B86B-9A87-82E3-1A00EDEE8005}"/>
              </a:ext>
            </a:extLst>
          </p:cNvPr>
          <p:cNvSpPr txBox="1"/>
          <p:nvPr/>
        </p:nvSpPr>
        <p:spPr>
          <a:xfrm>
            <a:off x="6322152" y="2983431"/>
            <a:ext cx="1981200" cy="271869"/>
          </a:xfrm>
          <a:prstGeom prst="rect">
            <a:avLst/>
          </a:prstGeom>
          <a:noFill/>
        </p:spPr>
        <p:txBody>
          <a:bodyPr wrap="square" lIns="25400" tIns="12700" rIns="25400" bIns="12700" anchor="t">
            <a:spAutoFit/>
          </a:bodyPr>
          <a:lstStyle/>
          <a:p>
            <a:pPr algn="ctr"/>
            <a:r>
              <a:rPr sz="1600" b="1" dirty="0" err="1">
                <a:solidFill>
                  <a:srgbClr val="FFFFFF"/>
                </a:solidFill>
                <a:latin typeface="Meiryo"/>
                <a:ea typeface="メイリオ"/>
              </a:rPr>
              <a:t>至近警告</a:t>
            </a:r>
            <a:r>
              <a:rPr lang="en-US" sz="1600" b="1" dirty="0">
                <a:solidFill>
                  <a:srgbClr val="FFFFFF"/>
                </a:solidFill>
                <a:latin typeface="Meiryo"/>
                <a:ea typeface="メイリオ"/>
              </a:rPr>
              <a:t>(</a:t>
            </a:r>
            <a:r>
              <a:rPr sz="1600" b="1" dirty="0">
                <a:solidFill>
                  <a:srgbClr val="FFFFFF"/>
                </a:solidFill>
                <a:latin typeface="Meiryo"/>
                <a:ea typeface="メイリオ"/>
              </a:rPr>
              <a:t>強</a:t>
            </a:r>
            <a:r>
              <a:rPr lang="en-US" sz="1600" b="1" dirty="0">
                <a:solidFill>
                  <a:srgbClr val="FFFFFF"/>
                </a:solidFill>
                <a:latin typeface="Meiryo"/>
                <a:ea typeface="メイリオ"/>
              </a:rPr>
              <a:t>)</a:t>
            </a:r>
            <a:endParaRPr sz="1600" b="1" dirty="0">
              <a:solidFill>
                <a:srgbClr val="FFFFFF"/>
              </a:solidFill>
              <a:latin typeface="Meiryo"/>
              <a:ea typeface="メイリオ"/>
            </a:endParaRPr>
          </a:p>
        </p:txBody>
      </p:sp>
      <p:sp>
        <p:nvSpPr>
          <p:cNvPr id="102" name="Rectangle 34">
            <a:extLst>
              <a:ext uri="{FF2B5EF4-FFF2-40B4-BE49-F238E27FC236}">
                <a16:creationId xmlns:a16="http://schemas.microsoft.com/office/drawing/2014/main" id="{35DE0FD7-EC6C-63D5-2266-15005BFAE5C5}"/>
              </a:ext>
            </a:extLst>
          </p:cNvPr>
          <p:cNvSpPr/>
          <p:nvPr/>
        </p:nvSpPr>
        <p:spPr>
          <a:xfrm>
            <a:off x="8261950" y="2742131"/>
            <a:ext cx="17780" cy="68580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4" name="TextBox 35">
            <a:extLst>
              <a:ext uri="{FF2B5EF4-FFF2-40B4-BE49-F238E27FC236}">
                <a16:creationId xmlns:a16="http://schemas.microsoft.com/office/drawing/2014/main" id="{364100C0-0B9C-C4C7-054B-C0EFCE23FE4B}"/>
              </a:ext>
            </a:extLst>
          </p:cNvPr>
          <p:cNvSpPr txBox="1"/>
          <p:nvPr/>
        </p:nvSpPr>
        <p:spPr>
          <a:xfrm>
            <a:off x="7508840" y="3453331"/>
            <a:ext cx="1524000" cy="271869"/>
          </a:xfrm>
          <a:prstGeom prst="rect">
            <a:avLst/>
          </a:prstGeom>
          <a:noFill/>
        </p:spPr>
        <p:txBody>
          <a:bodyPr wrap="square" lIns="25400" tIns="12700" rIns="25400" bIns="12700" anchor="t">
            <a:spAutoFit/>
          </a:bodyPr>
          <a:lstStyle/>
          <a:p>
            <a:pPr algn="ctr"/>
            <a:r>
              <a:rPr sz="1600" b="1" dirty="0" err="1">
                <a:solidFill>
                  <a:srgbClr val="222838"/>
                </a:solidFill>
                <a:latin typeface="Meiryo"/>
                <a:ea typeface="メイリオ"/>
              </a:rPr>
              <a:t>最接近</a:t>
            </a:r>
            <a:r>
              <a:rPr sz="1600" b="1" dirty="0">
                <a:solidFill>
                  <a:srgbClr val="222838"/>
                </a:solidFill>
                <a:latin typeface="Meiryo"/>
                <a:ea typeface="メイリオ"/>
              </a:rPr>
              <a:t> 1.0m</a:t>
            </a:r>
          </a:p>
        </p:txBody>
      </p:sp>
      <p:sp>
        <p:nvSpPr>
          <p:cNvPr id="106" name="TextBox 36">
            <a:extLst>
              <a:ext uri="{FF2B5EF4-FFF2-40B4-BE49-F238E27FC236}">
                <a16:creationId xmlns:a16="http://schemas.microsoft.com/office/drawing/2014/main" id="{17D66BE0-B4DF-EA55-F1EB-1282CD5B19AB}"/>
              </a:ext>
            </a:extLst>
          </p:cNvPr>
          <p:cNvSpPr txBox="1"/>
          <p:nvPr/>
        </p:nvSpPr>
        <p:spPr>
          <a:xfrm>
            <a:off x="888999" y="4240731"/>
            <a:ext cx="2402839"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車②　</a:t>
            </a:r>
            <a:r>
              <a:rPr sz="1600" b="1" dirty="0" err="1">
                <a:solidFill>
                  <a:srgbClr val="222838"/>
                </a:solidFill>
                <a:latin typeface="Meiryo"/>
                <a:ea typeface="メイリオ"/>
              </a:rPr>
              <a:t>後ろから追い越す</a:t>
            </a:r>
            <a:endParaRPr sz="1600" b="1" dirty="0">
              <a:solidFill>
                <a:srgbClr val="222838"/>
              </a:solidFill>
              <a:latin typeface="Meiryo"/>
              <a:ea typeface="メイリオ"/>
            </a:endParaRPr>
          </a:p>
        </p:txBody>
      </p:sp>
      <p:sp>
        <p:nvSpPr>
          <p:cNvPr id="108" name="TextBox 37">
            <a:extLst>
              <a:ext uri="{FF2B5EF4-FFF2-40B4-BE49-F238E27FC236}">
                <a16:creationId xmlns:a16="http://schemas.microsoft.com/office/drawing/2014/main" id="{7F3576B4-258A-C2F6-57A6-0EE620BAB556}"/>
              </a:ext>
            </a:extLst>
          </p:cNvPr>
          <p:cNvSpPr txBox="1"/>
          <p:nvPr/>
        </p:nvSpPr>
        <p:spPr>
          <a:xfrm>
            <a:off x="889000" y="4469331"/>
            <a:ext cx="1778000" cy="271869"/>
          </a:xfrm>
          <a:prstGeom prst="rect">
            <a:avLst/>
          </a:prstGeom>
          <a:noFill/>
        </p:spPr>
        <p:txBody>
          <a:bodyPr wrap="square" lIns="25400" tIns="12700" rIns="25400" bIns="12700" anchor="t">
            <a:spAutoFit/>
          </a:bodyPr>
          <a:lstStyle/>
          <a:p>
            <a:pPr algn="l"/>
            <a:r>
              <a:rPr sz="1600" b="0" dirty="0">
                <a:solidFill>
                  <a:srgbClr val="8A8F9A"/>
                </a:solidFill>
                <a:latin typeface="Meiryo"/>
                <a:ea typeface="メイリオ"/>
              </a:rPr>
              <a:t>横4.5m・40km/h</a:t>
            </a:r>
          </a:p>
        </p:txBody>
      </p:sp>
      <p:sp>
        <p:nvSpPr>
          <p:cNvPr id="110" name="Rectangle 38">
            <a:extLst>
              <a:ext uri="{FF2B5EF4-FFF2-40B4-BE49-F238E27FC236}">
                <a16:creationId xmlns:a16="http://schemas.microsoft.com/office/drawing/2014/main" id="{7B25C88E-A4A0-AE0E-3790-143B20F7F690}"/>
              </a:ext>
            </a:extLst>
          </p:cNvPr>
          <p:cNvSpPr/>
          <p:nvPr/>
        </p:nvSpPr>
        <p:spPr>
          <a:xfrm>
            <a:off x="3522056" y="4316931"/>
            <a:ext cx="4582160"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2" name="Rectangle 39">
            <a:extLst>
              <a:ext uri="{FF2B5EF4-FFF2-40B4-BE49-F238E27FC236}">
                <a16:creationId xmlns:a16="http://schemas.microsoft.com/office/drawing/2014/main" id="{5B3CB21B-876B-250C-496A-D97E279ABEA1}"/>
              </a:ext>
            </a:extLst>
          </p:cNvPr>
          <p:cNvSpPr/>
          <p:nvPr/>
        </p:nvSpPr>
        <p:spPr>
          <a:xfrm>
            <a:off x="8187528" y="4215331"/>
            <a:ext cx="2332736" cy="330200"/>
          </a:xfrm>
          <a:prstGeom prst="rect">
            <a:avLst/>
          </a:prstGeom>
          <a:solidFill>
            <a:srgbClr val="FFFFFF"/>
          </a:solidFill>
          <a:ln w="1524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4" name="Rectangle 40">
            <a:extLst>
              <a:ext uri="{FF2B5EF4-FFF2-40B4-BE49-F238E27FC236}">
                <a16:creationId xmlns:a16="http://schemas.microsoft.com/office/drawing/2014/main" id="{7A4B21B6-4573-E33B-426D-D56AC5E9F442}"/>
              </a:ext>
            </a:extLst>
          </p:cNvPr>
          <p:cNvSpPr/>
          <p:nvPr/>
        </p:nvSpPr>
        <p:spPr>
          <a:xfrm>
            <a:off x="10603576" y="4316931"/>
            <a:ext cx="916432"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6" name="TextBox 41">
            <a:extLst>
              <a:ext uri="{FF2B5EF4-FFF2-40B4-BE49-F238E27FC236}">
                <a16:creationId xmlns:a16="http://schemas.microsoft.com/office/drawing/2014/main" id="{E27B3585-1F07-221D-E8A0-D280C96C9570}"/>
              </a:ext>
            </a:extLst>
          </p:cNvPr>
          <p:cNvSpPr txBox="1"/>
          <p:nvPr/>
        </p:nvSpPr>
        <p:spPr>
          <a:xfrm>
            <a:off x="8238328" y="4278831"/>
            <a:ext cx="2231136" cy="271869"/>
          </a:xfrm>
          <a:prstGeom prst="rect">
            <a:avLst/>
          </a:prstGeom>
          <a:noFill/>
        </p:spPr>
        <p:txBody>
          <a:bodyPr wrap="square" lIns="25400" tIns="12700" rIns="25400" bIns="12700" anchor="t">
            <a:spAutoFit/>
          </a:bodyPr>
          <a:lstStyle/>
          <a:p>
            <a:pPr algn="l"/>
            <a:r>
              <a:rPr sz="1600" b="1" dirty="0" err="1">
                <a:solidFill>
                  <a:srgbClr val="2E7D5B"/>
                </a:solidFill>
                <a:latin typeface="Meiryo"/>
                <a:ea typeface="メイリオ"/>
              </a:rPr>
              <a:t>抑制（鳴らさない</a:t>
            </a:r>
            <a:r>
              <a:rPr sz="1600" b="1" dirty="0">
                <a:solidFill>
                  <a:srgbClr val="2E7D5B"/>
                </a:solidFill>
                <a:latin typeface="Meiryo"/>
                <a:ea typeface="メイリオ"/>
              </a:rPr>
              <a:t>）</a:t>
            </a:r>
          </a:p>
        </p:txBody>
      </p:sp>
      <p:sp>
        <p:nvSpPr>
          <p:cNvPr id="118" name="Rectangle 42">
            <a:extLst>
              <a:ext uri="{FF2B5EF4-FFF2-40B4-BE49-F238E27FC236}">
                <a16:creationId xmlns:a16="http://schemas.microsoft.com/office/drawing/2014/main" id="{397AA99A-744A-28CE-C901-C206650CCAD2}"/>
              </a:ext>
            </a:extLst>
          </p:cNvPr>
          <p:cNvSpPr/>
          <p:nvPr/>
        </p:nvSpPr>
        <p:spPr>
          <a:xfrm>
            <a:off x="10344750" y="4037531"/>
            <a:ext cx="17780" cy="68580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0" name="TextBox 43">
            <a:extLst>
              <a:ext uri="{FF2B5EF4-FFF2-40B4-BE49-F238E27FC236}">
                <a16:creationId xmlns:a16="http://schemas.microsoft.com/office/drawing/2014/main" id="{2B6BBDF4-681E-0ABA-0811-F4CE13BA9CE2}"/>
              </a:ext>
            </a:extLst>
          </p:cNvPr>
          <p:cNvSpPr txBox="1"/>
          <p:nvPr/>
        </p:nvSpPr>
        <p:spPr>
          <a:xfrm>
            <a:off x="9591640" y="4748731"/>
            <a:ext cx="1524000" cy="271869"/>
          </a:xfrm>
          <a:prstGeom prst="rect">
            <a:avLst/>
          </a:prstGeom>
          <a:noFill/>
        </p:spPr>
        <p:txBody>
          <a:bodyPr wrap="square" lIns="25400" tIns="12700" rIns="25400" bIns="12700" anchor="t">
            <a:spAutoFit/>
          </a:bodyPr>
          <a:lstStyle/>
          <a:p>
            <a:pPr algn="ctr"/>
            <a:r>
              <a:rPr sz="1600" b="1" dirty="0" err="1">
                <a:solidFill>
                  <a:srgbClr val="222838"/>
                </a:solidFill>
                <a:latin typeface="Meiryo"/>
                <a:ea typeface="メイリオ"/>
              </a:rPr>
              <a:t>最接近</a:t>
            </a:r>
            <a:r>
              <a:rPr sz="1600" b="1" dirty="0">
                <a:solidFill>
                  <a:srgbClr val="222838"/>
                </a:solidFill>
                <a:latin typeface="Meiryo"/>
                <a:ea typeface="メイリオ"/>
              </a:rPr>
              <a:t> 4.5m</a:t>
            </a:r>
          </a:p>
        </p:txBody>
      </p:sp>
      <p:sp>
        <p:nvSpPr>
          <p:cNvPr id="122" name="TextBox 44">
            <a:extLst>
              <a:ext uri="{FF2B5EF4-FFF2-40B4-BE49-F238E27FC236}">
                <a16:creationId xmlns:a16="http://schemas.microsoft.com/office/drawing/2014/main" id="{B3CD246D-D70C-D7DF-9D94-4C59C4C63A36}"/>
              </a:ext>
            </a:extLst>
          </p:cNvPr>
          <p:cNvSpPr txBox="1"/>
          <p:nvPr/>
        </p:nvSpPr>
        <p:spPr>
          <a:xfrm>
            <a:off x="889000" y="2437331"/>
            <a:ext cx="1778000" cy="271869"/>
          </a:xfrm>
          <a:prstGeom prst="rect">
            <a:avLst/>
          </a:prstGeom>
          <a:noFill/>
        </p:spPr>
        <p:txBody>
          <a:bodyPr wrap="square" lIns="25400" tIns="12700" rIns="25400" bIns="12700" anchor="t">
            <a:spAutoFit/>
          </a:bodyPr>
          <a:lstStyle/>
          <a:p>
            <a:pPr algn="l"/>
            <a:r>
              <a:rPr sz="1600" b="0" dirty="0" err="1">
                <a:solidFill>
                  <a:srgbClr val="8A8F9A"/>
                </a:solidFill>
                <a:latin typeface="Meiryo"/>
                <a:ea typeface="メイリオ"/>
              </a:rPr>
              <a:t>振動</a:t>
            </a:r>
            <a:endParaRPr sz="1600" b="0" dirty="0">
              <a:solidFill>
                <a:srgbClr val="8A8F9A"/>
              </a:solidFill>
              <a:latin typeface="Meiryo"/>
              <a:ea typeface="メイリオ"/>
            </a:endParaRPr>
          </a:p>
        </p:txBody>
      </p:sp>
      <p:sp>
        <p:nvSpPr>
          <p:cNvPr id="124" name="Isosceles Triangle 45">
            <a:extLst>
              <a:ext uri="{FF2B5EF4-FFF2-40B4-BE49-F238E27FC236}">
                <a16:creationId xmlns:a16="http://schemas.microsoft.com/office/drawing/2014/main" id="{4B93EAC5-8470-F77B-4598-246D4262AA90}"/>
              </a:ext>
            </a:extLst>
          </p:cNvPr>
          <p:cNvSpPr/>
          <p:nvPr/>
        </p:nvSpPr>
        <p:spPr>
          <a:xfrm>
            <a:off x="6541100" y="2596081"/>
            <a:ext cx="127000" cy="1270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6" name="Isosceles Triangle 46">
            <a:extLst>
              <a:ext uri="{FF2B5EF4-FFF2-40B4-BE49-F238E27FC236}">
                <a16:creationId xmlns:a16="http://schemas.microsoft.com/office/drawing/2014/main" id="{87224074-2892-7DF9-1782-81565E9418FB}"/>
              </a:ext>
            </a:extLst>
          </p:cNvPr>
          <p:cNvSpPr/>
          <p:nvPr/>
        </p:nvSpPr>
        <p:spPr>
          <a:xfrm>
            <a:off x="8290652" y="2596081"/>
            <a:ext cx="127000" cy="1270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8" name="Isosceles Triangle 47">
            <a:extLst>
              <a:ext uri="{FF2B5EF4-FFF2-40B4-BE49-F238E27FC236}">
                <a16:creationId xmlns:a16="http://schemas.microsoft.com/office/drawing/2014/main" id="{67365F7E-D034-C4D8-41D7-8E8DD4B0FB94}"/>
              </a:ext>
            </a:extLst>
          </p:cNvPr>
          <p:cNvSpPr/>
          <p:nvPr/>
        </p:nvSpPr>
        <p:spPr>
          <a:xfrm>
            <a:off x="8373964" y="2596081"/>
            <a:ext cx="127000" cy="1270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0" name="TextBox 48">
            <a:extLst>
              <a:ext uri="{FF2B5EF4-FFF2-40B4-BE49-F238E27FC236}">
                <a16:creationId xmlns:a16="http://schemas.microsoft.com/office/drawing/2014/main" id="{823102CC-70AF-2DB9-56E9-A319D0F4A530}"/>
              </a:ext>
            </a:extLst>
          </p:cNvPr>
          <p:cNvSpPr txBox="1"/>
          <p:nvPr/>
        </p:nvSpPr>
        <p:spPr>
          <a:xfrm>
            <a:off x="5766400" y="2234131"/>
            <a:ext cx="1676400" cy="210314"/>
          </a:xfrm>
          <a:prstGeom prst="rect">
            <a:avLst/>
          </a:prstGeom>
          <a:noFill/>
        </p:spPr>
        <p:txBody>
          <a:bodyPr wrap="square" lIns="25400" tIns="12700" rIns="25400" bIns="12700" anchor="t">
            <a:spAutoFit/>
          </a:bodyPr>
          <a:lstStyle/>
          <a:p>
            <a:pPr algn="ctr"/>
            <a:r>
              <a:rPr sz="1200" b="1" dirty="0">
                <a:solidFill>
                  <a:srgbClr val="C0392B"/>
                </a:solidFill>
                <a:latin typeface="Meiryo"/>
                <a:ea typeface="メイリオ"/>
              </a:rPr>
              <a:t>4.0s </a:t>
            </a:r>
            <a:r>
              <a:rPr sz="1200" b="1" dirty="0" err="1">
                <a:solidFill>
                  <a:srgbClr val="C0392B"/>
                </a:solidFill>
                <a:latin typeface="Meiryo"/>
                <a:ea typeface="メイリオ"/>
              </a:rPr>
              <a:t>に最初の振動</a:t>
            </a:r>
            <a:endParaRPr sz="1200" b="1" dirty="0">
              <a:solidFill>
                <a:srgbClr val="C0392B"/>
              </a:solidFill>
              <a:latin typeface="Meiryo"/>
              <a:ea typeface="メイリオ"/>
            </a:endParaRPr>
          </a:p>
        </p:txBody>
      </p:sp>
      <p:sp>
        <p:nvSpPr>
          <p:cNvPr id="132" name="Rectangle 49">
            <a:extLst>
              <a:ext uri="{FF2B5EF4-FFF2-40B4-BE49-F238E27FC236}">
                <a16:creationId xmlns:a16="http://schemas.microsoft.com/office/drawing/2014/main" id="{24E4F658-629C-4480-B563-40C1621C0F90}"/>
              </a:ext>
            </a:extLst>
          </p:cNvPr>
          <p:cNvSpPr/>
          <p:nvPr/>
        </p:nvSpPr>
        <p:spPr>
          <a:xfrm>
            <a:off x="6604600" y="3859731"/>
            <a:ext cx="1666240" cy="177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4" name="TextBox 50">
            <a:extLst>
              <a:ext uri="{FF2B5EF4-FFF2-40B4-BE49-F238E27FC236}">
                <a16:creationId xmlns:a16="http://schemas.microsoft.com/office/drawing/2014/main" id="{B6C84123-A985-F273-2A03-CCC312B2B7A5}"/>
              </a:ext>
            </a:extLst>
          </p:cNvPr>
          <p:cNvSpPr txBox="1"/>
          <p:nvPr/>
        </p:nvSpPr>
        <p:spPr>
          <a:xfrm>
            <a:off x="6406226" y="3665964"/>
            <a:ext cx="1813051" cy="271869"/>
          </a:xfrm>
          <a:prstGeom prst="rect">
            <a:avLst/>
          </a:prstGeom>
          <a:noFill/>
        </p:spPr>
        <p:txBody>
          <a:bodyPr wrap="square" lIns="25400" tIns="12700" rIns="25400" bIns="12700" anchor="t">
            <a:spAutoFit/>
          </a:bodyPr>
          <a:lstStyle/>
          <a:p>
            <a:pPr algn="ctr"/>
            <a:r>
              <a:rPr sz="1600" b="1" dirty="0" err="1">
                <a:solidFill>
                  <a:srgbClr val="C0392B"/>
                </a:solidFill>
                <a:latin typeface="Meiryo"/>
                <a:ea typeface="メイリオ"/>
              </a:rPr>
              <a:t>最接近の</a:t>
            </a:r>
            <a:r>
              <a:rPr sz="1600" b="1" dirty="0">
                <a:solidFill>
                  <a:srgbClr val="C0392B"/>
                </a:solidFill>
                <a:latin typeface="Meiryo"/>
                <a:ea typeface="メイリオ"/>
              </a:rPr>
              <a:t> 2.0 </a:t>
            </a:r>
            <a:r>
              <a:rPr sz="1600" b="1" dirty="0" err="1">
                <a:solidFill>
                  <a:srgbClr val="C0392B"/>
                </a:solidFill>
                <a:latin typeface="Meiryo"/>
                <a:ea typeface="メイリオ"/>
              </a:rPr>
              <a:t>秒前</a:t>
            </a:r>
            <a:endParaRPr sz="1600" b="1" dirty="0">
              <a:solidFill>
                <a:srgbClr val="C0392B"/>
              </a:solidFill>
              <a:latin typeface="Meiryo"/>
              <a:ea typeface="メイリオ"/>
            </a:endParaRPr>
          </a:p>
        </p:txBody>
      </p:sp>
      <p:sp>
        <p:nvSpPr>
          <p:cNvPr id="140" name="TextBox 53">
            <a:extLst>
              <a:ext uri="{FF2B5EF4-FFF2-40B4-BE49-F238E27FC236}">
                <a16:creationId xmlns:a16="http://schemas.microsoft.com/office/drawing/2014/main" id="{64BB2A60-FFF3-EEBC-DD17-E6052325966B}"/>
              </a:ext>
            </a:extLst>
          </p:cNvPr>
          <p:cNvSpPr txBox="1"/>
          <p:nvPr/>
        </p:nvSpPr>
        <p:spPr>
          <a:xfrm>
            <a:off x="938240" y="5282194"/>
            <a:ext cx="5334000" cy="650434"/>
          </a:xfrm>
          <a:prstGeom prst="rect">
            <a:avLst/>
          </a:prstGeom>
          <a:noFill/>
        </p:spPr>
        <p:txBody>
          <a:bodyPr wrap="square" lIns="25400" tIns="12700" rIns="25400" bIns="12700" anchor="t">
            <a:spAutoFit/>
          </a:bodyPr>
          <a:lstStyle/>
          <a:p>
            <a:pPr algn="l">
              <a:lnSpc>
                <a:spcPct val="140000"/>
              </a:lnSpc>
            </a:pPr>
            <a:r>
              <a:rPr sz="1600" b="1" dirty="0">
                <a:solidFill>
                  <a:srgbClr val="222838"/>
                </a:solidFill>
                <a:latin typeface="Meiryo"/>
                <a:ea typeface="メイリオ"/>
              </a:rPr>
              <a:t>車①：</a:t>
            </a:r>
            <a:r>
              <a:rPr sz="1600" b="1" dirty="0" err="1">
                <a:solidFill>
                  <a:srgbClr val="222838"/>
                </a:solidFill>
                <a:latin typeface="Meiryo"/>
                <a:ea typeface="メイリオ"/>
              </a:rPr>
              <a:t>正面から来る車</a:t>
            </a:r>
            <a:endParaRPr sz="1600" b="1" dirty="0">
              <a:solidFill>
                <a:srgbClr val="222838"/>
              </a:solidFill>
              <a:latin typeface="Meiryo"/>
              <a:ea typeface="メイリオ"/>
            </a:endParaRPr>
          </a:p>
          <a:p>
            <a:pPr algn="l">
              <a:lnSpc>
                <a:spcPct val="140000"/>
              </a:lnSpc>
            </a:pPr>
            <a:r>
              <a:rPr sz="1400" b="0" dirty="0">
                <a:solidFill>
                  <a:srgbClr val="595F6E"/>
                </a:solidFill>
                <a:latin typeface="Meiryo"/>
                <a:ea typeface="メイリオ"/>
              </a:rPr>
              <a:t>方位が変わらないまま近づくので、最接近の2秒前に強く鳴る。</a:t>
            </a:r>
          </a:p>
        </p:txBody>
      </p:sp>
      <p:sp>
        <p:nvSpPr>
          <p:cNvPr id="144" name="TextBox 55">
            <a:extLst>
              <a:ext uri="{FF2B5EF4-FFF2-40B4-BE49-F238E27FC236}">
                <a16:creationId xmlns:a16="http://schemas.microsoft.com/office/drawing/2014/main" id="{96E86D8B-48D5-FE73-8E8D-61C1D1BCDF46}"/>
              </a:ext>
            </a:extLst>
          </p:cNvPr>
          <p:cNvSpPr txBox="1"/>
          <p:nvPr/>
        </p:nvSpPr>
        <p:spPr>
          <a:xfrm>
            <a:off x="6272240" y="5282194"/>
            <a:ext cx="4699000" cy="650434"/>
          </a:xfrm>
          <a:prstGeom prst="rect">
            <a:avLst/>
          </a:prstGeom>
          <a:noFill/>
        </p:spPr>
        <p:txBody>
          <a:bodyPr wrap="square" lIns="25400" tIns="12700" rIns="25400" bIns="12700" anchor="t">
            <a:spAutoFit/>
          </a:bodyPr>
          <a:lstStyle/>
          <a:p>
            <a:pPr algn="l">
              <a:lnSpc>
                <a:spcPct val="140000"/>
              </a:lnSpc>
            </a:pPr>
            <a:r>
              <a:rPr sz="1600" b="1" dirty="0">
                <a:solidFill>
                  <a:srgbClr val="222838"/>
                </a:solidFill>
                <a:latin typeface="Meiryo"/>
                <a:ea typeface="メイリオ"/>
              </a:rPr>
              <a:t>車②：</a:t>
            </a:r>
            <a:r>
              <a:rPr sz="1600" b="1" dirty="0" err="1">
                <a:solidFill>
                  <a:srgbClr val="222838"/>
                </a:solidFill>
                <a:latin typeface="Meiryo"/>
                <a:ea typeface="メイリオ"/>
              </a:rPr>
              <a:t>後ろから追い越す車</a:t>
            </a:r>
            <a:endParaRPr sz="1600" b="1" dirty="0">
              <a:solidFill>
                <a:srgbClr val="222838"/>
              </a:solidFill>
              <a:latin typeface="Meiryo"/>
              <a:ea typeface="メイリオ"/>
            </a:endParaRPr>
          </a:p>
          <a:p>
            <a:pPr algn="l">
              <a:lnSpc>
                <a:spcPct val="140000"/>
              </a:lnSpc>
            </a:pPr>
            <a:r>
              <a:rPr sz="1400" b="0" dirty="0">
                <a:solidFill>
                  <a:srgbClr val="595F6E"/>
                </a:solidFill>
                <a:latin typeface="Meiryo"/>
                <a:ea typeface="メイリオ"/>
              </a:rPr>
              <a:t>横4.5mを通り過ぎるだけなので、一度も鳴らない。</a:t>
            </a:r>
          </a:p>
        </p:txBody>
      </p:sp>
      <p:sp>
        <p:nvSpPr>
          <p:cNvPr id="145" name="Rectangle 144"/>
          <p:cNvSpPr/>
          <p:nvPr/>
        </p:nvSpPr>
        <p:spPr>
          <a:xfrm>
            <a:off x="889000" y="5958028"/>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27734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188CF-B3AD-BD11-CAF9-FB037C617F20}"/>
            </a:ext>
          </a:extLst>
        </p:cNvPr>
        <p:cNvGrpSpPr/>
        <p:nvPr/>
      </p:nvGrpSpPr>
      <p:grpSpPr>
        <a:xfrm>
          <a:off x="0" y="0"/>
          <a:ext cx="0" cy="0"/>
          <a:chOff x="0" y="0"/>
          <a:chExt cx="0" cy="0"/>
        </a:xfrm>
      </p:grpSpPr>
      <p:sp>
        <p:nvSpPr>
          <p:cNvPr id="10" name="Rectangle 51">
            <a:extLst>
              <a:ext uri="{FF2B5EF4-FFF2-40B4-BE49-F238E27FC236}">
                <a16:creationId xmlns:a16="http://schemas.microsoft.com/office/drawing/2014/main" id="{8C3E9802-23EA-560F-31A8-ED147C4C9806}"/>
              </a:ext>
            </a:extLst>
          </p:cNvPr>
          <p:cNvSpPr/>
          <p:nvPr/>
        </p:nvSpPr>
        <p:spPr>
          <a:xfrm>
            <a:off x="889000" y="5283200"/>
            <a:ext cx="10414000" cy="4572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AutoShape 2">
            <a:extLst>
              <a:ext uri="{FF2B5EF4-FFF2-40B4-BE49-F238E27FC236}">
                <a16:creationId xmlns:a16="http://schemas.microsoft.com/office/drawing/2014/main" id="{080A4C50-64B1-23F3-8050-E3E27F74473C}"/>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1907AC57-48AB-3002-4723-0C132D8B8925}"/>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13B9B957-2A98-6DA3-7636-11A198DA0730}"/>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839002E3-A296-84E4-4952-15910B42FB10}"/>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6669AB3B-C15F-F08F-2999-C2C721AC6057}"/>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2AEAB1FE-2E33-2FDB-3CD6-6B38B40633C4}"/>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49D872C1-71A6-DF58-BCF4-8B9DBEA9DA5D}"/>
              </a:ext>
            </a:extLst>
          </p:cNvPr>
          <p:cNvSpPr>
            <a:spLocks noGrp="1"/>
          </p:cNvSpPr>
          <p:nvPr>
            <p:ph type="sldNum" sz="quarter" idx="12"/>
          </p:nvPr>
        </p:nvSpPr>
        <p:spPr/>
        <p:txBody>
          <a:bodyPr/>
          <a:lstStyle/>
          <a:p>
            <a:fld id="{4E9148DC-F7ED-4428-85F4-2C78C4B0CFB7}" type="slidenum">
              <a:rPr kumimoji="1" lang="ja-JP" altLang="en-US" smtClean="0"/>
              <a:t>12</a:t>
            </a:fld>
            <a:endParaRPr kumimoji="1" lang="ja-JP" altLang="en-US"/>
          </a:p>
        </p:txBody>
      </p:sp>
      <p:sp>
        <p:nvSpPr>
          <p:cNvPr id="24" name="TextBox 13">
            <a:extLst>
              <a:ext uri="{FF2B5EF4-FFF2-40B4-BE49-F238E27FC236}">
                <a16:creationId xmlns:a16="http://schemas.microsoft.com/office/drawing/2014/main" id="{5BE1C6EC-737B-8C16-099C-4587F438D2E7}"/>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どんな音を、どれだけ録るのか</a:t>
            </a:r>
          </a:p>
        </p:txBody>
      </p:sp>
      <p:sp>
        <p:nvSpPr>
          <p:cNvPr id="13" name="TextBox 10">
            <a:extLst>
              <a:ext uri="{FF2B5EF4-FFF2-40B4-BE49-F238E27FC236}">
                <a16:creationId xmlns:a16="http://schemas.microsoft.com/office/drawing/2014/main" id="{57D79233-B679-AD6E-2A3F-12F92E8F2D02}"/>
              </a:ext>
            </a:extLst>
          </p:cNvPr>
          <p:cNvSpPr txBox="1"/>
          <p:nvPr/>
        </p:nvSpPr>
        <p:spPr>
          <a:xfrm>
            <a:off x="889000" y="1270000"/>
            <a:ext cx="10414000" cy="271869"/>
          </a:xfrm>
          <a:prstGeom prst="rect">
            <a:avLst/>
          </a:prstGeom>
          <a:noFill/>
        </p:spPr>
        <p:txBody>
          <a:bodyPr wrap="square" lIns="25400" tIns="12700" rIns="25400" bIns="12700" anchor="t">
            <a:spAutoFit/>
          </a:bodyPr>
          <a:lstStyle/>
          <a:p>
            <a:pPr algn="l"/>
            <a:r>
              <a:rPr sz="1600" b="0" dirty="0">
                <a:solidFill>
                  <a:schemeClr val="tx1">
                    <a:lumMod val="95000"/>
                    <a:lumOff val="5000"/>
                  </a:schemeClr>
                </a:solidFill>
                <a:latin typeface="Meiryo"/>
                <a:ea typeface="メイリオ"/>
              </a:rPr>
              <a:t>検出対象の8種類を、屋外で計210</a:t>
            </a:r>
            <a:r>
              <a:rPr lang="ja-JP" altLang="en-US" sz="1600" dirty="0">
                <a:solidFill>
                  <a:schemeClr val="tx1">
                    <a:lumMod val="95000"/>
                    <a:lumOff val="5000"/>
                  </a:schemeClr>
                </a:solidFill>
                <a:latin typeface="Meiryo"/>
                <a:ea typeface="メイリオ"/>
              </a:rPr>
              <a:t>クリップ</a:t>
            </a:r>
            <a:r>
              <a:rPr lang="ja-JP" altLang="en-US" sz="1600" b="0" dirty="0">
                <a:solidFill>
                  <a:schemeClr val="tx1">
                    <a:lumMod val="95000"/>
                    <a:lumOff val="5000"/>
                  </a:schemeClr>
                </a:solidFill>
                <a:latin typeface="Meiryo"/>
                <a:ea typeface="メイリオ"/>
              </a:rPr>
              <a:t>分</a:t>
            </a:r>
            <a:r>
              <a:rPr lang="ja-JP" altLang="en-US" sz="1600" dirty="0">
                <a:solidFill>
                  <a:schemeClr val="tx1">
                    <a:lumMod val="95000"/>
                    <a:lumOff val="5000"/>
                  </a:schemeClr>
                </a:solidFill>
                <a:latin typeface="Meiryo"/>
                <a:ea typeface="メイリオ"/>
              </a:rPr>
              <a:t>録音。</a:t>
            </a:r>
            <a:endParaRPr sz="1600" b="0" dirty="0">
              <a:solidFill>
                <a:schemeClr val="tx1">
                  <a:lumMod val="95000"/>
                  <a:lumOff val="5000"/>
                </a:schemeClr>
              </a:solidFill>
              <a:latin typeface="Meiryo"/>
              <a:ea typeface="メイリオ"/>
            </a:endParaRPr>
          </a:p>
        </p:txBody>
      </p:sp>
      <p:sp>
        <p:nvSpPr>
          <p:cNvPr id="15" name="Rectangle 11">
            <a:extLst>
              <a:ext uri="{FF2B5EF4-FFF2-40B4-BE49-F238E27FC236}">
                <a16:creationId xmlns:a16="http://schemas.microsoft.com/office/drawing/2014/main" id="{DEF9D00A-69FE-4F38-1238-CD378B2A2A81}"/>
              </a:ext>
            </a:extLst>
          </p:cNvPr>
          <p:cNvSpPr/>
          <p:nvPr/>
        </p:nvSpPr>
        <p:spPr>
          <a:xfrm>
            <a:off x="889000" y="1625600"/>
            <a:ext cx="8128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dirty="0" err="1">
                <a:solidFill>
                  <a:schemeClr val="tx1">
                    <a:lumMod val="95000"/>
                    <a:lumOff val="5000"/>
                  </a:schemeClr>
                </a:solidFill>
                <a:latin typeface="Meiryo"/>
                <a:ea typeface="メイリオ"/>
              </a:rPr>
              <a:t>サイレン</a:t>
            </a:r>
            <a:endParaRPr sz="1200" b="1" dirty="0">
              <a:solidFill>
                <a:schemeClr val="tx1">
                  <a:lumMod val="95000"/>
                  <a:lumOff val="5000"/>
                </a:schemeClr>
              </a:solidFill>
              <a:latin typeface="Meiryo"/>
              <a:ea typeface="メイリオ"/>
            </a:endParaRPr>
          </a:p>
        </p:txBody>
      </p:sp>
      <p:sp>
        <p:nvSpPr>
          <p:cNvPr id="17" name="Rectangle 12">
            <a:extLst>
              <a:ext uri="{FF2B5EF4-FFF2-40B4-BE49-F238E27FC236}">
                <a16:creationId xmlns:a16="http://schemas.microsoft.com/office/drawing/2014/main" id="{2006D783-4D33-4B8B-3514-DCA635719061}"/>
              </a:ext>
            </a:extLst>
          </p:cNvPr>
          <p:cNvSpPr/>
          <p:nvPr/>
        </p:nvSpPr>
        <p:spPr>
          <a:xfrm>
            <a:off x="1803400" y="1625600"/>
            <a:ext cx="11176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クラクション</a:t>
            </a:r>
          </a:p>
        </p:txBody>
      </p:sp>
      <p:sp>
        <p:nvSpPr>
          <p:cNvPr id="19" name="Rectangle 13">
            <a:extLst>
              <a:ext uri="{FF2B5EF4-FFF2-40B4-BE49-F238E27FC236}">
                <a16:creationId xmlns:a16="http://schemas.microsoft.com/office/drawing/2014/main" id="{E0EC8CF0-B8EC-7281-ABCD-7F67BE62EA51}"/>
              </a:ext>
            </a:extLst>
          </p:cNvPr>
          <p:cNvSpPr/>
          <p:nvPr/>
        </p:nvSpPr>
        <p:spPr>
          <a:xfrm>
            <a:off x="3022600" y="1625600"/>
            <a:ext cx="8128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バック音</a:t>
            </a:r>
          </a:p>
        </p:txBody>
      </p:sp>
      <p:sp>
        <p:nvSpPr>
          <p:cNvPr id="21" name="Rectangle 14">
            <a:extLst>
              <a:ext uri="{FF2B5EF4-FFF2-40B4-BE49-F238E27FC236}">
                <a16:creationId xmlns:a16="http://schemas.microsoft.com/office/drawing/2014/main" id="{93FA362E-F05A-7BF7-FA62-F32F6B398ECC}"/>
              </a:ext>
            </a:extLst>
          </p:cNvPr>
          <p:cNvSpPr/>
          <p:nvPr/>
        </p:nvSpPr>
        <p:spPr>
          <a:xfrm>
            <a:off x="3937000" y="1625600"/>
            <a:ext cx="9652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自転車ベル</a:t>
            </a:r>
          </a:p>
        </p:txBody>
      </p:sp>
      <p:sp>
        <p:nvSpPr>
          <p:cNvPr id="23" name="Rectangle 15">
            <a:extLst>
              <a:ext uri="{FF2B5EF4-FFF2-40B4-BE49-F238E27FC236}">
                <a16:creationId xmlns:a16="http://schemas.microsoft.com/office/drawing/2014/main" id="{7DDC986E-DF66-17E2-C30E-D9B7213270B3}"/>
              </a:ext>
            </a:extLst>
          </p:cNvPr>
          <p:cNvSpPr/>
          <p:nvPr/>
        </p:nvSpPr>
        <p:spPr>
          <a:xfrm>
            <a:off x="5003800" y="1625600"/>
            <a:ext cx="3556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車</a:t>
            </a:r>
          </a:p>
        </p:txBody>
      </p:sp>
      <p:sp>
        <p:nvSpPr>
          <p:cNvPr id="26" name="Rectangle 16">
            <a:extLst>
              <a:ext uri="{FF2B5EF4-FFF2-40B4-BE49-F238E27FC236}">
                <a16:creationId xmlns:a16="http://schemas.microsoft.com/office/drawing/2014/main" id="{311A80DF-E5CE-828E-96B4-868348C79531}"/>
              </a:ext>
            </a:extLst>
          </p:cNvPr>
          <p:cNvSpPr/>
          <p:nvPr/>
        </p:nvSpPr>
        <p:spPr>
          <a:xfrm>
            <a:off x="5461000" y="1625600"/>
            <a:ext cx="9652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踏切・列車</a:t>
            </a:r>
          </a:p>
        </p:txBody>
      </p:sp>
      <p:sp>
        <p:nvSpPr>
          <p:cNvPr id="29" name="Rectangle 17">
            <a:extLst>
              <a:ext uri="{FF2B5EF4-FFF2-40B4-BE49-F238E27FC236}">
                <a16:creationId xmlns:a16="http://schemas.microsoft.com/office/drawing/2014/main" id="{DD0F50E1-3826-A9A5-C7C2-4C87A5D5B521}"/>
              </a:ext>
            </a:extLst>
          </p:cNvPr>
          <p:cNvSpPr/>
          <p:nvPr/>
        </p:nvSpPr>
        <p:spPr>
          <a:xfrm>
            <a:off x="6527800" y="1625600"/>
            <a:ext cx="11176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キックボード</a:t>
            </a:r>
          </a:p>
        </p:txBody>
      </p:sp>
      <p:sp>
        <p:nvSpPr>
          <p:cNvPr id="32" name="Rectangle 18">
            <a:extLst>
              <a:ext uri="{FF2B5EF4-FFF2-40B4-BE49-F238E27FC236}">
                <a16:creationId xmlns:a16="http://schemas.microsoft.com/office/drawing/2014/main" id="{AFD5A96F-0C5A-E3DA-573B-905DBF24AA05}"/>
              </a:ext>
            </a:extLst>
          </p:cNvPr>
          <p:cNvSpPr/>
          <p:nvPr/>
        </p:nvSpPr>
        <p:spPr>
          <a:xfrm>
            <a:off x="7747000" y="1625600"/>
            <a:ext cx="660400" cy="330200"/>
          </a:xfrm>
          <a:prstGeom prst="rect">
            <a:avLst/>
          </a:prstGeom>
          <a:solidFill>
            <a:schemeClr val="bg1">
              <a:lumMod val="95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バイク</a:t>
            </a:r>
          </a:p>
        </p:txBody>
      </p:sp>
      <p:sp>
        <p:nvSpPr>
          <p:cNvPr id="35" name="Rectangle 19">
            <a:extLst>
              <a:ext uri="{FF2B5EF4-FFF2-40B4-BE49-F238E27FC236}">
                <a16:creationId xmlns:a16="http://schemas.microsoft.com/office/drawing/2014/main" id="{2D68F91A-3FFF-A7B8-F7EA-1796574412D1}"/>
              </a:ext>
            </a:extLst>
          </p:cNvPr>
          <p:cNvSpPr/>
          <p:nvPr/>
        </p:nvSpPr>
        <p:spPr>
          <a:xfrm>
            <a:off x="889000" y="2159000"/>
            <a:ext cx="10414000" cy="3302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TextBox 20">
            <a:extLst>
              <a:ext uri="{FF2B5EF4-FFF2-40B4-BE49-F238E27FC236}">
                <a16:creationId xmlns:a16="http://schemas.microsoft.com/office/drawing/2014/main" id="{6B2ABF49-2727-5F75-ABD0-EC131902BC41}"/>
              </a:ext>
            </a:extLst>
          </p:cNvPr>
          <p:cNvSpPr txBox="1"/>
          <p:nvPr/>
        </p:nvSpPr>
        <p:spPr>
          <a:xfrm>
            <a:off x="1066800" y="2202622"/>
            <a:ext cx="1651000" cy="302647"/>
          </a:xfrm>
          <a:prstGeom prst="rect">
            <a:avLst/>
          </a:prstGeom>
          <a:noFill/>
        </p:spPr>
        <p:txBody>
          <a:bodyPr wrap="square" lIns="25400" tIns="12700" rIns="25400" bIns="12700" anchor="t">
            <a:spAutoFit/>
          </a:bodyPr>
          <a:lstStyle/>
          <a:p>
            <a:pPr algn="l"/>
            <a:r>
              <a:rPr b="1" dirty="0" err="1">
                <a:solidFill>
                  <a:srgbClr val="FFFFFF"/>
                </a:solidFill>
                <a:latin typeface="Meiryo"/>
                <a:ea typeface="メイリオ"/>
              </a:rPr>
              <a:t>区分</a:t>
            </a:r>
            <a:endParaRPr b="1" dirty="0">
              <a:solidFill>
                <a:srgbClr val="FFFFFF"/>
              </a:solidFill>
              <a:latin typeface="Meiryo"/>
              <a:ea typeface="メイリオ"/>
            </a:endParaRPr>
          </a:p>
        </p:txBody>
      </p:sp>
      <p:sp>
        <p:nvSpPr>
          <p:cNvPr id="40" name="TextBox 21">
            <a:extLst>
              <a:ext uri="{FF2B5EF4-FFF2-40B4-BE49-F238E27FC236}">
                <a16:creationId xmlns:a16="http://schemas.microsoft.com/office/drawing/2014/main" id="{009989A9-6748-68D8-5162-2C7EB79DBEBF}"/>
              </a:ext>
            </a:extLst>
          </p:cNvPr>
          <p:cNvSpPr txBox="1"/>
          <p:nvPr/>
        </p:nvSpPr>
        <p:spPr>
          <a:xfrm>
            <a:off x="2823801" y="2202622"/>
            <a:ext cx="880198" cy="302647"/>
          </a:xfrm>
          <a:prstGeom prst="rect">
            <a:avLst/>
          </a:prstGeom>
          <a:noFill/>
        </p:spPr>
        <p:txBody>
          <a:bodyPr wrap="square" lIns="25400" tIns="12700" rIns="25400" bIns="12700" anchor="t">
            <a:spAutoFit/>
          </a:bodyPr>
          <a:lstStyle/>
          <a:p>
            <a:pPr algn="l"/>
            <a:r>
              <a:rPr b="1" dirty="0" err="1">
                <a:solidFill>
                  <a:srgbClr val="FFFFFF"/>
                </a:solidFill>
                <a:latin typeface="Meiryo"/>
                <a:ea typeface="メイリオ"/>
              </a:rPr>
              <a:t>本数</a:t>
            </a:r>
            <a:endParaRPr b="1" dirty="0">
              <a:solidFill>
                <a:srgbClr val="FFFFFF"/>
              </a:solidFill>
              <a:latin typeface="Meiryo"/>
              <a:ea typeface="メイリオ"/>
            </a:endParaRPr>
          </a:p>
        </p:txBody>
      </p:sp>
      <p:sp>
        <p:nvSpPr>
          <p:cNvPr id="43" name="TextBox 22">
            <a:extLst>
              <a:ext uri="{FF2B5EF4-FFF2-40B4-BE49-F238E27FC236}">
                <a16:creationId xmlns:a16="http://schemas.microsoft.com/office/drawing/2014/main" id="{EDE19FE9-AD68-4A44-5BE9-391D8DF48B83}"/>
              </a:ext>
            </a:extLst>
          </p:cNvPr>
          <p:cNvSpPr txBox="1"/>
          <p:nvPr/>
        </p:nvSpPr>
        <p:spPr>
          <a:xfrm>
            <a:off x="3810000" y="2202622"/>
            <a:ext cx="6985000" cy="302647"/>
          </a:xfrm>
          <a:prstGeom prst="rect">
            <a:avLst/>
          </a:prstGeom>
          <a:noFill/>
        </p:spPr>
        <p:txBody>
          <a:bodyPr wrap="square" lIns="25400" tIns="12700" rIns="25400" bIns="12700" anchor="t">
            <a:spAutoFit/>
          </a:bodyPr>
          <a:lstStyle/>
          <a:p>
            <a:pPr algn="l"/>
            <a:r>
              <a:rPr b="1">
                <a:solidFill>
                  <a:srgbClr val="FFFFFF"/>
                </a:solidFill>
                <a:latin typeface="Meiryo"/>
                <a:ea typeface="メイリオ"/>
              </a:rPr>
              <a:t>中身</a:t>
            </a:r>
          </a:p>
        </p:txBody>
      </p:sp>
      <p:sp>
        <p:nvSpPr>
          <p:cNvPr id="45" name="Rectangle 23">
            <a:extLst>
              <a:ext uri="{FF2B5EF4-FFF2-40B4-BE49-F238E27FC236}">
                <a16:creationId xmlns:a16="http://schemas.microsoft.com/office/drawing/2014/main" id="{D724EFF9-2609-E886-7D4E-766B60D810F1}"/>
              </a:ext>
            </a:extLst>
          </p:cNvPr>
          <p:cNvSpPr/>
          <p:nvPr/>
        </p:nvSpPr>
        <p:spPr>
          <a:xfrm>
            <a:off x="889000" y="2489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24">
            <a:extLst>
              <a:ext uri="{FF2B5EF4-FFF2-40B4-BE49-F238E27FC236}">
                <a16:creationId xmlns:a16="http://schemas.microsoft.com/office/drawing/2014/main" id="{4A74767F-7FC5-6F64-96F2-1769830D9DA8}"/>
              </a:ext>
            </a:extLst>
          </p:cNvPr>
          <p:cNvSpPr txBox="1"/>
          <p:nvPr/>
        </p:nvSpPr>
        <p:spPr>
          <a:xfrm>
            <a:off x="1066800" y="2565400"/>
            <a:ext cx="1651000"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A </a:t>
            </a:r>
            <a:r>
              <a:rPr sz="1600" b="1" dirty="0" err="1">
                <a:solidFill>
                  <a:srgbClr val="222838"/>
                </a:solidFill>
                <a:latin typeface="Meiryo"/>
                <a:ea typeface="メイリオ"/>
              </a:rPr>
              <a:t>走行車</a:t>
            </a:r>
            <a:endParaRPr sz="1600" b="1" dirty="0">
              <a:solidFill>
                <a:srgbClr val="222838"/>
              </a:solidFill>
              <a:latin typeface="Meiryo"/>
              <a:ea typeface="メイリオ"/>
            </a:endParaRPr>
          </a:p>
        </p:txBody>
      </p:sp>
      <p:sp>
        <p:nvSpPr>
          <p:cNvPr id="49" name="TextBox 25">
            <a:extLst>
              <a:ext uri="{FF2B5EF4-FFF2-40B4-BE49-F238E27FC236}">
                <a16:creationId xmlns:a16="http://schemas.microsoft.com/office/drawing/2014/main" id="{99E41E0D-4E5C-F346-B247-93F9D0FA6AF2}"/>
              </a:ext>
            </a:extLst>
          </p:cNvPr>
          <p:cNvSpPr txBox="1"/>
          <p:nvPr/>
        </p:nvSpPr>
        <p:spPr>
          <a:xfrm>
            <a:off x="2823801" y="2565400"/>
            <a:ext cx="880198" cy="271869"/>
          </a:xfrm>
          <a:prstGeom prst="rect">
            <a:avLst/>
          </a:prstGeom>
          <a:noFill/>
        </p:spPr>
        <p:txBody>
          <a:bodyPr wrap="square" lIns="25400" tIns="12700" rIns="25400" bIns="12700" anchor="t">
            <a:spAutoFit/>
          </a:bodyPr>
          <a:lstStyle/>
          <a:p>
            <a:pPr algn="l"/>
            <a:r>
              <a:rPr sz="1600" b="1" dirty="0">
                <a:solidFill>
                  <a:srgbClr val="C0392B"/>
                </a:solidFill>
                <a:latin typeface="Meiryo"/>
                <a:ea typeface="メイリオ"/>
              </a:rPr>
              <a:t>20</a:t>
            </a:r>
          </a:p>
        </p:txBody>
      </p:sp>
      <p:sp>
        <p:nvSpPr>
          <p:cNvPr id="52" name="TextBox 26">
            <a:extLst>
              <a:ext uri="{FF2B5EF4-FFF2-40B4-BE49-F238E27FC236}">
                <a16:creationId xmlns:a16="http://schemas.microsoft.com/office/drawing/2014/main" id="{672C6882-07AD-3A83-F8D5-AFD77440B317}"/>
              </a:ext>
            </a:extLst>
          </p:cNvPr>
          <p:cNvSpPr txBox="1"/>
          <p:nvPr/>
        </p:nvSpPr>
        <p:spPr>
          <a:xfrm>
            <a:off x="3810000" y="2565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横2.0〜3.2mを10本</a:t>
            </a:r>
            <a:r>
              <a:rPr lang="en-US" sz="1400" b="0" dirty="0">
                <a:solidFill>
                  <a:srgbClr val="595F6E"/>
                </a:solidFill>
                <a:latin typeface="Meiryo"/>
                <a:ea typeface="メイリオ"/>
              </a:rPr>
              <a:t>(</a:t>
            </a:r>
            <a:r>
              <a:rPr sz="1400" b="0" dirty="0">
                <a:solidFill>
                  <a:srgbClr val="595F6E"/>
                </a:solidFill>
                <a:latin typeface="Meiryo"/>
                <a:ea typeface="メイリオ"/>
              </a:rPr>
              <a:t>うち後方から6本以上</a:t>
            </a:r>
            <a:r>
              <a:rPr lang="en-US" sz="1400" b="0" dirty="0">
                <a:solidFill>
                  <a:srgbClr val="595F6E"/>
                </a:solidFill>
                <a:latin typeface="Meiryo"/>
                <a:ea typeface="メイリオ"/>
              </a:rPr>
              <a:t>)</a:t>
            </a:r>
            <a:r>
              <a:rPr lang="en-US" sz="1400" dirty="0">
                <a:solidFill>
                  <a:srgbClr val="595F6E"/>
                </a:solidFill>
                <a:latin typeface="Meiryo"/>
                <a:ea typeface="メイリオ"/>
              </a:rPr>
              <a:t> / </a:t>
            </a:r>
            <a:r>
              <a:rPr sz="1400" b="0" dirty="0">
                <a:solidFill>
                  <a:srgbClr val="595F6E"/>
                </a:solidFill>
                <a:latin typeface="Meiryo"/>
                <a:ea typeface="メイリオ"/>
              </a:rPr>
              <a:t>横5</a:t>
            </a:r>
            <a:r>
              <a:rPr lang="en-US" sz="1400" b="0" dirty="0">
                <a:solidFill>
                  <a:srgbClr val="595F6E"/>
                </a:solidFill>
                <a:latin typeface="Meiryo"/>
                <a:ea typeface="メイリオ"/>
              </a:rPr>
              <a:t>.0</a:t>
            </a:r>
            <a:r>
              <a:rPr sz="1400" b="0" dirty="0">
                <a:solidFill>
                  <a:srgbClr val="595F6E"/>
                </a:solidFill>
                <a:latin typeface="Meiryo"/>
                <a:ea typeface="メイリオ"/>
              </a:rPr>
              <a:t>〜15mを10本</a:t>
            </a:r>
          </a:p>
        </p:txBody>
      </p:sp>
      <p:sp>
        <p:nvSpPr>
          <p:cNvPr id="54" name="Rectangle 27">
            <a:extLst>
              <a:ext uri="{FF2B5EF4-FFF2-40B4-BE49-F238E27FC236}">
                <a16:creationId xmlns:a16="http://schemas.microsoft.com/office/drawing/2014/main" id="{CC00E256-7344-48B2-393F-68546F3EE3A8}"/>
              </a:ext>
            </a:extLst>
          </p:cNvPr>
          <p:cNvSpPr/>
          <p:nvPr/>
        </p:nvSpPr>
        <p:spPr>
          <a:xfrm>
            <a:off x="889000" y="2870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6" name="TextBox 28">
            <a:extLst>
              <a:ext uri="{FF2B5EF4-FFF2-40B4-BE49-F238E27FC236}">
                <a16:creationId xmlns:a16="http://schemas.microsoft.com/office/drawing/2014/main" id="{E720FA0B-90CA-7D8E-23DA-05C65F8EFBCB}"/>
              </a:ext>
            </a:extLst>
          </p:cNvPr>
          <p:cNvSpPr txBox="1"/>
          <p:nvPr/>
        </p:nvSpPr>
        <p:spPr>
          <a:xfrm>
            <a:off x="1066800" y="2946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B 弱点</a:t>
            </a:r>
          </a:p>
        </p:txBody>
      </p:sp>
      <p:sp>
        <p:nvSpPr>
          <p:cNvPr id="58" name="TextBox 29">
            <a:extLst>
              <a:ext uri="{FF2B5EF4-FFF2-40B4-BE49-F238E27FC236}">
                <a16:creationId xmlns:a16="http://schemas.microsoft.com/office/drawing/2014/main" id="{E8563ECC-3540-A01D-2D3A-B4982B5C6068}"/>
              </a:ext>
            </a:extLst>
          </p:cNvPr>
          <p:cNvSpPr txBox="1"/>
          <p:nvPr/>
        </p:nvSpPr>
        <p:spPr>
          <a:xfrm>
            <a:off x="2823801" y="2946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20</a:t>
            </a:r>
          </a:p>
        </p:txBody>
      </p:sp>
      <p:sp>
        <p:nvSpPr>
          <p:cNvPr id="60" name="TextBox 30">
            <a:extLst>
              <a:ext uri="{FF2B5EF4-FFF2-40B4-BE49-F238E27FC236}">
                <a16:creationId xmlns:a16="http://schemas.microsoft.com/office/drawing/2014/main" id="{095B3FB4-103E-F6D5-AEF1-FCDB236736A4}"/>
              </a:ext>
            </a:extLst>
          </p:cNvPr>
          <p:cNvSpPr txBox="1"/>
          <p:nvPr/>
        </p:nvSpPr>
        <p:spPr>
          <a:xfrm>
            <a:off x="3810000" y="2946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EV・HVの接近5</a:t>
            </a:r>
            <a:r>
              <a:rPr lang="en-US" sz="1400" b="0" dirty="0">
                <a:solidFill>
                  <a:srgbClr val="595F6E"/>
                </a:solidFill>
                <a:latin typeface="Meiryo"/>
                <a:ea typeface="メイリオ"/>
              </a:rPr>
              <a:t> / </a:t>
            </a:r>
            <a:r>
              <a:rPr sz="1400" b="0" dirty="0" err="1">
                <a:solidFill>
                  <a:srgbClr val="595F6E"/>
                </a:solidFill>
                <a:latin typeface="Meiryo"/>
                <a:ea typeface="メイリオ"/>
              </a:rPr>
              <a:t>停車</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a:solidFill>
                  <a:srgbClr val="595F6E"/>
                </a:solidFill>
                <a:latin typeface="Meiryo"/>
                <a:ea typeface="メイリオ"/>
              </a:rPr>
              <a:t>発進5</a:t>
            </a:r>
            <a:r>
              <a:rPr lang="en-US" sz="1400" b="0" dirty="0">
                <a:solidFill>
                  <a:srgbClr val="595F6E"/>
                </a:solidFill>
                <a:latin typeface="Meiryo"/>
                <a:ea typeface="メイリオ"/>
              </a:rPr>
              <a:t> / </a:t>
            </a:r>
            <a:r>
              <a:rPr sz="1400" b="0" dirty="0">
                <a:solidFill>
                  <a:srgbClr val="595F6E"/>
                </a:solidFill>
                <a:latin typeface="Meiryo"/>
                <a:ea typeface="メイリオ"/>
              </a:rPr>
              <a:t>自転車の至近通過5</a:t>
            </a:r>
            <a:r>
              <a:rPr lang="en-US" sz="1400" b="0" dirty="0">
                <a:solidFill>
                  <a:srgbClr val="595F6E"/>
                </a:solidFill>
                <a:latin typeface="Meiryo"/>
                <a:ea typeface="メイリオ"/>
              </a:rPr>
              <a:t> / </a:t>
            </a:r>
            <a:r>
              <a:rPr sz="1400" b="0" dirty="0">
                <a:solidFill>
                  <a:srgbClr val="595F6E"/>
                </a:solidFill>
                <a:latin typeface="Meiryo"/>
                <a:ea typeface="メイリオ"/>
              </a:rPr>
              <a:t>見通し不良の角5</a:t>
            </a:r>
          </a:p>
        </p:txBody>
      </p:sp>
      <p:sp>
        <p:nvSpPr>
          <p:cNvPr id="62" name="Rectangle 31">
            <a:extLst>
              <a:ext uri="{FF2B5EF4-FFF2-40B4-BE49-F238E27FC236}">
                <a16:creationId xmlns:a16="http://schemas.microsoft.com/office/drawing/2014/main" id="{AF02891C-BB1A-4C6A-B65F-8F0D93A56609}"/>
              </a:ext>
            </a:extLst>
          </p:cNvPr>
          <p:cNvSpPr/>
          <p:nvPr/>
        </p:nvSpPr>
        <p:spPr>
          <a:xfrm>
            <a:off x="889000" y="3251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32">
            <a:extLst>
              <a:ext uri="{FF2B5EF4-FFF2-40B4-BE49-F238E27FC236}">
                <a16:creationId xmlns:a16="http://schemas.microsoft.com/office/drawing/2014/main" id="{82528B6E-4A8E-5C63-DAAA-DA45229093E5}"/>
              </a:ext>
            </a:extLst>
          </p:cNvPr>
          <p:cNvSpPr txBox="1"/>
          <p:nvPr/>
        </p:nvSpPr>
        <p:spPr>
          <a:xfrm>
            <a:off x="1066800" y="3327400"/>
            <a:ext cx="1651000"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C </a:t>
            </a:r>
            <a:r>
              <a:rPr sz="1600" b="1" dirty="0" err="1">
                <a:solidFill>
                  <a:srgbClr val="222838"/>
                </a:solidFill>
                <a:latin typeface="Meiryo"/>
                <a:ea typeface="メイリオ"/>
              </a:rPr>
              <a:t>負例</a:t>
            </a:r>
            <a:endParaRPr sz="1600" b="1" dirty="0">
              <a:solidFill>
                <a:srgbClr val="222838"/>
              </a:solidFill>
              <a:latin typeface="Meiryo"/>
              <a:ea typeface="メイリオ"/>
            </a:endParaRPr>
          </a:p>
        </p:txBody>
      </p:sp>
      <p:sp>
        <p:nvSpPr>
          <p:cNvPr id="66" name="TextBox 33">
            <a:extLst>
              <a:ext uri="{FF2B5EF4-FFF2-40B4-BE49-F238E27FC236}">
                <a16:creationId xmlns:a16="http://schemas.microsoft.com/office/drawing/2014/main" id="{AAD6826B-83D3-56D3-0EC4-A701BF0BD026}"/>
              </a:ext>
            </a:extLst>
          </p:cNvPr>
          <p:cNvSpPr txBox="1"/>
          <p:nvPr/>
        </p:nvSpPr>
        <p:spPr>
          <a:xfrm>
            <a:off x="2823801" y="3327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20</a:t>
            </a:r>
          </a:p>
        </p:txBody>
      </p:sp>
      <p:sp>
        <p:nvSpPr>
          <p:cNvPr id="68" name="TextBox 34">
            <a:extLst>
              <a:ext uri="{FF2B5EF4-FFF2-40B4-BE49-F238E27FC236}">
                <a16:creationId xmlns:a16="http://schemas.microsoft.com/office/drawing/2014/main" id="{D11E7972-B00F-57E6-A7FD-F771E8959895}"/>
              </a:ext>
            </a:extLst>
          </p:cNvPr>
          <p:cNvSpPr txBox="1"/>
          <p:nvPr/>
        </p:nvSpPr>
        <p:spPr>
          <a:xfrm>
            <a:off x="3810000" y="3327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静穏6</a:t>
            </a:r>
            <a:r>
              <a:rPr lang="en-US" sz="1400" b="0" dirty="0">
                <a:solidFill>
                  <a:srgbClr val="595F6E"/>
                </a:solidFill>
                <a:latin typeface="Meiryo"/>
                <a:ea typeface="メイリオ"/>
              </a:rPr>
              <a:t> / </a:t>
            </a:r>
            <a:r>
              <a:rPr sz="1400" b="0" dirty="0">
                <a:solidFill>
                  <a:srgbClr val="595F6E"/>
                </a:solidFill>
                <a:latin typeface="Meiryo"/>
                <a:ea typeface="メイリオ"/>
              </a:rPr>
              <a:t>繁華街・工事6</a:t>
            </a:r>
            <a:r>
              <a:rPr lang="en-US" sz="1400" b="0" dirty="0">
                <a:solidFill>
                  <a:srgbClr val="595F6E"/>
                </a:solidFill>
                <a:latin typeface="Meiryo"/>
                <a:ea typeface="メイリオ"/>
              </a:rPr>
              <a:t> / </a:t>
            </a:r>
            <a:r>
              <a:rPr sz="1400" b="0" dirty="0">
                <a:solidFill>
                  <a:srgbClr val="595F6E"/>
                </a:solidFill>
                <a:latin typeface="Meiryo"/>
                <a:ea typeface="メイリオ"/>
              </a:rPr>
              <a:t>雨上がり4</a:t>
            </a:r>
            <a:r>
              <a:rPr lang="en-US" sz="1400" b="0" dirty="0">
                <a:solidFill>
                  <a:srgbClr val="595F6E"/>
                </a:solidFill>
                <a:latin typeface="Meiryo"/>
                <a:ea typeface="メイリオ"/>
              </a:rPr>
              <a:t> / </a:t>
            </a:r>
            <a:r>
              <a:rPr sz="1400" b="0" dirty="0">
                <a:solidFill>
                  <a:srgbClr val="595F6E"/>
                </a:solidFill>
                <a:latin typeface="Meiryo"/>
                <a:ea typeface="メイリオ"/>
              </a:rPr>
              <a:t>風あり4</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err="1">
                <a:solidFill>
                  <a:srgbClr val="595F6E"/>
                </a:solidFill>
                <a:latin typeface="Meiryo"/>
                <a:ea typeface="メイリオ"/>
              </a:rPr>
              <a:t>鳴ってはいけない場面</a:t>
            </a:r>
            <a:endParaRPr sz="1400" b="0" dirty="0">
              <a:solidFill>
                <a:srgbClr val="595F6E"/>
              </a:solidFill>
              <a:latin typeface="Meiryo"/>
              <a:ea typeface="メイリオ"/>
            </a:endParaRPr>
          </a:p>
        </p:txBody>
      </p:sp>
      <p:sp>
        <p:nvSpPr>
          <p:cNvPr id="70" name="Rectangle 35">
            <a:extLst>
              <a:ext uri="{FF2B5EF4-FFF2-40B4-BE49-F238E27FC236}">
                <a16:creationId xmlns:a16="http://schemas.microsoft.com/office/drawing/2014/main" id="{8DEF1CAA-E695-D28C-4A52-19B555C4ADC6}"/>
              </a:ext>
            </a:extLst>
          </p:cNvPr>
          <p:cNvSpPr/>
          <p:nvPr/>
        </p:nvSpPr>
        <p:spPr>
          <a:xfrm>
            <a:off x="889000" y="3632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36">
            <a:extLst>
              <a:ext uri="{FF2B5EF4-FFF2-40B4-BE49-F238E27FC236}">
                <a16:creationId xmlns:a16="http://schemas.microsoft.com/office/drawing/2014/main" id="{3552971B-A95B-7FEE-EE09-6D42AEDAE182}"/>
              </a:ext>
            </a:extLst>
          </p:cNvPr>
          <p:cNvSpPr txBox="1"/>
          <p:nvPr/>
        </p:nvSpPr>
        <p:spPr>
          <a:xfrm>
            <a:off x="1066800" y="3708400"/>
            <a:ext cx="1651000"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D </a:t>
            </a:r>
            <a:r>
              <a:rPr sz="1600" b="1" dirty="0" err="1">
                <a:solidFill>
                  <a:srgbClr val="222838"/>
                </a:solidFill>
                <a:latin typeface="Meiryo"/>
                <a:ea typeface="メイリオ"/>
              </a:rPr>
              <a:t>固定・機会</a:t>
            </a:r>
            <a:endParaRPr sz="1600" b="1" dirty="0">
              <a:solidFill>
                <a:srgbClr val="222838"/>
              </a:solidFill>
              <a:latin typeface="Meiryo"/>
              <a:ea typeface="メイリオ"/>
            </a:endParaRPr>
          </a:p>
        </p:txBody>
      </p:sp>
      <p:sp>
        <p:nvSpPr>
          <p:cNvPr id="74" name="TextBox 37">
            <a:extLst>
              <a:ext uri="{FF2B5EF4-FFF2-40B4-BE49-F238E27FC236}">
                <a16:creationId xmlns:a16="http://schemas.microsoft.com/office/drawing/2014/main" id="{D3E5CC15-D1C9-1AB7-D90A-CF24791031F6}"/>
              </a:ext>
            </a:extLst>
          </p:cNvPr>
          <p:cNvSpPr txBox="1"/>
          <p:nvPr/>
        </p:nvSpPr>
        <p:spPr>
          <a:xfrm>
            <a:off x="2823801" y="3708400"/>
            <a:ext cx="880198" cy="271869"/>
          </a:xfrm>
          <a:prstGeom prst="rect">
            <a:avLst/>
          </a:prstGeom>
          <a:noFill/>
        </p:spPr>
        <p:txBody>
          <a:bodyPr wrap="square" lIns="25400" tIns="12700" rIns="25400" bIns="12700" anchor="t">
            <a:spAutoFit/>
          </a:bodyPr>
          <a:lstStyle/>
          <a:p>
            <a:pPr algn="l"/>
            <a:r>
              <a:rPr sz="1600" b="1" dirty="0">
                <a:solidFill>
                  <a:srgbClr val="C0392B"/>
                </a:solidFill>
                <a:latin typeface="Meiryo"/>
                <a:ea typeface="メイリオ"/>
              </a:rPr>
              <a:t>20</a:t>
            </a:r>
          </a:p>
        </p:txBody>
      </p:sp>
      <p:sp>
        <p:nvSpPr>
          <p:cNvPr id="76" name="TextBox 38">
            <a:extLst>
              <a:ext uri="{FF2B5EF4-FFF2-40B4-BE49-F238E27FC236}">
                <a16:creationId xmlns:a16="http://schemas.microsoft.com/office/drawing/2014/main" id="{B9777156-8857-65A6-54D3-B0E1403D7741}"/>
              </a:ext>
            </a:extLst>
          </p:cNvPr>
          <p:cNvSpPr txBox="1"/>
          <p:nvPr/>
        </p:nvSpPr>
        <p:spPr>
          <a:xfrm>
            <a:off x="3810000" y="3708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実在の踏切8</a:t>
            </a:r>
            <a:r>
              <a:rPr lang="en-US" sz="1400" b="0" dirty="0">
                <a:solidFill>
                  <a:srgbClr val="595F6E"/>
                </a:solidFill>
                <a:latin typeface="Meiryo"/>
                <a:ea typeface="メイリオ"/>
              </a:rPr>
              <a:t> / </a:t>
            </a:r>
            <a:r>
              <a:rPr sz="1400" b="0" dirty="0">
                <a:solidFill>
                  <a:srgbClr val="595F6E"/>
                </a:solidFill>
                <a:latin typeface="Meiryo"/>
                <a:ea typeface="メイリオ"/>
              </a:rPr>
              <a:t>バック音の統制4</a:t>
            </a:r>
            <a:r>
              <a:rPr lang="en-US" sz="1400" b="0" dirty="0">
                <a:solidFill>
                  <a:srgbClr val="595F6E"/>
                </a:solidFill>
                <a:latin typeface="Meiryo"/>
                <a:ea typeface="メイリオ"/>
              </a:rPr>
              <a:t> / </a:t>
            </a:r>
            <a:r>
              <a:rPr sz="1400" b="0" dirty="0">
                <a:solidFill>
                  <a:srgbClr val="595F6E"/>
                </a:solidFill>
                <a:latin typeface="Meiryo"/>
                <a:ea typeface="メイリオ"/>
              </a:rPr>
              <a:t>サイレン等の遭遇待ち8</a:t>
            </a:r>
          </a:p>
        </p:txBody>
      </p:sp>
      <p:sp>
        <p:nvSpPr>
          <p:cNvPr id="78" name="Rectangle 39">
            <a:extLst>
              <a:ext uri="{FF2B5EF4-FFF2-40B4-BE49-F238E27FC236}">
                <a16:creationId xmlns:a16="http://schemas.microsoft.com/office/drawing/2014/main" id="{AA613053-1B8C-E1F9-96D5-607E2737A874}"/>
              </a:ext>
            </a:extLst>
          </p:cNvPr>
          <p:cNvSpPr/>
          <p:nvPr/>
        </p:nvSpPr>
        <p:spPr>
          <a:xfrm>
            <a:off x="889000" y="4013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40">
            <a:extLst>
              <a:ext uri="{FF2B5EF4-FFF2-40B4-BE49-F238E27FC236}">
                <a16:creationId xmlns:a16="http://schemas.microsoft.com/office/drawing/2014/main" id="{7C07A3DE-621B-4CCC-0270-670F41D4B19D}"/>
              </a:ext>
            </a:extLst>
          </p:cNvPr>
          <p:cNvSpPr txBox="1"/>
          <p:nvPr/>
        </p:nvSpPr>
        <p:spPr>
          <a:xfrm>
            <a:off x="1066800" y="4089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E キックボード</a:t>
            </a:r>
          </a:p>
        </p:txBody>
      </p:sp>
      <p:sp>
        <p:nvSpPr>
          <p:cNvPr id="82" name="TextBox 41">
            <a:extLst>
              <a:ext uri="{FF2B5EF4-FFF2-40B4-BE49-F238E27FC236}">
                <a16:creationId xmlns:a16="http://schemas.microsoft.com/office/drawing/2014/main" id="{EF8EC077-5734-8B32-76CB-C61D4FCCA861}"/>
              </a:ext>
            </a:extLst>
          </p:cNvPr>
          <p:cNvSpPr txBox="1"/>
          <p:nvPr/>
        </p:nvSpPr>
        <p:spPr>
          <a:xfrm>
            <a:off x="2823801" y="4089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20</a:t>
            </a:r>
          </a:p>
        </p:txBody>
      </p:sp>
      <p:sp>
        <p:nvSpPr>
          <p:cNvPr id="84" name="TextBox 42">
            <a:extLst>
              <a:ext uri="{FF2B5EF4-FFF2-40B4-BE49-F238E27FC236}">
                <a16:creationId xmlns:a16="http://schemas.microsoft.com/office/drawing/2014/main" id="{828C5AB1-2D72-6877-4C42-E13A20532B72}"/>
              </a:ext>
            </a:extLst>
          </p:cNvPr>
          <p:cNvSpPr txBox="1"/>
          <p:nvPr/>
        </p:nvSpPr>
        <p:spPr>
          <a:xfrm>
            <a:off x="3810000" y="4089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横1.0</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a:solidFill>
                  <a:srgbClr val="595F6E"/>
                </a:solidFill>
                <a:latin typeface="Meiryo"/>
                <a:ea typeface="メイリオ"/>
              </a:rPr>
              <a:t>1.2</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a:solidFill>
                  <a:srgbClr val="595F6E"/>
                </a:solidFill>
                <a:latin typeface="Meiryo"/>
                <a:ea typeface="メイリオ"/>
              </a:rPr>
              <a:t>1.5m × 速度2段 × 左右＝12</a:t>
            </a:r>
            <a:r>
              <a:rPr lang="en-US" sz="1400" b="0" dirty="0">
                <a:solidFill>
                  <a:srgbClr val="595F6E"/>
                </a:solidFill>
                <a:latin typeface="Meiryo"/>
                <a:ea typeface="メイリオ"/>
              </a:rPr>
              <a:t> / </a:t>
            </a:r>
            <a:r>
              <a:rPr sz="1400" b="0" dirty="0">
                <a:solidFill>
                  <a:srgbClr val="595F6E"/>
                </a:solidFill>
                <a:latin typeface="Meiryo"/>
                <a:ea typeface="メイリオ"/>
              </a:rPr>
              <a:t>後方4</a:t>
            </a:r>
            <a:r>
              <a:rPr lang="en-US" sz="1400" b="0" dirty="0">
                <a:solidFill>
                  <a:srgbClr val="595F6E"/>
                </a:solidFill>
                <a:latin typeface="Meiryo"/>
                <a:ea typeface="メイリオ"/>
              </a:rPr>
              <a:t> / </a:t>
            </a:r>
            <a:r>
              <a:rPr sz="1400" b="0" dirty="0">
                <a:solidFill>
                  <a:srgbClr val="595F6E"/>
                </a:solidFill>
                <a:latin typeface="Meiryo"/>
                <a:ea typeface="メイリオ"/>
              </a:rPr>
              <a:t>前方4</a:t>
            </a:r>
          </a:p>
        </p:txBody>
      </p:sp>
      <p:sp>
        <p:nvSpPr>
          <p:cNvPr id="86" name="Rectangle 43">
            <a:extLst>
              <a:ext uri="{FF2B5EF4-FFF2-40B4-BE49-F238E27FC236}">
                <a16:creationId xmlns:a16="http://schemas.microsoft.com/office/drawing/2014/main" id="{645874D3-F13D-87CD-2CD6-4943936AFA96}"/>
              </a:ext>
            </a:extLst>
          </p:cNvPr>
          <p:cNvSpPr/>
          <p:nvPr/>
        </p:nvSpPr>
        <p:spPr>
          <a:xfrm>
            <a:off x="889000" y="4394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8" name="TextBox 44">
            <a:extLst>
              <a:ext uri="{FF2B5EF4-FFF2-40B4-BE49-F238E27FC236}">
                <a16:creationId xmlns:a16="http://schemas.microsoft.com/office/drawing/2014/main" id="{B017CCD6-04EB-3337-875E-C1A2EDC49683}"/>
              </a:ext>
            </a:extLst>
          </p:cNvPr>
          <p:cNvSpPr txBox="1"/>
          <p:nvPr/>
        </p:nvSpPr>
        <p:spPr>
          <a:xfrm>
            <a:off x="1066800" y="4470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F バイク</a:t>
            </a:r>
          </a:p>
        </p:txBody>
      </p:sp>
      <p:sp>
        <p:nvSpPr>
          <p:cNvPr id="90" name="TextBox 45">
            <a:extLst>
              <a:ext uri="{FF2B5EF4-FFF2-40B4-BE49-F238E27FC236}">
                <a16:creationId xmlns:a16="http://schemas.microsoft.com/office/drawing/2014/main" id="{C638E041-644C-DA9D-7981-0615C05A7E2B}"/>
              </a:ext>
            </a:extLst>
          </p:cNvPr>
          <p:cNvSpPr txBox="1"/>
          <p:nvPr/>
        </p:nvSpPr>
        <p:spPr>
          <a:xfrm>
            <a:off x="2823801" y="4470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10</a:t>
            </a:r>
          </a:p>
        </p:txBody>
      </p:sp>
      <p:sp>
        <p:nvSpPr>
          <p:cNvPr id="92" name="TextBox 46">
            <a:extLst>
              <a:ext uri="{FF2B5EF4-FFF2-40B4-BE49-F238E27FC236}">
                <a16:creationId xmlns:a16="http://schemas.microsoft.com/office/drawing/2014/main" id="{64EBC833-F2AE-7EBE-97FD-E8A1740AD31B}"/>
              </a:ext>
            </a:extLst>
          </p:cNvPr>
          <p:cNvSpPr txBox="1"/>
          <p:nvPr/>
        </p:nvSpPr>
        <p:spPr>
          <a:xfrm>
            <a:off x="3810000" y="4470400"/>
            <a:ext cx="6985000" cy="241092"/>
          </a:xfrm>
          <a:prstGeom prst="rect">
            <a:avLst/>
          </a:prstGeom>
          <a:noFill/>
        </p:spPr>
        <p:txBody>
          <a:bodyPr wrap="square" lIns="25400" tIns="12700" rIns="25400" bIns="12700" anchor="t">
            <a:spAutoFit/>
          </a:bodyPr>
          <a:lstStyle/>
          <a:p>
            <a:pPr algn="l"/>
            <a:r>
              <a:rPr sz="1400" b="0" dirty="0" err="1">
                <a:solidFill>
                  <a:srgbClr val="595F6E"/>
                </a:solidFill>
                <a:latin typeface="Meiryo"/>
                <a:ea typeface="メイリオ"/>
              </a:rPr>
              <a:t>交通量の多い道での待ち受け</a:t>
            </a:r>
            <a:r>
              <a:rPr lang="ja-JP" altLang="en-US" sz="1400" dirty="0">
                <a:solidFill>
                  <a:srgbClr val="595F6E"/>
                </a:solidFill>
                <a:latin typeface="Meiryo"/>
                <a:ea typeface="メイリオ"/>
              </a:rPr>
              <a:t>録音</a:t>
            </a:r>
            <a:endParaRPr sz="1400" b="0" dirty="0">
              <a:solidFill>
                <a:srgbClr val="595F6E"/>
              </a:solidFill>
              <a:latin typeface="Meiryo"/>
              <a:ea typeface="メイリオ"/>
            </a:endParaRPr>
          </a:p>
        </p:txBody>
      </p:sp>
      <p:sp>
        <p:nvSpPr>
          <p:cNvPr id="94" name="Rectangle 47">
            <a:extLst>
              <a:ext uri="{FF2B5EF4-FFF2-40B4-BE49-F238E27FC236}">
                <a16:creationId xmlns:a16="http://schemas.microsoft.com/office/drawing/2014/main" id="{F6CE4415-F16D-EE6B-D180-7E0E59BA591E}"/>
              </a:ext>
            </a:extLst>
          </p:cNvPr>
          <p:cNvSpPr/>
          <p:nvPr/>
        </p:nvSpPr>
        <p:spPr>
          <a:xfrm>
            <a:off x="889000" y="4775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48">
            <a:extLst>
              <a:ext uri="{FF2B5EF4-FFF2-40B4-BE49-F238E27FC236}">
                <a16:creationId xmlns:a16="http://schemas.microsoft.com/office/drawing/2014/main" id="{D6C03400-CC98-196C-39EB-5EB083C0F64C}"/>
              </a:ext>
            </a:extLst>
          </p:cNvPr>
          <p:cNvSpPr txBox="1"/>
          <p:nvPr/>
        </p:nvSpPr>
        <p:spPr>
          <a:xfrm>
            <a:off x="1066800" y="4851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歩行対比</a:t>
            </a:r>
          </a:p>
        </p:txBody>
      </p:sp>
      <p:sp>
        <p:nvSpPr>
          <p:cNvPr id="98" name="TextBox 49">
            <a:extLst>
              <a:ext uri="{FF2B5EF4-FFF2-40B4-BE49-F238E27FC236}">
                <a16:creationId xmlns:a16="http://schemas.microsoft.com/office/drawing/2014/main" id="{6338124B-C745-5ED0-7CBC-B007CD3FB48D}"/>
              </a:ext>
            </a:extLst>
          </p:cNvPr>
          <p:cNvSpPr txBox="1"/>
          <p:nvPr/>
        </p:nvSpPr>
        <p:spPr>
          <a:xfrm>
            <a:off x="2823801" y="4851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100</a:t>
            </a:r>
          </a:p>
        </p:txBody>
      </p:sp>
      <p:sp>
        <p:nvSpPr>
          <p:cNvPr id="100" name="TextBox 50">
            <a:extLst>
              <a:ext uri="{FF2B5EF4-FFF2-40B4-BE49-F238E27FC236}">
                <a16:creationId xmlns:a16="http://schemas.microsoft.com/office/drawing/2014/main" id="{3525DBFC-FD84-AB67-9B0B-EB84C9D13ECB}"/>
              </a:ext>
            </a:extLst>
          </p:cNvPr>
          <p:cNvSpPr txBox="1"/>
          <p:nvPr/>
        </p:nvSpPr>
        <p:spPr>
          <a:xfrm>
            <a:off x="3810000" y="4851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5条件×10反復を、止まって録る</a:t>
            </a:r>
            <a:r>
              <a:rPr lang="en-US" sz="1400" b="0" dirty="0">
                <a:solidFill>
                  <a:srgbClr val="595F6E"/>
                </a:solidFill>
                <a:latin typeface="Meiryo"/>
                <a:ea typeface="メイリオ"/>
              </a:rPr>
              <a:t> / </a:t>
            </a:r>
            <a:r>
              <a:rPr sz="1400" b="0" dirty="0" err="1">
                <a:solidFill>
                  <a:srgbClr val="595F6E"/>
                </a:solidFill>
                <a:latin typeface="Meiryo"/>
                <a:ea typeface="メイリオ"/>
              </a:rPr>
              <a:t>歩いて録るの対で比較</a:t>
            </a:r>
            <a:endParaRPr sz="1400" b="0" dirty="0">
              <a:solidFill>
                <a:srgbClr val="595F6E"/>
              </a:solidFill>
              <a:latin typeface="Meiryo"/>
              <a:ea typeface="メイリオ"/>
            </a:endParaRPr>
          </a:p>
        </p:txBody>
      </p:sp>
      <p:sp>
        <p:nvSpPr>
          <p:cNvPr id="106" name="TextBox 53">
            <a:extLst>
              <a:ext uri="{FF2B5EF4-FFF2-40B4-BE49-F238E27FC236}">
                <a16:creationId xmlns:a16="http://schemas.microsoft.com/office/drawing/2014/main" id="{E6A1E034-6BC8-6579-AB86-D8EE36B77D6A}"/>
              </a:ext>
            </a:extLst>
          </p:cNvPr>
          <p:cNvSpPr txBox="1"/>
          <p:nvPr/>
        </p:nvSpPr>
        <p:spPr>
          <a:xfrm>
            <a:off x="1117600" y="5384800"/>
            <a:ext cx="10033000" cy="241092"/>
          </a:xfrm>
          <a:prstGeom prst="rect">
            <a:avLst/>
          </a:prstGeom>
          <a:noFill/>
        </p:spPr>
        <p:txBody>
          <a:bodyPr wrap="square" lIns="25400" tIns="12700" rIns="25400" bIns="12700" anchor="t">
            <a:spAutoFit/>
          </a:bodyPr>
          <a:lstStyle/>
          <a:p>
            <a:pPr algn="l"/>
            <a:r>
              <a:rPr sz="1400" b="0" dirty="0">
                <a:solidFill>
                  <a:schemeClr val="tx1">
                    <a:lumMod val="95000"/>
                    <a:lumOff val="5000"/>
                  </a:schemeClr>
                </a:solidFill>
                <a:latin typeface="Meiryo"/>
                <a:ea typeface="メイリオ"/>
              </a:rPr>
              <a:t>これに加えて、鳴ってはいけない場面の連続録音を100分以上。「</a:t>
            </a:r>
            <a:r>
              <a:rPr sz="1400" b="0" dirty="0">
                <a:solidFill>
                  <a:srgbClr val="595F6E"/>
                </a:solidFill>
                <a:latin typeface="Meiryo"/>
                <a:ea typeface="メイリオ"/>
              </a:rPr>
              <a:t>1時間あたり何回の誤警告か」を出すために必要。</a:t>
            </a:r>
          </a:p>
        </p:txBody>
      </p:sp>
      <p:sp>
        <p:nvSpPr>
          <p:cNvPr id="87" name="Rounded Rectangle 97">
            <a:extLst>
              <a:ext uri="{FF2B5EF4-FFF2-40B4-BE49-F238E27FC236}">
                <a16:creationId xmlns:a16="http://schemas.microsoft.com/office/drawing/2014/main" id="{B9B1C097-97E6-522B-638A-43CD9729C434}"/>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91" name="Rounded Rectangle 96">
            <a:extLst>
              <a:ext uri="{FF2B5EF4-FFF2-40B4-BE49-F238E27FC236}">
                <a16:creationId xmlns:a16="http://schemas.microsoft.com/office/drawing/2014/main" id="{620FB9EF-F137-A50D-A6FE-78D1B8BEE288}"/>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95" name="Rounded Rectangle 95">
            <a:extLst>
              <a:ext uri="{FF2B5EF4-FFF2-40B4-BE49-F238E27FC236}">
                <a16:creationId xmlns:a16="http://schemas.microsoft.com/office/drawing/2014/main" id="{4993C720-78EF-6756-4CA5-5BFAD3A330C1}"/>
              </a:ext>
            </a:extLst>
          </p:cNvPr>
          <p:cNvSpPr/>
          <p:nvPr/>
        </p:nvSpPr>
        <p:spPr>
          <a:xfrm>
            <a:off x="6687241" y="6392995"/>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実録の計画</a:t>
            </a:r>
            <a:endParaRPr sz="1600" b="1" dirty="0">
              <a:solidFill>
                <a:schemeClr val="bg1"/>
              </a:solidFill>
              <a:latin typeface="Meiryo"/>
              <a:ea typeface="メイリオ"/>
            </a:endParaRPr>
          </a:p>
        </p:txBody>
      </p:sp>
      <p:sp>
        <p:nvSpPr>
          <p:cNvPr id="99" name="Rounded Rectangle 94">
            <a:extLst>
              <a:ext uri="{FF2B5EF4-FFF2-40B4-BE49-F238E27FC236}">
                <a16:creationId xmlns:a16="http://schemas.microsoft.com/office/drawing/2014/main" id="{EB7AC4C1-B3DA-40B4-E047-D5279F277834}"/>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103" name="Rounded Rectangle 93">
            <a:extLst>
              <a:ext uri="{FF2B5EF4-FFF2-40B4-BE49-F238E27FC236}">
                <a16:creationId xmlns:a16="http://schemas.microsoft.com/office/drawing/2014/main" id="{01DFE06B-082B-988C-274D-F47121221D25}"/>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107" name="Rounded Rectangle 92">
            <a:extLst>
              <a:ext uri="{FF2B5EF4-FFF2-40B4-BE49-F238E27FC236}">
                <a16:creationId xmlns:a16="http://schemas.microsoft.com/office/drawing/2014/main" id="{8FAB9977-BD74-3135-88B9-97BB9D6A38EA}"/>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08" name="Rectangle 107"/>
          <p:cNvSpPr/>
          <p:nvPr/>
        </p:nvSpPr>
        <p:spPr>
          <a:xfrm>
            <a:off x="889000" y="5651292"/>
            <a:ext cx="10414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6767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EC9EE-38E1-2D16-F2ED-4555B910DE3F}"/>
            </a:ext>
          </a:extLst>
        </p:cNvPr>
        <p:cNvGrpSpPr/>
        <p:nvPr/>
      </p:nvGrpSpPr>
      <p:grpSpPr>
        <a:xfrm>
          <a:off x="0" y="0"/>
          <a:ext cx="0" cy="0"/>
          <a:chOff x="0" y="0"/>
          <a:chExt cx="0" cy="0"/>
        </a:xfrm>
      </p:grpSpPr>
      <p:sp>
        <p:nvSpPr>
          <p:cNvPr id="23" name="Rectangle 1">
            <a:extLst>
              <a:ext uri="{FF2B5EF4-FFF2-40B4-BE49-F238E27FC236}">
                <a16:creationId xmlns:a16="http://schemas.microsoft.com/office/drawing/2014/main" id="{C1E4C875-3EAD-7D9B-25FC-3997F8636655}"/>
              </a:ext>
            </a:extLst>
          </p:cNvPr>
          <p:cNvSpPr/>
          <p:nvPr/>
        </p:nvSpPr>
        <p:spPr>
          <a:xfrm>
            <a:off x="1335617" y="4013420"/>
            <a:ext cx="9520765" cy="2191704"/>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11">
            <a:extLst>
              <a:ext uri="{FF2B5EF4-FFF2-40B4-BE49-F238E27FC236}">
                <a16:creationId xmlns:a16="http://schemas.microsoft.com/office/drawing/2014/main" id="{7E353D54-93A5-02C1-7E54-D04F00B15D62}"/>
              </a:ext>
            </a:extLst>
          </p:cNvPr>
          <p:cNvSpPr/>
          <p:nvPr/>
        </p:nvSpPr>
        <p:spPr>
          <a:xfrm>
            <a:off x="889000" y="1624533"/>
            <a:ext cx="5080000" cy="2275995"/>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ectangle 26">
            <a:extLst>
              <a:ext uri="{FF2B5EF4-FFF2-40B4-BE49-F238E27FC236}">
                <a16:creationId xmlns:a16="http://schemas.microsoft.com/office/drawing/2014/main" id="{38C0453D-78BE-0279-F982-B8ABEAB46810}"/>
              </a:ext>
            </a:extLst>
          </p:cNvPr>
          <p:cNvSpPr/>
          <p:nvPr/>
        </p:nvSpPr>
        <p:spPr>
          <a:xfrm>
            <a:off x="6223000" y="1624533"/>
            <a:ext cx="5080000" cy="2275995"/>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 name="AutoShape 2">
            <a:extLst>
              <a:ext uri="{FF2B5EF4-FFF2-40B4-BE49-F238E27FC236}">
                <a16:creationId xmlns:a16="http://schemas.microsoft.com/office/drawing/2014/main" id="{AC22F2EB-0639-2CD3-9CE0-067863B6F2CE}"/>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211A0459-C23E-B5C0-A549-BDBEAC2BEBC7}"/>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88A409C1-CE64-3726-E9D9-18FA94EBE7A1}"/>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03A2DBBE-04BB-226C-296E-89D6631BC76C}"/>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16F9028D-D1B9-B54B-6C7F-5FCE8C6DB83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C8D6EDA3-2E08-EDE6-0FBE-68E2BBB76509}"/>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387E5B91-1DEA-105B-23F4-E8752DDFE486}"/>
              </a:ext>
            </a:extLst>
          </p:cNvPr>
          <p:cNvSpPr>
            <a:spLocks noGrp="1"/>
          </p:cNvSpPr>
          <p:nvPr>
            <p:ph type="sldNum" sz="quarter" idx="12"/>
          </p:nvPr>
        </p:nvSpPr>
        <p:spPr/>
        <p:txBody>
          <a:bodyPr/>
          <a:lstStyle/>
          <a:p>
            <a:fld id="{4E9148DC-F7ED-4428-85F4-2C78C4B0CFB7}" type="slidenum">
              <a:rPr kumimoji="1" lang="ja-JP" altLang="en-US" smtClean="0"/>
              <a:t>13</a:t>
            </a:fld>
            <a:endParaRPr kumimoji="1" lang="ja-JP" altLang="en-US"/>
          </a:p>
        </p:txBody>
      </p:sp>
      <p:sp>
        <p:nvSpPr>
          <p:cNvPr id="24" name="TextBox 13">
            <a:extLst>
              <a:ext uri="{FF2B5EF4-FFF2-40B4-BE49-F238E27FC236}">
                <a16:creationId xmlns:a16="http://schemas.microsoft.com/office/drawing/2014/main" id="{DC7E5370-DB50-4DC4-266E-CB38F3B60FF2}"/>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どこで、どんな条件で録るのか</a:t>
            </a:r>
          </a:p>
        </p:txBody>
      </p:sp>
      <p:sp>
        <p:nvSpPr>
          <p:cNvPr id="11" name="TextBox 10">
            <a:extLst>
              <a:ext uri="{FF2B5EF4-FFF2-40B4-BE49-F238E27FC236}">
                <a16:creationId xmlns:a16="http://schemas.microsoft.com/office/drawing/2014/main" id="{FD7E9EF3-3018-FD94-2167-31C7F23D7ED4}"/>
              </a:ext>
            </a:extLst>
          </p:cNvPr>
          <p:cNvSpPr txBox="1"/>
          <p:nvPr/>
        </p:nvSpPr>
        <p:spPr>
          <a:xfrm>
            <a:off x="889000" y="1179968"/>
            <a:ext cx="10414000" cy="271869"/>
          </a:xfrm>
          <a:prstGeom prst="rect">
            <a:avLst/>
          </a:prstGeom>
          <a:noFill/>
        </p:spPr>
        <p:txBody>
          <a:bodyPr wrap="square" lIns="25400" tIns="12700" rIns="25400" bIns="12700" anchor="t">
            <a:spAutoFit/>
          </a:bodyPr>
          <a:lstStyle/>
          <a:p>
            <a:pPr algn="l"/>
            <a:r>
              <a:rPr sz="1600" b="0" dirty="0" err="1">
                <a:solidFill>
                  <a:schemeClr val="tx1">
                    <a:lumMod val="95000"/>
                    <a:lumOff val="5000"/>
                  </a:schemeClr>
                </a:solidFill>
                <a:latin typeface="Meiryo"/>
                <a:ea typeface="メイリオ"/>
              </a:rPr>
              <a:t>場所を変えないと録れない音があり、天候の条件も決めて</a:t>
            </a:r>
            <a:r>
              <a:rPr lang="ja-JP" altLang="en-US" sz="1600" b="0" dirty="0">
                <a:solidFill>
                  <a:schemeClr val="tx1">
                    <a:lumMod val="95000"/>
                    <a:lumOff val="5000"/>
                  </a:schemeClr>
                </a:solidFill>
                <a:latin typeface="Meiryo"/>
                <a:ea typeface="メイリオ"/>
              </a:rPr>
              <a:t>ある。</a:t>
            </a:r>
            <a:endParaRPr sz="1600" b="0" dirty="0">
              <a:solidFill>
                <a:schemeClr val="tx1">
                  <a:lumMod val="95000"/>
                  <a:lumOff val="5000"/>
                </a:schemeClr>
              </a:solidFill>
              <a:latin typeface="Meiryo"/>
              <a:ea typeface="メイリオ"/>
            </a:endParaRPr>
          </a:p>
        </p:txBody>
      </p:sp>
      <p:sp>
        <p:nvSpPr>
          <p:cNvPr id="17" name="TextBox 13">
            <a:extLst>
              <a:ext uri="{FF2B5EF4-FFF2-40B4-BE49-F238E27FC236}">
                <a16:creationId xmlns:a16="http://schemas.microsoft.com/office/drawing/2014/main" id="{0D5FB51D-99F3-EDF7-2DA4-021AB2EF7C94}"/>
              </a:ext>
            </a:extLst>
          </p:cNvPr>
          <p:cNvSpPr txBox="1"/>
          <p:nvPr/>
        </p:nvSpPr>
        <p:spPr>
          <a:xfrm>
            <a:off x="1092200" y="1803400"/>
            <a:ext cx="46736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6か所を回</a:t>
            </a:r>
            <a:r>
              <a:rPr lang="ja-JP" altLang="en-US" b="1" dirty="0">
                <a:solidFill>
                  <a:srgbClr val="222838"/>
                </a:solidFill>
                <a:latin typeface="Meiryo"/>
                <a:ea typeface="メイリオ"/>
              </a:rPr>
              <a:t>る</a:t>
            </a:r>
            <a:endParaRPr b="1" dirty="0">
              <a:solidFill>
                <a:srgbClr val="222838"/>
              </a:solidFill>
              <a:latin typeface="Meiryo"/>
              <a:ea typeface="メイリオ"/>
            </a:endParaRPr>
          </a:p>
        </p:txBody>
      </p:sp>
      <p:sp>
        <p:nvSpPr>
          <p:cNvPr id="21" name="TextBox 15">
            <a:extLst>
              <a:ext uri="{FF2B5EF4-FFF2-40B4-BE49-F238E27FC236}">
                <a16:creationId xmlns:a16="http://schemas.microsoft.com/office/drawing/2014/main" id="{499AD3C5-28D9-CCDE-F76A-1013D4AE075B}"/>
              </a:ext>
            </a:extLst>
          </p:cNvPr>
          <p:cNvSpPr txBox="1"/>
          <p:nvPr/>
        </p:nvSpPr>
        <p:spPr>
          <a:xfrm>
            <a:off x="1092200" y="2233047"/>
            <a:ext cx="4445000" cy="1566070"/>
          </a:xfrm>
          <a:prstGeom prst="rect">
            <a:avLst/>
          </a:prstGeom>
          <a:noFill/>
        </p:spPr>
        <p:txBody>
          <a:bodyPr wrap="square" lIns="25400" tIns="12700" rIns="25400" bIns="12700" anchor="t">
            <a:spAutoFit/>
          </a:bodyPr>
          <a:lstStyle/>
          <a:p>
            <a:pPr marL="179388" indent="-179388" algn="l">
              <a:lnSpc>
                <a:spcPct val="120000"/>
              </a:lnSpc>
              <a:buFont typeface="Wingdings" panose="05000000000000000000" pitchFamily="2" charset="2"/>
              <a:buChar char="Ø"/>
            </a:pPr>
            <a:r>
              <a:rPr sz="1400" b="0" dirty="0" err="1">
                <a:solidFill>
                  <a:schemeClr val="tx1">
                    <a:lumMod val="95000"/>
                    <a:lumOff val="5000"/>
                  </a:schemeClr>
                </a:solidFill>
                <a:latin typeface="Meiryo"/>
                <a:ea typeface="メイリオ"/>
              </a:rPr>
              <a:t>静かな道</a:t>
            </a:r>
            <a:r>
              <a:rPr lang="en-US" sz="1400" b="0" dirty="0">
                <a:solidFill>
                  <a:schemeClr val="tx1">
                    <a:lumMod val="95000"/>
                    <a:lumOff val="5000"/>
                  </a:schemeClr>
                </a:solidFill>
                <a:latin typeface="Meiryo"/>
                <a:ea typeface="メイリオ"/>
              </a:rPr>
              <a:t>(</a:t>
            </a:r>
            <a:r>
              <a:rPr sz="1400" b="0" dirty="0" err="1">
                <a:solidFill>
                  <a:schemeClr val="tx1">
                    <a:lumMod val="95000"/>
                    <a:lumOff val="5000"/>
                  </a:schemeClr>
                </a:solidFill>
                <a:latin typeface="Meiryo"/>
                <a:ea typeface="メイリオ"/>
              </a:rPr>
              <a:t>交通量の少ない住宅路</a:t>
            </a:r>
            <a:r>
              <a:rPr lang="en-US" sz="1400" dirty="0">
                <a:solidFill>
                  <a:schemeClr val="tx1">
                    <a:lumMod val="95000"/>
                    <a:lumOff val="5000"/>
                  </a:schemeClr>
                </a:solidFill>
                <a:latin typeface="Meiryo"/>
                <a:ea typeface="メイリオ"/>
              </a:rPr>
              <a:t>)</a:t>
            </a:r>
            <a:endParaRPr lang="en-US" sz="1400" b="0" dirty="0">
              <a:solidFill>
                <a:schemeClr val="tx1">
                  <a:lumMod val="95000"/>
                  <a:lumOff val="5000"/>
                </a:schemeClr>
              </a:solidFill>
              <a:latin typeface="Meiryo"/>
              <a:ea typeface="メイリオ"/>
            </a:endParaRP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交通量の多い道</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車・バイク</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繁華街</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雑踏＝鳴ってはいけない場面</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工事現場の近く</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高い騒音</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見通しの悪い角</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塀のある交差点</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実在の踏切</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時刻表どおり＝確実</a:t>
            </a:r>
            <a:r>
              <a:rPr lang="en-US" altLang="ja-JP" sz="1400" dirty="0">
                <a:solidFill>
                  <a:schemeClr val="tx1">
                    <a:lumMod val="95000"/>
                    <a:lumOff val="5000"/>
                  </a:schemeClr>
                </a:solidFill>
                <a:latin typeface="Meiryo"/>
                <a:ea typeface="メイリオ"/>
              </a:rPr>
              <a:t>)</a:t>
            </a:r>
            <a:endParaRPr lang="ja-JP" altLang="en-US" sz="1400" dirty="0">
              <a:solidFill>
                <a:schemeClr val="tx1">
                  <a:lumMod val="95000"/>
                  <a:lumOff val="5000"/>
                </a:schemeClr>
              </a:solidFill>
              <a:latin typeface="Meiryo"/>
              <a:ea typeface="メイリオ"/>
            </a:endParaRPr>
          </a:p>
        </p:txBody>
      </p:sp>
      <p:sp>
        <p:nvSpPr>
          <p:cNvPr id="54" name="TextBox 28">
            <a:extLst>
              <a:ext uri="{FF2B5EF4-FFF2-40B4-BE49-F238E27FC236}">
                <a16:creationId xmlns:a16="http://schemas.microsoft.com/office/drawing/2014/main" id="{A123724D-E5D3-37B0-35BF-84FBD9C12264}"/>
              </a:ext>
            </a:extLst>
          </p:cNvPr>
          <p:cNvSpPr txBox="1"/>
          <p:nvPr/>
        </p:nvSpPr>
        <p:spPr>
          <a:xfrm>
            <a:off x="6426200" y="1803400"/>
            <a:ext cx="4673600" cy="302647"/>
          </a:xfrm>
          <a:prstGeom prst="rect">
            <a:avLst/>
          </a:prstGeom>
          <a:noFill/>
        </p:spPr>
        <p:txBody>
          <a:bodyPr wrap="square" lIns="25400" tIns="12700" rIns="25400" bIns="12700" anchor="t">
            <a:spAutoFit/>
          </a:bodyPr>
          <a:lstStyle/>
          <a:p>
            <a:pPr algn="l"/>
            <a:r>
              <a:rPr b="1" dirty="0" err="1">
                <a:solidFill>
                  <a:srgbClr val="222838"/>
                </a:solidFill>
                <a:latin typeface="Meiryo"/>
                <a:ea typeface="メイリオ"/>
              </a:rPr>
              <a:t>録るとき</a:t>
            </a:r>
            <a:r>
              <a:rPr lang="ja-JP" altLang="en-US" b="1" dirty="0">
                <a:solidFill>
                  <a:srgbClr val="222838"/>
                </a:solidFill>
                <a:latin typeface="Meiryo"/>
                <a:ea typeface="メイリオ"/>
              </a:rPr>
              <a:t>のルール</a:t>
            </a:r>
            <a:endParaRPr b="1" dirty="0">
              <a:solidFill>
                <a:srgbClr val="222838"/>
              </a:solidFill>
              <a:latin typeface="Meiryo"/>
              <a:ea typeface="メイリオ"/>
            </a:endParaRPr>
          </a:p>
        </p:txBody>
      </p:sp>
      <p:sp>
        <p:nvSpPr>
          <p:cNvPr id="58" name="TextBox 30">
            <a:extLst>
              <a:ext uri="{FF2B5EF4-FFF2-40B4-BE49-F238E27FC236}">
                <a16:creationId xmlns:a16="http://schemas.microsoft.com/office/drawing/2014/main" id="{19A11EC3-0804-9CFF-0538-CB7F5831FB08}"/>
              </a:ext>
            </a:extLst>
          </p:cNvPr>
          <p:cNvSpPr txBox="1"/>
          <p:nvPr/>
        </p:nvSpPr>
        <p:spPr>
          <a:xfrm>
            <a:off x="6426200" y="2133600"/>
            <a:ext cx="4822194" cy="1739387"/>
          </a:xfrm>
          <a:prstGeom prst="rect">
            <a:avLst/>
          </a:prstGeom>
          <a:noFill/>
        </p:spPr>
        <p:txBody>
          <a:bodyPr wrap="square" lIns="25400" tIns="12700" rIns="25400" bIns="12700" anchor="t">
            <a:spAutoFit/>
          </a:bodyPr>
          <a:lstStyle/>
          <a:p>
            <a:pPr marL="179388" indent="-179388" algn="l">
              <a:lnSpc>
                <a:spcPct val="134000"/>
              </a:lnSpc>
              <a:buFont typeface="Wingdings" panose="05000000000000000000" pitchFamily="2" charset="2"/>
              <a:buChar char="Ø"/>
            </a:pPr>
            <a:r>
              <a:rPr sz="1400" dirty="0" err="1">
                <a:solidFill>
                  <a:schemeClr val="tx1">
                    <a:lumMod val="95000"/>
                    <a:lumOff val="5000"/>
                  </a:schemeClr>
                </a:solidFill>
                <a:latin typeface="Meiryo"/>
                <a:ea typeface="メイリオ"/>
              </a:rPr>
              <a:t>中止の基準</a:t>
            </a:r>
            <a:r>
              <a:rPr lang="en-US" sz="1400" dirty="0">
                <a:solidFill>
                  <a:schemeClr val="tx1">
                    <a:lumMod val="95000"/>
                    <a:lumOff val="5000"/>
                  </a:schemeClr>
                </a:solidFill>
                <a:latin typeface="Meiryo"/>
                <a:ea typeface="メイリオ"/>
              </a:rPr>
              <a:t> : </a:t>
            </a:r>
            <a:r>
              <a:rPr sz="1400" dirty="0">
                <a:solidFill>
                  <a:schemeClr val="tx1">
                    <a:lumMod val="95000"/>
                    <a:lumOff val="5000"/>
                  </a:schemeClr>
                </a:solidFill>
                <a:latin typeface="Meiryo"/>
                <a:ea typeface="メイリオ"/>
              </a:rPr>
              <a:t>風速</a:t>
            </a:r>
            <a:r>
              <a:rPr sz="1400" b="0" dirty="0">
                <a:solidFill>
                  <a:schemeClr val="tx1">
                    <a:lumMod val="95000"/>
                    <a:lumOff val="5000"/>
                  </a:schemeClr>
                </a:solidFill>
                <a:latin typeface="Meiryo"/>
                <a:ea typeface="メイリオ"/>
              </a:rPr>
              <a:t>3m/</a:t>
            </a:r>
            <a:r>
              <a:rPr sz="1400" b="0" dirty="0" err="1">
                <a:solidFill>
                  <a:schemeClr val="tx1">
                    <a:lumMod val="95000"/>
                    <a:lumOff val="5000"/>
                  </a:schemeClr>
                </a:solidFill>
                <a:latin typeface="Meiryo"/>
                <a:ea typeface="メイリオ"/>
              </a:rPr>
              <a:t>sを超える日と雨の日は録らない</a:t>
            </a:r>
            <a:endParaRPr lang="en-US" sz="1400" b="0" dirty="0">
              <a:solidFill>
                <a:schemeClr val="tx1">
                  <a:lumMod val="95000"/>
                  <a:lumOff val="5000"/>
                </a:schemeClr>
              </a:solidFill>
              <a:latin typeface="Meiryo"/>
              <a:ea typeface="メイリオ"/>
            </a:endParaRPr>
          </a:p>
          <a:p>
            <a:pPr marL="179388" indent="-179388" algn="l">
              <a:lnSpc>
                <a:spcPct val="134000"/>
              </a:lnSpc>
              <a:buFont typeface="Wingdings" panose="05000000000000000000" pitchFamily="2" charset="2"/>
              <a:buChar char="Ø"/>
            </a:pPr>
            <a:r>
              <a:rPr lang="ja-JP" altLang="en-US" sz="1400" b="0" dirty="0">
                <a:solidFill>
                  <a:schemeClr val="tx1">
                    <a:lumMod val="95000"/>
                    <a:lumOff val="5000"/>
                  </a:schemeClr>
                </a:solidFill>
                <a:latin typeface="Meiryo"/>
                <a:ea typeface="メイリオ"/>
              </a:rPr>
              <a:t>装着 </a:t>
            </a:r>
            <a:r>
              <a:rPr lang="en-US" altLang="ja-JP" sz="1400" b="0" dirty="0">
                <a:solidFill>
                  <a:schemeClr val="tx1">
                    <a:lumMod val="95000"/>
                    <a:lumOff val="5000"/>
                  </a:schemeClr>
                </a:solidFill>
                <a:latin typeface="Meiryo"/>
                <a:ea typeface="メイリオ"/>
              </a:rPr>
              <a:t>: </a:t>
            </a:r>
            <a:r>
              <a:rPr lang="ja-JP" altLang="en-US" sz="1400" b="0" dirty="0">
                <a:solidFill>
                  <a:schemeClr val="tx1">
                    <a:lumMod val="95000"/>
                    <a:lumOff val="5000"/>
                  </a:schemeClr>
                </a:solidFill>
                <a:latin typeface="Meiryo"/>
                <a:ea typeface="メイリオ"/>
              </a:rPr>
              <a:t>ヘルメットに装着。全テイク静止で統一</a:t>
            </a:r>
            <a:r>
              <a:rPr lang="ja-JP" altLang="en-US" sz="1400" dirty="0">
                <a:solidFill>
                  <a:schemeClr val="tx1">
                    <a:lumMod val="95000"/>
                    <a:lumOff val="5000"/>
                  </a:schemeClr>
                </a:solidFill>
                <a:latin typeface="Meiryo"/>
                <a:ea typeface="メイリオ"/>
              </a:rPr>
              <a:t>。</a:t>
            </a:r>
            <a:endParaRPr lang="en-US" altLang="ja-JP" sz="1400" b="0" dirty="0">
              <a:solidFill>
                <a:schemeClr val="tx1">
                  <a:lumMod val="95000"/>
                  <a:lumOff val="5000"/>
                </a:schemeClr>
              </a:solidFill>
              <a:latin typeface="Meiryo"/>
              <a:ea typeface="メイリオ"/>
            </a:endParaRPr>
          </a:p>
          <a:p>
            <a:pPr marL="179388" indent="-179388" algn="l">
              <a:lnSpc>
                <a:spcPct val="134000"/>
              </a:lnSpc>
              <a:buFont typeface="Wingdings" panose="05000000000000000000" pitchFamily="2" charset="2"/>
              <a:buChar char="Ø"/>
            </a:pPr>
            <a:r>
              <a:rPr lang="ja-JP" altLang="en-US" sz="1400" b="0" dirty="0">
                <a:solidFill>
                  <a:schemeClr val="tx1">
                    <a:lumMod val="95000"/>
                    <a:lumOff val="5000"/>
                  </a:schemeClr>
                </a:solidFill>
                <a:latin typeface="Meiryo"/>
                <a:ea typeface="メイリオ"/>
              </a:rPr>
              <a:t>録音設定 </a:t>
            </a:r>
            <a:r>
              <a:rPr lang="en-US" altLang="ja-JP" sz="1400" b="0" dirty="0">
                <a:solidFill>
                  <a:schemeClr val="tx1">
                    <a:lumMod val="95000"/>
                    <a:lumOff val="5000"/>
                  </a:schemeClr>
                </a:solidFill>
                <a:latin typeface="Meiryo"/>
                <a:ea typeface="メイリオ"/>
              </a:rPr>
              <a:t>: </a:t>
            </a:r>
            <a:r>
              <a:rPr lang="ja-JP" altLang="en-US" sz="1400" b="0" dirty="0">
                <a:solidFill>
                  <a:schemeClr val="tx1">
                    <a:lumMod val="95000"/>
                    <a:lumOff val="5000"/>
                  </a:schemeClr>
                </a:solidFill>
                <a:latin typeface="Meiryo"/>
                <a:ea typeface="メイリオ"/>
              </a:rPr>
              <a:t>家で全部固定し、現地で押すのは録音ボタンのみ</a:t>
            </a:r>
            <a:endParaRPr lang="en-US" altLang="ja-JP" sz="1400" b="0" dirty="0">
              <a:solidFill>
                <a:schemeClr val="tx1">
                  <a:lumMod val="95000"/>
                  <a:lumOff val="5000"/>
                </a:schemeClr>
              </a:solidFill>
              <a:latin typeface="Meiryo"/>
              <a:ea typeface="メイリオ"/>
            </a:endParaRPr>
          </a:p>
          <a:p>
            <a:pPr marL="179388" indent="-179388" algn="l">
              <a:lnSpc>
                <a:spcPct val="134000"/>
              </a:lnSpc>
              <a:buFont typeface="Wingdings" panose="05000000000000000000" pitchFamily="2" charset="2"/>
              <a:buChar char="Ø"/>
            </a:pPr>
            <a:r>
              <a:rPr lang="ja-JP" altLang="en-US" sz="1400" b="0" dirty="0">
                <a:solidFill>
                  <a:schemeClr val="tx1">
                    <a:lumMod val="95000"/>
                    <a:lumOff val="5000"/>
                  </a:schemeClr>
                </a:solidFill>
                <a:latin typeface="Meiryo"/>
                <a:ea typeface="メイリオ"/>
              </a:rPr>
              <a:t>記録 </a:t>
            </a:r>
            <a:r>
              <a:rPr lang="en-US" altLang="ja-JP" sz="1400" b="0" dirty="0">
                <a:solidFill>
                  <a:schemeClr val="tx1">
                    <a:lumMod val="95000"/>
                    <a:lumOff val="5000"/>
                  </a:schemeClr>
                </a:solidFill>
                <a:latin typeface="Meiryo"/>
                <a:ea typeface="メイリオ"/>
              </a:rPr>
              <a:t>: 1</a:t>
            </a:r>
            <a:r>
              <a:rPr lang="ja-JP" altLang="en-US" sz="1400" b="0" dirty="0">
                <a:solidFill>
                  <a:schemeClr val="tx1">
                    <a:lumMod val="95000"/>
                    <a:lumOff val="5000"/>
                  </a:schemeClr>
                </a:solidFill>
                <a:latin typeface="Meiryo"/>
                <a:ea typeface="メイリオ"/>
              </a:rPr>
              <a:t>テイクごとに車種・速度・横距離・騒音計の値を紙に書く</a:t>
            </a:r>
          </a:p>
        </p:txBody>
      </p:sp>
      <p:sp>
        <p:nvSpPr>
          <p:cNvPr id="92" name="TextBox 2">
            <a:extLst>
              <a:ext uri="{FF2B5EF4-FFF2-40B4-BE49-F238E27FC236}">
                <a16:creationId xmlns:a16="http://schemas.microsoft.com/office/drawing/2014/main" id="{0CABE6CF-D337-EE10-E7DF-A4064334964C}"/>
              </a:ext>
            </a:extLst>
          </p:cNvPr>
          <p:cNvSpPr txBox="1"/>
          <p:nvPr/>
        </p:nvSpPr>
        <p:spPr>
          <a:xfrm>
            <a:off x="1693651" y="4122459"/>
            <a:ext cx="2540000" cy="302647"/>
          </a:xfrm>
          <a:prstGeom prst="rect">
            <a:avLst/>
          </a:prstGeom>
          <a:noFill/>
        </p:spPr>
        <p:txBody>
          <a:bodyPr wrap="square" lIns="25400" tIns="12700" rIns="25400" bIns="12700" anchor="t">
            <a:spAutoFit/>
          </a:bodyPr>
          <a:lstStyle/>
          <a:p>
            <a:pPr algn="l"/>
            <a:r>
              <a:rPr b="1" dirty="0" err="1">
                <a:solidFill>
                  <a:srgbClr val="222838"/>
                </a:solidFill>
                <a:latin typeface="Meiryo"/>
                <a:ea typeface="メイリオ"/>
              </a:rPr>
              <a:t>記録方法</a:t>
            </a:r>
            <a:endParaRPr b="1" dirty="0">
              <a:solidFill>
                <a:srgbClr val="222838"/>
              </a:solidFill>
              <a:latin typeface="Meiryo"/>
              <a:ea typeface="メイリオ"/>
            </a:endParaRPr>
          </a:p>
        </p:txBody>
      </p:sp>
      <p:sp>
        <p:nvSpPr>
          <p:cNvPr id="93" name="TextBox 3">
            <a:extLst>
              <a:ext uri="{FF2B5EF4-FFF2-40B4-BE49-F238E27FC236}">
                <a16:creationId xmlns:a16="http://schemas.microsoft.com/office/drawing/2014/main" id="{398AE26E-956F-F0DB-EA0C-DC10494EA6E0}"/>
              </a:ext>
            </a:extLst>
          </p:cNvPr>
          <p:cNvSpPr txBox="1"/>
          <p:nvPr/>
        </p:nvSpPr>
        <p:spPr>
          <a:xfrm>
            <a:off x="4218517" y="4228568"/>
            <a:ext cx="3606800" cy="241092"/>
          </a:xfrm>
          <a:prstGeom prst="rect">
            <a:avLst/>
          </a:prstGeom>
          <a:noFill/>
        </p:spPr>
        <p:txBody>
          <a:bodyPr wrap="square" lIns="25400" tIns="12700" rIns="25400" bIns="12700" anchor="t">
            <a:spAutoFit/>
          </a:bodyPr>
          <a:lstStyle/>
          <a:p>
            <a:pPr algn="r"/>
            <a:r>
              <a:rPr sz="1400" b="0" dirty="0">
                <a:solidFill>
                  <a:schemeClr val="bg2">
                    <a:lumMod val="50000"/>
                  </a:schemeClr>
                </a:solidFill>
                <a:latin typeface="Meiryo"/>
                <a:ea typeface="メイリオ"/>
              </a:rPr>
              <a:t>速度：徐行〜約30km/h</a:t>
            </a:r>
          </a:p>
        </p:txBody>
      </p:sp>
      <p:sp>
        <p:nvSpPr>
          <p:cNvPr id="94" name="Rectangle 4">
            <a:extLst>
              <a:ext uri="{FF2B5EF4-FFF2-40B4-BE49-F238E27FC236}">
                <a16:creationId xmlns:a16="http://schemas.microsoft.com/office/drawing/2014/main" id="{88BE6046-A6FD-1964-84FB-59B0580E1786}"/>
              </a:ext>
            </a:extLst>
          </p:cNvPr>
          <p:cNvSpPr/>
          <p:nvPr/>
        </p:nvSpPr>
        <p:spPr>
          <a:xfrm>
            <a:off x="1519758" y="4463206"/>
            <a:ext cx="9141892" cy="685800"/>
          </a:xfrm>
          <a:prstGeom prst="rect">
            <a:avLst/>
          </a:prstGeom>
          <a:solidFill>
            <a:srgbClr val="C2C7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5" name="Rectangle 5">
            <a:extLst>
              <a:ext uri="{FF2B5EF4-FFF2-40B4-BE49-F238E27FC236}">
                <a16:creationId xmlns:a16="http://schemas.microsoft.com/office/drawing/2014/main" id="{E0134501-B8E6-A91C-59C9-82BC8F4A6B84}"/>
              </a:ext>
            </a:extLst>
          </p:cNvPr>
          <p:cNvSpPr/>
          <p:nvPr/>
        </p:nvSpPr>
        <p:spPr>
          <a:xfrm>
            <a:off x="1519758" y="5149006"/>
            <a:ext cx="9141892" cy="76200"/>
          </a:xfrm>
          <a:prstGeom prst="rect">
            <a:avLst/>
          </a:prstGeom>
          <a:solidFill>
            <a:srgbClr val="979D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6" name="Rectangle 6">
            <a:extLst>
              <a:ext uri="{FF2B5EF4-FFF2-40B4-BE49-F238E27FC236}">
                <a16:creationId xmlns:a16="http://schemas.microsoft.com/office/drawing/2014/main" id="{D62EB866-25BB-5450-21BE-070C941EE76C}"/>
              </a:ext>
            </a:extLst>
          </p:cNvPr>
          <p:cNvSpPr/>
          <p:nvPr/>
        </p:nvSpPr>
        <p:spPr>
          <a:xfrm>
            <a:off x="1519758" y="5225206"/>
            <a:ext cx="9141892" cy="585276"/>
          </a:xfrm>
          <a:prstGeom prst="rect">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7" name="Rectangle 7">
            <a:extLst>
              <a:ext uri="{FF2B5EF4-FFF2-40B4-BE49-F238E27FC236}">
                <a16:creationId xmlns:a16="http://schemas.microsoft.com/office/drawing/2014/main" id="{A1ECBF5E-AEA4-A620-C422-59CA59FECB51}"/>
              </a:ext>
            </a:extLst>
          </p:cNvPr>
          <p:cNvSpPr/>
          <p:nvPr/>
        </p:nvSpPr>
        <p:spPr>
          <a:xfrm>
            <a:off x="18182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8" name="Rectangle 8">
            <a:extLst>
              <a:ext uri="{FF2B5EF4-FFF2-40B4-BE49-F238E27FC236}">
                <a16:creationId xmlns:a16="http://schemas.microsoft.com/office/drawing/2014/main" id="{D0E6EBD1-B115-2E9E-ED74-CCA12CB7C917}"/>
              </a:ext>
            </a:extLst>
          </p:cNvPr>
          <p:cNvSpPr/>
          <p:nvPr/>
        </p:nvSpPr>
        <p:spPr>
          <a:xfrm>
            <a:off x="24024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9" name="Rectangle 9">
            <a:extLst>
              <a:ext uri="{FF2B5EF4-FFF2-40B4-BE49-F238E27FC236}">
                <a16:creationId xmlns:a16="http://schemas.microsoft.com/office/drawing/2014/main" id="{F302E65C-7089-C6FC-C922-EED08E5BDB43}"/>
              </a:ext>
            </a:extLst>
          </p:cNvPr>
          <p:cNvSpPr/>
          <p:nvPr/>
        </p:nvSpPr>
        <p:spPr>
          <a:xfrm>
            <a:off x="29866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0" name="Rectangle 10">
            <a:extLst>
              <a:ext uri="{FF2B5EF4-FFF2-40B4-BE49-F238E27FC236}">
                <a16:creationId xmlns:a16="http://schemas.microsoft.com/office/drawing/2014/main" id="{E0FA3D0C-EB2F-DE42-55DF-BE60BEC282AD}"/>
              </a:ext>
            </a:extLst>
          </p:cNvPr>
          <p:cNvSpPr/>
          <p:nvPr/>
        </p:nvSpPr>
        <p:spPr>
          <a:xfrm>
            <a:off x="35708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1" name="Rectangle 11">
            <a:extLst>
              <a:ext uri="{FF2B5EF4-FFF2-40B4-BE49-F238E27FC236}">
                <a16:creationId xmlns:a16="http://schemas.microsoft.com/office/drawing/2014/main" id="{9D4ECE65-2B97-CC0A-A97F-A0CCE6756A24}"/>
              </a:ext>
            </a:extLst>
          </p:cNvPr>
          <p:cNvSpPr/>
          <p:nvPr/>
        </p:nvSpPr>
        <p:spPr>
          <a:xfrm>
            <a:off x="41550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2" name="Rectangle 12">
            <a:extLst>
              <a:ext uri="{FF2B5EF4-FFF2-40B4-BE49-F238E27FC236}">
                <a16:creationId xmlns:a16="http://schemas.microsoft.com/office/drawing/2014/main" id="{7CB937C5-151D-EA87-CE16-C2BF06503681}"/>
              </a:ext>
            </a:extLst>
          </p:cNvPr>
          <p:cNvSpPr/>
          <p:nvPr/>
        </p:nvSpPr>
        <p:spPr>
          <a:xfrm>
            <a:off x="47392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3" name="Rectangle 13">
            <a:extLst>
              <a:ext uri="{FF2B5EF4-FFF2-40B4-BE49-F238E27FC236}">
                <a16:creationId xmlns:a16="http://schemas.microsoft.com/office/drawing/2014/main" id="{D197C25D-7DAE-6E36-D315-D1F0804D736E}"/>
              </a:ext>
            </a:extLst>
          </p:cNvPr>
          <p:cNvSpPr/>
          <p:nvPr/>
        </p:nvSpPr>
        <p:spPr>
          <a:xfrm>
            <a:off x="53234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4" name="Rectangle 14">
            <a:extLst>
              <a:ext uri="{FF2B5EF4-FFF2-40B4-BE49-F238E27FC236}">
                <a16:creationId xmlns:a16="http://schemas.microsoft.com/office/drawing/2014/main" id="{A8741FE7-F43D-8A98-C3DD-ACF17788EAF7}"/>
              </a:ext>
            </a:extLst>
          </p:cNvPr>
          <p:cNvSpPr/>
          <p:nvPr/>
        </p:nvSpPr>
        <p:spPr>
          <a:xfrm>
            <a:off x="59076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5" name="Rectangle 15">
            <a:extLst>
              <a:ext uri="{FF2B5EF4-FFF2-40B4-BE49-F238E27FC236}">
                <a16:creationId xmlns:a16="http://schemas.microsoft.com/office/drawing/2014/main" id="{76C32C0D-2D8F-CDF9-8053-117E48620FD6}"/>
              </a:ext>
            </a:extLst>
          </p:cNvPr>
          <p:cNvSpPr/>
          <p:nvPr/>
        </p:nvSpPr>
        <p:spPr>
          <a:xfrm>
            <a:off x="64918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6" name="Rectangle 16">
            <a:extLst>
              <a:ext uri="{FF2B5EF4-FFF2-40B4-BE49-F238E27FC236}">
                <a16:creationId xmlns:a16="http://schemas.microsoft.com/office/drawing/2014/main" id="{1A131F2E-8710-FF6A-FCAC-2BA3F7443D09}"/>
              </a:ext>
            </a:extLst>
          </p:cNvPr>
          <p:cNvSpPr/>
          <p:nvPr/>
        </p:nvSpPr>
        <p:spPr>
          <a:xfrm>
            <a:off x="70760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7" name="Rectangle 17">
            <a:extLst>
              <a:ext uri="{FF2B5EF4-FFF2-40B4-BE49-F238E27FC236}">
                <a16:creationId xmlns:a16="http://schemas.microsoft.com/office/drawing/2014/main" id="{C1F739F5-ABC9-4274-D7A9-0D0D3C1541C1}"/>
              </a:ext>
            </a:extLst>
          </p:cNvPr>
          <p:cNvSpPr/>
          <p:nvPr/>
        </p:nvSpPr>
        <p:spPr>
          <a:xfrm>
            <a:off x="76602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8" name="Rectangle 18">
            <a:extLst>
              <a:ext uri="{FF2B5EF4-FFF2-40B4-BE49-F238E27FC236}">
                <a16:creationId xmlns:a16="http://schemas.microsoft.com/office/drawing/2014/main" id="{F9D6863E-855F-792C-E201-2DA278FE5B14}"/>
              </a:ext>
            </a:extLst>
          </p:cNvPr>
          <p:cNvSpPr/>
          <p:nvPr/>
        </p:nvSpPr>
        <p:spPr>
          <a:xfrm>
            <a:off x="82444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9" name="Rectangle 19">
            <a:extLst>
              <a:ext uri="{FF2B5EF4-FFF2-40B4-BE49-F238E27FC236}">
                <a16:creationId xmlns:a16="http://schemas.microsoft.com/office/drawing/2014/main" id="{B0174199-7C2E-21B5-E4EB-D09F064AE457}"/>
              </a:ext>
            </a:extLst>
          </p:cNvPr>
          <p:cNvSpPr/>
          <p:nvPr/>
        </p:nvSpPr>
        <p:spPr>
          <a:xfrm>
            <a:off x="88286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0" name="Rectangle 20">
            <a:extLst>
              <a:ext uri="{FF2B5EF4-FFF2-40B4-BE49-F238E27FC236}">
                <a16:creationId xmlns:a16="http://schemas.microsoft.com/office/drawing/2014/main" id="{B656B3A1-A368-F06D-8BC0-A5F3280D2E59}"/>
              </a:ext>
            </a:extLst>
          </p:cNvPr>
          <p:cNvSpPr/>
          <p:nvPr/>
        </p:nvSpPr>
        <p:spPr>
          <a:xfrm>
            <a:off x="94128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1" name="Rectangle 21">
            <a:extLst>
              <a:ext uri="{FF2B5EF4-FFF2-40B4-BE49-F238E27FC236}">
                <a16:creationId xmlns:a16="http://schemas.microsoft.com/office/drawing/2014/main" id="{CCFAA4B6-FE71-5496-A81F-E2FE5AD9F1FD}"/>
              </a:ext>
            </a:extLst>
          </p:cNvPr>
          <p:cNvSpPr/>
          <p:nvPr/>
        </p:nvSpPr>
        <p:spPr>
          <a:xfrm>
            <a:off x="1519757" y="4539406"/>
            <a:ext cx="9213915"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2" name="Rectangle 22">
            <a:extLst>
              <a:ext uri="{FF2B5EF4-FFF2-40B4-BE49-F238E27FC236}">
                <a16:creationId xmlns:a16="http://schemas.microsoft.com/office/drawing/2014/main" id="{145D0368-A41D-8EC7-F768-7B4CD781AA93}"/>
              </a:ext>
            </a:extLst>
          </p:cNvPr>
          <p:cNvSpPr/>
          <p:nvPr/>
        </p:nvSpPr>
        <p:spPr>
          <a:xfrm>
            <a:off x="1519757" y="5034706"/>
            <a:ext cx="9213915"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3" name="TextBox 23">
            <a:extLst>
              <a:ext uri="{FF2B5EF4-FFF2-40B4-BE49-F238E27FC236}">
                <a16:creationId xmlns:a16="http://schemas.microsoft.com/office/drawing/2014/main" id="{3D2CCBC1-13DE-FD70-CDC5-23C969D856C9}"/>
              </a:ext>
            </a:extLst>
          </p:cNvPr>
          <p:cNvSpPr txBox="1"/>
          <p:nvPr/>
        </p:nvSpPr>
        <p:spPr>
          <a:xfrm>
            <a:off x="1767417" y="5326806"/>
            <a:ext cx="1143000" cy="241092"/>
          </a:xfrm>
          <a:prstGeom prst="rect">
            <a:avLst/>
          </a:prstGeom>
          <a:noFill/>
        </p:spPr>
        <p:txBody>
          <a:bodyPr wrap="square" lIns="25400" tIns="12700" rIns="25400" bIns="12700" anchor="t">
            <a:spAutoFit/>
          </a:bodyPr>
          <a:lstStyle/>
          <a:p>
            <a:pPr algn="l"/>
            <a:r>
              <a:rPr sz="1400" b="0" dirty="0" err="1">
                <a:solidFill>
                  <a:schemeClr val="bg2">
                    <a:lumMod val="50000"/>
                  </a:schemeClr>
                </a:solidFill>
                <a:latin typeface="Meiryo"/>
                <a:ea typeface="メイリオ"/>
              </a:rPr>
              <a:t>歩道</a:t>
            </a:r>
            <a:endParaRPr sz="1400" b="0" dirty="0">
              <a:solidFill>
                <a:schemeClr val="bg2">
                  <a:lumMod val="50000"/>
                </a:schemeClr>
              </a:solidFill>
              <a:latin typeface="Meiryo"/>
              <a:ea typeface="メイリオ"/>
            </a:endParaRPr>
          </a:p>
        </p:txBody>
      </p:sp>
      <p:sp>
        <p:nvSpPr>
          <p:cNvPr id="114" name="Rounded Rectangle 24">
            <a:extLst>
              <a:ext uri="{FF2B5EF4-FFF2-40B4-BE49-F238E27FC236}">
                <a16:creationId xmlns:a16="http://schemas.microsoft.com/office/drawing/2014/main" id="{EF659E8B-160F-4C50-C474-14C4C9554639}"/>
              </a:ext>
            </a:extLst>
          </p:cNvPr>
          <p:cNvSpPr/>
          <p:nvPr/>
        </p:nvSpPr>
        <p:spPr>
          <a:xfrm>
            <a:off x="4425454" y="4590206"/>
            <a:ext cx="965200" cy="431800"/>
          </a:xfrm>
          <a:prstGeom prst="round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5" name="TextBox 25">
            <a:extLst>
              <a:ext uri="{FF2B5EF4-FFF2-40B4-BE49-F238E27FC236}">
                <a16:creationId xmlns:a16="http://schemas.microsoft.com/office/drawing/2014/main" id="{ABB06F08-051D-42DA-2EF6-0A606E556F15}"/>
              </a:ext>
            </a:extLst>
          </p:cNvPr>
          <p:cNvSpPr txBox="1"/>
          <p:nvPr/>
        </p:nvSpPr>
        <p:spPr>
          <a:xfrm>
            <a:off x="4408588" y="4677703"/>
            <a:ext cx="965200" cy="271869"/>
          </a:xfrm>
          <a:prstGeom prst="rect">
            <a:avLst/>
          </a:prstGeom>
          <a:noFill/>
        </p:spPr>
        <p:txBody>
          <a:bodyPr wrap="square" lIns="25400" tIns="12700" rIns="25400" bIns="12700" anchor="t">
            <a:spAutoFit/>
          </a:bodyPr>
          <a:lstStyle/>
          <a:p>
            <a:pPr algn="ctr"/>
            <a:r>
              <a:rPr sz="1600" b="1" dirty="0">
                <a:solidFill>
                  <a:srgbClr val="FFFFFF"/>
                </a:solidFill>
                <a:latin typeface="Meiryo"/>
                <a:ea typeface="メイリオ"/>
              </a:rPr>
              <a:t>車</a:t>
            </a:r>
          </a:p>
        </p:txBody>
      </p:sp>
      <p:sp>
        <p:nvSpPr>
          <p:cNvPr id="116" name="Right Arrow 26">
            <a:extLst>
              <a:ext uri="{FF2B5EF4-FFF2-40B4-BE49-F238E27FC236}">
                <a16:creationId xmlns:a16="http://schemas.microsoft.com/office/drawing/2014/main" id="{02E3C121-98F1-DA9C-BA25-25FCC08B49B5}"/>
              </a:ext>
            </a:extLst>
          </p:cNvPr>
          <p:cNvSpPr/>
          <p:nvPr/>
        </p:nvSpPr>
        <p:spPr>
          <a:xfrm>
            <a:off x="5492254" y="4691806"/>
            <a:ext cx="406400" cy="228600"/>
          </a:xfrm>
          <a:prstGeom prst="rightArrow">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7" name="Oval 27">
            <a:extLst>
              <a:ext uri="{FF2B5EF4-FFF2-40B4-BE49-F238E27FC236}">
                <a16:creationId xmlns:a16="http://schemas.microsoft.com/office/drawing/2014/main" id="{6C9A86C6-894C-51DA-B583-2C3276618AD8}"/>
              </a:ext>
            </a:extLst>
          </p:cNvPr>
          <p:cNvSpPr/>
          <p:nvPr/>
        </p:nvSpPr>
        <p:spPr>
          <a:xfrm>
            <a:off x="3300382" y="5453806"/>
            <a:ext cx="203200" cy="203200"/>
          </a:xfrm>
          <a:prstGeom prst="ellipse">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8" name="Oval 28">
            <a:extLst>
              <a:ext uri="{FF2B5EF4-FFF2-40B4-BE49-F238E27FC236}">
                <a16:creationId xmlns:a16="http://schemas.microsoft.com/office/drawing/2014/main" id="{116AB09C-F1C5-D965-05F3-335A49B941DE}"/>
              </a:ext>
            </a:extLst>
          </p:cNvPr>
          <p:cNvSpPr/>
          <p:nvPr/>
        </p:nvSpPr>
        <p:spPr>
          <a:xfrm>
            <a:off x="3202517" y="5364906"/>
            <a:ext cx="381000" cy="381000"/>
          </a:xfrm>
          <a:prstGeom prst="ellipse">
            <a:avLst/>
          </a:prstGeom>
          <a:noFill/>
          <a:ln w="25400">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cxnSp>
        <p:nvCxnSpPr>
          <p:cNvPr id="119" name="Connector 29">
            <a:extLst>
              <a:ext uri="{FF2B5EF4-FFF2-40B4-BE49-F238E27FC236}">
                <a16:creationId xmlns:a16="http://schemas.microsoft.com/office/drawing/2014/main" id="{C96B35BE-55B1-9C39-6C05-DA4E047010F1}"/>
              </a:ext>
            </a:extLst>
          </p:cNvPr>
          <p:cNvCxnSpPr>
            <a:cxnSpLocks/>
          </p:cNvCxnSpPr>
          <p:nvPr/>
        </p:nvCxnSpPr>
        <p:spPr>
          <a:xfrm>
            <a:off x="3393017" y="5072806"/>
            <a:ext cx="0" cy="254000"/>
          </a:xfrm>
          <a:prstGeom prst="line">
            <a:avLst/>
          </a:prstGeom>
          <a:ln w="2286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20" name="TextBox 30">
            <a:extLst>
              <a:ext uri="{FF2B5EF4-FFF2-40B4-BE49-F238E27FC236}">
                <a16:creationId xmlns:a16="http://schemas.microsoft.com/office/drawing/2014/main" id="{48012F67-F263-E34E-0C26-D29E83E8DA37}"/>
              </a:ext>
            </a:extLst>
          </p:cNvPr>
          <p:cNvSpPr txBox="1"/>
          <p:nvPr/>
        </p:nvSpPr>
        <p:spPr>
          <a:xfrm>
            <a:off x="3742266" y="5352206"/>
            <a:ext cx="6997701" cy="281487"/>
          </a:xfrm>
          <a:prstGeom prst="rect">
            <a:avLst/>
          </a:prstGeom>
          <a:noFill/>
        </p:spPr>
        <p:txBody>
          <a:bodyPr wrap="square" lIns="25400" tIns="12700" rIns="25400" bIns="12700" anchor="t">
            <a:spAutoFit/>
          </a:bodyPr>
          <a:lstStyle/>
          <a:p>
            <a:pPr algn="l">
              <a:lnSpc>
                <a:spcPct val="125000"/>
              </a:lnSpc>
            </a:pPr>
            <a:r>
              <a:rPr sz="1400" b="1" dirty="0" err="1">
                <a:solidFill>
                  <a:srgbClr val="C00000"/>
                </a:solidFill>
                <a:latin typeface="Meiryo"/>
                <a:ea typeface="メイリオ"/>
              </a:rPr>
              <a:t>横距離</a:t>
            </a:r>
            <a:r>
              <a:rPr sz="1400" b="1" dirty="0">
                <a:solidFill>
                  <a:srgbClr val="C00000"/>
                </a:solidFill>
                <a:latin typeface="Meiryo"/>
                <a:ea typeface="メイリオ"/>
              </a:rPr>
              <a:t> 2.0〜3.2m</a:t>
            </a:r>
            <a:r>
              <a:rPr lang="en-US" sz="1400" b="1" dirty="0">
                <a:solidFill>
                  <a:srgbClr val="C00000"/>
                </a:solidFill>
                <a:latin typeface="Meiryo"/>
                <a:ea typeface="メイリオ"/>
              </a:rPr>
              <a:t>(</a:t>
            </a:r>
            <a:r>
              <a:rPr sz="1400" b="1" dirty="0" err="1">
                <a:solidFill>
                  <a:srgbClr val="C00000"/>
                </a:solidFill>
                <a:latin typeface="Meiryo"/>
                <a:ea typeface="メイリオ"/>
              </a:rPr>
              <a:t>鳴るべき車</a:t>
            </a:r>
            <a:r>
              <a:rPr lang="en-US" sz="1400" b="1" dirty="0">
                <a:solidFill>
                  <a:srgbClr val="C00000"/>
                </a:solidFill>
                <a:latin typeface="Meiryo"/>
                <a:ea typeface="メイリオ"/>
              </a:rPr>
              <a:t>) / </a:t>
            </a:r>
            <a:r>
              <a:rPr lang="en-US" altLang="ja-JP" sz="1400" b="1" dirty="0">
                <a:solidFill>
                  <a:srgbClr val="C00000"/>
                </a:solidFill>
                <a:latin typeface="Meiryo"/>
                <a:ea typeface="メイリオ"/>
              </a:rPr>
              <a:t>5〜15m(</a:t>
            </a:r>
            <a:r>
              <a:rPr lang="ja-JP" altLang="en-US" sz="1400" b="1" dirty="0">
                <a:solidFill>
                  <a:srgbClr val="C00000"/>
                </a:solidFill>
                <a:latin typeface="Meiryo"/>
                <a:ea typeface="メイリオ"/>
              </a:rPr>
              <a:t>鳴ってはいけない車</a:t>
            </a:r>
            <a:r>
              <a:rPr lang="en-US" altLang="ja-JP" sz="1400" b="1" dirty="0">
                <a:solidFill>
                  <a:srgbClr val="C00000"/>
                </a:solidFill>
                <a:latin typeface="Meiryo"/>
                <a:ea typeface="メイリオ"/>
              </a:rPr>
              <a:t>)</a:t>
            </a:r>
            <a:endParaRPr lang="ja-JP" altLang="en-US" sz="1400" b="1" dirty="0">
              <a:solidFill>
                <a:srgbClr val="C00000"/>
              </a:solidFill>
              <a:latin typeface="Meiryo"/>
              <a:ea typeface="メイリオ"/>
            </a:endParaRPr>
          </a:p>
        </p:txBody>
      </p:sp>
      <p:sp>
        <p:nvSpPr>
          <p:cNvPr id="121" name="TextBox 31">
            <a:extLst>
              <a:ext uri="{FF2B5EF4-FFF2-40B4-BE49-F238E27FC236}">
                <a16:creationId xmlns:a16="http://schemas.microsoft.com/office/drawing/2014/main" id="{5A69E583-B6E5-E86F-D61E-CF51DE55BFB5}"/>
              </a:ext>
            </a:extLst>
          </p:cNvPr>
          <p:cNvSpPr txBox="1"/>
          <p:nvPr/>
        </p:nvSpPr>
        <p:spPr>
          <a:xfrm>
            <a:off x="2147617" y="5861282"/>
            <a:ext cx="3810000" cy="241092"/>
          </a:xfrm>
          <a:prstGeom prst="rect">
            <a:avLst/>
          </a:prstGeom>
          <a:noFill/>
        </p:spPr>
        <p:txBody>
          <a:bodyPr wrap="square" lIns="25400" tIns="12700" rIns="25400" bIns="12700" anchor="t">
            <a:spAutoFit/>
          </a:bodyPr>
          <a:lstStyle/>
          <a:p>
            <a:pPr algn="l"/>
            <a:r>
              <a:rPr lang="ja-JP" altLang="en-US" sz="1400" b="0" dirty="0">
                <a:solidFill>
                  <a:srgbClr val="222838"/>
                </a:solidFill>
                <a:latin typeface="Meiryo"/>
                <a:ea typeface="メイリオ"/>
              </a:rPr>
              <a:t>装着者</a:t>
            </a:r>
            <a:r>
              <a:rPr lang="en-US" altLang="ja-JP" sz="1400" b="0" dirty="0">
                <a:solidFill>
                  <a:srgbClr val="222838"/>
                </a:solidFill>
                <a:latin typeface="Meiryo"/>
                <a:ea typeface="メイリオ"/>
              </a:rPr>
              <a:t>(</a:t>
            </a:r>
            <a:r>
              <a:rPr lang="ja-JP" altLang="en-US" sz="1400" b="0" dirty="0">
                <a:solidFill>
                  <a:srgbClr val="222838"/>
                </a:solidFill>
                <a:latin typeface="Meiryo"/>
                <a:ea typeface="メイリオ"/>
              </a:rPr>
              <a:t>頭上に</a:t>
            </a:r>
            <a:r>
              <a:rPr lang="en-US" altLang="ja-JP" sz="1400" b="0" dirty="0">
                <a:solidFill>
                  <a:srgbClr val="222838"/>
                </a:solidFill>
                <a:latin typeface="Meiryo"/>
                <a:ea typeface="メイリオ"/>
              </a:rPr>
              <a:t>4</a:t>
            </a:r>
            <a:r>
              <a:rPr lang="ja-JP" altLang="en-US" sz="1400" b="0" dirty="0">
                <a:solidFill>
                  <a:srgbClr val="222838"/>
                </a:solidFill>
                <a:latin typeface="Meiryo"/>
                <a:ea typeface="メイリオ"/>
              </a:rPr>
              <a:t>方向マイク</a:t>
            </a:r>
            <a:r>
              <a:rPr lang="en-US" altLang="ja-JP" sz="1400" b="0" dirty="0">
                <a:solidFill>
                  <a:srgbClr val="222838"/>
                </a:solidFill>
                <a:latin typeface="Meiryo"/>
                <a:ea typeface="メイリオ"/>
              </a:rPr>
              <a:t>)</a:t>
            </a:r>
            <a:endParaRPr sz="1400" b="0" dirty="0">
              <a:solidFill>
                <a:srgbClr val="222838"/>
              </a:solidFill>
              <a:latin typeface="Meiryo"/>
              <a:ea typeface="メイリオ"/>
            </a:endParaRPr>
          </a:p>
        </p:txBody>
      </p:sp>
      <p:sp>
        <p:nvSpPr>
          <p:cNvPr id="122" name="Rectangle 20">
            <a:extLst>
              <a:ext uri="{FF2B5EF4-FFF2-40B4-BE49-F238E27FC236}">
                <a16:creationId xmlns:a16="http://schemas.microsoft.com/office/drawing/2014/main" id="{8BC65C3E-1AE6-89FD-D307-1126682F7A32}"/>
              </a:ext>
            </a:extLst>
          </p:cNvPr>
          <p:cNvSpPr/>
          <p:nvPr/>
        </p:nvSpPr>
        <p:spPr>
          <a:xfrm>
            <a:off x="9997017" y="4780706"/>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Rounded Rectangle 97">
            <a:extLst>
              <a:ext uri="{FF2B5EF4-FFF2-40B4-BE49-F238E27FC236}">
                <a16:creationId xmlns:a16="http://schemas.microsoft.com/office/drawing/2014/main" id="{61E5024D-CD65-0D21-72D0-2557D6293295}"/>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7" name="Rounded Rectangle 96">
            <a:extLst>
              <a:ext uri="{FF2B5EF4-FFF2-40B4-BE49-F238E27FC236}">
                <a16:creationId xmlns:a16="http://schemas.microsoft.com/office/drawing/2014/main" id="{729968EB-8896-FA9A-5B52-A1B3033EB413}"/>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51" name="Rounded Rectangle 95">
            <a:extLst>
              <a:ext uri="{FF2B5EF4-FFF2-40B4-BE49-F238E27FC236}">
                <a16:creationId xmlns:a16="http://schemas.microsoft.com/office/drawing/2014/main" id="{B94905C1-9CC0-34D5-3F84-54AF3FE76E66}"/>
              </a:ext>
            </a:extLst>
          </p:cNvPr>
          <p:cNvSpPr/>
          <p:nvPr/>
        </p:nvSpPr>
        <p:spPr>
          <a:xfrm>
            <a:off x="6687241" y="6392995"/>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実録の計画</a:t>
            </a:r>
            <a:endParaRPr sz="1600" b="1" dirty="0">
              <a:solidFill>
                <a:schemeClr val="bg1"/>
              </a:solidFill>
              <a:latin typeface="Meiryo"/>
              <a:ea typeface="メイリオ"/>
            </a:endParaRPr>
          </a:p>
        </p:txBody>
      </p:sp>
      <p:sp>
        <p:nvSpPr>
          <p:cNvPr id="55" name="Rounded Rectangle 94">
            <a:extLst>
              <a:ext uri="{FF2B5EF4-FFF2-40B4-BE49-F238E27FC236}">
                <a16:creationId xmlns:a16="http://schemas.microsoft.com/office/drawing/2014/main" id="{3399DC6D-D672-4ED7-0BC7-B0ACD628B866}"/>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57" name="Rounded Rectangle 93">
            <a:extLst>
              <a:ext uri="{FF2B5EF4-FFF2-40B4-BE49-F238E27FC236}">
                <a16:creationId xmlns:a16="http://schemas.microsoft.com/office/drawing/2014/main" id="{67925D73-2716-ADCA-9143-FE31DF5AEF1B}"/>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60" name="Rounded Rectangle 92">
            <a:extLst>
              <a:ext uri="{FF2B5EF4-FFF2-40B4-BE49-F238E27FC236}">
                <a16:creationId xmlns:a16="http://schemas.microsoft.com/office/drawing/2014/main" id="{9DA28EF1-AEA5-3F15-A569-D77CD5415574}"/>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23" name="Rectangle 122"/>
          <p:cNvSpPr/>
          <p:nvPr/>
        </p:nvSpPr>
        <p:spPr>
          <a:xfrm>
            <a:off x="889000" y="2131447"/>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6223000" y="2131447"/>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096000" y="1726133"/>
            <a:ext cx="10160" cy="2072795"/>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87366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3B64A-C473-A37B-AF52-23B96E35675F}"/>
            </a:ext>
          </a:extLst>
        </p:cNvPr>
        <p:cNvGrpSpPr/>
        <p:nvPr/>
      </p:nvGrpSpPr>
      <p:grpSpPr>
        <a:xfrm>
          <a:off x="0" y="0"/>
          <a:ext cx="0" cy="0"/>
          <a:chOff x="0" y="0"/>
          <a:chExt cx="0" cy="0"/>
        </a:xfrm>
      </p:grpSpPr>
      <p:sp>
        <p:nvSpPr>
          <p:cNvPr id="10" name="Rectangle 11">
            <a:extLst>
              <a:ext uri="{FF2B5EF4-FFF2-40B4-BE49-F238E27FC236}">
                <a16:creationId xmlns:a16="http://schemas.microsoft.com/office/drawing/2014/main" id="{A7E5A0B4-FF4B-24E2-AC92-AECFD1BFEE89}"/>
              </a:ext>
            </a:extLst>
          </p:cNvPr>
          <p:cNvSpPr/>
          <p:nvPr/>
        </p:nvSpPr>
        <p:spPr>
          <a:xfrm>
            <a:off x="889000" y="1676400"/>
            <a:ext cx="1625600" cy="13716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ectangle 17">
            <a:extLst>
              <a:ext uri="{FF2B5EF4-FFF2-40B4-BE49-F238E27FC236}">
                <a16:creationId xmlns:a16="http://schemas.microsoft.com/office/drawing/2014/main" id="{648BAAED-AF73-8F11-6F86-6D84B8027EC0}"/>
              </a:ext>
            </a:extLst>
          </p:cNvPr>
          <p:cNvSpPr/>
          <p:nvPr/>
        </p:nvSpPr>
        <p:spPr>
          <a:xfrm>
            <a:off x="2616200" y="1676400"/>
            <a:ext cx="1625600" cy="13716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Rectangle 23">
            <a:extLst>
              <a:ext uri="{FF2B5EF4-FFF2-40B4-BE49-F238E27FC236}">
                <a16:creationId xmlns:a16="http://schemas.microsoft.com/office/drawing/2014/main" id="{6CCFFFDC-6705-C2D9-9F8E-6B0599745234}"/>
              </a:ext>
            </a:extLst>
          </p:cNvPr>
          <p:cNvSpPr/>
          <p:nvPr/>
        </p:nvSpPr>
        <p:spPr>
          <a:xfrm>
            <a:off x="4343400" y="1676400"/>
            <a:ext cx="1625600" cy="13716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9">
            <a:extLst>
              <a:ext uri="{FF2B5EF4-FFF2-40B4-BE49-F238E27FC236}">
                <a16:creationId xmlns:a16="http://schemas.microsoft.com/office/drawing/2014/main" id="{1D83A7F7-BB36-62D2-E64D-AC0575AADE48}"/>
              </a:ext>
            </a:extLst>
          </p:cNvPr>
          <p:cNvSpPr/>
          <p:nvPr/>
        </p:nvSpPr>
        <p:spPr>
          <a:xfrm>
            <a:off x="6070600" y="1676400"/>
            <a:ext cx="1625600" cy="13716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ectangle 35">
            <a:extLst>
              <a:ext uri="{FF2B5EF4-FFF2-40B4-BE49-F238E27FC236}">
                <a16:creationId xmlns:a16="http://schemas.microsoft.com/office/drawing/2014/main" id="{55755C35-77A7-707E-E9D6-14149ED98C6B}"/>
              </a:ext>
            </a:extLst>
          </p:cNvPr>
          <p:cNvSpPr/>
          <p:nvPr/>
        </p:nvSpPr>
        <p:spPr>
          <a:xfrm>
            <a:off x="7797800" y="1676400"/>
            <a:ext cx="1625600" cy="13716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Rectangle 41">
            <a:extLst>
              <a:ext uri="{FF2B5EF4-FFF2-40B4-BE49-F238E27FC236}">
                <a16:creationId xmlns:a16="http://schemas.microsoft.com/office/drawing/2014/main" id="{A18F1E6B-A57E-B037-FAF3-FF1E1B5BF969}"/>
              </a:ext>
            </a:extLst>
          </p:cNvPr>
          <p:cNvSpPr/>
          <p:nvPr/>
        </p:nvSpPr>
        <p:spPr>
          <a:xfrm>
            <a:off x="9525000" y="1676400"/>
            <a:ext cx="1625600" cy="13716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Rectangle 46">
            <a:extLst>
              <a:ext uri="{FF2B5EF4-FFF2-40B4-BE49-F238E27FC236}">
                <a16:creationId xmlns:a16="http://schemas.microsoft.com/office/drawing/2014/main" id="{4867898B-554E-7F77-A577-097B8D88D896}"/>
              </a:ext>
            </a:extLst>
          </p:cNvPr>
          <p:cNvSpPr/>
          <p:nvPr/>
        </p:nvSpPr>
        <p:spPr>
          <a:xfrm>
            <a:off x="889000" y="3561848"/>
            <a:ext cx="5080000" cy="2015166"/>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lumMod val="95000"/>
                  <a:lumOff val="5000"/>
                </a:schemeClr>
              </a:solidFill>
            </a:endParaRPr>
          </a:p>
        </p:txBody>
      </p:sp>
      <p:sp>
        <p:nvSpPr>
          <p:cNvPr id="36" name="Rectangle 55">
            <a:extLst>
              <a:ext uri="{FF2B5EF4-FFF2-40B4-BE49-F238E27FC236}">
                <a16:creationId xmlns:a16="http://schemas.microsoft.com/office/drawing/2014/main" id="{92E5AA5C-571B-D5C1-C318-A50748EB3788}"/>
              </a:ext>
            </a:extLst>
          </p:cNvPr>
          <p:cNvSpPr/>
          <p:nvPr/>
        </p:nvSpPr>
        <p:spPr>
          <a:xfrm>
            <a:off x="6070600" y="3567368"/>
            <a:ext cx="5080000" cy="2015166"/>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lumMod val="95000"/>
                  <a:lumOff val="5000"/>
                </a:schemeClr>
              </a:solidFill>
            </a:endParaRPr>
          </a:p>
        </p:txBody>
      </p:sp>
      <p:sp>
        <p:nvSpPr>
          <p:cNvPr id="2" name="AutoShape 2">
            <a:extLst>
              <a:ext uri="{FF2B5EF4-FFF2-40B4-BE49-F238E27FC236}">
                <a16:creationId xmlns:a16="http://schemas.microsoft.com/office/drawing/2014/main" id="{E7F7A4D1-D542-F157-0BDE-AA261FE65656}"/>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579219B1-E4FE-89E0-9289-B8565ECCB299}"/>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6D0C2C85-88BB-4106-DBAB-B3B8415F90E5}"/>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F5A46D58-67C4-AC89-2F6C-C220D37368C0}"/>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C2FBD26B-2DE4-6095-10B0-314110686C8C}"/>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D7AFA094-A21B-3065-AD66-0D9010E86626}"/>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611E2E67-A754-6EB1-C025-304B48141A58}"/>
              </a:ext>
            </a:extLst>
          </p:cNvPr>
          <p:cNvSpPr>
            <a:spLocks noGrp="1"/>
          </p:cNvSpPr>
          <p:nvPr>
            <p:ph type="sldNum" sz="quarter" idx="12"/>
          </p:nvPr>
        </p:nvSpPr>
        <p:spPr/>
        <p:txBody>
          <a:bodyPr/>
          <a:lstStyle/>
          <a:p>
            <a:fld id="{4E9148DC-F7ED-4428-85F4-2C78C4B0CFB7}" type="slidenum">
              <a:rPr kumimoji="1" lang="ja-JP" altLang="en-US" smtClean="0"/>
              <a:t>14</a:t>
            </a:fld>
            <a:endParaRPr kumimoji="1" lang="ja-JP" altLang="en-US"/>
          </a:p>
        </p:txBody>
      </p:sp>
      <p:sp>
        <p:nvSpPr>
          <p:cNvPr id="24" name="TextBox 13">
            <a:extLst>
              <a:ext uri="{FF2B5EF4-FFF2-40B4-BE49-F238E27FC236}">
                <a16:creationId xmlns:a16="http://schemas.microsoft.com/office/drawing/2014/main" id="{46CEA98B-6D5E-F366-3474-4B1085CBD705}"/>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収録の流れ</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1" name="TextBox 10">
            <a:extLst>
              <a:ext uri="{FF2B5EF4-FFF2-40B4-BE49-F238E27FC236}">
                <a16:creationId xmlns:a16="http://schemas.microsoft.com/office/drawing/2014/main" id="{35B1D81F-DD80-576B-A711-66608C166238}"/>
              </a:ext>
            </a:extLst>
          </p:cNvPr>
          <p:cNvSpPr txBox="1"/>
          <p:nvPr/>
        </p:nvSpPr>
        <p:spPr>
          <a:xfrm>
            <a:off x="889000" y="1270000"/>
            <a:ext cx="10414000" cy="271869"/>
          </a:xfrm>
          <a:prstGeom prst="rect">
            <a:avLst/>
          </a:prstGeom>
          <a:noFill/>
        </p:spPr>
        <p:txBody>
          <a:bodyPr wrap="square" lIns="25400" tIns="12700" rIns="25400" bIns="12700" anchor="t">
            <a:spAutoFit/>
          </a:bodyPr>
          <a:lstStyle/>
          <a:p>
            <a:pPr algn="l"/>
            <a:r>
              <a:rPr sz="1600" b="0" dirty="0">
                <a:solidFill>
                  <a:schemeClr val="tx1">
                    <a:lumMod val="95000"/>
                    <a:lumOff val="5000"/>
                  </a:schemeClr>
                </a:solidFill>
                <a:latin typeface="Meiryo"/>
                <a:ea typeface="メイリオ"/>
              </a:rPr>
              <a:t>1</a:t>
            </a:r>
            <a:r>
              <a:rPr lang="ja-JP" altLang="en-US" sz="1600" b="0" dirty="0">
                <a:solidFill>
                  <a:schemeClr val="tx1">
                    <a:lumMod val="95000"/>
                    <a:lumOff val="5000"/>
                  </a:schemeClr>
                </a:solidFill>
                <a:latin typeface="Meiryo"/>
                <a:ea typeface="メイリオ"/>
              </a:rPr>
              <a:t>地点</a:t>
            </a:r>
            <a:r>
              <a:rPr sz="1600" b="0" dirty="0">
                <a:solidFill>
                  <a:schemeClr val="tx1">
                    <a:lumMod val="95000"/>
                    <a:lumOff val="5000"/>
                  </a:schemeClr>
                </a:solidFill>
                <a:latin typeface="Meiryo"/>
                <a:ea typeface="メイリオ"/>
              </a:rPr>
              <a:t>あたり6つの手順。この骨格</a:t>
            </a:r>
            <a:r>
              <a:rPr lang="ja-JP" altLang="en-US" sz="1600" b="0" dirty="0">
                <a:solidFill>
                  <a:schemeClr val="tx1">
                    <a:lumMod val="95000"/>
                    <a:lumOff val="5000"/>
                  </a:schemeClr>
                </a:solidFill>
                <a:latin typeface="Meiryo"/>
                <a:ea typeface="メイリオ"/>
              </a:rPr>
              <a:t>は</a:t>
            </a:r>
            <a:r>
              <a:rPr sz="1600" b="0" dirty="0">
                <a:solidFill>
                  <a:schemeClr val="tx1">
                    <a:lumMod val="95000"/>
                    <a:lumOff val="5000"/>
                  </a:schemeClr>
                </a:solidFill>
                <a:latin typeface="Meiryo"/>
                <a:ea typeface="メイリオ"/>
              </a:rPr>
              <a:t>全210回で共通。</a:t>
            </a:r>
          </a:p>
        </p:txBody>
      </p:sp>
      <p:sp>
        <p:nvSpPr>
          <p:cNvPr id="17" name="TextBox 13">
            <a:extLst>
              <a:ext uri="{FF2B5EF4-FFF2-40B4-BE49-F238E27FC236}">
                <a16:creationId xmlns:a16="http://schemas.microsoft.com/office/drawing/2014/main" id="{B0AA2F36-DB14-FA93-7D3C-7428DAE5F9E3}"/>
              </a:ext>
            </a:extLst>
          </p:cNvPr>
          <p:cNvSpPr txBox="1"/>
          <p:nvPr/>
        </p:nvSpPr>
        <p:spPr>
          <a:xfrm>
            <a:off x="1041400" y="1800161"/>
            <a:ext cx="1320800" cy="302647"/>
          </a:xfrm>
          <a:prstGeom prst="rect">
            <a:avLst/>
          </a:prstGeom>
          <a:noFill/>
        </p:spPr>
        <p:txBody>
          <a:bodyPr wrap="square" lIns="25400" tIns="12700" rIns="25400" bIns="12700" anchor="t">
            <a:spAutoFit/>
          </a:bodyPr>
          <a:lstStyle/>
          <a:p>
            <a:pPr algn="l"/>
            <a:r>
              <a:rPr b="1" dirty="0">
                <a:solidFill>
                  <a:srgbClr val="7E6F98"/>
                </a:solidFill>
                <a:latin typeface="Meiryo"/>
                <a:ea typeface="メイリオ"/>
              </a:rPr>
              <a:t>① </a:t>
            </a:r>
            <a:r>
              <a:rPr b="1" dirty="0" err="1">
                <a:solidFill>
                  <a:srgbClr val="7E6F98"/>
                </a:solidFill>
                <a:latin typeface="Meiryo"/>
                <a:ea typeface="メイリオ"/>
              </a:rPr>
              <a:t>前日</a:t>
            </a:r>
            <a:endParaRPr b="1" dirty="0">
              <a:solidFill>
                <a:srgbClr val="7E6F98"/>
              </a:solidFill>
              <a:latin typeface="Meiryo"/>
              <a:ea typeface="メイリオ"/>
            </a:endParaRPr>
          </a:p>
        </p:txBody>
      </p:sp>
      <p:sp>
        <p:nvSpPr>
          <p:cNvPr id="19" name="TextBox 14">
            <a:extLst>
              <a:ext uri="{FF2B5EF4-FFF2-40B4-BE49-F238E27FC236}">
                <a16:creationId xmlns:a16="http://schemas.microsoft.com/office/drawing/2014/main" id="{FE8385C2-0799-C2E3-629A-5601138CF19E}"/>
              </a:ext>
            </a:extLst>
          </p:cNvPr>
          <p:cNvSpPr txBox="1"/>
          <p:nvPr/>
        </p:nvSpPr>
        <p:spPr>
          <a:xfrm>
            <a:off x="1041400" y="2108200"/>
            <a:ext cx="1320800" cy="210314"/>
          </a:xfrm>
          <a:prstGeom prst="rect">
            <a:avLst/>
          </a:prstGeom>
          <a:noFill/>
        </p:spPr>
        <p:txBody>
          <a:bodyPr wrap="square" lIns="25400" tIns="12700" rIns="25400" bIns="12700" anchor="t">
            <a:spAutoFit/>
          </a:bodyPr>
          <a:lstStyle/>
          <a:p>
            <a:pPr algn="l"/>
            <a:r>
              <a:rPr sz="1200" b="0" dirty="0">
                <a:solidFill>
                  <a:srgbClr val="8A8F9A"/>
                </a:solidFill>
                <a:latin typeface="Meiryo"/>
                <a:ea typeface="メイリオ"/>
              </a:rPr>
              <a:t>15分</a:t>
            </a:r>
          </a:p>
        </p:txBody>
      </p:sp>
      <p:sp>
        <p:nvSpPr>
          <p:cNvPr id="21" name="TextBox 15">
            <a:extLst>
              <a:ext uri="{FF2B5EF4-FFF2-40B4-BE49-F238E27FC236}">
                <a16:creationId xmlns:a16="http://schemas.microsoft.com/office/drawing/2014/main" id="{FEA810DE-591B-2CEC-5E34-AD7C98FFA681}"/>
              </a:ext>
            </a:extLst>
          </p:cNvPr>
          <p:cNvSpPr txBox="1"/>
          <p:nvPr/>
        </p:nvSpPr>
        <p:spPr>
          <a:xfrm>
            <a:off x="1041400" y="2387600"/>
            <a:ext cx="1320800" cy="491930"/>
          </a:xfrm>
          <a:prstGeom prst="rect">
            <a:avLst/>
          </a:prstGeom>
          <a:noFill/>
        </p:spPr>
        <p:txBody>
          <a:bodyPr wrap="square" lIns="25400" tIns="12700" rIns="25400" bIns="12700" anchor="t">
            <a:spAutoFit/>
          </a:bodyPr>
          <a:lstStyle/>
          <a:p>
            <a:pPr algn="l">
              <a:lnSpc>
                <a:spcPct val="130000"/>
              </a:lnSpc>
            </a:pPr>
            <a:r>
              <a:rPr sz="1200" b="0" dirty="0" err="1">
                <a:solidFill>
                  <a:schemeClr val="tx1">
                    <a:lumMod val="95000"/>
                    <a:lumOff val="5000"/>
                  </a:schemeClr>
                </a:solidFill>
                <a:latin typeface="Meiryo"/>
                <a:ea typeface="メイリオ"/>
              </a:rPr>
              <a:t>設定を家で</a:t>
            </a:r>
            <a:endParaRPr lang="en-US" sz="1200" b="0" dirty="0">
              <a:solidFill>
                <a:schemeClr val="tx1">
                  <a:lumMod val="95000"/>
                  <a:lumOff val="5000"/>
                </a:schemeClr>
              </a:solidFill>
              <a:latin typeface="Meiryo"/>
              <a:ea typeface="メイリオ"/>
            </a:endParaRPr>
          </a:p>
          <a:p>
            <a:pPr algn="l">
              <a:lnSpc>
                <a:spcPct val="130000"/>
              </a:lnSpc>
            </a:pPr>
            <a:r>
              <a:rPr sz="1200" b="0" dirty="0" err="1">
                <a:solidFill>
                  <a:schemeClr val="tx1">
                    <a:lumMod val="95000"/>
                    <a:lumOff val="5000"/>
                  </a:schemeClr>
                </a:solidFill>
                <a:latin typeface="Meiryo"/>
                <a:ea typeface="メイリオ"/>
              </a:rPr>
              <a:t>全部固定する</a:t>
            </a:r>
            <a:endParaRPr sz="1200" b="0" dirty="0">
              <a:solidFill>
                <a:schemeClr val="tx1">
                  <a:lumMod val="95000"/>
                  <a:lumOff val="5000"/>
                </a:schemeClr>
              </a:solidFill>
              <a:latin typeface="Meiryo"/>
              <a:ea typeface="メイリオ"/>
            </a:endParaRPr>
          </a:p>
        </p:txBody>
      </p:sp>
      <p:sp>
        <p:nvSpPr>
          <p:cNvPr id="23" name="TextBox 16">
            <a:extLst>
              <a:ext uri="{FF2B5EF4-FFF2-40B4-BE49-F238E27FC236}">
                <a16:creationId xmlns:a16="http://schemas.microsoft.com/office/drawing/2014/main" id="{353A2269-033A-CD89-3AFE-AA3809AD2D65}"/>
              </a:ext>
            </a:extLst>
          </p:cNvPr>
          <p:cNvSpPr txBox="1"/>
          <p:nvPr/>
        </p:nvSpPr>
        <p:spPr>
          <a:xfrm>
            <a:off x="24991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32" name="TextBox 19">
            <a:extLst>
              <a:ext uri="{FF2B5EF4-FFF2-40B4-BE49-F238E27FC236}">
                <a16:creationId xmlns:a16="http://schemas.microsoft.com/office/drawing/2014/main" id="{B5DCB747-A62A-8AD7-ECAD-2A970929CB40}"/>
              </a:ext>
            </a:extLst>
          </p:cNvPr>
          <p:cNvSpPr txBox="1"/>
          <p:nvPr/>
        </p:nvSpPr>
        <p:spPr>
          <a:xfrm>
            <a:off x="2768600" y="1800161"/>
            <a:ext cx="1320800" cy="302647"/>
          </a:xfrm>
          <a:prstGeom prst="rect">
            <a:avLst/>
          </a:prstGeom>
          <a:noFill/>
        </p:spPr>
        <p:txBody>
          <a:bodyPr wrap="square" lIns="25400" tIns="12700" rIns="25400" bIns="12700" anchor="t">
            <a:spAutoFit/>
          </a:bodyPr>
          <a:lstStyle/>
          <a:p>
            <a:pPr algn="l"/>
            <a:r>
              <a:rPr b="1">
                <a:solidFill>
                  <a:srgbClr val="7E6F98"/>
                </a:solidFill>
                <a:latin typeface="Meiryo"/>
                <a:ea typeface="メイリオ"/>
              </a:rPr>
              <a:t>② 到着</a:t>
            </a:r>
          </a:p>
        </p:txBody>
      </p:sp>
      <p:sp>
        <p:nvSpPr>
          <p:cNvPr id="35" name="TextBox 20">
            <a:extLst>
              <a:ext uri="{FF2B5EF4-FFF2-40B4-BE49-F238E27FC236}">
                <a16:creationId xmlns:a16="http://schemas.microsoft.com/office/drawing/2014/main" id="{4282D225-592A-2F3F-184B-7980470B3926}"/>
              </a:ext>
            </a:extLst>
          </p:cNvPr>
          <p:cNvSpPr txBox="1"/>
          <p:nvPr/>
        </p:nvSpPr>
        <p:spPr>
          <a:xfrm>
            <a:off x="27686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2分</a:t>
            </a:r>
          </a:p>
        </p:txBody>
      </p:sp>
      <p:sp>
        <p:nvSpPr>
          <p:cNvPr id="38" name="TextBox 21">
            <a:extLst>
              <a:ext uri="{FF2B5EF4-FFF2-40B4-BE49-F238E27FC236}">
                <a16:creationId xmlns:a16="http://schemas.microsoft.com/office/drawing/2014/main" id="{3378ACB2-6395-9375-67A0-52CCE46986AE}"/>
              </a:ext>
            </a:extLst>
          </p:cNvPr>
          <p:cNvSpPr txBox="1"/>
          <p:nvPr/>
        </p:nvSpPr>
        <p:spPr>
          <a:xfrm>
            <a:off x="2768600" y="2387600"/>
            <a:ext cx="1320800" cy="251864"/>
          </a:xfrm>
          <a:prstGeom prst="rect">
            <a:avLst/>
          </a:prstGeom>
          <a:noFill/>
        </p:spPr>
        <p:txBody>
          <a:bodyPr wrap="square" lIns="25400" tIns="12700" rIns="25400" bIns="12700" anchor="t">
            <a:spAutoFit/>
          </a:bodyPr>
          <a:lstStyle/>
          <a:p>
            <a:pPr algn="l">
              <a:lnSpc>
                <a:spcPct val="130000"/>
              </a:lnSpc>
            </a:pPr>
            <a:r>
              <a:rPr sz="1200" b="0">
                <a:solidFill>
                  <a:schemeClr val="tx1">
                    <a:lumMod val="95000"/>
                    <a:lumOff val="5000"/>
                  </a:schemeClr>
                </a:solidFill>
                <a:latin typeface="Meiryo"/>
                <a:ea typeface="メイリオ"/>
              </a:rPr>
              <a:t>定位置に立つ</a:t>
            </a:r>
          </a:p>
        </p:txBody>
      </p:sp>
      <p:sp>
        <p:nvSpPr>
          <p:cNvPr id="40" name="TextBox 22">
            <a:extLst>
              <a:ext uri="{FF2B5EF4-FFF2-40B4-BE49-F238E27FC236}">
                <a16:creationId xmlns:a16="http://schemas.microsoft.com/office/drawing/2014/main" id="{1075A882-2F20-BA3E-ABF5-328C52E74CB8}"/>
              </a:ext>
            </a:extLst>
          </p:cNvPr>
          <p:cNvSpPr txBox="1"/>
          <p:nvPr/>
        </p:nvSpPr>
        <p:spPr>
          <a:xfrm>
            <a:off x="42263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47" name="TextBox 25">
            <a:extLst>
              <a:ext uri="{FF2B5EF4-FFF2-40B4-BE49-F238E27FC236}">
                <a16:creationId xmlns:a16="http://schemas.microsoft.com/office/drawing/2014/main" id="{B7D8F057-247F-4CD2-FB8E-B22837FD83E6}"/>
              </a:ext>
            </a:extLst>
          </p:cNvPr>
          <p:cNvSpPr txBox="1"/>
          <p:nvPr/>
        </p:nvSpPr>
        <p:spPr>
          <a:xfrm>
            <a:off x="4495800" y="1800161"/>
            <a:ext cx="1320800" cy="302647"/>
          </a:xfrm>
          <a:prstGeom prst="rect">
            <a:avLst/>
          </a:prstGeom>
          <a:noFill/>
        </p:spPr>
        <p:txBody>
          <a:bodyPr wrap="square" lIns="25400" tIns="12700" rIns="25400" bIns="12700" anchor="t">
            <a:spAutoFit/>
          </a:bodyPr>
          <a:lstStyle/>
          <a:p>
            <a:pPr algn="l"/>
            <a:r>
              <a:rPr b="1" dirty="0">
                <a:solidFill>
                  <a:srgbClr val="E0A526"/>
                </a:solidFill>
                <a:latin typeface="Meiryo"/>
                <a:ea typeface="メイリオ"/>
              </a:rPr>
              <a:t>③ </a:t>
            </a:r>
            <a:r>
              <a:rPr b="1" dirty="0" err="1">
                <a:solidFill>
                  <a:srgbClr val="E0A526"/>
                </a:solidFill>
                <a:latin typeface="Meiryo"/>
                <a:ea typeface="メイリオ"/>
              </a:rPr>
              <a:t>儀式</a:t>
            </a:r>
            <a:endParaRPr b="1" dirty="0">
              <a:solidFill>
                <a:srgbClr val="E0A526"/>
              </a:solidFill>
              <a:latin typeface="Meiryo"/>
              <a:ea typeface="メイリオ"/>
            </a:endParaRPr>
          </a:p>
        </p:txBody>
      </p:sp>
      <p:sp>
        <p:nvSpPr>
          <p:cNvPr id="49" name="TextBox 26">
            <a:extLst>
              <a:ext uri="{FF2B5EF4-FFF2-40B4-BE49-F238E27FC236}">
                <a16:creationId xmlns:a16="http://schemas.microsoft.com/office/drawing/2014/main" id="{C0323F44-DE27-C0FB-8DD1-13C3AA76FD0A}"/>
              </a:ext>
            </a:extLst>
          </p:cNvPr>
          <p:cNvSpPr txBox="1"/>
          <p:nvPr/>
        </p:nvSpPr>
        <p:spPr>
          <a:xfrm>
            <a:off x="44958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90秒</a:t>
            </a:r>
          </a:p>
        </p:txBody>
      </p:sp>
      <p:sp>
        <p:nvSpPr>
          <p:cNvPr id="52" name="TextBox 27">
            <a:extLst>
              <a:ext uri="{FF2B5EF4-FFF2-40B4-BE49-F238E27FC236}">
                <a16:creationId xmlns:a16="http://schemas.microsoft.com/office/drawing/2014/main" id="{3386832C-AA11-AFB7-8683-AC95796A635B}"/>
              </a:ext>
            </a:extLst>
          </p:cNvPr>
          <p:cNvSpPr txBox="1"/>
          <p:nvPr/>
        </p:nvSpPr>
        <p:spPr>
          <a:xfrm>
            <a:off x="4495800" y="2387600"/>
            <a:ext cx="1320800" cy="491930"/>
          </a:xfrm>
          <a:prstGeom prst="rect">
            <a:avLst/>
          </a:prstGeom>
          <a:noFill/>
        </p:spPr>
        <p:txBody>
          <a:bodyPr wrap="square" lIns="25400" tIns="12700" rIns="25400" bIns="12700" anchor="t">
            <a:spAutoFit/>
          </a:bodyPr>
          <a:lstStyle/>
          <a:p>
            <a:pPr algn="l">
              <a:lnSpc>
                <a:spcPct val="130000"/>
              </a:lnSpc>
            </a:pPr>
            <a:r>
              <a:rPr sz="1200" b="0">
                <a:solidFill>
                  <a:schemeClr val="tx1">
                    <a:lumMod val="95000"/>
                    <a:lumOff val="5000"/>
                  </a:schemeClr>
                </a:solidFill>
                <a:latin typeface="Meiryo"/>
                <a:ea typeface="メイリオ"/>
              </a:rPr>
              <a:t>手拍子・騒音計・ベル4方位</a:t>
            </a:r>
          </a:p>
        </p:txBody>
      </p:sp>
      <p:sp>
        <p:nvSpPr>
          <p:cNvPr id="54" name="TextBox 28">
            <a:extLst>
              <a:ext uri="{FF2B5EF4-FFF2-40B4-BE49-F238E27FC236}">
                <a16:creationId xmlns:a16="http://schemas.microsoft.com/office/drawing/2014/main" id="{6F817B14-B3F5-4609-E868-3BFFEBE75FEB}"/>
              </a:ext>
            </a:extLst>
          </p:cNvPr>
          <p:cNvSpPr txBox="1"/>
          <p:nvPr/>
        </p:nvSpPr>
        <p:spPr>
          <a:xfrm>
            <a:off x="59535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60" name="TextBox 31">
            <a:extLst>
              <a:ext uri="{FF2B5EF4-FFF2-40B4-BE49-F238E27FC236}">
                <a16:creationId xmlns:a16="http://schemas.microsoft.com/office/drawing/2014/main" id="{469F6E32-24B4-FDB6-8FAE-8F24BC823D5F}"/>
              </a:ext>
            </a:extLst>
          </p:cNvPr>
          <p:cNvSpPr txBox="1"/>
          <p:nvPr/>
        </p:nvSpPr>
        <p:spPr>
          <a:xfrm>
            <a:off x="6223000" y="1800161"/>
            <a:ext cx="1320800" cy="302647"/>
          </a:xfrm>
          <a:prstGeom prst="rect">
            <a:avLst/>
          </a:prstGeom>
          <a:noFill/>
        </p:spPr>
        <p:txBody>
          <a:bodyPr wrap="square" lIns="25400" tIns="12700" rIns="25400" bIns="12700" anchor="t">
            <a:spAutoFit/>
          </a:bodyPr>
          <a:lstStyle/>
          <a:p>
            <a:pPr algn="l"/>
            <a:r>
              <a:rPr b="1">
                <a:solidFill>
                  <a:srgbClr val="C0392B"/>
                </a:solidFill>
                <a:latin typeface="Meiryo"/>
                <a:ea typeface="メイリオ"/>
              </a:rPr>
              <a:t>④ 本番</a:t>
            </a:r>
          </a:p>
        </p:txBody>
      </p:sp>
      <p:sp>
        <p:nvSpPr>
          <p:cNvPr id="62" name="TextBox 32">
            <a:extLst>
              <a:ext uri="{FF2B5EF4-FFF2-40B4-BE49-F238E27FC236}">
                <a16:creationId xmlns:a16="http://schemas.microsoft.com/office/drawing/2014/main" id="{6C864EB8-2659-AC35-8779-976BD0C9DA6C}"/>
              </a:ext>
            </a:extLst>
          </p:cNvPr>
          <p:cNvSpPr txBox="1"/>
          <p:nvPr/>
        </p:nvSpPr>
        <p:spPr>
          <a:xfrm>
            <a:off x="6223000" y="2108200"/>
            <a:ext cx="1320800" cy="210314"/>
          </a:xfrm>
          <a:prstGeom prst="rect">
            <a:avLst/>
          </a:prstGeom>
          <a:noFill/>
        </p:spPr>
        <p:txBody>
          <a:bodyPr wrap="square" lIns="25400" tIns="12700" rIns="25400" bIns="12700" anchor="t">
            <a:spAutoFit/>
          </a:bodyPr>
          <a:lstStyle/>
          <a:p>
            <a:pPr algn="l"/>
            <a:r>
              <a:rPr sz="1200" b="0" dirty="0">
                <a:solidFill>
                  <a:srgbClr val="8A8F9A"/>
                </a:solidFill>
                <a:latin typeface="Meiryo"/>
                <a:ea typeface="メイリオ"/>
              </a:rPr>
              <a:t>20〜30秒</a:t>
            </a:r>
            <a:r>
              <a:rPr lang="en-US" sz="1200" b="0" dirty="0">
                <a:solidFill>
                  <a:srgbClr val="8A8F9A"/>
                </a:solidFill>
                <a:latin typeface="Meiryo"/>
                <a:ea typeface="メイリオ"/>
              </a:rPr>
              <a:t> </a:t>
            </a:r>
            <a:r>
              <a:rPr lang="en-US" altLang="ja-JP" sz="1200" b="0" dirty="0">
                <a:solidFill>
                  <a:srgbClr val="8A8F9A"/>
                </a:solidFill>
                <a:latin typeface="Meiryo"/>
                <a:ea typeface="メイリオ"/>
              </a:rPr>
              <a:t>× n</a:t>
            </a:r>
            <a:endParaRPr sz="1200" b="0" dirty="0">
              <a:solidFill>
                <a:srgbClr val="8A8F9A"/>
              </a:solidFill>
              <a:latin typeface="Meiryo"/>
              <a:ea typeface="メイリオ"/>
            </a:endParaRPr>
          </a:p>
        </p:txBody>
      </p:sp>
      <p:sp>
        <p:nvSpPr>
          <p:cNvPr id="64" name="TextBox 33">
            <a:extLst>
              <a:ext uri="{FF2B5EF4-FFF2-40B4-BE49-F238E27FC236}">
                <a16:creationId xmlns:a16="http://schemas.microsoft.com/office/drawing/2014/main" id="{9AEB603F-AA7F-327C-DAB8-7D82AE094224}"/>
              </a:ext>
            </a:extLst>
          </p:cNvPr>
          <p:cNvSpPr txBox="1"/>
          <p:nvPr/>
        </p:nvSpPr>
        <p:spPr>
          <a:xfrm>
            <a:off x="6223000" y="2387600"/>
            <a:ext cx="1320800" cy="491930"/>
          </a:xfrm>
          <a:prstGeom prst="rect">
            <a:avLst/>
          </a:prstGeom>
          <a:noFill/>
        </p:spPr>
        <p:txBody>
          <a:bodyPr wrap="square" lIns="25400" tIns="12700" rIns="25400" bIns="12700" anchor="t">
            <a:spAutoFit/>
          </a:bodyPr>
          <a:lstStyle/>
          <a:p>
            <a:pPr algn="l">
              <a:lnSpc>
                <a:spcPct val="130000"/>
              </a:lnSpc>
            </a:pPr>
            <a:r>
              <a:rPr sz="1200" b="0" dirty="0" err="1">
                <a:solidFill>
                  <a:schemeClr val="tx1">
                    <a:lumMod val="95000"/>
                    <a:lumOff val="5000"/>
                  </a:schemeClr>
                </a:solidFill>
                <a:latin typeface="Meiryo"/>
                <a:ea typeface="メイリオ"/>
              </a:rPr>
              <a:t>無言</a:t>
            </a:r>
            <a:r>
              <a:rPr sz="1200" b="0" dirty="0">
                <a:solidFill>
                  <a:schemeClr val="tx1">
                    <a:lumMod val="95000"/>
                    <a:lumOff val="5000"/>
                  </a:schemeClr>
                </a:solidFill>
                <a:latin typeface="Meiryo"/>
                <a:ea typeface="メイリオ"/>
              </a:rPr>
              <a:t>。</a:t>
            </a:r>
            <a:endParaRPr lang="en-US" sz="1200" b="0" dirty="0">
              <a:solidFill>
                <a:schemeClr val="tx1">
                  <a:lumMod val="95000"/>
                  <a:lumOff val="5000"/>
                </a:schemeClr>
              </a:solidFill>
              <a:latin typeface="Meiryo"/>
              <a:ea typeface="メイリオ"/>
            </a:endParaRPr>
          </a:p>
          <a:p>
            <a:pPr algn="l">
              <a:lnSpc>
                <a:spcPct val="130000"/>
              </a:lnSpc>
            </a:pPr>
            <a:r>
              <a:rPr sz="1200" b="0" dirty="0">
                <a:solidFill>
                  <a:schemeClr val="tx1">
                    <a:lumMod val="95000"/>
                    <a:lumOff val="5000"/>
                  </a:schemeClr>
                </a:solidFill>
                <a:latin typeface="Meiryo"/>
                <a:ea typeface="メイリオ"/>
              </a:rPr>
              <a:t>1通過＝1テイク</a:t>
            </a:r>
          </a:p>
        </p:txBody>
      </p:sp>
      <p:sp>
        <p:nvSpPr>
          <p:cNvPr id="66" name="TextBox 34">
            <a:extLst>
              <a:ext uri="{FF2B5EF4-FFF2-40B4-BE49-F238E27FC236}">
                <a16:creationId xmlns:a16="http://schemas.microsoft.com/office/drawing/2014/main" id="{C058BEEE-BF3C-CC38-0C6D-8959D43395B8}"/>
              </a:ext>
            </a:extLst>
          </p:cNvPr>
          <p:cNvSpPr txBox="1"/>
          <p:nvPr/>
        </p:nvSpPr>
        <p:spPr>
          <a:xfrm>
            <a:off x="76807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72" name="TextBox 37">
            <a:extLst>
              <a:ext uri="{FF2B5EF4-FFF2-40B4-BE49-F238E27FC236}">
                <a16:creationId xmlns:a16="http://schemas.microsoft.com/office/drawing/2014/main" id="{CCC8FB24-B5D9-1957-06BE-3547174B02F4}"/>
              </a:ext>
            </a:extLst>
          </p:cNvPr>
          <p:cNvSpPr txBox="1"/>
          <p:nvPr/>
        </p:nvSpPr>
        <p:spPr>
          <a:xfrm>
            <a:off x="7950200" y="1800161"/>
            <a:ext cx="1320800" cy="302647"/>
          </a:xfrm>
          <a:prstGeom prst="rect">
            <a:avLst/>
          </a:prstGeom>
          <a:noFill/>
        </p:spPr>
        <p:txBody>
          <a:bodyPr wrap="square" lIns="25400" tIns="12700" rIns="25400" bIns="12700" anchor="t">
            <a:spAutoFit/>
          </a:bodyPr>
          <a:lstStyle/>
          <a:p>
            <a:pPr algn="l"/>
            <a:r>
              <a:rPr b="1">
                <a:solidFill>
                  <a:srgbClr val="E0A526"/>
                </a:solidFill>
                <a:latin typeface="Meiryo"/>
                <a:ea typeface="メイリオ"/>
              </a:rPr>
              <a:t>⑤ 直後</a:t>
            </a:r>
          </a:p>
        </p:txBody>
      </p:sp>
      <p:sp>
        <p:nvSpPr>
          <p:cNvPr id="74" name="TextBox 38">
            <a:extLst>
              <a:ext uri="{FF2B5EF4-FFF2-40B4-BE49-F238E27FC236}">
                <a16:creationId xmlns:a16="http://schemas.microsoft.com/office/drawing/2014/main" id="{52D03E57-FC9B-C4AA-AA15-D9A0D15FEF67}"/>
              </a:ext>
            </a:extLst>
          </p:cNvPr>
          <p:cNvSpPr txBox="1"/>
          <p:nvPr/>
        </p:nvSpPr>
        <p:spPr>
          <a:xfrm>
            <a:off x="79502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30秒</a:t>
            </a:r>
          </a:p>
        </p:txBody>
      </p:sp>
      <p:sp>
        <p:nvSpPr>
          <p:cNvPr id="76" name="TextBox 39">
            <a:extLst>
              <a:ext uri="{FF2B5EF4-FFF2-40B4-BE49-F238E27FC236}">
                <a16:creationId xmlns:a16="http://schemas.microsoft.com/office/drawing/2014/main" id="{0E16B9B8-D778-DF49-39F8-87113DFFA33C}"/>
              </a:ext>
            </a:extLst>
          </p:cNvPr>
          <p:cNvSpPr txBox="1"/>
          <p:nvPr/>
        </p:nvSpPr>
        <p:spPr>
          <a:xfrm>
            <a:off x="7950200" y="2387600"/>
            <a:ext cx="1320800" cy="491930"/>
          </a:xfrm>
          <a:prstGeom prst="rect">
            <a:avLst/>
          </a:prstGeom>
          <a:noFill/>
        </p:spPr>
        <p:txBody>
          <a:bodyPr wrap="square" lIns="25400" tIns="12700" rIns="25400" bIns="12700" anchor="t">
            <a:spAutoFit/>
          </a:bodyPr>
          <a:lstStyle/>
          <a:p>
            <a:pPr algn="l">
              <a:lnSpc>
                <a:spcPct val="130000"/>
              </a:lnSpc>
            </a:pPr>
            <a:r>
              <a:rPr sz="1200" b="0" dirty="0">
                <a:solidFill>
                  <a:schemeClr val="tx1">
                    <a:lumMod val="95000"/>
                    <a:lumOff val="5000"/>
                  </a:schemeClr>
                </a:solidFill>
                <a:latin typeface="Meiryo"/>
                <a:ea typeface="メイリオ"/>
              </a:rPr>
              <a:t>5秒数えてから</a:t>
            </a:r>
            <a:endParaRPr lang="en-US" sz="1200" b="0" dirty="0">
              <a:solidFill>
                <a:schemeClr val="tx1">
                  <a:lumMod val="95000"/>
                  <a:lumOff val="5000"/>
                </a:schemeClr>
              </a:solidFill>
              <a:latin typeface="Meiryo"/>
              <a:ea typeface="メイリオ"/>
            </a:endParaRPr>
          </a:p>
          <a:p>
            <a:pPr algn="l">
              <a:lnSpc>
                <a:spcPct val="130000"/>
              </a:lnSpc>
            </a:pPr>
            <a:r>
              <a:rPr sz="1200" b="0" dirty="0" err="1">
                <a:solidFill>
                  <a:schemeClr val="tx1">
                    <a:lumMod val="95000"/>
                    <a:lumOff val="5000"/>
                  </a:schemeClr>
                </a:solidFill>
                <a:latin typeface="Meiryo"/>
                <a:ea typeface="メイリオ"/>
              </a:rPr>
              <a:t>声で記録</a:t>
            </a:r>
            <a:endParaRPr sz="1200" b="0" dirty="0">
              <a:solidFill>
                <a:schemeClr val="tx1">
                  <a:lumMod val="95000"/>
                  <a:lumOff val="5000"/>
                </a:schemeClr>
              </a:solidFill>
              <a:latin typeface="Meiryo"/>
              <a:ea typeface="メイリオ"/>
            </a:endParaRPr>
          </a:p>
        </p:txBody>
      </p:sp>
      <p:sp>
        <p:nvSpPr>
          <p:cNvPr id="78" name="TextBox 40">
            <a:extLst>
              <a:ext uri="{FF2B5EF4-FFF2-40B4-BE49-F238E27FC236}">
                <a16:creationId xmlns:a16="http://schemas.microsoft.com/office/drawing/2014/main" id="{90B575F0-C347-6132-121E-C01D610B7A5A}"/>
              </a:ext>
            </a:extLst>
          </p:cNvPr>
          <p:cNvSpPr txBox="1"/>
          <p:nvPr/>
        </p:nvSpPr>
        <p:spPr>
          <a:xfrm>
            <a:off x="94079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84" name="TextBox 43">
            <a:extLst>
              <a:ext uri="{FF2B5EF4-FFF2-40B4-BE49-F238E27FC236}">
                <a16:creationId xmlns:a16="http://schemas.microsoft.com/office/drawing/2014/main" id="{09BEFFE0-4801-308B-9001-760A2C383816}"/>
              </a:ext>
            </a:extLst>
          </p:cNvPr>
          <p:cNvSpPr txBox="1"/>
          <p:nvPr/>
        </p:nvSpPr>
        <p:spPr>
          <a:xfrm>
            <a:off x="9677400" y="1800161"/>
            <a:ext cx="1320800" cy="302647"/>
          </a:xfrm>
          <a:prstGeom prst="rect">
            <a:avLst/>
          </a:prstGeom>
          <a:noFill/>
        </p:spPr>
        <p:txBody>
          <a:bodyPr wrap="square" lIns="25400" tIns="12700" rIns="25400" bIns="12700" anchor="t">
            <a:spAutoFit/>
          </a:bodyPr>
          <a:lstStyle/>
          <a:p>
            <a:pPr algn="l"/>
            <a:r>
              <a:rPr b="1">
                <a:solidFill>
                  <a:srgbClr val="2E7D5B"/>
                </a:solidFill>
                <a:latin typeface="Meiryo"/>
                <a:ea typeface="メイリオ"/>
              </a:rPr>
              <a:t>⑥ 確認</a:t>
            </a:r>
          </a:p>
        </p:txBody>
      </p:sp>
      <p:sp>
        <p:nvSpPr>
          <p:cNvPr id="86" name="TextBox 44">
            <a:extLst>
              <a:ext uri="{FF2B5EF4-FFF2-40B4-BE49-F238E27FC236}">
                <a16:creationId xmlns:a16="http://schemas.microsoft.com/office/drawing/2014/main" id="{DA39E0F0-7304-9D34-A197-6A3B8F27854B}"/>
              </a:ext>
            </a:extLst>
          </p:cNvPr>
          <p:cNvSpPr txBox="1"/>
          <p:nvPr/>
        </p:nvSpPr>
        <p:spPr>
          <a:xfrm>
            <a:off x="96774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5分</a:t>
            </a:r>
          </a:p>
        </p:txBody>
      </p:sp>
      <p:sp>
        <p:nvSpPr>
          <p:cNvPr id="88" name="TextBox 45">
            <a:extLst>
              <a:ext uri="{FF2B5EF4-FFF2-40B4-BE49-F238E27FC236}">
                <a16:creationId xmlns:a16="http://schemas.microsoft.com/office/drawing/2014/main" id="{AC694EF9-7D11-D8F5-7AFD-0A56E27A5680}"/>
              </a:ext>
            </a:extLst>
          </p:cNvPr>
          <p:cNvSpPr txBox="1"/>
          <p:nvPr/>
        </p:nvSpPr>
        <p:spPr>
          <a:xfrm>
            <a:off x="9677400" y="2387600"/>
            <a:ext cx="1320800" cy="491930"/>
          </a:xfrm>
          <a:prstGeom prst="rect">
            <a:avLst/>
          </a:prstGeom>
          <a:noFill/>
        </p:spPr>
        <p:txBody>
          <a:bodyPr wrap="square" lIns="25400" tIns="12700" rIns="25400" bIns="12700" anchor="t">
            <a:spAutoFit/>
          </a:bodyPr>
          <a:lstStyle/>
          <a:p>
            <a:pPr algn="l">
              <a:lnSpc>
                <a:spcPct val="130000"/>
              </a:lnSpc>
            </a:pPr>
            <a:r>
              <a:rPr sz="1200" b="0">
                <a:solidFill>
                  <a:schemeClr val="tx1">
                    <a:lumMod val="95000"/>
                    <a:lumOff val="5000"/>
                  </a:schemeClr>
                </a:solidFill>
                <a:latin typeface="Meiryo"/>
                <a:ea typeface="メイリオ"/>
              </a:rPr>
              <a:t>その場で再生して品質確認</a:t>
            </a:r>
          </a:p>
        </p:txBody>
      </p:sp>
      <p:sp>
        <p:nvSpPr>
          <p:cNvPr id="94" name="TextBox 48">
            <a:extLst>
              <a:ext uri="{FF2B5EF4-FFF2-40B4-BE49-F238E27FC236}">
                <a16:creationId xmlns:a16="http://schemas.microsoft.com/office/drawing/2014/main" id="{AF77137C-0B24-2B14-3F17-F3A7A64FCEDE}"/>
              </a:ext>
            </a:extLst>
          </p:cNvPr>
          <p:cNvSpPr txBox="1"/>
          <p:nvPr/>
        </p:nvSpPr>
        <p:spPr>
          <a:xfrm>
            <a:off x="1079564" y="3689057"/>
            <a:ext cx="4673600" cy="302647"/>
          </a:xfrm>
          <a:prstGeom prst="rect">
            <a:avLst/>
          </a:prstGeom>
          <a:noFill/>
        </p:spPr>
        <p:txBody>
          <a:bodyPr wrap="square" lIns="25400" tIns="12700" rIns="25400" bIns="12700" anchor="t">
            <a:spAutoFit/>
          </a:bodyPr>
          <a:lstStyle/>
          <a:p>
            <a:pPr algn="l"/>
            <a:r>
              <a:rPr b="1" dirty="0">
                <a:solidFill>
                  <a:schemeClr val="tx1">
                    <a:lumMod val="95000"/>
                    <a:lumOff val="5000"/>
                  </a:schemeClr>
                </a:solidFill>
                <a:latin typeface="Meiryo"/>
                <a:ea typeface="メイリオ"/>
              </a:rPr>
              <a:t>③ </a:t>
            </a:r>
            <a:r>
              <a:rPr b="1" dirty="0" err="1">
                <a:solidFill>
                  <a:schemeClr val="tx1">
                    <a:lumMod val="95000"/>
                    <a:lumOff val="5000"/>
                  </a:schemeClr>
                </a:solidFill>
                <a:latin typeface="Meiryo"/>
                <a:ea typeface="メイリオ"/>
              </a:rPr>
              <a:t>儀式の中身</a:t>
            </a:r>
            <a:endParaRPr b="1" dirty="0">
              <a:solidFill>
                <a:schemeClr val="tx1">
                  <a:lumMod val="95000"/>
                  <a:lumOff val="5000"/>
                </a:schemeClr>
              </a:solidFill>
              <a:latin typeface="Meiryo"/>
              <a:ea typeface="メイリオ"/>
            </a:endParaRPr>
          </a:p>
        </p:txBody>
      </p:sp>
      <p:sp>
        <p:nvSpPr>
          <p:cNvPr id="96" name="Oval 49">
            <a:extLst>
              <a:ext uri="{FF2B5EF4-FFF2-40B4-BE49-F238E27FC236}">
                <a16:creationId xmlns:a16="http://schemas.microsoft.com/office/drawing/2014/main" id="{1F06897A-30A6-A69B-E886-2695705549BF}"/>
              </a:ext>
            </a:extLst>
          </p:cNvPr>
          <p:cNvSpPr/>
          <p:nvPr/>
        </p:nvSpPr>
        <p:spPr>
          <a:xfrm>
            <a:off x="1104964" y="4094352"/>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050" b="1" dirty="0">
                <a:solidFill>
                  <a:schemeClr val="tx1">
                    <a:lumMod val="95000"/>
                    <a:lumOff val="5000"/>
                  </a:schemeClr>
                </a:solidFill>
                <a:latin typeface="Meiryo"/>
                <a:ea typeface="メイリオ"/>
              </a:rPr>
              <a:t>1</a:t>
            </a:r>
          </a:p>
        </p:txBody>
      </p:sp>
      <p:sp>
        <p:nvSpPr>
          <p:cNvPr id="98" name="TextBox 50">
            <a:extLst>
              <a:ext uri="{FF2B5EF4-FFF2-40B4-BE49-F238E27FC236}">
                <a16:creationId xmlns:a16="http://schemas.microsoft.com/office/drawing/2014/main" id="{3317CC0A-BE52-3256-59B0-60BEA029F2CD}"/>
              </a:ext>
            </a:extLst>
          </p:cNvPr>
          <p:cNvSpPr txBox="1"/>
          <p:nvPr/>
        </p:nvSpPr>
        <p:spPr>
          <a:xfrm>
            <a:off x="1409764" y="3999891"/>
            <a:ext cx="4445000" cy="487313"/>
          </a:xfrm>
          <a:prstGeom prst="rect">
            <a:avLst/>
          </a:prstGeom>
          <a:noFill/>
        </p:spPr>
        <p:txBody>
          <a:bodyPr wrap="square" lIns="25400" tIns="12700" rIns="25400" bIns="12700" anchor="t">
            <a:spAutoFit/>
          </a:bodyPr>
          <a:lstStyle/>
          <a:p>
            <a:pPr algn="l"/>
            <a:r>
              <a:rPr sz="1600" b="1" dirty="0">
                <a:solidFill>
                  <a:schemeClr val="tx1">
                    <a:lumMod val="95000"/>
                    <a:lumOff val="5000"/>
                  </a:schemeClr>
                </a:solidFill>
                <a:latin typeface="Meiryo"/>
                <a:ea typeface="メイリオ"/>
              </a:rPr>
              <a:t>手拍子を1回</a:t>
            </a:r>
            <a:endParaRPr lang="en-US" sz="1600" b="1" dirty="0">
              <a:solidFill>
                <a:schemeClr val="tx1">
                  <a:lumMod val="95000"/>
                  <a:lumOff val="5000"/>
                </a:schemeClr>
              </a:solidFill>
              <a:latin typeface="Meiryo"/>
              <a:ea typeface="メイリオ"/>
            </a:endParaRPr>
          </a:p>
          <a:p>
            <a:pPr algn="l"/>
            <a:r>
              <a:rPr sz="1400" b="0" dirty="0" err="1">
                <a:solidFill>
                  <a:schemeClr val="tx1">
                    <a:lumMod val="95000"/>
                    <a:lumOff val="5000"/>
                  </a:schemeClr>
                </a:solidFill>
                <a:latin typeface="Meiryo"/>
                <a:ea typeface="メイリオ"/>
              </a:rPr>
              <a:t>録音と動画の時刻を合わせる</a:t>
            </a:r>
            <a:endParaRPr sz="1400" b="0" dirty="0">
              <a:solidFill>
                <a:schemeClr val="tx1">
                  <a:lumMod val="95000"/>
                  <a:lumOff val="5000"/>
                </a:schemeClr>
              </a:solidFill>
              <a:latin typeface="Meiryo"/>
              <a:ea typeface="メイリオ"/>
            </a:endParaRPr>
          </a:p>
        </p:txBody>
      </p:sp>
      <p:sp>
        <p:nvSpPr>
          <p:cNvPr id="100" name="Oval 51">
            <a:extLst>
              <a:ext uri="{FF2B5EF4-FFF2-40B4-BE49-F238E27FC236}">
                <a16:creationId xmlns:a16="http://schemas.microsoft.com/office/drawing/2014/main" id="{058522A4-8F79-7C72-6DC3-768171FE393E}"/>
              </a:ext>
            </a:extLst>
          </p:cNvPr>
          <p:cNvSpPr/>
          <p:nvPr/>
        </p:nvSpPr>
        <p:spPr>
          <a:xfrm>
            <a:off x="1104964" y="4623332"/>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050" b="1">
                <a:solidFill>
                  <a:schemeClr val="tx1">
                    <a:lumMod val="95000"/>
                    <a:lumOff val="5000"/>
                  </a:schemeClr>
                </a:solidFill>
                <a:latin typeface="Meiryo"/>
                <a:ea typeface="メイリオ"/>
              </a:rPr>
              <a:t>2</a:t>
            </a:r>
          </a:p>
        </p:txBody>
      </p:sp>
      <p:sp>
        <p:nvSpPr>
          <p:cNvPr id="102" name="TextBox 52">
            <a:extLst>
              <a:ext uri="{FF2B5EF4-FFF2-40B4-BE49-F238E27FC236}">
                <a16:creationId xmlns:a16="http://schemas.microsoft.com/office/drawing/2014/main" id="{80D32F9A-6305-9F98-6A9D-446C5A2AD659}"/>
              </a:ext>
            </a:extLst>
          </p:cNvPr>
          <p:cNvSpPr txBox="1"/>
          <p:nvPr/>
        </p:nvSpPr>
        <p:spPr>
          <a:xfrm>
            <a:off x="1409764" y="4518420"/>
            <a:ext cx="4445000" cy="487313"/>
          </a:xfrm>
          <a:prstGeom prst="rect">
            <a:avLst/>
          </a:prstGeom>
          <a:noFill/>
        </p:spPr>
        <p:txBody>
          <a:bodyPr wrap="square" lIns="25400" tIns="12700" rIns="25400" bIns="12700" anchor="t">
            <a:spAutoFit/>
          </a:bodyPr>
          <a:lstStyle/>
          <a:p>
            <a:pPr algn="l"/>
            <a:r>
              <a:rPr sz="1600" b="1" dirty="0">
                <a:solidFill>
                  <a:schemeClr val="tx1">
                    <a:lumMod val="95000"/>
                    <a:lumOff val="5000"/>
                  </a:schemeClr>
                </a:solidFill>
                <a:latin typeface="Meiryo"/>
                <a:ea typeface="メイリオ"/>
              </a:rPr>
              <a:t>騒音計と並べて無言で60秒</a:t>
            </a:r>
            <a:endParaRPr lang="en-US" sz="1600" b="1" dirty="0">
              <a:solidFill>
                <a:schemeClr val="tx1">
                  <a:lumMod val="95000"/>
                  <a:lumOff val="5000"/>
                </a:schemeClr>
              </a:solidFill>
              <a:latin typeface="Meiryo"/>
              <a:ea typeface="メイリオ"/>
            </a:endParaRPr>
          </a:p>
          <a:p>
            <a:pPr algn="l"/>
            <a:r>
              <a:rPr sz="1400" b="0" dirty="0" err="1">
                <a:solidFill>
                  <a:schemeClr val="tx1">
                    <a:lumMod val="95000"/>
                    <a:lumOff val="5000"/>
                  </a:schemeClr>
                </a:solidFill>
                <a:latin typeface="Meiryo"/>
                <a:ea typeface="メイリオ"/>
              </a:rPr>
              <a:t>何デシベルだったかの基準を取る</a:t>
            </a:r>
            <a:endParaRPr sz="1400" b="0" dirty="0">
              <a:solidFill>
                <a:schemeClr val="tx1">
                  <a:lumMod val="95000"/>
                  <a:lumOff val="5000"/>
                </a:schemeClr>
              </a:solidFill>
              <a:latin typeface="Meiryo"/>
              <a:ea typeface="メイリオ"/>
            </a:endParaRPr>
          </a:p>
        </p:txBody>
      </p:sp>
      <p:sp>
        <p:nvSpPr>
          <p:cNvPr id="104" name="Oval 53">
            <a:extLst>
              <a:ext uri="{FF2B5EF4-FFF2-40B4-BE49-F238E27FC236}">
                <a16:creationId xmlns:a16="http://schemas.microsoft.com/office/drawing/2014/main" id="{0B57BDA5-5757-42E5-70F7-A91C92DC4968}"/>
              </a:ext>
            </a:extLst>
          </p:cNvPr>
          <p:cNvSpPr/>
          <p:nvPr/>
        </p:nvSpPr>
        <p:spPr>
          <a:xfrm>
            <a:off x="1104964" y="5142373"/>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050" b="1">
                <a:solidFill>
                  <a:schemeClr val="tx1">
                    <a:lumMod val="95000"/>
                    <a:lumOff val="5000"/>
                  </a:schemeClr>
                </a:solidFill>
                <a:latin typeface="Meiryo"/>
                <a:ea typeface="メイリオ"/>
              </a:rPr>
              <a:t>3</a:t>
            </a:r>
          </a:p>
        </p:txBody>
      </p:sp>
      <p:sp>
        <p:nvSpPr>
          <p:cNvPr id="106" name="TextBox 54">
            <a:extLst>
              <a:ext uri="{FF2B5EF4-FFF2-40B4-BE49-F238E27FC236}">
                <a16:creationId xmlns:a16="http://schemas.microsoft.com/office/drawing/2014/main" id="{8405C874-26D6-049F-511C-B5F46065B29B}"/>
              </a:ext>
            </a:extLst>
          </p:cNvPr>
          <p:cNvSpPr txBox="1"/>
          <p:nvPr/>
        </p:nvSpPr>
        <p:spPr>
          <a:xfrm>
            <a:off x="1409764" y="5037461"/>
            <a:ext cx="4445000" cy="487313"/>
          </a:xfrm>
          <a:prstGeom prst="rect">
            <a:avLst/>
          </a:prstGeom>
          <a:noFill/>
        </p:spPr>
        <p:txBody>
          <a:bodyPr wrap="square" lIns="25400" tIns="12700" rIns="25400" bIns="12700" anchor="t">
            <a:spAutoFit/>
          </a:bodyPr>
          <a:lstStyle/>
          <a:p>
            <a:pPr algn="l"/>
            <a:r>
              <a:rPr sz="1600" b="1" dirty="0">
                <a:solidFill>
                  <a:schemeClr val="tx1">
                    <a:lumMod val="95000"/>
                    <a:lumOff val="5000"/>
                  </a:schemeClr>
                </a:solidFill>
                <a:latin typeface="Meiryo"/>
                <a:ea typeface="メイリオ"/>
              </a:rPr>
              <a:t>ベルを前後左右から1打ずつ</a:t>
            </a:r>
            <a:endParaRPr lang="en-US" sz="1600" b="1" dirty="0">
              <a:solidFill>
                <a:schemeClr val="tx1">
                  <a:lumMod val="95000"/>
                  <a:lumOff val="5000"/>
                </a:schemeClr>
              </a:solidFill>
              <a:latin typeface="Meiryo"/>
              <a:ea typeface="メイリオ"/>
            </a:endParaRPr>
          </a:p>
          <a:p>
            <a:pPr algn="l"/>
            <a:r>
              <a:rPr sz="1400" b="0" dirty="0" err="1">
                <a:solidFill>
                  <a:schemeClr val="tx1">
                    <a:lumMod val="95000"/>
                    <a:lumOff val="5000"/>
                  </a:schemeClr>
                </a:solidFill>
                <a:latin typeface="Meiryo"/>
                <a:ea typeface="メイリオ"/>
              </a:rPr>
              <a:t>マイクの正面と体の正面のズレを測る</a:t>
            </a:r>
            <a:endParaRPr sz="1400" b="0" dirty="0">
              <a:solidFill>
                <a:schemeClr val="tx1">
                  <a:lumMod val="95000"/>
                  <a:lumOff val="5000"/>
                </a:schemeClr>
              </a:solidFill>
              <a:latin typeface="Meiryo"/>
              <a:ea typeface="メイリオ"/>
            </a:endParaRPr>
          </a:p>
        </p:txBody>
      </p:sp>
      <p:sp>
        <p:nvSpPr>
          <p:cNvPr id="112" name="TextBox 57">
            <a:extLst>
              <a:ext uri="{FF2B5EF4-FFF2-40B4-BE49-F238E27FC236}">
                <a16:creationId xmlns:a16="http://schemas.microsoft.com/office/drawing/2014/main" id="{C1FE9787-8EB2-EC2C-EF6B-FE31725E7152}"/>
              </a:ext>
            </a:extLst>
          </p:cNvPr>
          <p:cNvSpPr txBox="1"/>
          <p:nvPr/>
        </p:nvSpPr>
        <p:spPr>
          <a:xfrm>
            <a:off x="6261164" y="3694577"/>
            <a:ext cx="46736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帰宅後、その日のうちに</a:t>
            </a:r>
            <a:endParaRPr b="1" dirty="0">
              <a:solidFill>
                <a:schemeClr val="tx1">
                  <a:lumMod val="95000"/>
                  <a:lumOff val="5000"/>
                </a:schemeClr>
              </a:solidFill>
              <a:latin typeface="Meiryo"/>
              <a:ea typeface="メイリオ"/>
            </a:endParaRPr>
          </a:p>
        </p:txBody>
      </p:sp>
      <p:sp>
        <p:nvSpPr>
          <p:cNvPr id="116" name="TextBox 59">
            <a:extLst>
              <a:ext uri="{FF2B5EF4-FFF2-40B4-BE49-F238E27FC236}">
                <a16:creationId xmlns:a16="http://schemas.microsoft.com/office/drawing/2014/main" id="{5125846E-F0CA-FD4D-1B59-10670494F295}"/>
              </a:ext>
            </a:extLst>
          </p:cNvPr>
          <p:cNvSpPr txBox="1"/>
          <p:nvPr/>
        </p:nvSpPr>
        <p:spPr>
          <a:xfrm>
            <a:off x="6261164" y="4120097"/>
            <a:ext cx="4800600" cy="1195199"/>
          </a:xfrm>
          <a:prstGeom prst="rect">
            <a:avLst/>
          </a:prstGeom>
          <a:noFill/>
        </p:spPr>
        <p:txBody>
          <a:bodyPr wrap="square" lIns="25400" tIns="12700" rIns="25400" bIns="12700" anchor="t">
            <a:spAutoFit/>
          </a:bodyPr>
          <a:lstStyle/>
          <a:p>
            <a:pPr marL="171450" indent="-171450" algn="l">
              <a:lnSpc>
                <a:spcPct val="120000"/>
              </a:lnSpc>
              <a:buFont typeface="Wingdings" panose="05000000000000000000" pitchFamily="2" charset="2"/>
              <a:buChar char="Ø"/>
            </a:pPr>
            <a:r>
              <a:rPr sz="1600" b="0" dirty="0" err="1">
                <a:solidFill>
                  <a:schemeClr val="tx1">
                    <a:lumMod val="95000"/>
                    <a:lumOff val="5000"/>
                  </a:schemeClr>
                </a:solidFill>
                <a:latin typeface="Meiryo"/>
                <a:ea typeface="メイリオ"/>
              </a:rPr>
              <a:t>録音を学習データと同じ形式に変換する</a:t>
            </a:r>
            <a:endParaRPr lang="en-US" sz="1600" b="0" dirty="0">
              <a:solidFill>
                <a:schemeClr val="tx1">
                  <a:lumMod val="95000"/>
                  <a:lumOff val="5000"/>
                </a:schemeClr>
              </a:solidFill>
              <a:latin typeface="Meiryo"/>
              <a:ea typeface="メイリオ"/>
            </a:endParaRPr>
          </a:p>
          <a:p>
            <a:pPr marL="171450" indent="-171450" algn="l">
              <a:lnSpc>
                <a:spcPct val="120000"/>
              </a:lnSpc>
              <a:buFont typeface="Wingdings" panose="05000000000000000000" pitchFamily="2" charset="2"/>
              <a:buChar char="Ø"/>
            </a:pPr>
            <a:r>
              <a:rPr lang="en-US" altLang="ja-JP" sz="1600" b="0" dirty="0">
                <a:solidFill>
                  <a:schemeClr val="tx1">
                    <a:lumMod val="95000"/>
                    <a:lumOff val="5000"/>
                  </a:schemeClr>
                </a:solidFill>
                <a:latin typeface="Meiryo"/>
                <a:ea typeface="メイリオ"/>
              </a:rPr>
              <a:t>1</a:t>
            </a:r>
            <a:r>
              <a:rPr lang="ja-JP" altLang="en-US" sz="1600" b="0" dirty="0">
                <a:solidFill>
                  <a:schemeClr val="tx1">
                    <a:lumMod val="95000"/>
                    <a:lumOff val="5000"/>
                  </a:schemeClr>
                </a:solidFill>
                <a:latin typeface="Meiryo"/>
                <a:ea typeface="メイリオ"/>
              </a:rPr>
              <a:t>件ずつの</a:t>
            </a:r>
            <a:r>
              <a:rPr lang="en-US" altLang="ja-JP" sz="1600" b="0" dirty="0">
                <a:solidFill>
                  <a:schemeClr val="tx1">
                    <a:lumMod val="95000"/>
                    <a:lumOff val="5000"/>
                  </a:schemeClr>
                </a:solidFill>
                <a:latin typeface="Meiryo"/>
                <a:ea typeface="メイリオ"/>
              </a:rPr>
              <a:t>10</a:t>
            </a:r>
            <a:r>
              <a:rPr lang="ja-JP" altLang="en-US" sz="1600" b="0" dirty="0">
                <a:solidFill>
                  <a:schemeClr val="tx1">
                    <a:lumMod val="95000"/>
                    <a:lumOff val="5000"/>
                  </a:schemeClr>
                </a:solidFill>
                <a:latin typeface="Meiryo"/>
                <a:ea typeface="メイリオ"/>
              </a:rPr>
              <a:t>秒クリップに切り出す</a:t>
            </a:r>
            <a:endParaRPr lang="en-US" altLang="ja-JP" sz="1600" b="0" dirty="0">
              <a:solidFill>
                <a:schemeClr val="tx1">
                  <a:lumMod val="95000"/>
                  <a:lumOff val="5000"/>
                </a:schemeClr>
              </a:solidFill>
              <a:latin typeface="Meiryo"/>
              <a:ea typeface="メイリオ"/>
            </a:endParaRPr>
          </a:p>
          <a:p>
            <a:pPr marL="171450" indent="-171450">
              <a:lnSpc>
                <a:spcPct val="120000"/>
              </a:lnSpc>
              <a:buFont typeface="Wingdings" panose="05000000000000000000" pitchFamily="2" charset="2"/>
              <a:buChar char="Ø"/>
            </a:pPr>
            <a:r>
              <a:rPr lang="ja-JP" altLang="en-US" sz="1600" dirty="0">
                <a:solidFill>
                  <a:schemeClr val="tx1">
                    <a:lumMod val="95000"/>
                    <a:lumOff val="5000"/>
                  </a:schemeClr>
                </a:solidFill>
                <a:latin typeface="Meiryo"/>
                <a:ea typeface="メイリオ"/>
              </a:rPr>
              <a:t>紙の記録を表に打ち込む</a:t>
            </a:r>
            <a:endParaRPr lang="en-US" altLang="ja-JP" sz="1600" dirty="0">
              <a:solidFill>
                <a:schemeClr val="tx1">
                  <a:lumMod val="95000"/>
                  <a:lumOff val="5000"/>
                </a:schemeClr>
              </a:solidFill>
              <a:latin typeface="Meiryo"/>
              <a:ea typeface="メイリオ"/>
            </a:endParaRPr>
          </a:p>
          <a:p>
            <a:pPr marL="171450" indent="-171450">
              <a:lnSpc>
                <a:spcPct val="120000"/>
              </a:lnSpc>
              <a:buFont typeface="Wingdings" panose="05000000000000000000" pitchFamily="2" charset="2"/>
              <a:buChar char="Ø"/>
            </a:pPr>
            <a:r>
              <a:rPr lang="ja-JP" altLang="en-US" sz="1600" dirty="0">
                <a:solidFill>
                  <a:schemeClr val="tx1">
                    <a:lumMod val="95000"/>
                    <a:lumOff val="5000"/>
                  </a:schemeClr>
                </a:solidFill>
                <a:latin typeface="Meiryo"/>
                <a:ea typeface="メイリオ"/>
              </a:rPr>
              <a:t>検査スクリプトで形式ミスを機械的に見つける</a:t>
            </a:r>
          </a:p>
        </p:txBody>
      </p:sp>
      <p:sp>
        <p:nvSpPr>
          <p:cNvPr id="39" name="Rounded Rectangle 97">
            <a:extLst>
              <a:ext uri="{FF2B5EF4-FFF2-40B4-BE49-F238E27FC236}">
                <a16:creationId xmlns:a16="http://schemas.microsoft.com/office/drawing/2014/main" id="{9E005D3C-925E-0290-2F91-5F6E97217776}"/>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4" name="Rounded Rectangle 96">
            <a:extLst>
              <a:ext uri="{FF2B5EF4-FFF2-40B4-BE49-F238E27FC236}">
                <a16:creationId xmlns:a16="http://schemas.microsoft.com/office/drawing/2014/main" id="{67DF633B-E304-1989-7DD2-BC5A7D6B3A34}"/>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8" name="Rounded Rectangle 95">
            <a:extLst>
              <a:ext uri="{FF2B5EF4-FFF2-40B4-BE49-F238E27FC236}">
                <a16:creationId xmlns:a16="http://schemas.microsoft.com/office/drawing/2014/main" id="{9BF9604D-98D3-CEC3-E8C7-3A3663CA0A47}"/>
              </a:ext>
            </a:extLst>
          </p:cNvPr>
          <p:cNvSpPr/>
          <p:nvPr/>
        </p:nvSpPr>
        <p:spPr>
          <a:xfrm>
            <a:off x="6687241" y="6392995"/>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実録の計画</a:t>
            </a:r>
            <a:endParaRPr sz="1600" b="1" dirty="0">
              <a:solidFill>
                <a:schemeClr val="bg1"/>
              </a:solidFill>
              <a:latin typeface="Meiryo"/>
              <a:ea typeface="メイリオ"/>
            </a:endParaRPr>
          </a:p>
        </p:txBody>
      </p:sp>
      <p:sp>
        <p:nvSpPr>
          <p:cNvPr id="53" name="Rounded Rectangle 94">
            <a:extLst>
              <a:ext uri="{FF2B5EF4-FFF2-40B4-BE49-F238E27FC236}">
                <a16:creationId xmlns:a16="http://schemas.microsoft.com/office/drawing/2014/main" id="{BE824B94-C91C-9E19-155E-5D2404052331}"/>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57" name="Rounded Rectangle 93">
            <a:extLst>
              <a:ext uri="{FF2B5EF4-FFF2-40B4-BE49-F238E27FC236}">
                <a16:creationId xmlns:a16="http://schemas.microsoft.com/office/drawing/2014/main" id="{632B84D8-2792-2026-A83B-663FAF45561A}"/>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61" name="Rounded Rectangle 92">
            <a:extLst>
              <a:ext uri="{FF2B5EF4-FFF2-40B4-BE49-F238E27FC236}">
                <a16:creationId xmlns:a16="http://schemas.microsoft.com/office/drawing/2014/main" id="{91B95993-EAEB-9B05-4323-FD0028D3339A}"/>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65" name="Rectangle 41">
            <a:extLst>
              <a:ext uri="{FF2B5EF4-FFF2-40B4-BE49-F238E27FC236}">
                <a16:creationId xmlns:a16="http://schemas.microsoft.com/office/drawing/2014/main" id="{7EDB2109-5158-005B-B69B-5FC858552806}"/>
              </a:ext>
            </a:extLst>
          </p:cNvPr>
          <p:cNvSpPr/>
          <p:nvPr/>
        </p:nvSpPr>
        <p:spPr>
          <a:xfrm>
            <a:off x="6070600" y="3098800"/>
            <a:ext cx="1625600" cy="2794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42">
            <a:extLst>
              <a:ext uri="{FF2B5EF4-FFF2-40B4-BE49-F238E27FC236}">
                <a16:creationId xmlns:a16="http://schemas.microsoft.com/office/drawing/2014/main" id="{F13A9B86-CA21-995A-6F6F-8328BB9B1AD1}"/>
              </a:ext>
            </a:extLst>
          </p:cNvPr>
          <p:cNvSpPr txBox="1"/>
          <p:nvPr/>
        </p:nvSpPr>
        <p:spPr>
          <a:xfrm>
            <a:off x="6070600" y="3149600"/>
            <a:ext cx="1625600" cy="194925"/>
          </a:xfrm>
          <a:prstGeom prst="rect">
            <a:avLst/>
          </a:prstGeom>
          <a:noFill/>
        </p:spPr>
        <p:txBody>
          <a:bodyPr wrap="square" lIns="25400" tIns="12700" rIns="25400" bIns="12700" anchor="t">
            <a:spAutoFit/>
          </a:bodyPr>
          <a:lstStyle/>
          <a:p>
            <a:pPr algn="ctr"/>
            <a:r>
              <a:rPr sz="1100" b="1" dirty="0">
                <a:solidFill>
                  <a:srgbClr val="7E6F98"/>
                </a:solidFill>
                <a:latin typeface="Meiryo"/>
                <a:ea typeface="メイリオ"/>
              </a:rPr>
              <a:t>↻ </a:t>
            </a:r>
            <a:r>
              <a:rPr sz="1100" b="1" dirty="0" err="1">
                <a:solidFill>
                  <a:srgbClr val="7E6F98"/>
                </a:solidFill>
                <a:latin typeface="Meiryo"/>
                <a:ea typeface="メイリオ"/>
              </a:rPr>
              <a:t>通るたびに繰り返す</a:t>
            </a:r>
            <a:endParaRPr sz="1100" b="1" dirty="0">
              <a:solidFill>
                <a:srgbClr val="7E6F98"/>
              </a:solidFill>
              <a:latin typeface="Meiryo"/>
              <a:ea typeface="メイリオ"/>
            </a:endParaRPr>
          </a:p>
        </p:txBody>
      </p:sp>
      <p:sp>
        <p:nvSpPr>
          <p:cNvPr id="117" name="Rectangle 116"/>
          <p:cNvSpPr/>
          <p:nvPr/>
        </p:nvSpPr>
        <p:spPr>
          <a:xfrm>
            <a:off x="889000" y="2128208"/>
            <a:ext cx="16256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2616200" y="2128208"/>
            <a:ext cx="16256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343400" y="2128208"/>
            <a:ext cx="16256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6070600" y="2128208"/>
            <a:ext cx="16256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7797800" y="2128208"/>
            <a:ext cx="16256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525000" y="2128208"/>
            <a:ext cx="16256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89000" y="4017104"/>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6070600" y="4022624"/>
            <a:ext cx="5080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4292600" y="1778000"/>
            <a:ext cx="10160" cy="11684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019800" y="1778000"/>
            <a:ext cx="10160" cy="11684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474200" y="1778000"/>
            <a:ext cx="10160" cy="11684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45892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500DE-F972-C413-3117-BDC9D4A4AF0C}"/>
            </a:ext>
          </a:extLst>
        </p:cNvPr>
        <p:cNvGrpSpPr/>
        <p:nvPr/>
      </p:nvGrpSpPr>
      <p:grpSpPr>
        <a:xfrm>
          <a:off x="0" y="0"/>
          <a:ext cx="0" cy="0"/>
          <a:chOff x="0" y="0"/>
          <a:chExt cx="0" cy="0"/>
        </a:xfrm>
      </p:grpSpPr>
      <p:sp>
        <p:nvSpPr>
          <p:cNvPr id="11" name="Rectangle 5">
            <a:extLst>
              <a:ext uri="{FF2B5EF4-FFF2-40B4-BE49-F238E27FC236}">
                <a16:creationId xmlns:a16="http://schemas.microsoft.com/office/drawing/2014/main" id="{850611EC-A18B-2A6D-6E5C-C2DE799A594D}"/>
              </a:ext>
            </a:extLst>
          </p:cNvPr>
          <p:cNvSpPr/>
          <p:nvPr/>
        </p:nvSpPr>
        <p:spPr>
          <a:xfrm>
            <a:off x="889000" y="1676399"/>
            <a:ext cx="10414000" cy="4268159"/>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AutoShape 2">
            <a:extLst>
              <a:ext uri="{FF2B5EF4-FFF2-40B4-BE49-F238E27FC236}">
                <a16:creationId xmlns:a16="http://schemas.microsoft.com/office/drawing/2014/main" id="{268D3B11-01D2-7480-A380-AFF21FD58137}"/>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2D8BF25E-0F66-EE36-C1C6-DBD6654EAF48}"/>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43691DA0-9EED-254F-9A95-86AC0983693A}"/>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27AB71FF-864E-0471-519D-2FFD91D09F4E}"/>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39237177-04BE-7593-62C6-C7E0B61B04C9}"/>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2B981DDC-1BC2-9502-2C55-E1961E6AD2D0}"/>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948D15D4-D21A-BF67-BD40-32052FC85E08}"/>
              </a:ext>
            </a:extLst>
          </p:cNvPr>
          <p:cNvSpPr>
            <a:spLocks noGrp="1"/>
          </p:cNvSpPr>
          <p:nvPr>
            <p:ph type="sldNum" sz="quarter" idx="12"/>
          </p:nvPr>
        </p:nvSpPr>
        <p:spPr/>
        <p:txBody>
          <a:bodyPr/>
          <a:lstStyle/>
          <a:p>
            <a:fld id="{4E9148DC-F7ED-4428-85F4-2C78C4B0CFB7}" type="slidenum">
              <a:rPr kumimoji="1" lang="ja-JP" altLang="en-US" smtClean="0"/>
              <a:t>15</a:t>
            </a:fld>
            <a:endParaRPr kumimoji="1" lang="ja-JP" altLang="en-US"/>
          </a:p>
        </p:txBody>
      </p:sp>
      <p:sp>
        <p:nvSpPr>
          <p:cNvPr id="24" name="TextBox 13">
            <a:extLst>
              <a:ext uri="{FF2B5EF4-FFF2-40B4-BE49-F238E27FC236}">
                <a16:creationId xmlns:a16="http://schemas.microsoft.com/office/drawing/2014/main" id="{6A8F0231-908F-97A0-5210-DA26A5E665FA}"/>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機材購入の相談</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4" name="TextBox 7">
            <a:extLst>
              <a:ext uri="{FF2B5EF4-FFF2-40B4-BE49-F238E27FC236}">
                <a16:creationId xmlns:a16="http://schemas.microsoft.com/office/drawing/2014/main" id="{D310158C-333F-8F79-EB96-579DFCB8738D}"/>
              </a:ext>
            </a:extLst>
          </p:cNvPr>
          <p:cNvSpPr txBox="1"/>
          <p:nvPr/>
        </p:nvSpPr>
        <p:spPr>
          <a:xfrm>
            <a:off x="1168400" y="1955800"/>
            <a:ext cx="38100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購入をお願いしたい品目</a:t>
            </a:r>
            <a:endParaRPr b="1" dirty="0">
              <a:solidFill>
                <a:schemeClr val="tx1">
                  <a:lumMod val="95000"/>
                  <a:lumOff val="5000"/>
                </a:schemeClr>
              </a:solidFill>
              <a:latin typeface="Meiryo"/>
              <a:ea typeface="メイリオ"/>
            </a:endParaRPr>
          </a:p>
        </p:txBody>
      </p:sp>
      <p:sp>
        <p:nvSpPr>
          <p:cNvPr id="16" name="Rectangle 8">
            <a:extLst>
              <a:ext uri="{FF2B5EF4-FFF2-40B4-BE49-F238E27FC236}">
                <a16:creationId xmlns:a16="http://schemas.microsoft.com/office/drawing/2014/main" id="{B8413322-C41C-F074-976F-689FC9DD180D}"/>
              </a:ext>
            </a:extLst>
          </p:cNvPr>
          <p:cNvSpPr/>
          <p:nvPr/>
        </p:nvSpPr>
        <p:spPr>
          <a:xfrm>
            <a:off x="1168400" y="2440607"/>
            <a:ext cx="3810000" cy="127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9">
            <a:extLst>
              <a:ext uri="{FF2B5EF4-FFF2-40B4-BE49-F238E27FC236}">
                <a16:creationId xmlns:a16="http://schemas.microsoft.com/office/drawing/2014/main" id="{4C2129FE-3E8C-6736-AE1B-AA3DBBEAD8C9}"/>
              </a:ext>
            </a:extLst>
          </p:cNvPr>
          <p:cNvSpPr txBox="1"/>
          <p:nvPr/>
        </p:nvSpPr>
        <p:spPr>
          <a:xfrm>
            <a:off x="1181099" y="2981548"/>
            <a:ext cx="3947491" cy="2131994"/>
          </a:xfrm>
          <a:prstGeom prst="rect">
            <a:avLst/>
          </a:prstGeom>
          <a:noFill/>
        </p:spPr>
        <p:txBody>
          <a:bodyPr wrap="square" lIns="25400" tIns="12700" rIns="25400" bIns="12700" anchor="t">
            <a:spAutoFit/>
          </a:bodyPr>
          <a:lstStyle/>
          <a:p>
            <a:pPr marL="179388" indent="-179388" algn="l">
              <a:buFont typeface="Wingdings" panose="05000000000000000000" pitchFamily="2" charset="2"/>
              <a:buChar char="Ø"/>
            </a:pPr>
            <a:r>
              <a:rPr b="0" dirty="0">
                <a:solidFill>
                  <a:schemeClr val="tx1">
                    <a:lumMod val="95000"/>
                    <a:lumOff val="5000"/>
                  </a:schemeClr>
                </a:solidFill>
                <a:latin typeface="Meiryo"/>
                <a:ea typeface="メイリオ"/>
                <a:hlinkClick r:id="rId3"/>
              </a:rPr>
              <a:t>Zoom H3-VR</a:t>
            </a:r>
            <a:r>
              <a:rPr lang="en-US" b="0" dirty="0">
                <a:solidFill>
                  <a:schemeClr val="tx1">
                    <a:lumMod val="95000"/>
                    <a:lumOff val="5000"/>
                  </a:schemeClr>
                </a:solidFill>
                <a:latin typeface="Meiryo"/>
                <a:ea typeface="メイリオ"/>
                <a:hlinkClick r:id="rId3"/>
              </a:rPr>
              <a:t>(</a:t>
            </a:r>
            <a:r>
              <a:rPr b="0" dirty="0">
                <a:solidFill>
                  <a:schemeClr val="tx1">
                    <a:lumMod val="95000"/>
                    <a:lumOff val="5000"/>
                  </a:schemeClr>
                </a:solidFill>
                <a:latin typeface="Meiryo"/>
                <a:ea typeface="メイリオ"/>
                <a:hlinkClick r:id="rId3"/>
              </a:rPr>
              <a:t>4方向マイク</a:t>
            </a:r>
            <a:r>
              <a:rPr lang="en-US" b="0" dirty="0">
                <a:solidFill>
                  <a:schemeClr val="tx1">
                    <a:lumMod val="95000"/>
                    <a:lumOff val="5000"/>
                  </a:schemeClr>
                </a:solidFill>
                <a:latin typeface="Meiryo"/>
                <a:ea typeface="メイリオ"/>
                <a:hlinkClick r:id="rId3"/>
              </a:rPr>
              <a:t>)</a:t>
            </a:r>
            <a:endParaRPr lang="en-US" b="0" dirty="0">
              <a:solidFill>
                <a:schemeClr val="tx1">
                  <a:lumMod val="95000"/>
                  <a:lumOff val="5000"/>
                </a:schemeClr>
              </a:solidFill>
              <a:latin typeface="Meiryo"/>
              <a:ea typeface="メイリオ"/>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8A8F9A"/>
                </a:solidFill>
                <a:effectLst/>
                <a:uLnTx/>
                <a:uFillTx/>
                <a:latin typeface="Meiryo"/>
                <a:ea typeface="メイリオ"/>
                <a:cs typeface="+mn-cs"/>
              </a:rPr>
              <a:t>本体。右の条件を満たす唯一の機種</a:t>
            </a:r>
            <a:endParaRPr kumimoji="1" lang="en-US" altLang="ja-JP" sz="1400" b="0" i="0" u="none" strike="noStrike" kern="1200" cap="none" spc="0" normalizeH="0" baseline="0" noProof="0" dirty="0">
              <a:ln>
                <a:noFill/>
              </a:ln>
              <a:solidFill>
                <a:srgbClr val="8A8F9A"/>
              </a:solidFill>
              <a:effectLst/>
              <a:uLnTx/>
              <a:uFillTx/>
              <a:latin typeface="Meiryo"/>
              <a:ea typeface="メイリオ"/>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endParaRPr lang="en-US" sz="1100" b="0" dirty="0">
              <a:solidFill>
                <a:srgbClr val="222838"/>
              </a:solidFill>
              <a:latin typeface="Meiryo"/>
              <a:ea typeface="メイリオ"/>
            </a:endParaRPr>
          </a:p>
          <a:p>
            <a:pPr marL="179388" indent="-179388">
              <a:buFont typeface="Wingdings" panose="05000000000000000000" pitchFamily="2" charset="2"/>
              <a:buChar char="Ø"/>
            </a:pPr>
            <a:r>
              <a:rPr lang="ja-JP" altLang="en-US" dirty="0">
                <a:solidFill>
                  <a:schemeClr val="tx1">
                    <a:lumMod val="95000"/>
                    <a:lumOff val="5000"/>
                  </a:schemeClr>
                </a:solidFill>
                <a:latin typeface="Meiryo"/>
                <a:ea typeface="メイリオ"/>
              </a:rPr>
              <a:t>騒音計</a:t>
            </a:r>
            <a:r>
              <a:rPr lang="en-US" altLang="ja-JP" dirty="0">
                <a:solidFill>
                  <a:schemeClr val="tx1">
                    <a:lumMod val="95000"/>
                    <a:lumOff val="5000"/>
                  </a:schemeClr>
                </a:solidFill>
                <a:latin typeface="Meiryo"/>
                <a:ea typeface="メイリオ"/>
              </a:rPr>
              <a:t>(</a:t>
            </a:r>
            <a:r>
              <a:rPr lang="ja-JP" altLang="en-US" dirty="0">
                <a:solidFill>
                  <a:schemeClr val="tx1">
                    <a:lumMod val="95000"/>
                    <a:lumOff val="5000"/>
                  </a:schemeClr>
                </a:solidFill>
                <a:latin typeface="Meiryo"/>
                <a:ea typeface="メイリオ"/>
              </a:rPr>
              <a:t>平均音量が出るもの</a:t>
            </a:r>
            <a:r>
              <a:rPr lang="en-US" altLang="ja-JP" dirty="0">
                <a:solidFill>
                  <a:schemeClr val="tx1">
                    <a:lumMod val="95000"/>
                    <a:lumOff val="5000"/>
                  </a:schemeClr>
                </a:solidFill>
                <a:latin typeface="Meiryo"/>
                <a:ea typeface="メイリオ"/>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8A8F9A"/>
                </a:solidFill>
                <a:effectLst/>
                <a:uLnTx/>
                <a:uFillTx/>
                <a:latin typeface="Meiryo"/>
                <a:ea typeface="メイリオ"/>
                <a:cs typeface="+mn-cs"/>
              </a:rPr>
              <a:t>学内でお借りできれば購入は不要</a:t>
            </a:r>
            <a:endParaRPr kumimoji="1" lang="en-US" altLang="ja-JP" sz="1400" b="0" i="0" u="none" strike="noStrike" kern="1200" cap="none" spc="0" normalizeH="0" baseline="0" noProof="0" dirty="0">
              <a:ln>
                <a:noFill/>
              </a:ln>
              <a:solidFill>
                <a:srgbClr val="8A8F9A"/>
              </a:solidFill>
              <a:effectLst/>
              <a:uLnTx/>
              <a:uFillTx/>
              <a:latin typeface="Meiryo"/>
              <a:ea typeface="メイリオ"/>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endParaRPr lang="ja-JP" altLang="en-US" sz="1100" dirty="0">
              <a:solidFill>
                <a:schemeClr val="tx1">
                  <a:lumMod val="95000"/>
                  <a:lumOff val="5000"/>
                </a:schemeClr>
              </a:solidFill>
              <a:latin typeface="Meiryo"/>
              <a:ea typeface="メイリオ"/>
            </a:endParaRPr>
          </a:p>
          <a:p>
            <a:pPr marL="179388" indent="-179388">
              <a:buFont typeface="Wingdings" panose="05000000000000000000" pitchFamily="2" charset="2"/>
              <a:buChar char="Ø"/>
            </a:pPr>
            <a:r>
              <a:rPr lang="ja-JP" altLang="en-US" dirty="0">
                <a:solidFill>
                  <a:schemeClr val="tx1">
                    <a:lumMod val="95000"/>
                    <a:lumOff val="5000"/>
                  </a:schemeClr>
                </a:solidFill>
                <a:latin typeface="Meiryo"/>
                <a:ea typeface="メイリオ"/>
              </a:rPr>
              <a:t>小物</a:t>
            </a:r>
            <a:r>
              <a:rPr lang="en-US" altLang="ja-JP" dirty="0">
                <a:solidFill>
                  <a:schemeClr val="tx1">
                    <a:lumMod val="95000"/>
                    <a:lumOff val="5000"/>
                  </a:schemeClr>
                </a:solidFill>
                <a:latin typeface="Meiryo"/>
                <a:ea typeface="メイリオ"/>
              </a:rPr>
              <a:t>(</a:t>
            </a:r>
            <a:r>
              <a:rPr lang="ja-JP" altLang="en-US" dirty="0">
                <a:solidFill>
                  <a:schemeClr val="tx1">
                    <a:lumMod val="95000"/>
                    <a:lumOff val="5000"/>
                  </a:schemeClr>
                </a:solidFill>
                <a:latin typeface="Meiryo"/>
                <a:ea typeface="メイリオ"/>
              </a:rPr>
              <a:t>ヘルメット・変換金具ほか</a:t>
            </a:r>
            <a:r>
              <a:rPr lang="en-US" altLang="ja-JP" dirty="0">
                <a:solidFill>
                  <a:schemeClr val="tx1">
                    <a:lumMod val="95000"/>
                    <a:lumOff val="5000"/>
                  </a:schemeClr>
                </a:solidFill>
                <a:latin typeface="Meiryo"/>
                <a:ea typeface="メイリオ"/>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8A8F9A"/>
                </a:solidFill>
                <a:effectLst/>
                <a:uLnTx/>
                <a:uFillTx/>
                <a:latin typeface="Meiryo"/>
                <a:ea typeface="メイリオ"/>
                <a:cs typeface="+mn-cs"/>
              </a:rPr>
              <a:t>自費でもまかなえる範囲</a:t>
            </a:r>
            <a:endParaRPr lang="ja-JP" altLang="en-US" sz="2000" dirty="0">
              <a:solidFill>
                <a:srgbClr val="222838"/>
              </a:solidFill>
              <a:latin typeface="Meiryo"/>
              <a:ea typeface="メイリオ"/>
            </a:endParaRPr>
          </a:p>
        </p:txBody>
      </p:sp>
      <p:sp>
        <p:nvSpPr>
          <p:cNvPr id="42" name="Rectangle 18">
            <a:extLst>
              <a:ext uri="{FF2B5EF4-FFF2-40B4-BE49-F238E27FC236}">
                <a16:creationId xmlns:a16="http://schemas.microsoft.com/office/drawing/2014/main" id="{9256D08E-AB0D-067B-A933-510C32335E4D}"/>
              </a:ext>
            </a:extLst>
          </p:cNvPr>
          <p:cNvSpPr/>
          <p:nvPr/>
        </p:nvSpPr>
        <p:spPr>
          <a:xfrm>
            <a:off x="5358295" y="1852704"/>
            <a:ext cx="12700" cy="39600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9">
            <a:extLst>
              <a:ext uri="{FF2B5EF4-FFF2-40B4-BE49-F238E27FC236}">
                <a16:creationId xmlns:a16="http://schemas.microsoft.com/office/drawing/2014/main" id="{48770170-254D-0A1C-0691-1BD815203098}"/>
              </a:ext>
            </a:extLst>
          </p:cNvPr>
          <p:cNvSpPr txBox="1"/>
          <p:nvPr/>
        </p:nvSpPr>
        <p:spPr>
          <a:xfrm>
            <a:off x="5791200" y="1955800"/>
            <a:ext cx="5232400" cy="302647"/>
          </a:xfrm>
          <a:prstGeom prst="rect">
            <a:avLst/>
          </a:prstGeom>
          <a:noFill/>
        </p:spPr>
        <p:txBody>
          <a:bodyPr wrap="square" lIns="25400" tIns="12700" rIns="25400" bIns="12700" anchor="t">
            <a:spAutoFit/>
          </a:bodyPr>
          <a:lstStyle/>
          <a:p>
            <a:pPr algn="l"/>
            <a:r>
              <a:rPr b="1">
                <a:solidFill>
                  <a:schemeClr val="tx1">
                    <a:lumMod val="95000"/>
                    <a:lumOff val="5000"/>
                  </a:schemeClr>
                </a:solidFill>
                <a:latin typeface="Meiryo"/>
                <a:ea typeface="メイリオ"/>
              </a:rPr>
              <a:t>この機種を選んだ理由</a:t>
            </a:r>
          </a:p>
        </p:txBody>
      </p:sp>
      <p:sp>
        <p:nvSpPr>
          <p:cNvPr id="46" name="Rectangle 20">
            <a:extLst>
              <a:ext uri="{FF2B5EF4-FFF2-40B4-BE49-F238E27FC236}">
                <a16:creationId xmlns:a16="http://schemas.microsoft.com/office/drawing/2014/main" id="{30A00721-C4FA-2273-4CFE-6DCF4592327B}"/>
              </a:ext>
            </a:extLst>
          </p:cNvPr>
          <p:cNvSpPr/>
          <p:nvPr/>
        </p:nvSpPr>
        <p:spPr>
          <a:xfrm>
            <a:off x="5791200" y="2440607"/>
            <a:ext cx="5232400" cy="127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23">
            <a:extLst>
              <a:ext uri="{FF2B5EF4-FFF2-40B4-BE49-F238E27FC236}">
                <a16:creationId xmlns:a16="http://schemas.microsoft.com/office/drawing/2014/main" id="{B3EF76C3-5DD0-EEB3-1DDD-906EC7B680D2}"/>
              </a:ext>
            </a:extLst>
          </p:cNvPr>
          <p:cNvSpPr txBox="1"/>
          <p:nvPr/>
        </p:nvSpPr>
        <p:spPr>
          <a:xfrm>
            <a:off x="5969000" y="2651012"/>
            <a:ext cx="5734674" cy="3089948"/>
          </a:xfrm>
          <a:prstGeom prst="rect">
            <a:avLst/>
          </a:prstGeom>
          <a:noFill/>
        </p:spPr>
        <p:txBody>
          <a:bodyPr wrap="square" lIns="25400" tIns="12700" rIns="25400" bIns="12700" anchor="t">
            <a:spAutoFit/>
          </a:bodyPr>
          <a:lstStyle/>
          <a:p>
            <a:pPr marL="179388" indent="-179388" algn="l">
              <a:lnSpc>
                <a:spcPct val="125000"/>
              </a:lnSpc>
              <a:buFont typeface="Wingdings" panose="05000000000000000000" pitchFamily="2" charset="2"/>
              <a:buChar char="Ø"/>
            </a:pPr>
            <a:r>
              <a:rPr b="0" dirty="0">
                <a:solidFill>
                  <a:schemeClr val="tx1">
                    <a:lumMod val="95000"/>
                    <a:lumOff val="5000"/>
                  </a:schemeClr>
                </a:solidFill>
                <a:latin typeface="Meiryo"/>
                <a:ea typeface="メイリオ"/>
              </a:rPr>
              <a:t>上下を含む4方向で録れる</a:t>
            </a:r>
          </a:p>
          <a:p>
            <a:pPr algn="l">
              <a:lnSpc>
                <a:spcPct val="125000"/>
              </a:lnSpc>
            </a:pPr>
            <a:r>
              <a:rPr sz="1400" b="0" dirty="0" err="1">
                <a:solidFill>
                  <a:srgbClr val="8A8F9A"/>
                </a:solidFill>
                <a:latin typeface="Meiryo"/>
                <a:ea typeface="メイリオ"/>
              </a:rPr>
              <a:t>ステレオでは高さの軸が無く、学習データと形式が合わない</a:t>
            </a:r>
            <a:r>
              <a:rPr lang="ja-JP" altLang="en-US" sz="1400" b="0" dirty="0">
                <a:solidFill>
                  <a:srgbClr val="8A8F9A"/>
                </a:solidFill>
                <a:latin typeface="Meiryo"/>
                <a:ea typeface="メイリオ"/>
              </a:rPr>
              <a:t>。</a:t>
            </a:r>
            <a:endParaRPr lang="en-US" sz="1400" b="0" dirty="0">
              <a:solidFill>
                <a:srgbClr val="8A8F9A"/>
              </a:solidFill>
              <a:latin typeface="Meiryo"/>
              <a:ea typeface="メイリオ"/>
            </a:endParaRPr>
          </a:p>
          <a:p>
            <a:pPr marL="179388" indent="-179388">
              <a:lnSpc>
                <a:spcPct val="125000"/>
              </a:lnSpc>
              <a:buFont typeface="Wingdings" panose="05000000000000000000" pitchFamily="2" charset="2"/>
              <a:buChar char="Ø"/>
            </a:pPr>
            <a:r>
              <a:rPr lang="en-US" altLang="ja-JP" dirty="0">
                <a:solidFill>
                  <a:schemeClr val="tx1">
                    <a:lumMod val="95000"/>
                    <a:lumOff val="5000"/>
                  </a:schemeClr>
                </a:solidFill>
                <a:latin typeface="Meiryo"/>
                <a:ea typeface="メイリオ"/>
              </a:rPr>
              <a:t>96kHz</a:t>
            </a:r>
            <a:r>
              <a:rPr lang="ja-JP" altLang="en-US" dirty="0">
                <a:solidFill>
                  <a:schemeClr val="tx1">
                    <a:lumMod val="95000"/>
                    <a:lumOff val="5000"/>
                  </a:schemeClr>
                </a:solidFill>
                <a:latin typeface="Meiryo"/>
                <a:ea typeface="メイリオ"/>
              </a:rPr>
              <a:t>で録れる</a:t>
            </a:r>
          </a:p>
          <a:p>
            <a:pPr>
              <a:lnSpc>
                <a:spcPct val="125000"/>
              </a:lnSpc>
            </a:pPr>
            <a:r>
              <a:rPr lang="ja-JP" altLang="en-US" sz="1400" dirty="0">
                <a:solidFill>
                  <a:srgbClr val="8A8F9A"/>
                </a:solidFill>
                <a:latin typeface="Meiryo"/>
                <a:ea typeface="メイリオ"/>
              </a:rPr>
              <a:t>バックする車が出す</a:t>
            </a:r>
            <a:r>
              <a:rPr lang="en-US" altLang="ja-JP" sz="1400" dirty="0">
                <a:solidFill>
                  <a:srgbClr val="8A8F9A"/>
                </a:solidFill>
                <a:latin typeface="Meiryo"/>
                <a:ea typeface="メイリオ"/>
              </a:rPr>
              <a:t>40kHz</a:t>
            </a:r>
            <a:r>
              <a:rPr lang="ja-JP" altLang="en-US" sz="1400" dirty="0">
                <a:solidFill>
                  <a:srgbClr val="8A8F9A"/>
                </a:solidFill>
                <a:latin typeface="Meiryo"/>
                <a:ea typeface="メイリオ"/>
              </a:rPr>
              <a:t>の超音波を、同じ録音で拾うため。</a:t>
            </a:r>
          </a:p>
          <a:p>
            <a:pPr marL="179388" indent="-179388">
              <a:lnSpc>
                <a:spcPct val="125000"/>
              </a:lnSpc>
              <a:buFont typeface="Wingdings" panose="05000000000000000000" pitchFamily="2" charset="2"/>
              <a:buChar char="Ø"/>
              <a:tabLst>
                <a:tab pos="88900" algn="l"/>
              </a:tabLst>
            </a:pPr>
            <a:r>
              <a:rPr lang="ja-JP" altLang="en-US" dirty="0">
                <a:solidFill>
                  <a:schemeClr val="tx1">
                    <a:lumMod val="95000"/>
                    <a:lumOff val="5000"/>
                  </a:schemeClr>
                </a:solidFill>
                <a:latin typeface="Meiryo"/>
                <a:ea typeface="メイリオ"/>
              </a:rPr>
              <a:t>音量の自動調整を</a:t>
            </a:r>
            <a:r>
              <a:rPr lang="en-US" altLang="ja-JP" dirty="0">
                <a:solidFill>
                  <a:schemeClr val="tx1">
                    <a:lumMod val="95000"/>
                    <a:lumOff val="5000"/>
                  </a:schemeClr>
                </a:solidFill>
                <a:latin typeface="Meiryo"/>
                <a:ea typeface="メイリオ"/>
              </a:rPr>
              <a:t>off</a:t>
            </a:r>
            <a:r>
              <a:rPr lang="ja-JP" altLang="en-US" dirty="0">
                <a:solidFill>
                  <a:schemeClr val="tx1">
                    <a:lumMod val="95000"/>
                    <a:lumOff val="5000"/>
                  </a:schemeClr>
                </a:solidFill>
                <a:latin typeface="Meiryo"/>
                <a:ea typeface="メイリオ"/>
              </a:rPr>
              <a:t>にできる</a:t>
            </a:r>
          </a:p>
          <a:p>
            <a:pPr>
              <a:lnSpc>
                <a:spcPct val="125000"/>
              </a:lnSpc>
            </a:pPr>
            <a:r>
              <a:rPr lang="ja-JP" altLang="en-US" sz="1400" dirty="0">
                <a:solidFill>
                  <a:srgbClr val="8A8F9A"/>
                </a:solidFill>
                <a:latin typeface="Meiryo"/>
                <a:ea typeface="メイリオ"/>
              </a:rPr>
              <a:t>録音中に変わると、何デシベルだったかを計算できない。</a:t>
            </a:r>
            <a:endParaRPr lang="en-US" altLang="ja-JP" sz="1400" dirty="0">
              <a:solidFill>
                <a:srgbClr val="8A8F9A"/>
              </a:solidFill>
              <a:latin typeface="Meiryo"/>
              <a:ea typeface="メイリオ"/>
            </a:endParaRPr>
          </a:p>
          <a:p>
            <a:pPr marL="179388" indent="-179388">
              <a:lnSpc>
                <a:spcPct val="125000"/>
              </a:lnSpc>
              <a:buFont typeface="Wingdings" panose="05000000000000000000" pitchFamily="2" charset="2"/>
              <a:buChar char="Ø"/>
            </a:pPr>
            <a:r>
              <a:rPr lang="ja-JP" altLang="en-US" dirty="0">
                <a:solidFill>
                  <a:schemeClr val="tx1">
                    <a:lumMod val="95000"/>
                    <a:lumOff val="5000"/>
                  </a:schemeClr>
                </a:solidFill>
                <a:latin typeface="Meiryo"/>
                <a:ea typeface="メイリオ"/>
              </a:rPr>
              <a:t>身に着けて持ち歩ける重さ</a:t>
            </a:r>
          </a:p>
          <a:p>
            <a:pPr>
              <a:lnSpc>
                <a:spcPct val="125000"/>
              </a:lnSpc>
            </a:pPr>
            <a:r>
              <a:rPr lang="en-US" altLang="ja-JP" sz="1400" dirty="0">
                <a:solidFill>
                  <a:srgbClr val="8A8F9A"/>
                </a:solidFill>
                <a:latin typeface="Meiryo"/>
                <a:ea typeface="メイリオ"/>
              </a:rPr>
              <a:t>6</a:t>
            </a:r>
            <a:r>
              <a:rPr lang="ja-JP" altLang="en-US" sz="1400" dirty="0">
                <a:solidFill>
                  <a:srgbClr val="8A8F9A"/>
                </a:solidFill>
                <a:latin typeface="Meiryo"/>
                <a:ea typeface="メイリオ"/>
              </a:rPr>
              <a:t>か所を歩いて回る。公道では三脚を立てない方針。</a:t>
            </a:r>
            <a:endParaRPr lang="en-US" altLang="ja-JP" sz="1400" dirty="0">
              <a:solidFill>
                <a:srgbClr val="8A8F9A"/>
              </a:solidFill>
              <a:latin typeface="Meiryo"/>
              <a:ea typeface="メイリオ"/>
            </a:endParaRPr>
          </a:p>
          <a:p>
            <a:pPr marL="179388" indent="-179388">
              <a:lnSpc>
                <a:spcPct val="125000"/>
              </a:lnSpc>
              <a:buFont typeface="Wingdings" panose="05000000000000000000" pitchFamily="2" charset="2"/>
              <a:buChar char="Ø"/>
            </a:pPr>
            <a:r>
              <a:rPr lang="ja-JP" altLang="en-US" dirty="0">
                <a:solidFill>
                  <a:schemeClr val="tx1">
                    <a:lumMod val="95000"/>
                    <a:lumOff val="5000"/>
                  </a:schemeClr>
                </a:solidFill>
                <a:latin typeface="Meiryo"/>
                <a:ea typeface="メイリオ"/>
              </a:rPr>
              <a:t>マイクが較正済み</a:t>
            </a:r>
          </a:p>
          <a:p>
            <a:pPr>
              <a:lnSpc>
                <a:spcPct val="125000"/>
              </a:lnSpc>
            </a:pPr>
            <a:r>
              <a:rPr lang="ja-JP" altLang="en-US" sz="1400" dirty="0">
                <a:solidFill>
                  <a:srgbClr val="8A8F9A"/>
                </a:solidFill>
                <a:latin typeface="Meiryo"/>
                <a:ea typeface="メイリオ"/>
              </a:rPr>
              <a:t>自作だと、誤差がモデルのせいかマイクのせい</a:t>
            </a:r>
            <a:r>
              <a:rPr lang="ja-JP" altLang="en-US" sz="1400">
                <a:solidFill>
                  <a:srgbClr val="8A8F9A"/>
                </a:solidFill>
                <a:latin typeface="Meiryo"/>
                <a:ea typeface="メイリオ"/>
              </a:rPr>
              <a:t>か分からない。</a:t>
            </a:r>
            <a:endParaRPr lang="ja-JP" altLang="en-US" sz="1400" dirty="0">
              <a:solidFill>
                <a:srgbClr val="8A8F9A"/>
              </a:solidFill>
              <a:latin typeface="Meiryo"/>
              <a:ea typeface="メイリオ"/>
            </a:endParaRPr>
          </a:p>
        </p:txBody>
      </p:sp>
      <p:sp>
        <p:nvSpPr>
          <p:cNvPr id="115" name="Rounded Rectangle 97">
            <a:extLst>
              <a:ext uri="{FF2B5EF4-FFF2-40B4-BE49-F238E27FC236}">
                <a16:creationId xmlns:a16="http://schemas.microsoft.com/office/drawing/2014/main" id="{A7F6C61F-78F5-100F-0832-C2649D372C3B}"/>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117" name="Rounded Rectangle 96">
            <a:extLst>
              <a:ext uri="{FF2B5EF4-FFF2-40B4-BE49-F238E27FC236}">
                <a16:creationId xmlns:a16="http://schemas.microsoft.com/office/drawing/2014/main" id="{979E8BEA-0026-F732-F66E-2885262FA70B}"/>
              </a:ext>
            </a:extLst>
          </p:cNvPr>
          <p:cNvSpPr/>
          <p:nvPr/>
        </p:nvSpPr>
        <p:spPr>
          <a:xfrm>
            <a:off x="7998482" y="6392061"/>
            <a:ext cx="54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相談</a:t>
            </a:r>
            <a:endParaRPr sz="1600" b="1" dirty="0">
              <a:solidFill>
                <a:schemeClr val="bg1"/>
              </a:solidFill>
              <a:latin typeface="Meiryo"/>
              <a:ea typeface="メイリオ"/>
            </a:endParaRPr>
          </a:p>
        </p:txBody>
      </p:sp>
      <p:sp>
        <p:nvSpPr>
          <p:cNvPr id="119" name="Rounded Rectangle 95">
            <a:extLst>
              <a:ext uri="{FF2B5EF4-FFF2-40B4-BE49-F238E27FC236}">
                <a16:creationId xmlns:a16="http://schemas.microsoft.com/office/drawing/2014/main" id="{7173B198-DB6C-E27E-5F25-26B7461C959B}"/>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121" name="Rounded Rectangle 94">
            <a:extLst>
              <a:ext uri="{FF2B5EF4-FFF2-40B4-BE49-F238E27FC236}">
                <a16:creationId xmlns:a16="http://schemas.microsoft.com/office/drawing/2014/main" id="{DC515641-7BF6-2F76-8303-50B8E97C512C}"/>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123" name="Rounded Rectangle 93">
            <a:extLst>
              <a:ext uri="{FF2B5EF4-FFF2-40B4-BE49-F238E27FC236}">
                <a16:creationId xmlns:a16="http://schemas.microsoft.com/office/drawing/2014/main" id="{517D1EF7-FA80-7713-B9B6-4DB70D36237A}"/>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125" name="Rounded Rectangle 92">
            <a:extLst>
              <a:ext uri="{FF2B5EF4-FFF2-40B4-BE49-F238E27FC236}">
                <a16:creationId xmlns:a16="http://schemas.microsoft.com/office/drawing/2014/main" id="{01EB4493-D796-D0B5-AF08-68581AB80342}"/>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26" name="Rectangle 125"/>
          <p:cNvSpPr/>
          <p:nvPr/>
        </p:nvSpPr>
        <p:spPr>
          <a:xfrm>
            <a:off x="889000" y="2283847"/>
            <a:ext cx="104140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495864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83E59-9B80-8F22-AF98-C23F255009D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17DF512-6B48-A3D1-C499-7EE575C69C22}"/>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dirty="0"/>
          </a:p>
        </p:txBody>
      </p:sp>
      <p:sp>
        <p:nvSpPr>
          <p:cNvPr id="3" name="AutoShape 3">
            <a:extLst>
              <a:ext uri="{FF2B5EF4-FFF2-40B4-BE49-F238E27FC236}">
                <a16:creationId xmlns:a16="http://schemas.microsoft.com/office/drawing/2014/main" id="{FED2138C-A853-BA55-6B12-C61D47BAEC82}"/>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260C1D00-0776-AD0D-EE18-97C69FBE6F44}"/>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0432802B-9AE4-F186-1673-7B571B924EBC}"/>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0631C7E8-2B20-2BD1-3340-869D13EB7C8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5884ECF8-FADD-7A28-2FD3-404C7B14C07F}"/>
              </a:ext>
            </a:extLst>
          </p:cNvPr>
          <p:cNvSpPr>
            <a:spLocks noGrp="1"/>
          </p:cNvSpPr>
          <p:nvPr>
            <p:ph type="dt" sz="half" idx="10"/>
          </p:nvPr>
        </p:nvSpPr>
        <p:spPr/>
        <p:txBody>
          <a:bodyPr/>
          <a:lstStyle/>
          <a:p>
            <a:r>
              <a:rPr kumimoji="1" lang="en-US" altLang="ja-JP"/>
              <a:t>2026/09/15</a:t>
            </a:r>
            <a:endParaRPr kumimoji="1" lang="ja-JP" altLang="en-US"/>
          </a:p>
        </p:txBody>
      </p:sp>
      <p:sp>
        <p:nvSpPr>
          <p:cNvPr id="9" name="スライド番号プレースホルダー 8">
            <a:extLst>
              <a:ext uri="{FF2B5EF4-FFF2-40B4-BE49-F238E27FC236}">
                <a16:creationId xmlns:a16="http://schemas.microsoft.com/office/drawing/2014/main" id="{44FE7ECF-5E54-B4E0-A46E-595A6E2D43E1}"/>
              </a:ext>
            </a:extLst>
          </p:cNvPr>
          <p:cNvSpPr>
            <a:spLocks noGrp="1"/>
          </p:cNvSpPr>
          <p:nvPr>
            <p:ph type="sldNum" sz="quarter" idx="12"/>
          </p:nvPr>
        </p:nvSpPr>
        <p:spPr/>
        <p:txBody>
          <a:bodyPr/>
          <a:lstStyle/>
          <a:p>
            <a:fld id="{4E9148DC-F7ED-4428-85F4-2C78C4B0CFB7}" type="slidenum">
              <a:rPr kumimoji="1" lang="ja-JP" altLang="en-US" smtClean="0"/>
              <a:t>16</a:t>
            </a:fld>
            <a:endParaRPr kumimoji="1" lang="ja-JP" altLang="en-US"/>
          </a:p>
        </p:txBody>
      </p:sp>
      <p:sp>
        <p:nvSpPr>
          <p:cNvPr id="11" name="TextBox 13">
            <a:extLst>
              <a:ext uri="{FF2B5EF4-FFF2-40B4-BE49-F238E27FC236}">
                <a16:creationId xmlns:a16="http://schemas.microsoft.com/office/drawing/2014/main" id="{93777570-4164-AF07-BC88-5B5F680B12B6}"/>
              </a:ext>
            </a:extLst>
          </p:cNvPr>
          <p:cNvSpPr txBox="1"/>
          <p:nvPr/>
        </p:nvSpPr>
        <p:spPr>
          <a:xfrm>
            <a:off x="1079564" y="168553"/>
            <a:ext cx="11112436"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まとめ</a:t>
            </a:r>
          </a:p>
        </p:txBody>
      </p:sp>
      <p:sp>
        <p:nvSpPr>
          <p:cNvPr id="10" name="テキスト ボックス 9">
            <a:extLst>
              <a:ext uri="{FF2B5EF4-FFF2-40B4-BE49-F238E27FC236}">
                <a16:creationId xmlns:a16="http://schemas.microsoft.com/office/drawing/2014/main" id="{F4AEA7EC-73F4-D7DC-8D41-72216A1E6AF9}"/>
              </a:ext>
            </a:extLst>
          </p:cNvPr>
          <p:cNvSpPr txBox="1"/>
          <p:nvPr/>
        </p:nvSpPr>
        <p:spPr>
          <a:xfrm>
            <a:off x="938240" y="1859339"/>
            <a:ext cx="10500958" cy="2677656"/>
          </a:xfrm>
          <a:prstGeom prst="rect">
            <a:avLst/>
          </a:prstGeom>
          <a:noFill/>
        </p:spPr>
        <p:txBody>
          <a:bodyPr wrap="square">
            <a:spAutoFit/>
          </a:bodyPr>
          <a:lstStyle/>
          <a:p>
            <a:pPr marL="285750" indent="-285750">
              <a:buFont typeface="メイリオ" panose="020B0604030504040204" pitchFamily="50" charset="-128"/>
              <a:buChar char="❑"/>
            </a:pPr>
            <a:r>
              <a:rPr lang="en-US" altLang="ja-JP" sz="2400" dirty="0" err="1">
                <a:latin typeface="メイリオ" panose="020B0604030504040204" pitchFamily="50" charset="-128"/>
                <a:ea typeface="メイリオ" panose="020B0604030504040204" pitchFamily="50" charset="-128"/>
              </a:rPr>
              <a:t>Sssssssssssss</a:t>
            </a:r>
            <a:endParaRPr lang="en-US" altLang="ja-JP" sz="2400" dirty="0">
              <a:latin typeface="メイリオ" panose="020B0604030504040204" pitchFamily="50" charset="-128"/>
              <a:ea typeface="メイリオ" panose="020B0604030504040204" pitchFamily="50" charset="-128"/>
            </a:endParaRPr>
          </a:p>
          <a:p>
            <a:pPr marL="285750" indent="-285750">
              <a:buFont typeface="メイリオ" panose="020B0604030504040204" pitchFamily="50" charset="-128"/>
              <a:buChar char="❑"/>
            </a:pP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r>
              <a:rPr lang="en-US" altLang="ja-JP" sz="2400" dirty="0" err="1">
                <a:solidFill>
                  <a:srgbClr val="20242B"/>
                </a:solidFill>
                <a:latin typeface="メイリオ" panose="020B0604030504040204" pitchFamily="50" charset="-128"/>
                <a:ea typeface="メイリオ" panose="020B0604030504040204" pitchFamily="50" charset="-128"/>
                <a:cs typeface="Meiryo" pitchFamily="34" charset="-120"/>
              </a:rPr>
              <a:t>Sssssssssssss</a:t>
            </a: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r>
              <a:rPr lang="en-US" altLang="ja-JP" sz="2400" dirty="0" err="1">
                <a:solidFill>
                  <a:srgbClr val="20242B"/>
                </a:solidFill>
                <a:latin typeface="メイリオ" panose="020B0604030504040204" pitchFamily="50" charset="-128"/>
                <a:ea typeface="メイリオ" panose="020B0604030504040204" pitchFamily="50" charset="-128"/>
                <a:cs typeface="Meiryo" pitchFamily="34" charset="-120"/>
              </a:rPr>
              <a:t>Ssssssssssss</a:t>
            </a: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r>
              <a:rPr lang="en-US" altLang="ja-JP" sz="2400" dirty="0" err="1">
                <a:solidFill>
                  <a:srgbClr val="20242B"/>
                </a:solidFill>
                <a:latin typeface="メイリオ" panose="020B0604030504040204" pitchFamily="50" charset="-128"/>
                <a:ea typeface="メイリオ" panose="020B0604030504040204" pitchFamily="50" charset="-128"/>
                <a:cs typeface="Meiryo" pitchFamily="34" charset="-120"/>
              </a:rPr>
              <a:t>Sssssssssss</a:t>
            </a: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p:txBody>
      </p:sp>
      <p:sp>
        <p:nvSpPr>
          <p:cNvPr id="24" name="Rounded Rectangle 97">
            <a:extLst>
              <a:ext uri="{FF2B5EF4-FFF2-40B4-BE49-F238E27FC236}">
                <a16:creationId xmlns:a16="http://schemas.microsoft.com/office/drawing/2014/main" id="{57D32E4B-A350-9324-63CC-DE81D8CC27C8}"/>
              </a:ext>
            </a:extLst>
          </p:cNvPr>
          <p:cNvSpPr/>
          <p:nvPr/>
        </p:nvSpPr>
        <p:spPr>
          <a:xfrm>
            <a:off x="8589723" y="6392061"/>
            <a:ext cx="90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1" dirty="0" err="1">
                <a:solidFill>
                  <a:schemeClr val="bg1"/>
                </a:solidFill>
                <a:latin typeface="Meiryo"/>
                <a:ea typeface="メイリオ"/>
              </a:rPr>
              <a:t>まとめ</a:t>
            </a:r>
            <a:endParaRPr sz="1600" b="1" dirty="0">
              <a:solidFill>
                <a:schemeClr val="bg1"/>
              </a:solidFill>
              <a:latin typeface="Meiryo"/>
              <a:ea typeface="メイリオ"/>
            </a:endParaRPr>
          </a:p>
        </p:txBody>
      </p:sp>
      <p:sp>
        <p:nvSpPr>
          <p:cNvPr id="26" name="Rounded Rectangle 96">
            <a:extLst>
              <a:ext uri="{FF2B5EF4-FFF2-40B4-BE49-F238E27FC236}">
                <a16:creationId xmlns:a16="http://schemas.microsoft.com/office/drawing/2014/main" id="{F23C22C2-C7D0-BC95-D862-3FC1B0012669}"/>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8" name="Rounded Rectangle 95">
            <a:extLst>
              <a:ext uri="{FF2B5EF4-FFF2-40B4-BE49-F238E27FC236}">
                <a16:creationId xmlns:a16="http://schemas.microsoft.com/office/drawing/2014/main" id="{58245302-D906-C96E-7481-A0B206A091B0}"/>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0" name="Rounded Rectangle 94">
            <a:extLst>
              <a:ext uri="{FF2B5EF4-FFF2-40B4-BE49-F238E27FC236}">
                <a16:creationId xmlns:a16="http://schemas.microsoft.com/office/drawing/2014/main" id="{8EB2625B-FCBC-5831-D76B-F420C02A7843}"/>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2" name="Rounded Rectangle 93">
            <a:extLst>
              <a:ext uri="{FF2B5EF4-FFF2-40B4-BE49-F238E27FC236}">
                <a16:creationId xmlns:a16="http://schemas.microsoft.com/office/drawing/2014/main" id="{5048F0CD-36CA-34C5-3CF1-A772F5E79F75}"/>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34" name="Rounded Rectangle 92">
            <a:extLst>
              <a:ext uri="{FF2B5EF4-FFF2-40B4-BE49-F238E27FC236}">
                <a16:creationId xmlns:a16="http://schemas.microsoft.com/office/drawing/2014/main" id="{DBB925C3-1540-664B-9114-81FBAD4B41D5}"/>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3252224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 dockstate="right" visibility="0" width="525" row="2">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0BF7ACD-ADAB-4AA9-98C7-536800D3E4E1}">
  <we:reference id="wa200010725" version="1.0.0.1" store="ja-JP" storeType="OMEX"/>
  <we:alternateReferences>
    <we:reference id="wa200010725" version="1.0.0.1" store="wa200010725" storeType="OMEX"/>
  </we:alternateReferences>
  <we:properties>
    <we:property name="claude.fileId" value="&quot;d2c79e94-c970-494a-a9e7-f9be5eb42d81&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AECF2DA-BE70-4661-893B-76851881FAAD}">
  <we:reference id="wa200007130" version="1.0.0.1" store="ja-JP"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AD78D074-386C-46F7-BA91-51CF9E9F50F4}">
  <we:reference id="wa200010001" version="1.0.0.1" store="ja-JP" storeType="OMEX"/>
  <we:alternateReferences>
    <we:reference id="wa200010001" version="1.0.0.1" store="wa200010001" storeType="OMEX"/>
  </we:alternateReferences>
  <we:properties>
    <we:property name="claude.fileId" value="&quot;5698242a-787c-4b9b-93bd-9e5beb6ec07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36282</TotalTime>
  <Words>4448</Words>
  <Application>Microsoft Office PowerPoint</Application>
  <PresentationFormat>ワイド画面</PresentationFormat>
  <Paragraphs>633</Paragraphs>
  <Slides>16</Slides>
  <Notes>16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メイリオ</vt:lpstr>
      <vt:lpstr>メイリオ</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松本　鋭</dc:creator>
  <cp:lastModifiedBy>鋭 松本</cp:lastModifiedBy>
  <cp:revision>938</cp:revision>
  <dcterms:created xsi:type="dcterms:W3CDTF">2026-03-10T16:25:40Z</dcterms:created>
  <dcterms:modified xsi:type="dcterms:W3CDTF">2026-09-05T08:28:25Z</dcterms:modified>
</cp:coreProperties>
</file>