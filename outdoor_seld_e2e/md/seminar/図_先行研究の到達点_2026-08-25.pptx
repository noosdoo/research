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8800" y="177800"/>
            <a:ext cx="17780" cy="65024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6600" y="584200"/>
            <a:ext cx="381000" cy="76200"/>
          </a:xfrm>
          <a:prstGeom prst="rect">
            <a:avLst/>
          </a:prstGeom>
          <a:solidFill>
            <a:srgbClr val="7E6F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4600" y="381000"/>
            <a:ext cx="101600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200" b="1" spc="220">
                <a:solidFill>
                  <a:srgbClr val="222838"/>
                </a:solidFill>
                <a:latin typeface="Meiryo"/>
                <a:ea typeface="メイリオ"/>
              </a:rPr>
              <a:t>先行研究　―　どこまでできていて、どこから踏み出すか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558800" y="1143000"/>
            <a:ext cx="11049000" cy="15240"/>
          </a:xfrm>
          <a:prstGeom prst="rect">
            <a:avLst/>
          </a:prstGeom>
          <a:solidFill>
            <a:srgbClr val="2228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89000" y="1473200"/>
            <a:ext cx="10414000" cy="381000"/>
          </a:xfrm>
          <a:prstGeom prst="rect">
            <a:avLst/>
          </a:prstGeom>
          <a:solidFill>
            <a:srgbClr val="3A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1549400"/>
            <a:ext cx="27432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  <a:ea typeface="メイリオ"/>
              </a:rPr>
              <a:t>先行研究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4000" y="1549400"/>
            <a:ext cx="40894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  <a:ea typeface="メイリオ"/>
              </a:rPr>
              <a:t>どこまで到達しているか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07400" y="1549400"/>
            <a:ext cx="28194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eiryo"/>
                <a:ea typeface="メイリオ"/>
              </a:rPr>
              <a:t>足りないもの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9000" y="2794000"/>
            <a:ext cx="10414000" cy="1016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6800" y="2006600"/>
            <a:ext cx="27432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PAWS （2018）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歩行者向け 車両接近警告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4000" y="2032000"/>
            <a:ext cx="40894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接近する車を80m先から検出し、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時速48kmなら約6秒前に警告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07400" y="2032000"/>
            <a:ext cx="28194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車だけ（サイレン・踏切などは対象外）／複数台は扱えない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難聴者は対象外（イヤホン・通話中の聴者向け）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000" y="2794000"/>
            <a:ext cx="10414000" cy="9398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89000" y="3733800"/>
            <a:ext cx="10414000" cy="1016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2946400"/>
            <a:ext cx="27432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サイレン認識ウェアラブル （2023）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難聴者向け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64000" y="2971800"/>
            <a:ext cx="40894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7つの音を高い精度で聞き分け、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振動とディスプレイで伝える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7400" y="2971800"/>
            <a:ext cx="28194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方向がない（種類だけ）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同時に1つの音しか扱えない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9000" y="4673600"/>
            <a:ext cx="10414000" cy="10160"/>
          </a:xfrm>
          <a:prstGeom prst="rect">
            <a:avLst/>
          </a:prstGeom>
          <a:solidFill>
            <a:srgbClr val="C9CB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6800" y="3886200"/>
            <a:ext cx="2743200" cy="508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222838"/>
                </a:solidFill>
                <a:latin typeface="Meiryo"/>
                <a:ea typeface="メイリオ"/>
              </a:rPr>
              <a:t>6DoF SELD （2024）</a:t>
            </a:r>
          </a:p>
          <a:p>
            <a:pPr algn="l">
              <a:lnSpc>
                <a:spcPct val="130000"/>
              </a:lnSpc>
            </a:pPr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装着マイクでのSELD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4000" y="3911600"/>
            <a:ext cx="40894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歩行中の人に装着したマイクでSELDを実現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595F6E"/>
                </a:solidFill>
                <a:latin typeface="Meiryo"/>
                <a:ea typeface="メイリオ"/>
              </a:rPr>
              <a:t>（自己移動をセンサで補償）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7400" y="3911600"/>
            <a:ext cx="2819400" cy="558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距離がない</a:t>
            </a:r>
          </a:p>
          <a:p>
            <a:pPr algn="l">
              <a:lnSpc>
                <a:spcPct val="132000"/>
              </a:lnSpc>
            </a:pPr>
            <a:r>
              <a:rPr sz="1150" b="0">
                <a:solidFill>
                  <a:srgbClr val="C0392B"/>
                </a:solidFill>
                <a:latin typeface="Meiryo"/>
                <a:ea typeface="メイリオ"/>
              </a:rPr>
              <a:t>・</a:t>
            </a:r>
            <a:r>
              <a:rPr sz="1150" b="1">
                <a:solidFill>
                  <a:srgbClr val="222838"/>
                </a:solidFill>
                <a:latin typeface="Meiryo"/>
                <a:ea typeface="メイリオ"/>
              </a:rPr>
              <a:t>通知の仕組みがない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9000" y="5003800"/>
            <a:ext cx="76200" cy="787400"/>
          </a:xfrm>
          <a:prstGeom prst="rect">
            <a:avLst/>
          </a:prstGeom>
          <a:solidFill>
            <a:srgbClr val="E0A5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5200" y="5003800"/>
            <a:ext cx="10337800" cy="78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B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3800" y="5130800"/>
            <a:ext cx="9652000" cy="584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1">
                <a:solidFill>
                  <a:srgbClr val="7E6F98"/>
                </a:solidFill>
                <a:latin typeface="Meiryo"/>
                <a:ea typeface="メイリオ"/>
              </a:rPr>
              <a:t>本研究の一歩：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8クラス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 × 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方向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 × </a:t>
            </a:r>
            <a:r>
              <a:rPr sz="1400" b="1">
                <a:solidFill>
                  <a:srgbClr val="222838"/>
                </a:solidFill>
                <a:latin typeface="Meiryo"/>
                <a:ea typeface="メイリオ"/>
              </a:rPr>
              <a:t>距離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 を1つにまとめ、</a:t>
            </a:r>
          </a:p>
          <a:p>
            <a:pPr algn="l">
              <a:lnSpc>
                <a:spcPct val="150000"/>
              </a:lnSpc>
            </a:pP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　　　　　　　　その上に</a:t>
            </a:r>
            <a:r>
              <a:rPr sz="1400" b="1">
                <a:solidFill>
                  <a:srgbClr val="E0A526"/>
                </a:solidFill>
                <a:latin typeface="Meiryo"/>
                <a:ea typeface="メイリオ"/>
              </a:rPr>
              <a:t>「危険度へ変える規則」</a:t>
            </a:r>
            <a:r>
              <a:rPr sz="1400" b="0">
                <a:solidFill>
                  <a:srgbClr val="595F6E"/>
                </a:solidFill>
                <a:latin typeface="Meiryo"/>
                <a:ea typeface="メイリオ"/>
              </a:rPr>
              <a:t>を載せる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600" y="6426200"/>
            <a:ext cx="1143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2026/08/30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10000" y="6375400"/>
            <a:ext cx="9652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背景・目的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768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基礎知識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91200" y="6375400"/>
            <a:ext cx="812800" cy="279400"/>
          </a:xfrm>
          <a:prstGeom prst="rect">
            <a:avLst/>
          </a:prstGeom>
          <a:solidFill>
            <a:srgbClr val="232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Meiryo"/>
                <a:ea typeface="メイリオ"/>
              </a:rPr>
              <a:t>関連研究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05600" y="6375400"/>
            <a:ext cx="8128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提案手法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20000" y="6375400"/>
            <a:ext cx="5080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検証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6375400"/>
            <a:ext cx="1117600" cy="279400"/>
          </a:xfrm>
          <a:prstGeom prst="rect">
            <a:avLst/>
          </a:prstGeom>
          <a:solidFill>
            <a:srgbClr val="E8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/>
            <a:r>
              <a:rPr sz="1050" b="0">
                <a:solidFill>
                  <a:srgbClr val="8A8F9A"/>
                </a:solidFill>
                <a:latin typeface="Meiryo"/>
                <a:ea typeface="メイリオ"/>
              </a:rPr>
              <a:t>今後・まとめ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49000" y="6426200"/>
            <a:ext cx="508000" cy="2540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8A8F9A"/>
                </a:solidFill>
                <a:latin typeface="Meiryo"/>
                <a:ea typeface="メイリオ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