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1E222C"/>
                </a:solidFill>
                <a:latin typeface="Meiryo"/>
                <a:ea typeface="メイリオ"/>
              </a:rPr>
              <a:t>そ の 結 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1E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95400"/>
            <a:ext cx="10414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1E222C"/>
                </a:solidFill>
                <a:latin typeface="Meiryo"/>
                <a:ea typeface="メイリオ"/>
              </a:rPr>
              <a:t>危ない車には強く鳴るようになり、鳴らすべきでない対向車では黙るようになった。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4036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038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040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42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04400" y="1879600"/>
            <a:ext cx="10160" cy="6350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88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92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9600" y="1701800"/>
            <a:ext cx="609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9A9EA8"/>
                </a:solidFill>
                <a:latin typeface="Meiryo"/>
                <a:ea typeface="メイリオ"/>
              </a:rPr>
              <a:t>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1943100"/>
            <a:ext cx="64008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9000" y="2209800"/>
            <a:ext cx="104140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9000" y="2336800"/>
            <a:ext cx="5080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危ない車（最接近 1.5m 以内）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強い警告が届いた割合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7051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対向型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9200" y="27432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n=460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88248" y="2819400"/>
            <a:ext cx="576072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24748" y="27686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94470" y="27622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4048" y="28956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5284" y="25654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+9 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2200" y="26543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32385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すり抜け型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9200" y="32766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n=43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2215" y="3352800"/>
            <a:ext cx="1024128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68715" y="33020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86494" y="32956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8015" y="34290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3280" y="30988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+16 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2200" y="31877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93%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9000" y="3860800"/>
            <a:ext cx="104140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000" y="3987800"/>
            <a:ext cx="5080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E222C"/>
                </a:solidFill>
                <a:latin typeface="Meiryo"/>
                <a:ea typeface="メイリオ"/>
              </a:rPr>
              <a:t>鳴らすべきでない車（最接近 3.2m 超）</a:t>
            </a: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　黙っていられた割合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600" y="43561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1E222C"/>
                </a:solidFill>
                <a:latin typeface="Meiryo"/>
                <a:ea typeface="メイリオ"/>
              </a:rPr>
              <a:t>対向型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9200" y="43942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5864" y="4470400"/>
            <a:ext cx="2432303" cy="2794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52364" y="44196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78317" y="4413250"/>
            <a:ext cx="139700" cy="139700"/>
          </a:xfrm>
          <a:prstGeom prst="ellipse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1664" y="45466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1015" y="42164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7E6F98"/>
                </a:solidFill>
                <a:latin typeface="Meiryo"/>
                <a:ea typeface="メイリオ"/>
              </a:rPr>
              <a:t>+38 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2200" y="43053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100" b="1">
                <a:solidFill>
                  <a:srgbClr val="1E222C"/>
                </a:solidFill>
                <a:latin typeface="Meiryo"/>
                <a:ea typeface="メイリオ"/>
              </a:rPr>
              <a:t>71%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7600" y="4889500"/>
            <a:ext cx="152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9A9EA8"/>
                </a:solidFill>
                <a:latin typeface="Meiryo"/>
                <a:ea typeface="メイリオ"/>
              </a:rPr>
              <a:t>すり抜け型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9200" y="4927600"/>
            <a:ext cx="762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n=501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2096" y="5003800"/>
            <a:ext cx="128015" cy="27940"/>
          </a:xfrm>
          <a:prstGeom prst="rect">
            <a:avLst/>
          </a:prstGeom>
          <a:solidFill>
            <a:srgbClr val="9A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08596" y="4953000"/>
            <a:ext cx="127000" cy="12700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9A9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30261" y="4946650"/>
            <a:ext cx="139700" cy="139700"/>
          </a:xfrm>
          <a:prstGeom prst="ellipse">
            <a:avLst/>
          </a:prstGeom>
          <a:solidFill>
            <a:srgbClr val="9A9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87896" y="50800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62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5104" y="4749800"/>
            <a:ext cx="76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9A9EA8"/>
                </a:solidFill>
                <a:latin typeface="Meiryo"/>
                <a:ea typeface="メイリオ"/>
              </a:rPr>
              <a:t>+2 pt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200" y="4838700"/>
            <a:ext cx="1143000" cy="355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>
                <a:solidFill>
                  <a:srgbClr val="9A9EA8"/>
                </a:solidFill>
                <a:latin typeface="Meiryo"/>
                <a:ea typeface="メイリオ"/>
              </a:rPr>
              <a:t>64%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9000" y="5486400"/>
            <a:ext cx="10414000" cy="12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7600" y="5689600"/>
            <a:ext cx="4826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7E6F98"/>
                </a:solidFill>
                <a:latin typeface="Meiryo"/>
                <a:ea typeface="メイリオ"/>
              </a:rPr>
              <a:t>読み取り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方位の変化率を使う経路を足したことが、両方の型で効いた。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99200" y="5715000"/>
            <a:ext cx="10160" cy="4572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4000" y="5689600"/>
            <a:ext cx="4699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9A9EA8"/>
                </a:solidFill>
                <a:latin typeface="Meiryo"/>
                <a:ea typeface="メイリオ"/>
              </a:rPr>
              <a:t>残っている弱点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すり抜けていく安全な車での無駄鳴りは、ほぼ変わっていない。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7600" y="6350000"/>
            <a:ext cx="10160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9A9EA8"/>
                </a:solidFill>
                <a:latin typeface="Meiryo"/>
                <a:ea typeface="メイリオ"/>
              </a:rPr>
              <a:t>合成データ・調整用の検証セット（1,800本）での値。確定評価とは別枠。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9A9EA8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A9EA8"/>
                </a:solidFill>
                <a:latin typeface="Meiryo"/>
                <a:ea typeface="メイリオ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