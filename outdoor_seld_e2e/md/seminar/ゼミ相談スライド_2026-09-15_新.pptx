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9/15 ゼミ — 夏ゼミの振り返りと、お願いが1件</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1</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夏ゼミでいただいた意見にどう応えたかをご報告し、最後に機材のお願いを1件させてください。</a:t>
            </a:r>
          </a:p>
        </p:txBody>
      </p:sp>
      <p:sp>
        <p:nvSpPr>
          <p:cNvPr id="12" name="Rectangle 11"/>
          <p:cNvSpPr/>
          <p:nvPr/>
        </p:nvSpPr>
        <p:spPr>
          <a:xfrm>
            <a:off x="889000" y="1651000"/>
            <a:ext cx="5080000" cy="2413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51000"/>
            <a:ext cx="5080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1. 振り返り</a:t>
            </a:r>
          </a:p>
        </p:txBody>
      </p:sp>
      <p:sp>
        <p:nvSpPr>
          <p:cNvPr id="15" name="TextBox 14"/>
          <p:cNvSpPr txBox="1"/>
          <p:nvPr/>
        </p:nvSpPr>
        <p:spPr>
          <a:xfrm>
            <a:off x="1117600" y="2159000"/>
            <a:ext cx="4648200" cy="508000"/>
          </a:xfrm>
          <a:prstGeom prst="rect">
            <a:avLst/>
          </a:prstGeom>
          <a:noFill/>
        </p:spPr>
        <p:txBody>
          <a:bodyPr wrap="square" anchor="t" lIns="25400" rIns="25400" tIns="12700" bIns="12700">
            <a:spAutoFit/>
          </a:bodyPr>
          <a:lstStyle/>
          <a:p>
            <a:pPr algn="l">
              <a:lnSpc>
                <a:spcPct val="130000"/>
              </a:lnSpc>
            </a:pPr>
            <a:r>
              <a:rPr sz="1250" b="1">
                <a:solidFill>
                  <a:srgbClr val="222838"/>
                </a:solidFill>
                <a:latin typeface="Meiryo"/>
                <a:ea typeface="メイリオ"/>
              </a:rPr>
              <a:t>いただいた意見と、その後</a:t>
            </a:r>
          </a:p>
          <a:p>
            <a:pPr algn="l">
              <a:lnSpc>
                <a:spcPct val="130000"/>
              </a:lnSpc>
            </a:pPr>
            <a:r>
              <a:rPr sz="1050" b="0">
                <a:solidFill>
                  <a:srgbClr val="595F6E"/>
                </a:solidFill>
                <a:latin typeface="Meiryo"/>
                <a:ea typeface="メイリオ"/>
              </a:rPr>
              <a:t>質疑5件・Slackコメント3件のすべてに対応しました</a:t>
            </a:r>
          </a:p>
        </p:txBody>
      </p:sp>
      <p:sp>
        <p:nvSpPr>
          <p:cNvPr id="16" name="TextBox 15"/>
          <p:cNvSpPr txBox="1"/>
          <p:nvPr/>
        </p:nvSpPr>
        <p:spPr>
          <a:xfrm>
            <a:off x="1117600" y="2743200"/>
            <a:ext cx="4648200" cy="508000"/>
          </a:xfrm>
          <a:prstGeom prst="rect">
            <a:avLst/>
          </a:prstGeom>
          <a:noFill/>
        </p:spPr>
        <p:txBody>
          <a:bodyPr wrap="square" anchor="t" lIns="25400" rIns="25400" tIns="12700" bIns="12700">
            <a:spAutoFit/>
          </a:bodyPr>
          <a:lstStyle/>
          <a:p>
            <a:pPr algn="l">
              <a:lnSpc>
                <a:spcPct val="130000"/>
              </a:lnSpc>
            </a:pPr>
            <a:r>
              <a:rPr sz="1250" b="1">
                <a:solidFill>
                  <a:srgbClr val="222838"/>
                </a:solidFill>
                <a:latin typeface="Meiryo"/>
                <a:ea typeface="メイリオ"/>
              </a:rPr>
              <a:t>約束したことを果たしました</a:t>
            </a:r>
          </a:p>
          <a:p>
            <a:pPr algn="l">
              <a:lnSpc>
                <a:spcPct val="130000"/>
              </a:lnSpc>
            </a:pPr>
            <a:r>
              <a:rPr sz="1050" b="0">
                <a:solidFill>
                  <a:srgbClr val="595F6E"/>
                </a:solidFill>
                <a:latin typeface="Meiryo"/>
                <a:ea typeface="メイリオ"/>
              </a:rPr>
              <a:t>すり抜けと対向を方位の変化率で区別する（2〜4枚目）</a:t>
            </a:r>
          </a:p>
        </p:txBody>
      </p:sp>
      <p:sp>
        <p:nvSpPr>
          <p:cNvPr id="17" name="TextBox 16"/>
          <p:cNvSpPr txBox="1"/>
          <p:nvPr/>
        </p:nvSpPr>
        <p:spPr>
          <a:xfrm>
            <a:off x="1117600" y="3327400"/>
            <a:ext cx="4648200" cy="508000"/>
          </a:xfrm>
          <a:prstGeom prst="rect">
            <a:avLst/>
          </a:prstGeom>
          <a:noFill/>
        </p:spPr>
        <p:txBody>
          <a:bodyPr wrap="square" anchor="t" lIns="25400" rIns="25400" tIns="12700" bIns="12700">
            <a:spAutoFit/>
          </a:bodyPr>
          <a:lstStyle/>
          <a:p>
            <a:pPr algn="l">
              <a:lnSpc>
                <a:spcPct val="130000"/>
              </a:lnSpc>
            </a:pPr>
            <a:r>
              <a:rPr sz="1250" b="1">
                <a:solidFill>
                  <a:srgbClr val="222838"/>
                </a:solidFill>
                <a:latin typeface="Meiryo"/>
                <a:ea typeface="メイリオ"/>
              </a:rPr>
              <a:t>触覚デモを動かしました</a:t>
            </a:r>
          </a:p>
          <a:p>
            <a:pPr algn="l">
              <a:lnSpc>
                <a:spcPct val="130000"/>
              </a:lnSpc>
            </a:pPr>
            <a:r>
              <a:rPr sz="1050" b="0">
                <a:solidFill>
                  <a:srgbClr val="595F6E"/>
                </a:solidFill>
                <a:latin typeface="Meiryo"/>
                <a:ea typeface="メイリオ"/>
              </a:rPr>
              <a:t>Joy-conで実際に振動させました（5枚目）</a:t>
            </a:r>
          </a:p>
        </p:txBody>
      </p:sp>
      <p:sp>
        <p:nvSpPr>
          <p:cNvPr id="18" name="Rectangle 17"/>
          <p:cNvSpPr/>
          <p:nvPr/>
        </p:nvSpPr>
        <p:spPr>
          <a:xfrm>
            <a:off x="6223000" y="1651000"/>
            <a:ext cx="5080000" cy="2413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3000" y="1651000"/>
            <a:ext cx="50800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6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2. お願い（1件だけ）</a:t>
            </a:r>
          </a:p>
        </p:txBody>
      </p:sp>
      <p:sp>
        <p:nvSpPr>
          <p:cNvPr id="21" name="TextBox 20"/>
          <p:cNvSpPr txBox="1"/>
          <p:nvPr/>
        </p:nvSpPr>
        <p:spPr>
          <a:xfrm>
            <a:off x="6451600" y="2159000"/>
            <a:ext cx="4648200" cy="584200"/>
          </a:xfrm>
          <a:prstGeom prst="rect">
            <a:avLst/>
          </a:prstGeom>
          <a:noFill/>
        </p:spPr>
        <p:txBody>
          <a:bodyPr wrap="square" anchor="t" lIns="25400" rIns="25400" tIns="12700" bIns="12700">
            <a:spAutoFit/>
          </a:bodyPr>
          <a:lstStyle/>
          <a:p>
            <a:pPr algn="l">
              <a:lnSpc>
                <a:spcPct val="135000"/>
              </a:lnSpc>
            </a:pPr>
            <a:r>
              <a:rPr sz="1250" b="0">
                <a:solidFill>
                  <a:srgbClr val="222838"/>
                </a:solidFill>
                <a:latin typeface="Meiryo"/>
                <a:ea typeface="メイリオ"/>
              </a:rPr>
              <a:t>実環境の評価で使う4方向マイクを、</a:t>
            </a:r>
          </a:p>
          <a:p>
            <a:pPr algn="l">
              <a:lnSpc>
                <a:spcPct val="135000"/>
              </a:lnSpc>
            </a:pPr>
            <a:r>
              <a:rPr sz="1400" b="1">
                <a:solidFill>
                  <a:srgbClr val="C0392B"/>
                </a:solidFill>
                <a:latin typeface="Meiryo"/>
                <a:ea typeface="メイリオ"/>
              </a:rPr>
              <a:t>レンタルではなく購入</a:t>
            </a:r>
            <a:r>
              <a:rPr sz="1250" b="0">
                <a:solidFill>
                  <a:srgbClr val="222838"/>
                </a:solidFill>
                <a:latin typeface="Meiryo"/>
                <a:ea typeface="メイリオ"/>
              </a:rPr>
              <a:t>でお願いしたい</a:t>
            </a:r>
          </a:p>
        </p:txBody>
      </p:sp>
      <p:sp>
        <p:nvSpPr>
          <p:cNvPr id="22" name="TextBox 21"/>
          <p:cNvSpPr txBox="1"/>
          <p:nvPr/>
        </p:nvSpPr>
        <p:spPr>
          <a:xfrm>
            <a:off x="6451600" y="2844800"/>
            <a:ext cx="4648200" cy="279400"/>
          </a:xfrm>
          <a:prstGeom prst="rect">
            <a:avLst/>
          </a:prstGeom>
          <a:noFill/>
        </p:spPr>
        <p:txBody>
          <a:bodyPr wrap="square" anchor="t" lIns="25400" rIns="25400" tIns="12700" bIns="12700">
            <a:spAutoFit/>
          </a:bodyPr>
          <a:lstStyle/>
          <a:p>
            <a:pPr algn="l"/>
            <a:r>
              <a:rPr sz="1200" b="0">
                <a:solidFill>
                  <a:srgbClr val="222838"/>
                </a:solidFill>
                <a:latin typeface="Meiryo"/>
                <a:ea typeface="メイリオ"/>
              </a:rPr>
              <a:t>機種は </a:t>
            </a:r>
            <a:r>
              <a:rPr sz="1400" b="1">
                <a:solidFill>
                  <a:srgbClr val="C0392B"/>
                </a:solidFill>
                <a:latin typeface="Meiryo"/>
                <a:ea typeface="メイリオ"/>
              </a:rPr>
              <a:t>Zoom H3-VR</a:t>
            </a:r>
            <a:r>
              <a:rPr sz="1050" b="0">
                <a:solidFill>
                  <a:srgbClr val="595F6E"/>
                </a:solidFill>
                <a:latin typeface="Meiryo"/>
                <a:ea typeface="メイリオ"/>
              </a:rPr>
              <a:t>（アンビソニックスマイク）</a:t>
            </a:r>
          </a:p>
        </p:txBody>
      </p:sp>
      <p:sp>
        <p:nvSpPr>
          <p:cNvPr id="23" name="TextBox 22"/>
          <p:cNvSpPr txBox="1"/>
          <p:nvPr/>
        </p:nvSpPr>
        <p:spPr>
          <a:xfrm>
            <a:off x="6451600" y="3225800"/>
            <a:ext cx="4648200" cy="5080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9月末〜11月に屋外で計210回の録音を行います。なぜ購入なのかを6〜10枚目でご説明します。</a:t>
            </a:r>
          </a:p>
        </p:txBody>
      </p:sp>
      <p:sp>
        <p:nvSpPr>
          <p:cNvPr id="24" name="Rectangle 23"/>
          <p:cNvSpPr/>
          <p:nvPr/>
        </p:nvSpPr>
        <p:spPr>
          <a:xfrm>
            <a:off x="889000" y="4267200"/>
            <a:ext cx="10414000" cy="5080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2200" y="4394200"/>
            <a:ext cx="10033000" cy="304800"/>
          </a:xfrm>
          <a:prstGeom prst="rect">
            <a:avLst/>
          </a:prstGeom>
          <a:noFill/>
        </p:spPr>
        <p:txBody>
          <a:bodyPr wrap="square" anchor="t" lIns="25400" rIns="25400" tIns="12700" bIns="12700">
            <a:spAutoFit/>
          </a:bodyPr>
          <a:lstStyle/>
          <a:p>
            <a:pPr algn="l"/>
            <a:r>
              <a:rPr sz="1200" b="1">
                <a:solidFill>
                  <a:srgbClr val="222838"/>
                </a:solidFill>
                <a:latin typeface="Meiryo"/>
                <a:ea typeface="メイリオ"/>
              </a:rPr>
              <a:t>承認をいただきたいのは2番だけです。</a:t>
            </a:r>
            <a:r>
              <a:rPr sz="1200" b="0">
                <a:solidFill>
                  <a:srgbClr val="595F6E"/>
                </a:solidFill>
                <a:latin typeface="Meiryo"/>
                <a:ea typeface="メイリオ"/>
              </a:rPr>
              <a:t>1番はご報告です。</a:t>
            </a:r>
          </a:p>
        </p:txBody>
      </p:sp>
      <p:sp>
        <p:nvSpPr>
          <p:cNvPr id="26" name="Rectangle 25"/>
          <p:cNvSpPr/>
          <p:nvPr/>
        </p:nvSpPr>
        <p:spPr>
          <a:xfrm>
            <a:off x="889000" y="4978400"/>
            <a:ext cx="10414000" cy="8382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9000" y="4978400"/>
            <a:ext cx="50800" cy="838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68400" y="5105400"/>
            <a:ext cx="9906000" cy="609600"/>
          </a:xfrm>
          <a:prstGeom prst="rect">
            <a:avLst/>
          </a:prstGeom>
          <a:noFill/>
        </p:spPr>
        <p:txBody>
          <a:bodyPr wrap="square" anchor="t" lIns="25400" rIns="25400" tIns="12700" bIns="12700">
            <a:spAutoFit/>
          </a:bodyPr>
          <a:lstStyle/>
          <a:p>
            <a:pPr algn="l">
              <a:lnSpc>
                <a:spcPct val="140000"/>
              </a:lnSpc>
            </a:pPr>
            <a:r>
              <a:rPr sz="1100" b="1">
                <a:solidFill>
                  <a:srgbClr val="7E6F98"/>
                </a:solidFill>
                <a:latin typeface="Meiryo"/>
                <a:ea typeface="メイリオ"/>
              </a:rPr>
              <a:t>研究の目的（再掲）</a:t>
            </a:r>
          </a:p>
          <a:p>
            <a:pPr algn="l">
              <a:lnSpc>
                <a:spcPct val="140000"/>
              </a:lnSpc>
            </a:pPr>
            <a:r>
              <a:rPr sz="1150" b="0">
                <a:solidFill>
                  <a:srgbClr val="595F6E"/>
                </a:solidFill>
                <a:latin typeface="Meiryo"/>
                <a:ea typeface="メイリオ"/>
              </a:rPr>
              <a:t>屋外の危険な音を8種類検出し、種類・方向・距離から危険度を3段階に分けて、首元の振動で難聴の方に伝えるシステムの構築。行動の判断は本人に委ねます。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いただいた意見と、その後</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2</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質疑5件とSlackコメント3件、すべてに手を動かしました。</a:t>
            </a:r>
          </a:p>
        </p:txBody>
      </p:sp>
      <p:sp>
        <p:nvSpPr>
          <p:cNvPr id="12" name="Rectangle 11"/>
          <p:cNvSpPr/>
          <p:nvPr/>
        </p:nvSpPr>
        <p:spPr>
          <a:xfrm>
            <a:off x="889000" y="1625600"/>
            <a:ext cx="10414000" cy="3302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6800" y="1689100"/>
            <a:ext cx="3810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いただいた意見</a:t>
            </a:r>
          </a:p>
        </p:txBody>
      </p:sp>
      <p:sp>
        <p:nvSpPr>
          <p:cNvPr id="14" name="TextBox 13"/>
          <p:cNvSpPr txBox="1"/>
          <p:nvPr/>
        </p:nvSpPr>
        <p:spPr>
          <a:xfrm>
            <a:off x="5029200" y="1689100"/>
            <a:ext cx="4826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やったこと</a:t>
            </a:r>
          </a:p>
        </p:txBody>
      </p:sp>
      <p:sp>
        <p:nvSpPr>
          <p:cNvPr id="15" name="TextBox 14"/>
          <p:cNvSpPr txBox="1"/>
          <p:nvPr/>
        </p:nvSpPr>
        <p:spPr>
          <a:xfrm>
            <a:off x="10007600" y="1689100"/>
            <a:ext cx="1143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状態</a:t>
            </a:r>
          </a:p>
        </p:txBody>
      </p:sp>
      <p:sp>
        <p:nvSpPr>
          <p:cNvPr id="16" name="Rectangle 15"/>
          <p:cNvSpPr/>
          <p:nvPr/>
        </p:nvSpPr>
        <p:spPr>
          <a:xfrm>
            <a:off x="889000" y="19558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66800" y="20447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方向まで分かるのに、なぜ方向を教えないのか</a:t>
            </a:r>
          </a:p>
        </p:txBody>
      </p:sp>
      <p:sp>
        <p:nvSpPr>
          <p:cNvPr id="18" name="TextBox 17"/>
          <p:cNvSpPr txBox="1"/>
          <p:nvPr/>
        </p:nvSpPr>
        <p:spPr>
          <a:xfrm>
            <a:off x="5029200" y="20447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伝える設計です。付録でご説明しました</a:t>
            </a:r>
          </a:p>
        </p:txBody>
      </p:sp>
      <p:sp>
        <p:nvSpPr>
          <p:cNvPr id="19" name="Rectangle 18"/>
          <p:cNvSpPr/>
          <p:nvPr/>
        </p:nvSpPr>
        <p:spPr>
          <a:xfrm>
            <a:off x="10007600" y="20320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説明済</a:t>
            </a:r>
          </a:p>
        </p:txBody>
      </p:sp>
      <p:sp>
        <p:nvSpPr>
          <p:cNvPr id="20" name="Rectangle 19"/>
          <p:cNvSpPr/>
          <p:nvPr/>
        </p:nvSpPr>
        <p:spPr>
          <a:xfrm>
            <a:off x="889000" y="23622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6800" y="24511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すり抜けと対向が同じ警告になり区別できないのでは</a:t>
            </a:r>
          </a:p>
        </p:txBody>
      </p:sp>
      <p:sp>
        <p:nvSpPr>
          <p:cNvPr id="22" name="TextBox 21"/>
          <p:cNvSpPr txBox="1"/>
          <p:nvPr/>
        </p:nvSpPr>
        <p:spPr>
          <a:xfrm>
            <a:off x="5029200" y="24511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方位の変化率で区別する仕組みを実装（3〜4枚目）</a:t>
            </a:r>
          </a:p>
        </p:txBody>
      </p:sp>
      <p:sp>
        <p:nvSpPr>
          <p:cNvPr id="23" name="Rectangle 22"/>
          <p:cNvSpPr/>
          <p:nvPr/>
        </p:nvSpPr>
        <p:spPr>
          <a:xfrm>
            <a:off x="10007600" y="2438400"/>
            <a:ext cx="787400" cy="254000"/>
          </a:xfrm>
          <a:prstGeom prst="rect">
            <a:avLst/>
          </a:prstGeom>
          <a:no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C0392B"/>
                </a:solidFill>
                <a:latin typeface="Meiryo"/>
                <a:ea typeface="メイリオ"/>
              </a:rPr>
              <a:t>完了</a:t>
            </a:r>
          </a:p>
        </p:txBody>
      </p:sp>
      <p:sp>
        <p:nvSpPr>
          <p:cNvPr id="24" name="Rectangle 23"/>
          <p:cNvSpPr/>
          <p:nvPr/>
        </p:nvSpPr>
        <p:spPr>
          <a:xfrm>
            <a:off x="889000" y="27686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28575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学習データでの評価は。どういう結果か</a:t>
            </a:r>
          </a:p>
        </p:txBody>
      </p:sp>
      <p:sp>
        <p:nvSpPr>
          <p:cNvPr id="26" name="TextBox 25"/>
          <p:cNvSpPr txBox="1"/>
          <p:nvPr/>
        </p:nvSpPr>
        <p:spPr>
          <a:xfrm>
            <a:off x="5029200" y="28575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全数値を記録と照合。複数車を低く言っていたと判明</a:t>
            </a:r>
          </a:p>
        </p:txBody>
      </p:sp>
      <p:sp>
        <p:nvSpPr>
          <p:cNvPr id="27" name="Rectangle 26"/>
          <p:cNvSpPr/>
          <p:nvPr/>
        </p:nvSpPr>
        <p:spPr>
          <a:xfrm>
            <a:off x="10007600" y="28448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訂正済</a:t>
            </a:r>
          </a:p>
        </p:txBody>
      </p:sp>
      <p:sp>
        <p:nvSpPr>
          <p:cNvPr id="28" name="Rectangle 27"/>
          <p:cNvSpPr/>
          <p:nvPr/>
        </p:nvSpPr>
        <p:spPr>
          <a:xfrm>
            <a:off x="889000" y="31750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800" y="32639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デバイス試作は修士を見越した想定か</a:t>
            </a:r>
          </a:p>
        </p:txBody>
      </p:sp>
      <p:sp>
        <p:nvSpPr>
          <p:cNvPr id="30" name="TextBox 29"/>
          <p:cNvSpPr txBox="1"/>
          <p:nvPr/>
        </p:nvSpPr>
        <p:spPr>
          <a:xfrm>
            <a:off x="5029200" y="32639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はい。振動デバイスを研究の範囲に入れました</a:t>
            </a:r>
          </a:p>
        </p:txBody>
      </p:sp>
      <p:sp>
        <p:nvSpPr>
          <p:cNvPr id="31" name="Rectangle 30"/>
          <p:cNvSpPr/>
          <p:nvPr/>
        </p:nvSpPr>
        <p:spPr>
          <a:xfrm>
            <a:off x="10007600" y="32512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決定</a:t>
            </a:r>
          </a:p>
        </p:txBody>
      </p:sp>
      <p:sp>
        <p:nvSpPr>
          <p:cNvPr id="32" name="Rectangle 31"/>
          <p:cNvSpPr/>
          <p:nvPr/>
        </p:nvSpPr>
        <p:spPr>
          <a:xfrm>
            <a:off x="889000" y="35814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6800" y="36703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Q 未踏事業に挑戦してもよいのでは</a:t>
            </a:r>
          </a:p>
        </p:txBody>
      </p:sp>
      <p:sp>
        <p:nvSpPr>
          <p:cNvPr id="34" name="TextBox 33"/>
          <p:cNvSpPr txBox="1"/>
          <p:nvPr/>
        </p:nvSpPr>
        <p:spPr>
          <a:xfrm>
            <a:off x="5029200" y="36703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応募時期を調査（2027年度は11月ごろエントリー）</a:t>
            </a:r>
          </a:p>
        </p:txBody>
      </p:sp>
      <p:sp>
        <p:nvSpPr>
          <p:cNvPr id="35" name="Rectangle 34"/>
          <p:cNvSpPr/>
          <p:nvPr/>
        </p:nvSpPr>
        <p:spPr>
          <a:xfrm>
            <a:off x="10007600" y="36576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調査済</a:t>
            </a:r>
          </a:p>
        </p:txBody>
      </p:sp>
      <p:sp>
        <p:nvSpPr>
          <p:cNvPr id="36" name="Rectangle 35"/>
          <p:cNvSpPr/>
          <p:nvPr/>
        </p:nvSpPr>
        <p:spPr>
          <a:xfrm>
            <a:off x="889000" y="39878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40767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S 全盲・弱視向けの振動デバイスにノウハウがある</a:t>
            </a:r>
          </a:p>
        </p:txBody>
      </p:sp>
      <p:sp>
        <p:nvSpPr>
          <p:cNvPr id="38" name="TextBox 37"/>
          <p:cNvSpPr txBox="1"/>
          <p:nvPr/>
        </p:nvSpPr>
        <p:spPr>
          <a:xfrm>
            <a:off x="5029200" y="40767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先行研究を調査。首元は4〜6方向が現実的と判明</a:t>
            </a:r>
          </a:p>
        </p:txBody>
      </p:sp>
      <p:sp>
        <p:nvSpPr>
          <p:cNvPr id="39" name="Rectangle 38"/>
          <p:cNvSpPr/>
          <p:nvPr/>
        </p:nvSpPr>
        <p:spPr>
          <a:xfrm>
            <a:off x="10007600" y="40640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調査済</a:t>
            </a:r>
          </a:p>
        </p:txBody>
      </p:sp>
      <p:sp>
        <p:nvSpPr>
          <p:cNvPr id="40" name="Rectangle 39"/>
          <p:cNvSpPr/>
          <p:nvPr/>
        </p:nvSpPr>
        <p:spPr>
          <a:xfrm>
            <a:off x="889000" y="4394200"/>
            <a:ext cx="10414000" cy="4064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6800" y="44831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S 研究上はとりあえず全方位を録ってみては</a:t>
            </a:r>
          </a:p>
        </p:txBody>
      </p:sp>
      <p:sp>
        <p:nvSpPr>
          <p:cNvPr id="42" name="TextBox 41"/>
          <p:cNvSpPr txBox="1"/>
          <p:nvPr/>
        </p:nvSpPr>
        <p:spPr>
          <a:xfrm>
            <a:off x="5029200" y="44831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記録紙に前方の欄を追加。前方も記録します</a:t>
            </a:r>
          </a:p>
        </p:txBody>
      </p:sp>
      <p:sp>
        <p:nvSpPr>
          <p:cNvPr id="43" name="Rectangle 42"/>
          <p:cNvSpPr/>
          <p:nvPr/>
        </p:nvSpPr>
        <p:spPr>
          <a:xfrm>
            <a:off x="10007600" y="4470400"/>
            <a:ext cx="787400" cy="254000"/>
          </a:xfrm>
          <a:prstGeom prst="rect">
            <a:avLst/>
          </a:prstGeom>
          <a:noFill/>
          <a:ln w="1397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2E7D5B"/>
                </a:solidFill>
                <a:latin typeface="Meiryo"/>
                <a:ea typeface="メイリオ"/>
              </a:rPr>
              <a:t>反映済</a:t>
            </a:r>
          </a:p>
        </p:txBody>
      </p:sp>
      <p:sp>
        <p:nvSpPr>
          <p:cNvPr id="44" name="Rectangle 43"/>
          <p:cNvSpPr/>
          <p:nvPr/>
        </p:nvSpPr>
        <p:spPr>
          <a:xfrm>
            <a:off x="889000" y="4800600"/>
            <a:ext cx="10414000" cy="4064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6800" y="4889500"/>
            <a:ext cx="3886200" cy="254000"/>
          </a:xfrm>
          <a:prstGeom prst="rect">
            <a:avLst/>
          </a:prstGeom>
          <a:noFill/>
        </p:spPr>
        <p:txBody>
          <a:bodyPr wrap="square" anchor="t" lIns="25400" rIns="25400" tIns="12700" bIns="12700">
            <a:spAutoFit/>
          </a:bodyPr>
          <a:lstStyle/>
          <a:p>
            <a:pPr algn="l"/>
            <a:r>
              <a:rPr sz="1050" b="0">
                <a:solidFill>
                  <a:srgbClr val="222838"/>
                </a:solidFill>
                <a:latin typeface="Meiryo"/>
                <a:ea typeface="メイリオ"/>
              </a:rPr>
              <a:t>S Joy-conとUnityで簡単に作ってみては</a:t>
            </a:r>
          </a:p>
        </p:txBody>
      </p:sp>
      <p:sp>
        <p:nvSpPr>
          <p:cNvPr id="46" name="TextBox 45"/>
          <p:cNvSpPr txBox="1"/>
          <p:nvPr/>
        </p:nvSpPr>
        <p:spPr>
          <a:xfrm>
            <a:off x="5029200" y="4889500"/>
            <a:ext cx="49022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作りました。9/2に実機で振動成功（5枚目）</a:t>
            </a:r>
          </a:p>
        </p:txBody>
      </p:sp>
      <p:sp>
        <p:nvSpPr>
          <p:cNvPr id="47" name="Rectangle 46"/>
          <p:cNvSpPr/>
          <p:nvPr/>
        </p:nvSpPr>
        <p:spPr>
          <a:xfrm>
            <a:off x="10007600" y="4876800"/>
            <a:ext cx="787400" cy="254000"/>
          </a:xfrm>
          <a:prstGeom prst="rect">
            <a:avLst/>
          </a:prstGeom>
          <a:noFill/>
          <a:ln w="1397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00" b="1">
                <a:solidFill>
                  <a:srgbClr val="C0392B"/>
                </a:solidFill>
                <a:latin typeface="Meiryo"/>
                <a:ea typeface="メイリオ"/>
              </a:rPr>
              <a:t>完了</a:t>
            </a:r>
          </a:p>
        </p:txBody>
      </p:sp>
      <p:sp>
        <p:nvSpPr>
          <p:cNvPr id="48" name="Rectangle 47"/>
          <p:cNvSpPr/>
          <p:nvPr/>
        </p:nvSpPr>
        <p:spPr>
          <a:xfrm>
            <a:off x="889000" y="5359400"/>
            <a:ext cx="10414000" cy="4318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89000" y="5359400"/>
            <a:ext cx="50800" cy="4318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117600" y="5461000"/>
            <a:ext cx="10033000" cy="254000"/>
          </a:xfrm>
          <a:prstGeom prst="rect">
            <a:avLst/>
          </a:prstGeom>
          <a:noFill/>
        </p:spPr>
        <p:txBody>
          <a:bodyPr wrap="square" anchor="t" lIns="25400" rIns="25400" tIns="12700" bIns="12700">
            <a:spAutoFit/>
          </a:bodyPr>
          <a:lstStyle/>
          <a:p>
            <a:pPr algn="l"/>
            <a:r>
              <a:rPr sz="1150" b="1">
                <a:solidFill>
                  <a:srgbClr val="C0392B"/>
                </a:solidFill>
                <a:latin typeface="Meiryo"/>
                <a:ea typeface="メイリオ"/>
              </a:rPr>
              <a:t>赤枠の2件</a:t>
            </a:r>
            <a:r>
              <a:rPr sz="1150" b="0">
                <a:solidFill>
                  <a:srgbClr val="595F6E"/>
                </a:solidFill>
                <a:latin typeface="Meiryo"/>
                <a:ea typeface="メイリオ"/>
              </a:rPr>
              <a:t>＝この場でご説明したいものです。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約束したこと：すり抜けと対向を、どう区別するか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3</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夏ゼミで「三角関数で区別する」とお答えした件です。</a:t>
            </a:r>
          </a:p>
        </p:txBody>
      </p:sp>
      <p:sp>
        <p:nvSpPr>
          <p:cNvPr id="12" name="Rectangle 11"/>
          <p:cNvSpPr/>
          <p:nvPr/>
        </p:nvSpPr>
        <p:spPr>
          <a:xfrm>
            <a:off x="889000" y="1625600"/>
            <a:ext cx="5461000" cy="3175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2200" y="1778000"/>
            <a:ext cx="3810000" cy="254000"/>
          </a:xfrm>
          <a:prstGeom prst="rect">
            <a:avLst/>
          </a:prstGeom>
          <a:noFill/>
        </p:spPr>
        <p:txBody>
          <a:bodyPr wrap="square" anchor="t" lIns="25400" rIns="25400" tIns="12700" bIns="12700">
            <a:spAutoFit/>
          </a:bodyPr>
          <a:lstStyle/>
          <a:p>
            <a:pPr algn="l"/>
            <a:r>
              <a:rPr sz="1250" b="1">
                <a:solidFill>
                  <a:srgbClr val="222838"/>
                </a:solidFill>
                <a:latin typeface="Meiryo"/>
                <a:ea typeface="メイリオ"/>
              </a:rPr>
              <a:t>装着者から見た「方向」の変わり方</a:t>
            </a:r>
          </a:p>
        </p:txBody>
      </p:sp>
      <p:sp>
        <p:nvSpPr>
          <p:cNvPr id="14" name="Oval 13"/>
          <p:cNvSpPr/>
          <p:nvPr/>
        </p:nvSpPr>
        <p:spPr>
          <a:xfrm>
            <a:off x="3517900" y="4191000"/>
            <a:ext cx="203200" cy="203200"/>
          </a:xfrm>
          <a:prstGeom prst="ellipse">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30500" y="4445000"/>
            <a:ext cx="1778000" cy="228600"/>
          </a:xfrm>
          <a:prstGeom prst="rect">
            <a:avLst/>
          </a:prstGeom>
          <a:noFill/>
        </p:spPr>
        <p:txBody>
          <a:bodyPr wrap="square" anchor="t" lIns="25400" rIns="25400" tIns="12700" bIns="12700">
            <a:spAutoFit/>
          </a:bodyPr>
          <a:lstStyle/>
          <a:p>
            <a:pPr algn="ctr"/>
            <a:r>
              <a:rPr sz="1050" b="0">
                <a:solidFill>
                  <a:srgbClr val="595F6E"/>
                </a:solidFill>
                <a:latin typeface="Meiryo"/>
                <a:ea typeface="メイリオ"/>
              </a:rPr>
              <a:t>装着者</a:t>
            </a:r>
          </a:p>
        </p:txBody>
      </p:sp>
      <p:sp>
        <p:nvSpPr>
          <p:cNvPr id="16" name="Rectangle 15"/>
          <p:cNvSpPr/>
          <p:nvPr/>
        </p:nvSpPr>
        <p:spPr>
          <a:xfrm>
            <a:off x="3604260" y="2362200"/>
            <a:ext cx="30480" cy="1752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Isosceles Triangle 16"/>
          <p:cNvSpPr/>
          <p:nvPr/>
        </p:nvSpPr>
        <p:spPr>
          <a:xfrm>
            <a:off x="3530600" y="2286000"/>
            <a:ext cx="177800" cy="177800"/>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47900" y="2133600"/>
            <a:ext cx="1270000" cy="431800"/>
          </a:xfrm>
          <a:prstGeom prst="rect">
            <a:avLst/>
          </a:prstGeom>
          <a:noFill/>
        </p:spPr>
        <p:txBody>
          <a:bodyPr wrap="square" anchor="t" lIns="25400" rIns="25400" tIns="12700" bIns="12700">
            <a:spAutoFit/>
          </a:bodyPr>
          <a:lstStyle/>
          <a:p>
            <a:pPr algn="r">
              <a:lnSpc>
                <a:spcPct val="125000"/>
              </a:lnSpc>
            </a:pPr>
            <a:r>
              <a:rPr sz="1150" b="1">
                <a:solidFill>
                  <a:srgbClr val="C0392B"/>
                </a:solidFill>
                <a:latin typeface="Meiryo"/>
                <a:ea typeface="メイリオ"/>
              </a:rPr>
              <a:t>対向型</a:t>
            </a:r>
          </a:p>
          <a:p>
            <a:pPr algn="r">
              <a:lnSpc>
                <a:spcPct val="125000"/>
              </a:lnSpc>
            </a:pPr>
            <a:r>
              <a:rPr sz="950" b="0">
                <a:solidFill>
                  <a:srgbClr val="595F6E"/>
                </a:solidFill>
                <a:latin typeface="Meiryo"/>
                <a:ea typeface="メイリオ"/>
              </a:rPr>
              <a:t>方位が変わらない</a:t>
            </a:r>
          </a:p>
        </p:txBody>
      </p:sp>
      <p:sp>
        <p:nvSpPr>
          <p:cNvPr id="19" name="Rectangle 18"/>
          <p:cNvSpPr/>
          <p:nvPr/>
        </p:nvSpPr>
        <p:spPr>
          <a:xfrm>
            <a:off x="1397000" y="3124200"/>
            <a:ext cx="4445000" cy="3048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Isosceles Triangle 19"/>
          <p:cNvSpPr/>
          <p:nvPr/>
        </p:nvSpPr>
        <p:spPr>
          <a:xfrm>
            <a:off x="5410200" y="3048000"/>
            <a:ext cx="177800" cy="177800"/>
          </a:xfrm>
          <a:prstGeom prst="triangl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94000" y="2616200"/>
            <a:ext cx="2235200" cy="431800"/>
          </a:xfrm>
          <a:prstGeom prst="rect">
            <a:avLst/>
          </a:prstGeom>
          <a:noFill/>
        </p:spPr>
        <p:txBody>
          <a:bodyPr wrap="square" anchor="t" lIns="25400" rIns="25400" tIns="12700" bIns="12700">
            <a:spAutoFit/>
          </a:bodyPr>
          <a:lstStyle/>
          <a:p>
            <a:pPr algn="l">
              <a:lnSpc>
                <a:spcPct val="125000"/>
              </a:lnSpc>
            </a:pPr>
            <a:r>
              <a:rPr sz="1150" b="1">
                <a:solidFill>
                  <a:srgbClr val="2E7D5B"/>
                </a:solidFill>
                <a:latin typeface="Meiryo"/>
                <a:ea typeface="メイリオ"/>
              </a:rPr>
              <a:t>すり抜け型</a:t>
            </a:r>
          </a:p>
          <a:p>
            <a:pPr algn="l">
              <a:lnSpc>
                <a:spcPct val="125000"/>
              </a:lnSpc>
            </a:pPr>
            <a:r>
              <a:rPr sz="950" b="0">
                <a:solidFill>
                  <a:srgbClr val="595F6E"/>
                </a:solidFill>
                <a:latin typeface="Meiryo"/>
                <a:ea typeface="メイリオ"/>
              </a:rPr>
              <a:t>方位が速く変わる</a:t>
            </a:r>
          </a:p>
        </p:txBody>
      </p:sp>
      <p:sp>
        <p:nvSpPr>
          <p:cNvPr id="22" name="Rectangle 21"/>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1714500" y="3136900"/>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H="1" flipV="1">
            <a:off x="2857500" y="3136900"/>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flipV="1">
            <a:off x="3619500" y="3136900"/>
            <a:ext cx="762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3619500" y="4292600"/>
            <a:ext cx="12700" cy="127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V="1">
            <a:off x="3619500" y="3136900"/>
            <a:ext cx="1905000" cy="1155700"/>
          </a:xfrm>
          <a:prstGeom prst="line">
            <a:avLst/>
          </a:prstGeom>
          <a:ln w="10160">
            <a:solidFill>
              <a:srgbClr val="2E7D5B"/>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92200" y="4445000"/>
            <a:ext cx="5054600" cy="254000"/>
          </a:xfrm>
          <a:prstGeom prst="rect">
            <a:avLst/>
          </a:prstGeom>
          <a:noFill/>
        </p:spPr>
        <p:txBody>
          <a:bodyPr wrap="square" anchor="t" lIns="25400" rIns="25400" tIns="12700" bIns="12700">
            <a:spAutoFit/>
          </a:bodyPr>
          <a:lstStyle/>
          <a:p>
            <a:pPr algn="l"/>
            <a:r>
              <a:rPr sz="1000" b="0">
                <a:solidFill>
                  <a:srgbClr val="8A8F9A"/>
                </a:solidFill>
                <a:latin typeface="Meiryo"/>
                <a:ea typeface="メイリオ"/>
              </a:rPr>
              <a:t>判定に使うのは、最接近の2.5〜1.5秒前の区間</a:t>
            </a:r>
          </a:p>
        </p:txBody>
      </p:sp>
      <p:sp>
        <p:nvSpPr>
          <p:cNvPr id="31" name="Rectangle 30"/>
          <p:cNvSpPr/>
          <p:nvPr/>
        </p:nvSpPr>
        <p:spPr>
          <a:xfrm>
            <a:off x="6604000" y="1625600"/>
            <a:ext cx="4699000" cy="31750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604000" y="1625600"/>
            <a:ext cx="4699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07200" y="1803400"/>
            <a:ext cx="4292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救済ルートを1本足した</a:t>
            </a:r>
          </a:p>
        </p:txBody>
      </p:sp>
      <p:sp>
        <p:nvSpPr>
          <p:cNvPr id="34" name="TextBox 33"/>
          <p:cNvSpPr txBox="1"/>
          <p:nvPr/>
        </p:nvSpPr>
        <p:spPr>
          <a:xfrm>
            <a:off x="6832600" y="2133600"/>
            <a:ext cx="4241800" cy="431800"/>
          </a:xfrm>
          <a:prstGeom prst="rect">
            <a:avLst/>
          </a:prstGeom>
          <a:noFill/>
        </p:spPr>
        <p:txBody>
          <a:bodyPr wrap="square" anchor="t" lIns="25400" rIns="25400" tIns="12700" bIns="12700">
            <a:spAutoFit/>
          </a:bodyPr>
          <a:lstStyle/>
          <a:p>
            <a:pPr algn="l">
              <a:lnSpc>
                <a:spcPct val="135000"/>
              </a:lnSpc>
            </a:pPr>
            <a:r>
              <a:rPr sz="1100" b="0">
                <a:solidFill>
                  <a:srgbClr val="595F6E"/>
                </a:solidFill>
                <a:latin typeface="Meiryo"/>
                <a:ea typeface="メイリオ"/>
              </a:rPr>
              <a:t>次の3つが4フレーム続いたら、強い警告の候補として救い上げます。</a:t>
            </a:r>
          </a:p>
        </p:txBody>
      </p:sp>
      <p:sp>
        <p:nvSpPr>
          <p:cNvPr id="35" name="Oval 34"/>
          <p:cNvSpPr/>
          <p:nvPr/>
        </p:nvSpPr>
        <p:spPr>
          <a:xfrm>
            <a:off x="6832600" y="2717800"/>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1</a:t>
            </a:r>
          </a:p>
        </p:txBody>
      </p:sp>
      <p:sp>
        <p:nvSpPr>
          <p:cNvPr id="36" name="TextBox 35"/>
          <p:cNvSpPr txBox="1"/>
          <p:nvPr/>
        </p:nvSpPr>
        <p:spPr>
          <a:xfrm>
            <a:off x="7188200" y="2692400"/>
            <a:ext cx="3937000" cy="431800"/>
          </a:xfrm>
          <a:prstGeom prst="rect">
            <a:avLst/>
          </a:prstGeom>
          <a:noFill/>
        </p:spPr>
        <p:txBody>
          <a:bodyPr wrap="square" anchor="t" lIns="25400" rIns="25400" tIns="12700" bIns="12700">
            <a:spAutoFit/>
          </a:bodyPr>
          <a:lstStyle/>
          <a:p>
            <a:pPr algn="l">
              <a:lnSpc>
                <a:spcPct val="125000"/>
              </a:lnSpc>
            </a:pPr>
            <a:r>
              <a:rPr sz="1150" b="1">
                <a:solidFill>
                  <a:srgbClr val="222838"/>
                </a:solidFill>
                <a:latin typeface="Meiryo"/>
                <a:ea typeface="メイリオ"/>
              </a:rPr>
              <a:t>方位がほとんど変わらない</a:t>
            </a:r>
          </a:p>
          <a:p>
            <a:pPr algn="l">
              <a:lnSpc>
                <a:spcPct val="125000"/>
              </a:lnSpc>
            </a:pPr>
            <a:r>
              <a:rPr sz="950" b="0">
                <a:solidFill>
                  <a:srgbClr val="8A8F9A"/>
                </a:solidFill>
                <a:latin typeface="Meiryo"/>
                <a:ea typeface="メイリオ"/>
              </a:rPr>
              <a:t>|dθ/dt| ≤ 0.10 rad/s</a:t>
            </a:r>
          </a:p>
        </p:txBody>
      </p:sp>
      <p:sp>
        <p:nvSpPr>
          <p:cNvPr id="37" name="Oval 36"/>
          <p:cNvSpPr/>
          <p:nvPr/>
        </p:nvSpPr>
        <p:spPr>
          <a:xfrm>
            <a:off x="6832600" y="3225800"/>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2</a:t>
            </a:r>
          </a:p>
        </p:txBody>
      </p:sp>
      <p:sp>
        <p:nvSpPr>
          <p:cNvPr id="38" name="TextBox 37"/>
          <p:cNvSpPr txBox="1"/>
          <p:nvPr/>
        </p:nvSpPr>
        <p:spPr>
          <a:xfrm>
            <a:off x="7188200" y="3200400"/>
            <a:ext cx="3937000" cy="431800"/>
          </a:xfrm>
          <a:prstGeom prst="rect">
            <a:avLst/>
          </a:prstGeom>
          <a:noFill/>
        </p:spPr>
        <p:txBody>
          <a:bodyPr wrap="square" anchor="t" lIns="25400" rIns="25400" tIns="12700" bIns="12700">
            <a:spAutoFit/>
          </a:bodyPr>
          <a:lstStyle/>
          <a:p>
            <a:pPr algn="l">
              <a:lnSpc>
                <a:spcPct val="125000"/>
              </a:lnSpc>
            </a:pPr>
            <a:r>
              <a:rPr sz="1150" b="1">
                <a:solidFill>
                  <a:srgbClr val="222838"/>
                </a:solidFill>
                <a:latin typeface="Meiryo"/>
                <a:ea typeface="メイリオ"/>
              </a:rPr>
              <a:t>距離が縮んでいる</a:t>
            </a:r>
          </a:p>
          <a:p>
            <a:pPr algn="l">
              <a:lnSpc>
                <a:spcPct val="125000"/>
              </a:lnSpc>
            </a:pPr>
            <a:r>
              <a:rPr sz="950" b="0">
                <a:solidFill>
                  <a:srgbClr val="8A8F9A"/>
                </a:solidFill>
                <a:latin typeface="Meiryo"/>
                <a:ea typeface="メイリオ"/>
              </a:rPr>
              <a:t>頑健な傾きがマイナス</a:t>
            </a:r>
          </a:p>
        </p:txBody>
      </p:sp>
      <p:sp>
        <p:nvSpPr>
          <p:cNvPr id="39" name="Oval 38"/>
          <p:cNvSpPr/>
          <p:nvPr/>
        </p:nvSpPr>
        <p:spPr>
          <a:xfrm>
            <a:off x="6832600" y="3733800"/>
            <a:ext cx="254000" cy="2540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3</a:t>
            </a:r>
          </a:p>
        </p:txBody>
      </p:sp>
      <p:sp>
        <p:nvSpPr>
          <p:cNvPr id="40" name="TextBox 39"/>
          <p:cNvSpPr txBox="1"/>
          <p:nvPr/>
        </p:nvSpPr>
        <p:spPr>
          <a:xfrm>
            <a:off x="7188200" y="3708400"/>
            <a:ext cx="3937000" cy="431800"/>
          </a:xfrm>
          <a:prstGeom prst="rect">
            <a:avLst/>
          </a:prstGeom>
          <a:noFill/>
        </p:spPr>
        <p:txBody>
          <a:bodyPr wrap="square" anchor="t" lIns="25400" rIns="25400" tIns="12700" bIns="12700">
            <a:spAutoFit/>
          </a:bodyPr>
          <a:lstStyle/>
          <a:p>
            <a:pPr algn="l">
              <a:lnSpc>
                <a:spcPct val="125000"/>
              </a:lnSpc>
            </a:pPr>
            <a:r>
              <a:rPr sz="1150" b="1">
                <a:solidFill>
                  <a:srgbClr val="222838"/>
                </a:solidFill>
                <a:latin typeface="Meiryo"/>
                <a:ea typeface="メイリオ"/>
              </a:rPr>
              <a:t>15m以内にいる</a:t>
            </a:r>
          </a:p>
          <a:p>
            <a:pPr algn="l">
              <a:lnSpc>
                <a:spcPct val="125000"/>
              </a:lnSpc>
            </a:pPr>
            <a:r>
              <a:rPr sz="950" b="0">
                <a:solidFill>
                  <a:srgbClr val="8A8F9A"/>
                </a:solidFill>
                <a:latin typeface="Meiryo"/>
                <a:ea typeface="メイリオ"/>
              </a:rPr>
              <a:t>距離ゲート</a:t>
            </a:r>
          </a:p>
        </p:txBody>
      </p:sp>
      <p:sp>
        <p:nvSpPr>
          <p:cNvPr id="41" name="Rectangle 40"/>
          <p:cNvSpPr/>
          <p:nvPr/>
        </p:nvSpPr>
        <p:spPr>
          <a:xfrm>
            <a:off x="6832600" y="4241800"/>
            <a:ext cx="4241800" cy="6096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85000" y="4343400"/>
            <a:ext cx="3962400" cy="4572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船の衝突回避と同じ原則です。方位が変わらないまま近づいてくる相手は、衝突コースにいます。</a:t>
            </a:r>
          </a:p>
        </p:txBody>
      </p:sp>
      <p:sp>
        <p:nvSpPr>
          <p:cNvPr id="43" name="Rectangle 42"/>
          <p:cNvSpPr/>
          <p:nvPr/>
        </p:nvSpPr>
        <p:spPr>
          <a:xfrm>
            <a:off x="889000" y="4978400"/>
            <a:ext cx="10414000" cy="8382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89000" y="4978400"/>
            <a:ext cx="50800" cy="838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68400" y="5080000"/>
            <a:ext cx="9906000" cy="660400"/>
          </a:xfrm>
          <a:prstGeom prst="rect">
            <a:avLst/>
          </a:prstGeom>
          <a:noFill/>
        </p:spPr>
        <p:txBody>
          <a:bodyPr wrap="square" anchor="t" lIns="25400" rIns="25400" tIns="12700" bIns="12700">
            <a:spAutoFit/>
          </a:bodyPr>
          <a:lstStyle/>
          <a:p>
            <a:pPr algn="l">
              <a:lnSpc>
                <a:spcPct val="140000"/>
              </a:lnSpc>
            </a:pPr>
            <a:r>
              <a:rPr sz="1150" b="1">
                <a:solidFill>
                  <a:srgbClr val="7E6F98"/>
                </a:solidFill>
                <a:latin typeface="Meiryo"/>
                <a:ea typeface="メイリオ"/>
              </a:rPr>
              <a:t>なぜ15mで切るのか</a:t>
            </a:r>
          </a:p>
          <a:p>
            <a:pPr algn="l">
              <a:lnSpc>
                <a:spcPct val="140000"/>
              </a:lnSpc>
            </a:pPr>
            <a:r>
              <a:rPr sz="1150" b="0">
                <a:solidFill>
                  <a:srgbClr val="595F6E"/>
                </a:solidFill>
                <a:latin typeface="Meiryo"/>
                <a:ea typeface="メイリオ"/>
              </a:rPr>
              <a:t>方位の変化率は距離の2乗に反比例します。遠くをまっすぐ通り過ぎる安全な車も「方位が変わらない」ように見えるので、距離で切らないと遠い車まで強い警告になります。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その結果</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4</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車を「対向型」と「すり抜け型」に分けて、前の版と比べました。</a:t>
            </a:r>
          </a:p>
        </p:txBody>
      </p:sp>
      <p:sp>
        <p:nvSpPr>
          <p:cNvPr id="12" name="Rectangle 11"/>
          <p:cNvSpPr/>
          <p:nvPr/>
        </p:nvSpPr>
        <p:spPr>
          <a:xfrm>
            <a:off x="889000" y="1651000"/>
            <a:ext cx="10414000" cy="3556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6800" y="1727200"/>
            <a:ext cx="3175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どんな車か</a:t>
            </a:r>
          </a:p>
        </p:txBody>
      </p:sp>
      <p:sp>
        <p:nvSpPr>
          <p:cNvPr id="14" name="TextBox 13"/>
          <p:cNvSpPr txBox="1"/>
          <p:nvPr/>
        </p:nvSpPr>
        <p:spPr>
          <a:xfrm>
            <a:off x="4318000" y="1727200"/>
            <a:ext cx="1397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型</a:t>
            </a:r>
          </a:p>
        </p:txBody>
      </p:sp>
      <p:sp>
        <p:nvSpPr>
          <p:cNvPr id="15" name="TextBox 14"/>
          <p:cNvSpPr txBox="1"/>
          <p:nvPr/>
        </p:nvSpPr>
        <p:spPr>
          <a:xfrm>
            <a:off x="5791200" y="1727200"/>
            <a:ext cx="1143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件数</a:t>
            </a:r>
          </a:p>
        </p:txBody>
      </p:sp>
      <p:sp>
        <p:nvSpPr>
          <p:cNvPr id="16" name="TextBox 15"/>
          <p:cNvSpPr txBox="1"/>
          <p:nvPr/>
        </p:nvSpPr>
        <p:spPr>
          <a:xfrm>
            <a:off x="7010400" y="1727200"/>
            <a:ext cx="1905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前（v4.1）</a:t>
            </a:r>
          </a:p>
        </p:txBody>
      </p:sp>
      <p:sp>
        <p:nvSpPr>
          <p:cNvPr id="17" name="TextBox 16"/>
          <p:cNvSpPr txBox="1"/>
          <p:nvPr/>
        </p:nvSpPr>
        <p:spPr>
          <a:xfrm>
            <a:off x="8991600" y="1727200"/>
            <a:ext cx="1905000" cy="228600"/>
          </a:xfrm>
          <a:prstGeom prst="rect">
            <a:avLst/>
          </a:prstGeom>
          <a:noFill/>
        </p:spPr>
        <p:txBody>
          <a:bodyPr wrap="square" anchor="t" lIns="25400" rIns="25400" tIns="12700" bIns="12700">
            <a:spAutoFit/>
          </a:bodyPr>
          <a:lstStyle/>
          <a:p>
            <a:pPr algn="l"/>
            <a:r>
              <a:rPr sz="1150" b="1">
                <a:solidFill>
                  <a:srgbClr val="FFFFFF"/>
                </a:solidFill>
                <a:latin typeface="Meiryo"/>
                <a:ea typeface="メイリオ"/>
              </a:rPr>
              <a:t>今（v4.2）</a:t>
            </a:r>
          </a:p>
        </p:txBody>
      </p:sp>
      <p:sp>
        <p:nvSpPr>
          <p:cNvPr id="18" name="Rectangle 17"/>
          <p:cNvSpPr/>
          <p:nvPr/>
        </p:nvSpPr>
        <p:spPr>
          <a:xfrm>
            <a:off x="889000" y="20066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6800" y="21717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危ない（1.5m以内）</a:t>
            </a:r>
          </a:p>
        </p:txBody>
      </p:sp>
      <p:sp>
        <p:nvSpPr>
          <p:cNvPr id="20" name="TextBox 19"/>
          <p:cNvSpPr txBox="1"/>
          <p:nvPr/>
        </p:nvSpPr>
        <p:spPr>
          <a:xfrm>
            <a:off x="4318000" y="2171700"/>
            <a:ext cx="1397000" cy="254000"/>
          </a:xfrm>
          <a:prstGeom prst="rect">
            <a:avLst/>
          </a:prstGeom>
          <a:noFill/>
        </p:spPr>
        <p:txBody>
          <a:bodyPr wrap="square" anchor="t" lIns="25400" rIns="25400" tIns="12700" bIns="12700">
            <a:spAutoFit/>
          </a:bodyPr>
          <a:lstStyle/>
          <a:p>
            <a:pPr algn="l"/>
            <a:r>
              <a:rPr sz="1150" b="1">
                <a:solidFill>
                  <a:srgbClr val="C0392B"/>
                </a:solidFill>
                <a:latin typeface="Meiryo"/>
                <a:ea typeface="メイリオ"/>
              </a:rPr>
              <a:t>対向</a:t>
            </a:r>
          </a:p>
        </p:txBody>
      </p:sp>
      <p:sp>
        <p:nvSpPr>
          <p:cNvPr id="21" name="TextBox 20"/>
          <p:cNvSpPr txBox="1"/>
          <p:nvPr/>
        </p:nvSpPr>
        <p:spPr>
          <a:xfrm>
            <a:off x="5791200" y="21717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460</a:t>
            </a:r>
          </a:p>
        </p:txBody>
      </p:sp>
      <p:sp>
        <p:nvSpPr>
          <p:cNvPr id="22" name="TextBox 21"/>
          <p:cNvSpPr txBox="1"/>
          <p:nvPr/>
        </p:nvSpPr>
        <p:spPr>
          <a:xfrm>
            <a:off x="7010400" y="21717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強い警告 81%</a:t>
            </a:r>
          </a:p>
        </p:txBody>
      </p:sp>
      <p:sp>
        <p:nvSpPr>
          <p:cNvPr id="23" name="TextBox 22"/>
          <p:cNvSpPr txBox="1"/>
          <p:nvPr/>
        </p:nvSpPr>
        <p:spPr>
          <a:xfrm>
            <a:off x="8991600" y="2133600"/>
            <a:ext cx="1905000" cy="330200"/>
          </a:xfrm>
          <a:prstGeom prst="rect">
            <a:avLst/>
          </a:prstGeom>
          <a:noFill/>
        </p:spPr>
        <p:txBody>
          <a:bodyPr wrap="square" anchor="t" lIns="25400" rIns="25400" tIns="12700" bIns="12700">
            <a:spAutoFit/>
          </a:bodyPr>
          <a:lstStyle/>
          <a:p>
            <a:pPr algn="l"/>
            <a:r>
              <a:rPr sz="1700" b="1">
                <a:solidFill>
                  <a:srgbClr val="C0392B"/>
                </a:solidFill>
                <a:latin typeface="Meiryo"/>
                <a:ea typeface="メイリオ"/>
              </a:rPr>
              <a:t>90%</a:t>
            </a:r>
          </a:p>
        </p:txBody>
      </p:sp>
      <p:sp>
        <p:nvSpPr>
          <p:cNvPr id="24" name="Rectangle 23"/>
          <p:cNvSpPr/>
          <p:nvPr/>
        </p:nvSpPr>
        <p:spPr>
          <a:xfrm>
            <a:off x="889000" y="25654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27305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危ない（1.5m以内）</a:t>
            </a:r>
          </a:p>
        </p:txBody>
      </p:sp>
      <p:sp>
        <p:nvSpPr>
          <p:cNvPr id="26" name="TextBox 25"/>
          <p:cNvSpPr txBox="1"/>
          <p:nvPr/>
        </p:nvSpPr>
        <p:spPr>
          <a:xfrm>
            <a:off x="4318000" y="2730500"/>
            <a:ext cx="1397000" cy="254000"/>
          </a:xfrm>
          <a:prstGeom prst="rect">
            <a:avLst/>
          </a:prstGeom>
          <a:noFill/>
        </p:spPr>
        <p:txBody>
          <a:bodyPr wrap="square" anchor="t" lIns="25400" rIns="25400" tIns="12700" bIns="12700">
            <a:spAutoFit/>
          </a:bodyPr>
          <a:lstStyle/>
          <a:p>
            <a:pPr algn="l"/>
            <a:r>
              <a:rPr sz="1150" b="1">
                <a:solidFill>
                  <a:srgbClr val="C0392B"/>
                </a:solidFill>
                <a:latin typeface="Meiryo"/>
                <a:ea typeface="メイリオ"/>
              </a:rPr>
              <a:t>すり抜け</a:t>
            </a:r>
          </a:p>
        </p:txBody>
      </p:sp>
      <p:sp>
        <p:nvSpPr>
          <p:cNvPr id="27" name="TextBox 26"/>
          <p:cNvSpPr txBox="1"/>
          <p:nvPr/>
        </p:nvSpPr>
        <p:spPr>
          <a:xfrm>
            <a:off x="5791200" y="27305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43</a:t>
            </a:r>
          </a:p>
        </p:txBody>
      </p:sp>
      <p:sp>
        <p:nvSpPr>
          <p:cNvPr id="28" name="TextBox 27"/>
          <p:cNvSpPr txBox="1"/>
          <p:nvPr/>
        </p:nvSpPr>
        <p:spPr>
          <a:xfrm>
            <a:off x="7010400" y="27305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強い警告 77%</a:t>
            </a:r>
          </a:p>
        </p:txBody>
      </p:sp>
      <p:sp>
        <p:nvSpPr>
          <p:cNvPr id="29" name="TextBox 28"/>
          <p:cNvSpPr txBox="1"/>
          <p:nvPr/>
        </p:nvSpPr>
        <p:spPr>
          <a:xfrm>
            <a:off x="8991600" y="2692400"/>
            <a:ext cx="1905000" cy="330200"/>
          </a:xfrm>
          <a:prstGeom prst="rect">
            <a:avLst/>
          </a:prstGeom>
          <a:noFill/>
        </p:spPr>
        <p:txBody>
          <a:bodyPr wrap="square" anchor="t" lIns="25400" rIns="25400" tIns="12700" bIns="12700">
            <a:spAutoFit/>
          </a:bodyPr>
          <a:lstStyle/>
          <a:p>
            <a:pPr algn="l"/>
            <a:r>
              <a:rPr sz="1700" b="1">
                <a:solidFill>
                  <a:srgbClr val="C0392B"/>
                </a:solidFill>
                <a:latin typeface="Meiryo"/>
                <a:ea typeface="メイリオ"/>
              </a:rPr>
              <a:t>93%</a:t>
            </a:r>
          </a:p>
        </p:txBody>
      </p:sp>
      <p:sp>
        <p:nvSpPr>
          <p:cNvPr id="30" name="Rectangle 29"/>
          <p:cNvSpPr/>
          <p:nvPr/>
        </p:nvSpPr>
        <p:spPr>
          <a:xfrm>
            <a:off x="889000" y="3124200"/>
            <a:ext cx="10414000" cy="5588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66800" y="32893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鳴らすべきでない（3.2m超）</a:t>
            </a:r>
          </a:p>
        </p:txBody>
      </p:sp>
      <p:sp>
        <p:nvSpPr>
          <p:cNvPr id="32" name="TextBox 31"/>
          <p:cNvSpPr txBox="1"/>
          <p:nvPr/>
        </p:nvSpPr>
        <p:spPr>
          <a:xfrm>
            <a:off x="4318000" y="3289300"/>
            <a:ext cx="1397000" cy="254000"/>
          </a:xfrm>
          <a:prstGeom prst="rect">
            <a:avLst/>
          </a:prstGeom>
          <a:noFill/>
        </p:spPr>
        <p:txBody>
          <a:bodyPr wrap="square" anchor="t" lIns="25400" rIns="25400" tIns="12700" bIns="12700">
            <a:spAutoFit/>
          </a:bodyPr>
          <a:lstStyle/>
          <a:p>
            <a:pPr algn="l"/>
            <a:r>
              <a:rPr sz="1150" b="1">
                <a:solidFill>
                  <a:srgbClr val="2E7D5B"/>
                </a:solidFill>
                <a:latin typeface="Meiryo"/>
                <a:ea typeface="メイリオ"/>
              </a:rPr>
              <a:t>対向</a:t>
            </a:r>
          </a:p>
        </p:txBody>
      </p:sp>
      <p:sp>
        <p:nvSpPr>
          <p:cNvPr id="33" name="TextBox 32"/>
          <p:cNvSpPr txBox="1"/>
          <p:nvPr/>
        </p:nvSpPr>
        <p:spPr>
          <a:xfrm>
            <a:off x="5791200" y="32893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52</a:t>
            </a:r>
          </a:p>
        </p:txBody>
      </p:sp>
      <p:sp>
        <p:nvSpPr>
          <p:cNvPr id="34" name="TextBox 33"/>
          <p:cNvSpPr txBox="1"/>
          <p:nvPr/>
        </p:nvSpPr>
        <p:spPr>
          <a:xfrm>
            <a:off x="7010400" y="32893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黙れた 33%</a:t>
            </a:r>
          </a:p>
        </p:txBody>
      </p:sp>
      <p:sp>
        <p:nvSpPr>
          <p:cNvPr id="35" name="TextBox 34"/>
          <p:cNvSpPr txBox="1"/>
          <p:nvPr/>
        </p:nvSpPr>
        <p:spPr>
          <a:xfrm>
            <a:off x="8991600" y="3251200"/>
            <a:ext cx="1905000" cy="330200"/>
          </a:xfrm>
          <a:prstGeom prst="rect">
            <a:avLst/>
          </a:prstGeom>
          <a:noFill/>
        </p:spPr>
        <p:txBody>
          <a:bodyPr wrap="square" anchor="t" lIns="25400" rIns="25400" tIns="12700" bIns="12700">
            <a:spAutoFit/>
          </a:bodyPr>
          <a:lstStyle/>
          <a:p>
            <a:pPr algn="l"/>
            <a:r>
              <a:rPr sz="1700" b="1">
                <a:solidFill>
                  <a:srgbClr val="2E7D5B"/>
                </a:solidFill>
                <a:latin typeface="Meiryo"/>
                <a:ea typeface="メイリオ"/>
              </a:rPr>
              <a:t>71%</a:t>
            </a:r>
          </a:p>
        </p:txBody>
      </p:sp>
      <p:sp>
        <p:nvSpPr>
          <p:cNvPr id="36" name="Rectangle 35"/>
          <p:cNvSpPr/>
          <p:nvPr/>
        </p:nvSpPr>
        <p:spPr>
          <a:xfrm>
            <a:off x="889000" y="3683000"/>
            <a:ext cx="10414000" cy="5588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848100"/>
            <a:ext cx="3175000" cy="2540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鳴らすべきでない（3.2m超）</a:t>
            </a:r>
          </a:p>
        </p:txBody>
      </p:sp>
      <p:sp>
        <p:nvSpPr>
          <p:cNvPr id="38" name="TextBox 37"/>
          <p:cNvSpPr txBox="1"/>
          <p:nvPr/>
        </p:nvSpPr>
        <p:spPr>
          <a:xfrm>
            <a:off x="4318000" y="3848100"/>
            <a:ext cx="1397000" cy="254000"/>
          </a:xfrm>
          <a:prstGeom prst="rect">
            <a:avLst/>
          </a:prstGeom>
          <a:noFill/>
        </p:spPr>
        <p:txBody>
          <a:bodyPr wrap="square" anchor="t" lIns="25400" rIns="25400" tIns="12700" bIns="12700">
            <a:spAutoFit/>
          </a:bodyPr>
          <a:lstStyle/>
          <a:p>
            <a:pPr algn="l"/>
            <a:r>
              <a:rPr sz="1150" b="1">
                <a:solidFill>
                  <a:srgbClr val="8A8F9A"/>
                </a:solidFill>
                <a:latin typeface="Meiryo"/>
                <a:ea typeface="メイリオ"/>
              </a:rPr>
              <a:t>すり抜け</a:t>
            </a:r>
          </a:p>
        </p:txBody>
      </p:sp>
      <p:sp>
        <p:nvSpPr>
          <p:cNvPr id="39" name="TextBox 38"/>
          <p:cNvSpPr txBox="1"/>
          <p:nvPr/>
        </p:nvSpPr>
        <p:spPr>
          <a:xfrm>
            <a:off x="5791200" y="3848100"/>
            <a:ext cx="1143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501</a:t>
            </a:r>
          </a:p>
        </p:txBody>
      </p:sp>
      <p:sp>
        <p:nvSpPr>
          <p:cNvPr id="40" name="TextBox 39"/>
          <p:cNvSpPr txBox="1"/>
          <p:nvPr/>
        </p:nvSpPr>
        <p:spPr>
          <a:xfrm>
            <a:off x="7010400" y="3848100"/>
            <a:ext cx="1905000" cy="254000"/>
          </a:xfrm>
          <a:prstGeom prst="rect">
            <a:avLst/>
          </a:prstGeom>
          <a:noFill/>
        </p:spPr>
        <p:txBody>
          <a:bodyPr wrap="square" anchor="t" lIns="25400" rIns="25400" tIns="12700" bIns="12700">
            <a:spAutoFit/>
          </a:bodyPr>
          <a:lstStyle/>
          <a:p>
            <a:pPr algn="l"/>
            <a:r>
              <a:rPr sz="1150" b="0">
                <a:solidFill>
                  <a:srgbClr val="595F6E"/>
                </a:solidFill>
                <a:latin typeface="Meiryo"/>
                <a:ea typeface="メイリオ"/>
              </a:rPr>
              <a:t>黙れた 62%</a:t>
            </a:r>
          </a:p>
        </p:txBody>
      </p:sp>
      <p:sp>
        <p:nvSpPr>
          <p:cNvPr id="41" name="TextBox 40"/>
          <p:cNvSpPr txBox="1"/>
          <p:nvPr/>
        </p:nvSpPr>
        <p:spPr>
          <a:xfrm>
            <a:off x="8991600" y="3810000"/>
            <a:ext cx="1905000" cy="330200"/>
          </a:xfrm>
          <a:prstGeom prst="rect">
            <a:avLst/>
          </a:prstGeom>
          <a:noFill/>
        </p:spPr>
        <p:txBody>
          <a:bodyPr wrap="square" anchor="t" lIns="25400" rIns="25400" tIns="12700" bIns="12700">
            <a:spAutoFit/>
          </a:bodyPr>
          <a:lstStyle/>
          <a:p>
            <a:pPr algn="l"/>
            <a:r>
              <a:rPr sz="1400" b="1">
                <a:solidFill>
                  <a:srgbClr val="8A8F9A"/>
                </a:solidFill>
                <a:latin typeface="Meiryo"/>
                <a:ea typeface="メイリオ"/>
              </a:rPr>
              <a:t>64%</a:t>
            </a:r>
          </a:p>
        </p:txBody>
      </p:sp>
      <p:sp>
        <p:nvSpPr>
          <p:cNvPr id="42" name="Rectangle 41"/>
          <p:cNvSpPr/>
          <p:nvPr/>
        </p:nvSpPr>
        <p:spPr>
          <a:xfrm>
            <a:off x="889000" y="4089400"/>
            <a:ext cx="5080000" cy="7874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9000" y="4089400"/>
            <a:ext cx="50800" cy="7874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17600" y="4191000"/>
            <a:ext cx="4699000" cy="609600"/>
          </a:xfrm>
          <a:prstGeom prst="rect">
            <a:avLst/>
          </a:prstGeom>
          <a:noFill/>
        </p:spPr>
        <p:txBody>
          <a:bodyPr wrap="square" anchor="t" lIns="25400" rIns="25400" tIns="12700" bIns="12700">
            <a:spAutoFit/>
          </a:bodyPr>
          <a:lstStyle/>
          <a:p>
            <a:pPr algn="l">
              <a:lnSpc>
                <a:spcPct val="135000"/>
              </a:lnSpc>
            </a:pPr>
            <a:r>
              <a:rPr sz="1150" b="1">
                <a:solidFill>
                  <a:srgbClr val="222838"/>
                </a:solidFill>
                <a:latin typeface="Meiryo"/>
                <a:ea typeface="メイリオ"/>
              </a:rPr>
              <a:t>読み方</a:t>
            </a:r>
          </a:p>
          <a:p>
            <a:pPr algn="l">
              <a:lnSpc>
                <a:spcPct val="135000"/>
              </a:lnSpc>
            </a:pPr>
            <a:r>
              <a:rPr sz="1100" b="0">
                <a:solidFill>
                  <a:srgbClr val="595F6E"/>
                </a:solidFill>
                <a:latin typeface="Meiryo"/>
                <a:ea typeface="メイリオ"/>
              </a:rPr>
              <a:t>危ない車には強く鳴るようになり、鳴らすべきでない対向車では黙るようになりました。</a:t>
            </a:r>
          </a:p>
        </p:txBody>
      </p:sp>
      <p:sp>
        <p:nvSpPr>
          <p:cNvPr id="45" name="Rectangle 44"/>
          <p:cNvSpPr/>
          <p:nvPr/>
        </p:nvSpPr>
        <p:spPr>
          <a:xfrm>
            <a:off x="6223000" y="4089400"/>
            <a:ext cx="5080000" cy="7874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23000" y="4089400"/>
            <a:ext cx="50800" cy="787400"/>
          </a:xfrm>
          <a:prstGeom prst="rect">
            <a:avLst/>
          </a:prstGeom>
          <a:solidFill>
            <a:srgbClr val="8A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51600" y="4191000"/>
            <a:ext cx="4699000" cy="609600"/>
          </a:xfrm>
          <a:prstGeom prst="rect">
            <a:avLst/>
          </a:prstGeom>
          <a:noFill/>
        </p:spPr>
        <p:txBody>
          <a:bodyPr wrap="square" anchor="t" lIns="25400" rIns="25400" tIns="12700" bIns="12700">
            <a:spAutoFit/>
          </a:bodyPr>
          <a:lstStyle/>
          <a:p>
            <a:pPr algn="l">
              <a:lnSpc>
                <a:spcPct val="135000"/>
              </a:lnSpc>
            </a:pPr>
            <a:r>
              <a:rPr sz="1150" b="1">
                <a:solidFill>
                  <a:srgbClr val="222838"/>
                </a:solidFill>
                <a:latin typeface="Meiryo"/>
                <a:ea typeface="メイリオ"/>
              </a:rPr>
              <a:t>残っている弱点（正直に）</a:t>
            </a:r>
          </a:p>
          <a:p>
            <a:pPr algn="l">
              <a:lnSpc>
                <a:spcPct val="135000"/>
              </a:lnSpc>
            </a:pPr>
            <a:r>
              <a:rPr sz="1100" b="0">
                <a:solidFill>
                  <a:srgbClr val="595F6E"/>
                </a:solidFill>
                <a:latin typeface="Meiryo"/>
                <a:ea typeface="メイリオ"/>
              </a:rPr>
              <a:t>すり抜けていく安全な車での無駄鳴りは、62→64%とほぼ改善していません。</a:t>
            </a:r>
          </a:p>
        </p:txBody>
      </p:sp>
      <p:sp>
        <p:nvSpPr>
          <p:cNvPr id="48" name="TextBox 47"/>
          <p:cNvSpPr txBox="1"/>
          <p:nvPr/>
        </p:nvSpPr>
        <p:spPr>
          <a:xfrm>
            <a:off x="889000" y="5054600"/>
            <a:ext cx="10414000" cy="711200"/>
          </a:xfrm>
          <a:prstGeom prst="rect">
            <a:avLst/>
          </a:prstGeom>
          <a:noFill/>
        </p:spPr>
        <p:txBody>
          <a:bodyPr wrap="square" anchor="t" lIns="25400" rIns="25400" tIns="12700" bIns="12700">
            <a:spAutoFit/>
          </a:bodyPr>
          <a:lstStyle/>
          <a:p>
            <a:pPr algn="l">
              <a:lnSpc>
                <a:spcPct val="150000"/>
              </a:lnSpc>
            </a:pPr>
            <a:r>
              <a:rPr sz="1050" b="0">
                <a:solidFill>
                  <a:srgbClr val="8A8F9A"/>
                </a:solidFill>
                <a:latin typeface="Meiryo"/>
                <a:ea typeface="メイリオ"/>
              </a:rPr>
              <a:t>※ 合成データ・調整用の新しい検証セット（1,800本）での値です。</a:t>
            </a:r>
          </a:p>
          <a:p>
            <a:pPr algn="l">
              <a:lnSpc>
                <a:spcPct val="150000"/>
              </a:lnSpc>
            </a:pPr>
            <a:r>
              <a:rPr sz="1050" b="0">
                <a:solidFill>
                  <a:srgbClr val="8A8F9A"/>
                </a:solidFill>
                <a:latin typeface="Meiryo"/>
                <a:ea typeface="メイリオ"/>
              </a:rPr>
              <a:t>※ 卒論に載せる確定評価とは別枠です。また、中間発表で述べた数値とは測り方が違うため、比較できません。</a:t>
            </a:r>
          </a:p>
          <a:p>
            <a:pPr algn="l">
              <a:lnSpc>
                <a:spcPct val="150000"/>
              </a:lnSpc>
            </a:pPr>
            <a:r>
              <a:rPr sz="1050" b="1">
                <a:solidFill>
                  <a:srgbClr val="7E6F98"/>
                </a:solidFill>
                <a:latin typeface="Meiryo"/>
                <a:ea typeface="メイリオ"/>
              </a:rPr>
              <a:t>※ 何を試すか・どう選ぶか・何をもって採用とするかは、結果を見る前に文章で固定しました。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触覚デモを動かしました</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5</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「Joy-conとUnityで簡単に作ってみては」というSlackの助言をそのまま実行しました。</a:t>
            </a:r>
          </a:p>
        </p:txBody>
      </p:sp>
      <p:sp>
        <p:nvSpPr>
          <p:cNvPr id="12" name="Rectangle 11"/>
          <p:cNvSpPr/>
          <p:nvPr/>
        </p:nvSpPr>
        <p:spPr>
          <a:xfrm>
            <a:off x="889000" y="1651000"/>
            <a:ext cx="5080000" cy="2235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51000"/>
            <a:ext cx="5080000" cy="4445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9/2 実機で振動しました</a:t>
            </a:r>
          </a:p>
        </p:txBody>
      </p:sp>
      <p:sp>
        <p:nvSpPr>
          <p:cNvPr id="15" name="Rectangle 14"/>
          <p:cNvSpPr/>
          <p:nvPr/>
        </p:nvSpPr>
        <p:spPr>
          <a:xfrm>
            <a:off x="1117600" y="22288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0800" y="2159000"/>
            <a:ext cx="4445000" cy="4826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使ったもの：</a:t>
            </a:r>
            <a:r>
              <a:rPr sz="1050" b="0">
                <a:solidFill>
                  <a:srgbClr val="595F6E"/>
                </a:solidFill>
                <a:latin typeface="Meiryo"/>
                <a:ea typeface="メイリオ"/>
              </a:rPr>
              <a:t>Joy-con と Unity 6.6。ハンダごて不要・部品の購入ゼロ</a:t>
            </a:r>
          </a:p>
        </p:txBody>
      </p:sp>
      <p:sp>
        <p:nvSpPr>
          <p:cNvPr id="17" name="Rectangle 16"/>
          <p:cNvSpPr/>
          <p:nvPr/>
        </p:nvSpPr>
        <p:spPr>
          <a:xfrm>
            <a:off x="1117600" y="27622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0800" y="2692400"/>
            <a:ext cx="4445000" cy="4826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鳴らす中身：</a:t>
            </a:r>
            <a:r>
              <a:rPr sz="1050" b="0">
                <a:solidFill>
                  <a:srgbClr val="595F6E"/>
                </a:solidFill>
                <a:latin typeface="Meiryo"/>
                <a:ea typeface="メイリオ"/>
              </a:rPr>
              <a:t>本物のモデル出力5本と、自作した歩道のシナリオ3本</a:t>
            </a:r>
          </a:p>
        </p:txBody>
      </p:sp>
      <p:sp>
        <p:nvSpPr>
          <p:cNvPr id="19" name="Rectangle 18"/>
          <p:cNvSpPr/>
          <p:nvPr/>
        </p:nvSpPr>
        <p:spPr>
          <a:xfrm>
            <a:off x="1117600" y="32956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0800" y="3225800"/>
            <a:ext cx="4445000" cy="4826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伝え方：</a:t>
            </a:r>
            <a:r>
              <a:rPr sz="1050" b="0">
                <a:solidFill>
                  <a:srgbClr val="595F6E"/>
                </a:solidFill>
                <a:latin typeface="Meiryo"/>
                <a:ea typeface="メイリオ"/>
              </a:rPr>
              <a:t>強＝4連打／中＝2発／警告音＝単発のパルス</a:t>
            </a:r>
          </a:p>
        </p:txBody>
      </p:sp>
      <p:sp>
        <p:nvSpPr>
          <p:cNvPr id="21" name="Rectangle 20"/>
          <p:cNvSpPr/>
          <p:nvPr/>
        </p:nvSpPr>
        <p:spPr>
          <a:xfrm>
            <a:off x="6223000" y="1651000"/>
            <a:ext cx="5080000" cy="2235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23000" y="1651000"/>
            <a:ext cx="5080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6200" y="18288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作った3本の歩道シナリオ</a:t>
            </a:r>
          </a:p>
        </p:txBody>
      </p:sp>
      <p:sp>
        <p:nvSpPr>
          <p:cNvPr id="24" name="Rectangle 23"/>
          <p:cNvSpPr/>
          <p:nvPr/>
        </p:nvSpPr>
        <p:spPr>
          <a:xfrm>
            <a:off x="6451600" y="2159000"/>
            <a:ext cx="787400" cy="330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2.0m</a:t>
            </a:r>
          </a:p>
        </p:txBody>
      </p:sp>
      <p:sp>
        <p:nvSpPr>
          <p:cNvPr id="25" name="TextBox 24"/>
          <p:cNvSpPr txBox="1"/>
          <p:nvPr/>
        </p:nvSpPr>
        <p:spPr>
          <a:xfrm>
            <a:off x="7391400" y="2209800"/>
            <a:ext cx="3683000" cy="254000"/>
          </a:xfrm>
          <a:prstGeom prst="rect">
            <a:avLst/>
          </a:prstGeom>
          <a:noFill/>
        </p:spPr>
        <p:txBody>
          <a:bodyPr wrap="square" anchor="t" lIns="25400" rIns="25400" tIns="12700" bIns="12700">
            <a:spAutoFit/>
          </a:bodyPr>
          <a:lstStyle/>
          <a:p>
            <a:pPr algn="l"/>
            <a:r>
              <a:rPr sz="1200" b="0">
                <a:solidFill>
                  <a:srgbClr val="595F6E"/>
                </a:solidFill>
                <a:latin typeface="Meiryo"/>
                <a:ea typeface="メイリオ"/>
              </a:rPr>
              <a:t>強く鳴る</a:t>
            </a:r>
          </a:p>
        </p:txBody>
      </p:sp>
      <p:sp>
        <p:nvSpPr>
          <p:cNvPr id="26" name="Rectangle 25"/>
          <p:cNvSpPr/>
          <p:nvPr/>
        </p:nvSpPr>
        <p:spPr>
          <a:xfrm>
            <a:off x="6451600" y="2692400"/>
            <a:ext cx="787400" cy="330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2.8m</a:t>
            </a:r>
          </a:p>
        </p:txBody>
      </p:sp>
      <p:sp>
        <p:nvSpPr>
          <p:cNvPr id="27" name="TextBox 26"/>
          <p:cNvSpPr txBox="1"/>
          <p:nvPr/>
        </p:nvSpPr>
        <p:spPr>
          <a:xfrm>
            <a:off x="7391400" y="2743200"/>
            <a:ext cx="3683000" cy="254000"/>
          </a:xfrm>
          <a:prstGeom prst="rect">
            <a:avLst/>
          </a:prstGeom>
          <a:noFill/>
        </p:spPr>
        <p:txBody>
          <a:bodyPr wrap="square" anchor="t" lIns="25400" rIns="25400" tIns="12700" bIns="12700">
            <a:spAutoFit/>
          </a:bodyPr>
          <a:lstStyle/>
          <a:p>
            <a:pPr algn="l"/>
            <a:r>
              <a:rPr sz="1200" b="0">
                <a:solidFill>
                  <a:srgbClr val="595F6E"/>
                </a:solidFill>
                <a:latin typeface="Meiryo"/>
                <a:ea typeface="メイリオ"/>
              </a:rPr>
              <a:t>中くらい</a:t>
            </a:r>
          </a:p>
        </p:txBody>
      </p:sp>
      <p:sp>
        <p:nvSpPr>
          <p:cNvPr id="28" name="Rectangle 27"/>
          <p:cNvSpPr/>
          <p:nvPr/>
        </p:nvSpPr>
        <p:spPr>
          <a:xfrm>
            <a:off x="6451600" y="3225800"/>
            <a:ext cx="787400" cy="330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3.5m</a:t>
            </a:r>
          </a:p>
        </p:txBody>
      </p:sp>
      <p:sp>
        <p:nvSpPr>
          <p:cNvPr id="29" name="TextBox 28"/>
          <p:cNvSpPr txBox="1"/>
          <p:nvPr/>
        </p:nvSpPr>
        <p:spPr>
          <a:xfrm>
            <a:off x="7391400" y="3276600"/>
            <a:ext cx="3683000" cy="254000"/>
          </a:xfrm>
          <a:prstGeom prst="rect">
            <a:avLst/>
          </a:prstGeom>
          <a:noFill/>
        </p:spPr>
        <p:txBody>
          <a:bodyPr wrap="square" anchor="t" lIns="25400" rIns="25400" tIns="12700" bIns="12700">
            <a:spAutoFit/>
          </a:bodyPr>
          <a:lstStyle/>
          <a:p>
            <a:pPr algn="l"/>
            <a:r>
              <a:rPr sz="1200" b="0">
                <a:solidFill>
                  <a:srgbClr val="595F6E"/>
                </a:solidFill>
                <a:latin typeface="Meiryo"/>
                <a:ea typeface="メイリオ"/>
              </a:rPr>
              <a:t>鳴らさない</a:t>
            </a:r>
          </a:p>
        </p:txBody>
      </p:sp>
      <p:sp>
        <p:nvSpPr>
          <p:cNvPr id="30" name="TextBox 29"/>
          <p:cNvSpPr txBox="1"/>
          <p:nvPr/>
        </p:nvSpPr>
        <p:spPr>
          <a:xfrm>
            <a:off x="6451600" y="3810000"/>
            <a:ext cx="4648200" cy="254000"/>
          </a:xfrm>
          <a:prstGeom prst="rect">
            <a:avLst/>
          </a:prstGeom>
          <a:noFill/>
        </p:spPr>
        <p:txBody>
          <a:bodyPr wrap="square" anchor="t" lIns="25400" rIns="25400" tIns="12700" bIns="12700">
            <a:spAutoFit/>
          </a:bodyPr>
          <a:lstStyle/>
          <a:p>
            <a:pPr algn="l"/>
            <a:r>
              <a:rPr sz="1000" b="0">
                <a:solidFill>
                  <a:srgbClr val="8A8F9A"/>
                </a:solidFill>
                <a:latin typeface="Meiryo"/>
                <a:ea typeface="メイリオ"/>
              </a:rPr>
              <a:t>同じ場面で距離だけを変え、鳴り方の違いを体で確かめられます。</a:t>
            </a:r>
          </a:p>
        </p:txBody>
      </p:sp>
      <p:sp>
        <p:nvSpPr>
          <p:cNvPr id="31" name="Rectangle 30"/>
          <p:cNvSpPr/>
          <p:nvPr/>
        </p:nvSpPr>
        <p:spPr>
          <a:xfrm>
            <a:off x="889000" y="4089400"/>
            <a:ext cx="10414000" cy="1727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92200" y="4241800"/>
            <a:ext cx="5080000" cy="254000"/>
          </a:xfrm>
          <a:prstGeom prst="rect">
            <a:avLst/>
          </a:prstGeom>
          <a:noFill/>
        </p:spPr>
        <p:txBody>
          <a:bodyPr wrap="square" anchor="t" lIns="25400" rIns="25400" tIns="12700" bIns="12700">
            <a:spAutoFit/>
          </a:bodyPr>
          <a:lstStyle/>
          <a:p>
            <a:pPr algn="l"/>
            <a:r>
              <a:rPr sz="1250" b="1">
                <a:solidFill>
                  <a:srgbClr val="222838"/>
                </a:solidFill>
                <a:latin typeface="Meiryo"/>
                <a:ea typeface="メイリオ"/>
              </a:rPr>
              <a:t>この先に作る首元デバイス（構想）</a:t>
            </a:r>
          </a:p>
        </p:txBody>
      </p:sp>
      <p:sp>
        <p:nvSpPr>
          <p:cNvPr id="33" name="Oval 32"/>
          <p:cNvSpPr/>
          <p:nvPr/>
        </p:nvSpPr>
        <p:spPr>
          <a:xfrm>
            <a:off x="2514600" y="4648200"/>
            <a:ext cx="1574800" cy="1016000"/>
          </a:xfrm>
          <a:prstGeom prst="ellipse">
            <a:avLst/>
          </a:prstGeom>
          <a:noFill/>
          <a:ln w="114300">
            <a:solidFill>
              <a:srgbClr val="232B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921000" y="4902200"/>
            <a:ext cx="762000" cy="508000"/>
          </a:xfrm>
          <a:prstGeom prst="ellipse">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21000" y="5041900"/>
            <a:ext cx="762000" cy="228600"/>
          </a:xfrm>
          <a:prstGeom prst="rect">
            <a:avLst/>
          </a:prstGeom>
          <a:noFill/>
        </p:spPr>
        <p:txBody>
          <a:bodyPr wrap="square" anchor="t" lIns="25400" rIns="25400" tIns="12700" bIns="12700">
            <a:spAutoFit/>
          </a:bodyPr>
          <a:lstStyle/>
          <a:p>
            <a:pPr algn="ctr"/>
            <a:r>
              <a:rPr sz="1050" b="0">
                <a:solidFill>
                  <a:srgbClr val="595F6E"/>
                </a:solidFill>
                <a:latin typeface="Meiryo"/>
                <a:ea typeface="メイリオ"/>
              </a:rPr>
              <a:t>首</a:t>
            </a:r>
          </a:p>
        </p:txBody>
      </p:sp>
      <p:sp>
        <p:nvSpPr>
          <p:cNvPr id="36" name="Oval 35"/>
          <p:cNvSpPr/>
          <p:nvPr/>
        </p:nvSpPr>
        <p:spPr>
          <a:xfrm>
            <a:off x="2425700" y="5067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654300" y="4686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213100" y="4559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771900" y="4686300"/>
            <a:ext cx="177800" cy="177800"/>
          </a:xfrm>
          <a:prstGeom prst="ellipse">
            <a:avLst/>
          </a:prstGeom>
          <a:solidFill>
            <a:srgbClr val="E0A526"/>
          </a:solidFill>
          <a:ln w="2032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000500" y="5067300"/>
            <a:ext cx="177800" cy="177800"/>
          </a:xfrm>
          <a:prstGeom prst="ellipse">
            <a:avLst/>
          </a:prstGeom>
          <a:solidFill>
            <a:srgbClr val="E8E8E8"/>
          </a:solidFill>
          <a:ln w="10160">
            <a:solidFill>
              <a:srgbClr val="8A8F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32000" y="4318000"/>
            <a:ext cx="2540000" cy="228600"/>
          </a:xfrm>
          <a:prstGeom prst="rect">
            <a:avLst/>
          </a:prstGeom>
          <a:noFill/>
        </p:spPr>
        <p:txBody>
          <a:bodyPr wrap="square" anchor="t" lIns="25400" rIns="25400" tIns="12700" bIns="12700">
            <a:spAutoFit/>
          </a:bodyPr>
          <a:lstStyle/>
          <a:p>
            <a:pPr algn="ctr"/>
            <a:r>
              <a:rPr sz="950" b="0">
                <a:solidFill>
                  <a:srgbClr val="8A8F9A"/>
                </a:solidFill>
                <a:latin typeface="Meiryo"/>
                <a:ea typeface="メイリオ"/>
              </a:rPr>
              <a:t>歩く向き（前）</a:t>
            </a:r>
          </a:p>
        </p:txBody>
      </p:sp>
      <p:sp>
        <p:nvSpPr>
          <p:cNvPr id="42" name="TextBox 41"/>
          <p:cNvSpPr txBox="1"/>
          <p:nvPr/>
        </p:nvSpPr>
        <p:spPr>
          <a:xfrm>
            <a:off x="1905000" y="5740400"/>
            <a:ext cx="2794000" cy="228600"/>
          </a:xfrm>
          <a:prstGeom prst="rect">
            <a:avLst/>
          </a:prstGeom>
          <a:noFill/>
        </p:spPr>
        <p:txBody>
          <a:bodyPr wrap="square" anchor="t" lIns="25400" rIns="25400" tIns="12700" bIns="12700">
            <a:spAutoFit/>
          </a:bodyPr>
          <a:lstStyle/>
          <a:p>
            <a:pPr algn="ctr"/>
            <a:r>
              <a:rPr sz="1000" b="0">
                <a:solidFill>
                  <a:srgbClr val="595F6E"/>
                </a:solidFill>
                <a:latin typeface="Meiryo"/>
                <a:ea typeface="メイリオ"/>
              </a:rPr>
              <a:t>振動子5個＋4chマイクを同じバンドに載せる</a:t>
            </a:r>
          </a:p>
        </p:txBody>
      </p:sp>
      <p:sp>
        <p:nvSpPr>
          <p:cNvPr id="43" name="TextBox 42"/>
          <p:cNvSpPr txBox="1"/>
          <p:nvPr/>
        </p:nvSpPr>
        <p:spPr>
          <a:xfrm>
            <a:off x="5715000" y="4648200"/>
            <a:ext cx="5334000" cy="965200"/>
          </a:xfrm>
          <a:prstGeom prst="rect">
            <a:avLst/>
          </a:prstGeom>
          <a:noFill/>
        </p:spPr>
        <p:txBody>
          <a:bodyPr wrap="square" anchor="t" lIns="25400" rIns="25400" tIns="12700" bIns="12700">
            <a:spAutoFit/>
          </a:bodyPr>
          <a:lstStyle/>
          <a:p>
            <a:pPr algn="l">
              <a:lnSpc>
                <a:spcPct val="145000"/>
              </a:lnSpc>
            </a:pPr>
            <a:r>
              <a:rPr sz="1200" b="1">
                <a:solidFill>
                  <a:srgbClr val="222838"/>
                </a:solidFill>
                <a:latin typeface="Meiryo"/>
                <a:ea typeface="メイリオ"/>
              </a:rPr>
              <a:t>鳴っている位置が、そのまま音の方向になります。</a:t>
            </a:r>
          </a:p>
          <a:p>
            <a:pPr algn="l">
              <a:lnSpc>
                <a:spcPct val="145000"/>
              </a:lnSpc>
            </a:pPr>
            <a:r>
              <a:rPr sz="1100" b="0">
                <a:solidFill>
                  <a:srgbClr val="595F6E"/>
                </a:solidFill>
                <a:latin typeface="Meiryo"/>
                <a:ea typeface="メイリオ"/>
              </a:rPr>
              <a:t>マイクと振動子を同じバンドに載せるので、「マイクから見た右」と「体から見た右」が一致します。頭の向きを測るセンサーが要りません。</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どんな音を、どれだけ録るのか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6</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検出対象の8種類を、屋外で計210回ぶん録ります。内訳は録る前に固定してあります。</a:t>
            </a:r>
          </a:p>
        </p:txBody>
      </p:sp>
      <p:sp>
        <p:nvSpPr>
          <p:cNvPr id="12" name="Rectangle 11"/>
          <p:cNvSpPr/>
          <p:nvPr/>
        </p:nvSpPr>
        <p:spPr>
          <a:xfrm>
            <a:off x="889000" y="1625600"/>
            <a:ext cx="8128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サイレン</a:t>
            </a:r>
          </a:p>
        </p:txBody>
      </p:sp>
      <p:sp>
        <p:nvSpPr>
          <p:cNvPr id="13" name="Rectangle 12"/>
          <p:cNvSpPr/>
          <p:nvPr/>
        </p:nvSpPr>
        <p:spPr>
          <a:xfrm>
            <a:off x="1803400" y="1625600"/>
            <a:ext cx="11176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クラクション</a:t>
            </a:r>
          </a:p>
        </p:txBody>
      </p:sp>
      <p:sp>
        <p:nvSpPr>
          <p:cNvPr id="14" name="Rectangle 13"/>
          <p:cNvSpPr/>
          <p:nvPr/>
        </p:nvSpPr>
        <p:spPr>
          <a:xfrm>
            <a:off x="3022600" y="1625600"/>
            <a:ext cx="8128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バック音</a:t>
            </a:r>
          </a:p>
        </p:txBody>
      </p:sp>
      <p:sp>
        <p:nvSpPr>
          <p:cNvPr id="15" name="Rectangle 14"/>
          <p:cNvSpPr/>
          <p:nvPr/>
        </p:nvSpPr>
        <p:spPr>
          <a:xfrm>
            <a:off x="3937000" y="1625600"/>
            <a:ext cx="9652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自転車ベル</a:t>
            </a:r>
          </a:p>
        </p:txBody>
      </p:sp>
      <p:sp>
        <p:nvSpPr>
          <p:cNvPr id="16" name="Rectangle 15"/>
          <p:cNvSpPr/>
          <p:nvPr/>
        </p:nvSpPr>
        <p:spPr>
          <a:xfrm>
            <a:off x="5003800" y="1625600"/>
            <a:ext cx="3556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車</a:t>
            </a:r>
          </a:p>
        </p:txBody>
      </p:sp>
      <p:sp>
        <p:nvSpPr>
          <p:cNvPr id="17" name="Rectangle 16"/>
          <p:cNvSpPr/>
          <p:nvPr/>
        </p:nvSpPr>
        <p:spPr>
          <a:xfrm>
            <a:off x="5461000" y="1625600"/>
            <a:ext cx="9652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踏切・列車</a:t>
            </a:r>
          </a:p>
        </p:txBody>
      </p:sp>
      <p:sp>
        <p:nvSpPr>
          <p:cNvPr id="18" name="Rectangle 17"/>
          <p:cNvSpPr/>
          <p:nvPr/>
        </p:nvSpPr>
        <p:spPr>
          <a:xfrm>
            <a:off x="6527800" y="1625600"/>
            <a:ext cx="11176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キックボード</a:t>
            </a:r>
          </a:p>
        </p:txBody>
      </p:sp>
      <p:sp>
        <p:nvSpPr>
          <p:cNvPr id="19" name="Rectangle 18"/>
          <p:cNvSpPr/>
          <p:nvPr/>
        </p:nvSpPr>
        <p:spPr>
          <a:xfrm>
            <a:off x="7747000" y="1625600"/>
            <a:ext cx="660400" cy="330200"/>
          </a:xfrm>
          <a:prstGeom prst="rect">
            <a:avLst/>
          </a:prstGeom>
          <a:solidFill>
            <a:srgbClr val="F5F3F9"/>
          </a:solidFill>
          <a:ln w="12700">
            <a:solidFill>
              <a:srgbClr val="7E6F98"/>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7E6F98"/>
                </a:solidFill>
                <a:latin typeface="Meiryo"/>
                <a:ea typeface="メイリオ"/>
              </a:rPr>
              <a:t>バイク</a:t>
            </a:r>
          </a:p>
        </p:txBody>
      </p:sp>
      <p:sp>
        <p:nvSpPr>
          <p:cNvPr id="20" name="Rectangle 19"/>
          <p:cNvSpPr/>
          <p:nvPr/>
        </p:nvSpPr>
        <p:spPr>
          <a:xfrm>
            <a:off x="889000" y="2159000"/>
            <a:ext cx="10414000" cy="3302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6800" y="2222500"/>
            <a:ext cx="1651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区分</a:t>
            </a:r>
          </a:p>
        </p:txBody>
      </p:sp>
      <p:sp>
        <p:nvSpPr>
          <p:cNvPr id="22" name="TextBox 21"/>
          <p:cNvSpPr txBox="1"/>
          <p:nvPr/>
        </p:nvSpPr>
        <p:spPr>
          <a:xfrm>
            <a:off x="2819400" y="2222500"/>
            <a:ext cx="889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本数</a:t>
            </a:r>
          </a:p>
        </p:txBody>
      </p:sp>
      <p:sp>
        <p:nvSpPr>
          <p:cNvPr id="23" name="TextBox 22"/>
          <p:cNvSpPr txBox="1"/>
          <p:nvPr/>
        </p:nvSpPr>
        <p:spPr>
          <a:xfrm>
            <a:off x="3810000" y="2222500"/>
            <a:ext cx="6985000" cy="228600"/>
          </a:xfrm>
          <a:prstGeom prst="rect">
            <a:avLst/>
          </a:prstGeom>
          <a:noFill/>
        </p:spPr>
        <p:txBody>
          <a:bodyPr wrap="square" anchor="t" lIns="25400" rIns="25400" tIns="12700" bIns="12700">
            <a:spAutoFit/>
          </a:bodyPr>
          <a:lstStyle/>
          <a:p>
            <a:pPr algn="l"/>
            <a:r>
              <a:rPr sz="1100" b="1">
                <a:solidFill>
                  <a:srgbClr val="FFFFFF"/>
                </a:solidFill>
                <a:latin typeface="Meiryo"/>
                <a:ea typeface="メイリオ"/>
              </a:rPr>
              <a:t>中身</a:t>
            </a:r>
          </a:p>
        </p:txBody>
      </p:sp>
      <p:sp>
        <p:nvSpPr>
          <p:cNvPr id="24" name="Rectangle 23"/>
          <p:cNvSpPr/>
          <p:nvPr/>
        </p:nvSpPr>
        <p:spPr>
          <a:xfrm>
            <a:off x="889000" y="2489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6800" y="2565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A 走行車</a:t>
            </a:r>
          </a:p>
        </p:txBody>
      </p:sp>
      <p:sp>
        <p:nvSpPr>
          <p:cNvPr id="26" name="TextBox 25"/>
          <p:cNvSpPr txBox="1"/>
          <p:nvPr/>
        </p:nvSpPr>
        <p:spPr>
          <a:xfrm>
            <a:off x="2819400" y="2565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27" name="TextBox 26"/>
          <p:cNvSpPr txBox="1"/>
          <p:nvPr/>
        </p:nvSpPr>
        <p:spPr>
          <a:xfrm>
            <a:off x="3810000" y="2565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横2.0〜3.2m を10本（うち後方から6本以上）／横5〜15m を10本</a:t>
            </a:r>
          </a:p>
        </p:txBody>
      </p:sp>
      <p:sp>
        <p:nvSpPr>
          <p:cNvPr id="28" name="Rectangle 27"/>
          <p:cNvSpPr/>
          <p:nvPr/>
        </p:nvSpPr>
        <p:spPr>
          <a:xfrm>
            <a:off x="889000" y="2870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6800" y="2946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B 弱点</a:t>
            </a:r>
          </a:p>
        </p:txBody>
      </p:sp>
      <p:sp>
        <p:nvSpPr>
          <p:cNvPr id="30" name="TextBox 29"/>
          <p:cNvSpPr txBox="1"/>
          <p:nvPr/>
        </p:nvSpPr>
        <p:spPr>
          <a:xfrm>
            <a:off x="2819400" y="2946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31" name="TextBox 30"/>
          <p:cNvSpPr txBox="1"/>
          <p:nvPr/>
        </p:nvSpPr>
        <p:spPr>
          <a:xfrm>
            <a:off x="3810000" y="2946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EV・HVの接近5／停車→発進5／自転車の至近通過5／見通し不良の角5</a:t>
            </a:r>
          </a:p>
        </p:txBody>
      </p:sp>
      <p:sp>
        <p:nvSpPr>
          <p:cNvPr id="32" name="Rectangle 31"/>
          <p:cNvSpPr/>
          <p:nvPr/>
        </p:nvSpPr>
        <p:spPr>
          <a:xfrm>
            <a:off x="889000" y="3251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6800" y="3327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C 負例</a:t>
            </a:r>
          </a:p>
        </p:txBody>
      </p:sp>
      <p:sp>
        <p:nvSpPr>
          <p:cNvPr id="34" name="TextBox 33"/>
          <p:cNvSpPr txBox="1"/>
          <p:nvPr/>
        </p:nvSpPr>
        <p:spPr>
          <a:xfrm>
            <a:off x="2819400" y="3327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35" name="TextBox 34"/>
          <p:cNvSpPr txBox="1"/>
          <p:nvPr/>
        </p:nvSpPr>
        <p:spPr>
          <a:xfrm>
            <a:off x="3810000" y="3327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静穏6／繁華街・工事6／雨上がり4／風あり4　＝鳴ってはいけない場面</a:t>
            </a:r>
          </a:p>
        </p:txBody>
      </p:sp>
      <p:sp>
        <p:nvSpPr>
          <p:cNvPr id="36" name="Rectangle 35"/>
          <p:cNvSpPr/>
          <p:nvPr/>
        </p:nvSpPr>
        <p:spPr>
          <a:xfrm>
            <a:off x="889000" y="3632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66800" y="3708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D 固定・機会</a:t>
            </a:r>
          </a:p>
        </p:txBody>
      </p:sp>
      <p:sp>
        <p:nvSpPr>
          <p:cNvPr id="38" name="TextBox 37"/>
          <p:cNvSpPr txBox="1"/>
          <p:nvPr/>
        </p:nvSpPr>
        <p:spPr>
          <a:xfrm>
            <a:off x="2819400" y="3708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39" name="TextBox 38"/>
          <p:cNvSpPr txBox="1"/>
          <p:nvPr/>
        </p:nvSpPr>
        <p:spPr>
          <a:xfrm>
            <a:off x="3810000" y="3708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実在の踏切8／バック音の統制4／サイレン等の遭遇待ち8</a:t>
            </a:r>
          </a:p>
        </p:txBody>
      </p:sp>
      <p:sp>
        <p:nvSpPr>
          <p:cNvPr id="40" name="Rectangle 39"/>
          <p:cNvSpPr/>
          <p:nvPr/>
        </p:nvSpPr>
        <p:spPr>
          <a:xfrm>
            <a:off x="889000" y="4013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6800" y="4089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E キックボード</a:t>
            </a:r>
          </a:p>
        </p:txBody>
      </p:sp>
      <p:sp>
        <p:nvSpPr>
          <p:cNvPr id="42" name="TextBox 41"/>
          <p:cNvSpPr txBox="1"/>
          <p:nvPr/>
        </p:nvSpPr>
        <p:spPr>
          <a:xfrm>
            <a:off x="2819400" y="4089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20</a:t>
            </a:r>
          </a:p>
        </p:txBody>
      </p:sp>
      <p:sp>
        <p:nvSpPr>
          <p:cNvPr id="43" name="TextBox 42"/>
          <p:cNvSpPr txBox="1"/>
          <p:nvPr/>
        </p:nvSpPr>
        <p:spPr>
          <a:xfrm>
            <a:off x="3810000" y="4089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横1.0/1.2/1.5m × 速度2段 × 左右＝12／後方4／前方4</a:t>
            </a:r>
          </a:p>
        </p:txBody>
      </p:sp>
      <p:sp>
        <p:nvSpPr>
          <p:cNvPr id="44" name="Rectangle 43"/>
          <p:cNvSpPr/>
          <p:nvPr/>
        </p:nvSpPr>
        <p:spPr>
          <a:xfrm>
            <a:off x="889000" y="4394200"/>
            <a:ext cx="10414000" cy="381000"/>
          </a:xfrm>
          <a:prstGeom prst="rect">
            <a:avLst/>
          </a:prstGeom>
          <a:solidFill>
            <a:srgbClr val="F2F3F5"/>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6800" y="4470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F バイク</a:t>
            </a:r>
          </a:p>
        </p:txBody>
      </p:sp>
      <p:sp>
        <p:nvSpPr>
          <p:cNvPr id="46" name="TextBox 45"/>
          <p:cNvSpPr txBox="1"/>
          <p:nvPr/>
        </p:nvSpPr>
        <p:spPr>
          <a:xfrm>
            <a:off x="2819400" y="4470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10</a:t>
            </a:r>
          </a:p>
        </p:txBody>
      </p:sp>
      <p:sp>
        <p:nvSpPr>
          <p:cNvPr id="47" name="TextBox 46"/>
          <p:cNvSpPr txBox="1"/>
          <p:nvPr/>
        </p:nvSpPr>
        <p:spPr>
          <a:xfrm>
            <a:off x="3810000" y="4470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交通量の多い道での待ち受け（自分では走らせない）</a:t>
            </a:r>
          </a:p>
        </p:txBody>
      </p:sp>
      <p:sp>
        <p:nvSpPr>
          <p:cNvPr id="48" name="Rectangle 47"/>
          <p:cNvSpPr/>
          <p:nvPr/>
        </p:nvSpPr>
        <p:spPr>
          <a:xfrm>
            <a:off x="889000" y="4775200"/>
            <a:ext cx="10414000" cy="381000"/>
          </a:xfrm>
          <a:prstGeom prst="rect">
            <a:avLst/>
          </a:prstGeom>
          <a:solidFill>
            <a:srgbClr val="FFFFFF"/>
          </a:solidFill>
          <a:ln w="762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6800" y="4851400"/>
            <a:ext cx="1651000" cy="254000"/>
          </a:xfrm>
          <a:prstGeom prst="rect">
            <a:avLst/>
          </a:prstGeom>
          <a:noFill/>
        </p:spPr>
        <p:txBody>
          <a:bodyPr wrap="square" anchor="t" lIns="25400" rIns="25400" tIns="12700" bIns="12700">
            <a:spAutoFit/>
          </a:bodyPr>
          <a:lstStyle/>
          <a:p>
            <a:pPr algn="l"/>
            <a:r>
              <a:rPr sz="1100" b="1">
                <a:solidFill>
                  <a:srgbClr val="222838"/>
                </a:solidFill>
                <a:latin typeface="Meiryo"/>
                <a:ea typeface="メイリオ"/>
              </a:rPr>
              <a:t>歩行対比</a:t>
            </a:r>
          </a:p>
        </p:txBody>
      </p:sp>
      <p:sp>
        <p:nvSpPr>
          <p:cNvPr id="50" name="TextBox 49"/>
          <p:cNvSpPr txBox="1"/>
          <p:nvPr/>
        </p:nvSpPr>
        <p:spPr>
          <a:xfrm>
            <a:off x="2819400" y="4851400"/>
            <a:ext cx="889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100</a:t>
            </a:r>
          </a:p>
        </p:txBody>
      </p:sp>
      <p:sp>
        <p:nvSpPr>
          <p:cNvPr id="51" name="TextBox 50"/>
          <p:cNvSpPr txBox="1"/>
          <p:nvPr/>
        </p:nvSpPr>
        <p:spPr>
          <a:xfrm>
            <a:off x="3810000" y="4851400"/>
            <a:ext cx="6985000" cy="254000"/>
          </a:xfrm>
          <a:prstGeom prst="rect">
            <a:avLst/>
          </a:prstGeom>
          <a:noFill/>
        </p:spPr>
        <p:txBody>
          <a:bodyPr wrap="square" anchor="t" lIns="25400" rIns="25400" tIns="12700" bIns="12700">
            <a:spAutoFit/>
          </a:bodyPr>
          <a:lstStyle/>
          <a:p>
            <a:pPr algn="l"/>
            <a:r>
              <a:rPr sz="1050" b="0">
                <a:solidFill>
                  <a:srgbClr val="595F6E"/>
                </a:solidFill>
                <a:latin typeface="Meiryo"/>
                <a:ea typeface="メイリオ"/>
              </a:rPr>
              <a:t>5条件×10反復を、止まって録る／歩いて録るの対で比較</a:t>
            </a:r>
          </a:p>
        </p:txBody>
      </p:sp>
      <p:sp>
        <p:nvSpPr>
          <p:cNvPr id="52" name="Rectangle 51"/>
          <p:cNvSpPr/>
          <p:nvPr/>
        </p:nvSpPr>
        <p:spPr>
          <a:xfrm>
            <a:off x="889000" y="5283200"/>
            <a:ext cx="10414000" cy="4572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89000" y="5283200"/>
            <a:ext cx="50800" cy="457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17600" y="5384800"/>
            <a:ext cx="10033000" cy="279400"/>
          </a:xfrm>
          <a:prstGeom prst="rect">
            <a:avLst/>
          </a:prstGeom>
          <a:noFill/>
        </p:spPr>
        <p:txBody>
          <a:bodyPr wrap="square" anchor="t" lIns="25400" rIns="25400" tIns="12700" bIns="12700">
            <a:spAutoFit/>
          </a:bodyPr>
          <a:lstStyle/>
          <a:p>
            <a:pPr algn="l"/>
            <a:r>
              <a:rPr sz="1150" b="0">
                <a:solidFill>
                  <a:srgbClr val="222838"/>
                </a:solidFill>
                <a:latin typeface="Meiryo"/>
                <a:ea typeface="メイリオ"/>
              </a:rPr>
              <a:t>これに加えて、鳴ってはいけない場面の連続録音を100分以上。</a:t>
            </a:r>
            <a:r>
              <a:rPr sz="1150" b="0">
                <a:solidFill>
                  <a:srgbClr val="595F6E"/>
                </a:solidFill>
                <a:latin typeface="Meiryo"/>
                <a:ea typeface="メイリオ"/>
              </a:rPr>
              <a:t>「1時間あたり何回の誤警告か」を出すために必要です。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どこで、どんな条件で録るのか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7</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場所を変えないと録れない音があり、天候の条件も決めてあります。</a:t>
            </a:r>
          </a:p>
        </p:txBody>
      </p:sp>
      <p:sp>
        <p:nvSpPr>
          <p:cNvPr id="12" name="Rectangle 11"/>
          <p:cNvSpPr/>
          <p:nvPr/>
        </p:nvSpPr>
        <p:spPr>
          <a:xfrm>
            <a:off x="889000" y="1625600"/>
            <a:ext cx="50800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25600"/>
            <a:ext cx="50800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034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6か所を回ります</a:t>
            </a:r>
          </a:p>
        </p:txBody>
      </p:sp>
      <p:sp>
        <p:nvSpPr>
          <p:cNvPr id="15" name="Rectangle 14"/>
          <p:cNvSpPr/>
          <p:nvPr/>
        </p:nvSpPr>
        <p:spPr>
          <a:xfrm>
            <a:off x="1117600" y="22034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20800" y="21336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静かな道（交通量の少ない住宅路）</a:t>
            </a:r>
          </a:p>
        </p:txBody>
      </p:sp>
      <p:sp>
        <p:nvSpPr>
          <p:cNvPr id="17" name="Rectangle 16"/>
          <p:cNvSpPr/>
          <p:nvPr/>
        </p:nvSpPr>
        <p:spPr>
          <a:xfrm>
            <a:off x="1117600" y="24701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0800" y="24003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交通量の多い道（車・バイク）</a:t>
            </a:r>
          </a:p>
        </p:txBody>
      </p:sp>
      <p:sp>
        <p:nvSpPr>
          <p:cNvPr id="19" name="Rectangle 18"/>
          <p:cNvSpPr/>
          <p:nvPr/>
        </p:nvSpPr>
        <p:spPr>
          <a:xfrm>
            <a:off x="1117600" y="27368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0800" y="26670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繁華街（雑踏＝鳴ってはいけない場面）</a:t>
            </a:r>
          </a:p>
        </p:txBody>
      </p:sp>
      <p:sp>
        <p:nvSpPr>
          <p:cNvPr id="21" name="Rectangle 20"/>
          <p:cNvSpPr/>
          <p:nvPr/>
        </p:nvSpPr>
        <p:spPr>
          <a:xfrm>
            <a:off x="1117600" y="30035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20800" y="29337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工事現場の近く（高い騒音）</a:t>
            </a:r>
          </a:p>
        </p:txBody>
      </p:sp>
      <p:sp>
        <p:nvSpPr>
          <p:cNvPr id="23" name="Rectangle 22"/>
          <p:cNvSpPr/>
          <p:nvPr/>
        </p:nvSpPr>
        <p:spPr>
          <a:xfrm>
            <a:off x="1117600" y="32702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20800" y="32004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見通しの悪い角（塀のある交差点）</a:t>
            </a:r>
          </a:p>
        </p:txBody>
      </p:sp>
      <p:sp>
        <p:nvSpPr>
          <p:cNvPr id="25" name="Rectangle 24"/>
          <p:cNvSpPr/>
          <p:nvPr/>
        </p:nvSpPr>
        <p:spPr>
          <a:xfrm>
            <a:off x="1117600" y="3536950"/>
            <a:ext cx="762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20800" y="34671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実在の踏切（時刻表どおり＝確実）</a:t>
            </a:r>
          </a:p>
        </p:txBody>
      </p:sp>
      <p:sp>
        <p:nvSpPr>
          <p:cNvPr id="27" name="Rectangle 26"/>
          <p:cNvSpPr/>
          <p:nvPr/>
        </p:nvSpPr>
        <p:spPr>
          <a:xfrm>
            <a:off x="6223000" y="1625600"/>
            <a:ext cx="50800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3000" y="1625600"/>
            <a:ext cx="50800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6200" y="18034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録るときの決めごと</a:t>
            </a:r>
          </a:p>
        </p:txBody>
      </p:sp>
      <p:sp>
        <p:nvSpPr>
          <p:cNvPr id="30" name="Rectangle 29"/>
          <p:cNvSpPr/>
          <p:nvPr/>
        </p:nvSpPr>
        <p:spPr>
          <a:xfrm>
            <a:off x="6451600" y="22034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54800" y="21336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中止の基準：</a:t>
            </a:r>
            <a:r>
              <a:rPr sz="1050" b="0">
                <a:solidFill>
                  <a:srgbClr val="595F6E"/>
                </a:solidFill>
                <a:latin typeface="Meiryo"/>
                <a:ea typeface="メイリオ"/>
              </a:rPr>
              <a:t>風速3m/sを超える日と雨の日は録らない</a:t>
            </a:r>
          </a:p>
        </p:txBody>
      </p:sp>
      <p:sp>
        <p:nvSpPr>
          <p:cNvPr id="32" name="Rectangle 31"/>
          <p:cNvSpPr/>
          <p:nvPr/>
        </p:nvSpPr>
        <p:spPr>
          <a:xfrm>
            <a:off x="6451600" y="26098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54800" y="25400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装着：</a:t>
            </a:r>
            <a:r>
              <a:rPr sz="1050" b="0">
                <a:solidFill>
                  <a:srgbClr val="595F6E"/>
                </a:solidFill>
                <a:latin typeface="Meiryo"/>
                <a:ea typeface="メイリオ"/>
              </a:rPr>
              <a:t>全テイク、止まった状態で胸に装着して統一</a:t>
            </a:r>
          </a:p>
        </p:txBody>
      </p:sp>
      <p:sp>
        <p:nvSpPr>
          <p:cNvPr id="34" name="Rectangle 33"/>
          <p:cNvSpPr/>
          <p:nvPr/>
        </p:nvSpPr>
        <p:spPr>
          <a:xfrm>
            <a:off x="6451600" y="30162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54800" y="29464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録音設定：</a:t>
            </a:r>
            <a:r>
              <a:rPr sz="1050" b="0">
                <a:solidFill>
                  <a:srgbClr val="595F6E"/>
                </a:solidFill>
                <a:latin typeface="Meiryo"/>
                <a:ea typeface="メイリオ"/>
              </a:rPr>
              <a:t>家で全部固定し、現地で押すのは録音ボタンだけ</a:t>
            </a:r>
          </a:p>
        </p:txBody>
      </p:sp>
      <p:sp>
        <p:nvSpPr>
          <p:cNvPr id="36" name="Rectangle 35"/>
          <p:cNvSpPr/>
          <p:nvPr/>
        </p:nvSpPr>
        <p:spPr>
          <a:xfrm>
            <a:off x="6451600" y="3422650"/>
            <a:ext cx="76200" cy="762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54800" y="3352800"/>
            <a:ext cx="4445000" cy="381000"/>
          </a:xfrm>
          <a:prstGeom prst="rect">
            <a:avLst/>
          </a:prstGeom>
          <a:noFill/>
        </p:spPr>
        <p:txBody>
          <a:bodyPr wrap="square" anchor="t" lIns="25400" rIns="25400" tIns="12700" bIns="12700">
            <a:spAutoFit/>
          </a:bodyPr>
          <a:lstStyle/>
          <a:p>
            <a:pPr algn="l">
              <a:lnSpc>
                <a:spcPct val="134000"/>
              </a:lnSpc>
            </a:pPr>
            <a:r>
              <a:rPr sz="1050" b="1">
                <a:solidFill>
                  <a:srgbClr val="222838"/>
                </a:solidFill>
                <a:latin typeface="Meiryo"/>
                <a:ea typeface="メイリオ"/>
              </a:rPr>
              <a:t>記録：</a:t>
            </a:r>
            <a:r>
              <a:rPr sz="1050" b="0">
                <a:solidFill>
                  <a:srgbClr val="595F6E"/>
                </a:solidFill>
                <a:latin typeface="Meiryo"/>
                <a:ea typeface="メイリオ"/>
              </a:rPr>
              <a:t>1テイクごとに車種・速度・横距離・騒音計の値を紙に書く</a:t>
            </a:r>
          </a:p>
        </p:txBody>
      </p:sp>
      <p:sp>
        <p:nvSpPr>
          <p:cNvPr id="38" name="Rectangle 37"/>
          <p:cNvSpPr/>
          <p:nvPr/>
        </p:nvSpPr>
        <p:spPr>
          <a:xfrm>
            <a:off x="2667000" y="3962400"/>
            <a:ext cx="6858000" cy="18542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70200" y="4089400"/>
            <a:ext cx="3810000" cy="254000"/>
          </a:xfrm>
          <a:prstGeom prst="rect">
            <a:avLst/>
          </a:prstGeom>
          <a:noFill/>
        </p:spPr>
        <p:txBody>
          <a:bodyPr wrap="square" anchor="t" lIns="25400" rIns="25400" tIns="12700" bIns="12700">
            <a:spAutoFit/>
          </a:bodyPr>
          <a:lstStyle/>
          <a:p>
            <a:pPr algn="l"/>
            <a:r>
              <a:rPr sz="1250" b="1">
                <a:solidFill>
                  <a:srgbClr val="222838"/>
                </a:solidFill>
                <a:latin typeface="Meiryo"/>
                <a:ea typeface="メイリオ"/>
              </a:rPr>
              <a:t>車を記録するときの位置関係</a:t>
            </a:r>
          </a:p>
        </p:txBody>
      </p:sp>
      <p:sp>
        <p:nvSpPr>
          <p:cNvPr id="40" name="TextBox 39"/>
          <p:cNvSpPr txBox="1"/>
          <p:nvPr/>
        </p:nvSpPr>
        <p:spPr>
          <a:xfrm>
            <a:off x="6858000" y="4114800"/>
            <a:ext cx="2463800" cy="228600"/>
          </a:xfrm>
          <a:prstGeom prst="rect">
            <a:avLst/>
          </a:prstGeom>
          <a:noFill/>
        </p:spPr>
        <p:txBody>
          <a:bodyPr wrap="square" anchor="t" lIns="25400" rIns="25400" tIns="12700" bIns="12700">
            <a:spAutoFit/>
          </a:bodyPr>
          <a:lstStyle/>
          <a:p>
            <a:pPr algn="r"/>
            <a:r>
              <a:rPr sz="1000" b="0">
                <a:solidFill>
                  <a:srgbClr val="595F6E"/>
                </a:solidFill>
                <a:latin typeface="Meiryo"/>
                <a:ea typeface="メイリオ"/>
              </a:rPr>
              <a:t>速度：徐行〜約30km/h</a:t>
            </a:r>
          </a:p>
        </p:txBody>
      </p:sp>
      <p:sp>
        <p:nvSpPr>
          <p:cNvPr id="41" name="Rectangle 40"/>
          <p:cNvSpPr/>
          <p:nvPr/>
        </p:nvSpPr>
        <p:spPr>
          <a:xfrm>
            <a:off x="2946400" y="4445000"/>
            <a:ext cx="6299200" cy="406400"/>
          </a:xfrm>
          <a:prstGeom prst="rect">
            <a:avLst/>
          </a:prstGeom>
          <a:solidFill>
            <a:srgbClr val="E9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12000" y="4521200"/>
            <a:ext cx="660400" cy="2540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100" b="1">
                <a:solidFill>
                  <a:srgbClr val="FFFFFF"/>
                </a:solidFill>
                <a:latin typeface="Meiryo"/>
                <a:ea typeface="メイリオ"/>
              </a:rPr>
              <a:t>車</a:t>
            </a:r>
          </a:p>
        </p:txBody>
      </p:sp>
      <p:sp>
        <p:nvSpPr>
          <p:cNvPr id="43" name="TextBox 42"/>
          <p:cNvSpPr txBox="1"/>
          <p:nvPr/>
        </p:nvSpPr>
        <p:spPr>
          <a:xfrm>
            <a:off x="7848600" y="4495800"/>
            <a:ext cx="508000" cy="279400"/>
          </a:xfrm>
          <a:prstGeom prst="rect">
            <a:avLst/>
          </a:prstGeom>
          <a:noFill/>
        </p:spPr>
        <p:txBody>
          <a:bodyPr wrap="square" anchor="t" lIns="25400" rIns="25400" tIns="12700" bIns="12700">
            <a:spAutoFit/>
          </a:bodyPr>
          <a:lstStyle/>
          <a:p>
            <a:pPr algn="l"/>
            <a:r>
              <a:rPr sz="1700" b="0">
                <a:solidFill>
                  <a:srgbClr val="222838"/>
                </a:solidFill>
                <a:latin typeface="Meiryo"/>
                <a:ea typeface="メイリオ"/>
              </a:rPr>
              <a:t>→</a:t>
            </a:r>
          </a:p>
        </p:txBody>
      </p:sp>
      <p:sp>
        <p:nvSpPr>
          <p:cNvPr id="44" name="Rectangle 43"/>
          <p:cNvSpPr/>
          <p:nvPr/>
        </p:nvSpPr>
        <p:spPr>
          <a:xfrm>
            <a:off x="4800600" y="4851400"/>
            <a:ext cx="20320" cy="4318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699000" y="5283200"/>
            <a:ext cx="203200" cy="203200"/>
          </a:xfrm>
          <a:prstGeom prst="ellipse">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978400" y="4927600"/>
            <a:ext cx="4191000" cy="254000"/>
          </a:xfrm>
          <a:prstGeom prst="rect">
            <a:avLst/>
          </a:prstGeom>
          <a:noFill/>
        </p:spPr>
        <p:txBody>
          <a:bodyPr wrap="square" anchor="t" lIns="25400" rIns="25400" tIns="12700" bIns="12700">
            <a:spAutoFit/>
          </a:bodyPr>
          <a:lstStyle/>
          <a:p>
            <a:pPr algn="l"/>
            <a:r>
              <a:rPr sz="1200" b="1">
                <a:solidFill>
                  <a:srgbClr val="C0392B"/>
                </a:solidFill>
                <a:latin typeface="Meiryo"/>
                <a:ea typeface="メイリオ"/>
              </a:rPr>
              <a:t>横距離 2.0〜3.2m ／ 5〜15m</a:t>
            </a:r>
          </a:p>
        </p:txBody>
      </p:sp>
      <p:sp>
        <p:nvSpPr>
          <p:cNvPr id="47" name="TextBox 46"/>
          <p:cNvSpPr txBox="1"/>
          <p:nvPr/>
        </p:nvSpPr>
        <p:spPr>
          <a:xfrm>
            <a:off x="3886200" y="5511800"/>
            <a:ext cx="3302000" cy="228600"/>
          </a:xfrm>
          <a:prstGeom prst="rect">
            <a:avLst/>
          </a:prstGeom>
          <a:noFill/>
        </p:spPr>
        <p:txBody>
          <a:bodyPr wrap="square" anchor="t" lIns="25400" rIns="25400" tIns="12700" bIns="12700">
            <a:spAutoFit/>
          </a:bodyPr>
          <a:lstStyle/>
          <a:p>
            <a:pPr algn="ctr"/>
            <a:r>
              <a:rPr sz="1000" b="0">
                <a:solidFill>
                  <a:srgbClr val="595F6E"/>
                </a:solidFill>
                <a:latin typeface="Meiryo"/>
                <a:ea typeface="メイリオ"/>
              </a:rPr>
              <a:t>装着者（胸に4方向マイク・静止）</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1回の収録の流れ</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8</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1テイクあたり6つの手順。この骨格を全210回で共通にします。</a:t>
            </a:r>
          </a:p>
        </p:txBody>
      </p:sp>
      <p:sp>
        <p:nvSpPr>
          <p:cNvPr id="12" name="Rectangle 11"/>
          <p:cNvSpPr/>
          <p:nvPr/>
        </p:nvSpPr>
        <p:spPr>
          <a:xfrm>
            <a:off x="8890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76400"/>
            <a:ext cx="16256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1400" y="1854200"/>
            <a:ext cx="1320800" cy="254000"/>
          </a:xfrm>
          <a:prstGeom prst="rect">
            <a:avLst/>
          </a:prstGeom>
          <a:noFill/>
        </p:spPr>
        <p:txBody>
          <a:bodyPr wrap="square" anchor="t" lIns="25400" rIns="25400" tIns="12700" bIns="12700">
            <a:spAutoFit/>
          </a:bodyPr>
          <a:lstStyle/>
          <a:p>
            <a:pPr algn="l"/>
            <a:r>
              <a:rPr sz="1250" b="1">
                <a:solidFill>
                  <a:srgbClr val="7E6F98"/>
                </a:solidFill>
                <a:latin typeface="Meiryo"/>
                <a:ea typeface="メイリオ"/>
              </a:rPr>
              <a:t>① 前日</a:t>
            </a:r>
          </a:p>
        </p:txBody>
      </p:sp>
      <p:sp>
        <p:nvSpPr>
          <p:cNvPr id="15" name="TextBox 14"/>
          <p:cNvSpPr txBox="1"/>
          <p:nvPr/>
        </p:nvSpPr>
        <p:spPr>
          <a:xfrm>
            <a:off x="10414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15分</a:t>
            </a:r>
          </a:p>
        </p:txBody>
      </p:sp>
      <p:sp>
        <p:nvSpPr>
          <p:cNvPr id="16" name="TextBox 15"/>
          <p:cNvSpPr txBox="1"/>
          <p:nvPr/>
        </p:nvSpPr>
        <p:spPr>
          <a:xfrm>
            <a:off x="10414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設定を家で全部固定する</a:t>
            </a:r>
          </a:p>
        </p:txBody>
      </p:sp>
      <p:sp>
        <p:nvSpPr>
          <p:cNvPr id="17" name="TextBox 16"/>
          <p:cNvSpPr txBox="1"/>
          <p:nvPr/>
        </p:nvSpPr>
        <p:spPr>
          <a:xfrm>
            <a:off x="24892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18" name="Rectangle 17"/>
          <p:cNvSpPr/>
          <p:nvPr/>
        </p:nvSpPr>
        <p:spPr>
          <a:xfrm>
            <a:off x="26162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16200" y="1676400"/>
            <a:ext cx="16256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68600" y="1854200"/>
            <a:ext cx="1320800" cy="254000"/>
          </a:xfrm>
          <a:prstGeom prst="rect">
            <a:avLst/>
          </a:prstGeom>
          <a:noFill/>
        </p:spPr>
        <p:txBody>
          <a:bodyPr wrap="square" anchor="t" lIns="25400" rIns="25400" tIns="12700" bIns="12700">
            <a:spAutoFit/>
          </a:bodyPr>
          <a:lstStyle/>
          <a:p>
            <a:pPr algn="l"/>
            <a:r>
              <a:rPr sz="1250" b="1">
                <a:solidFill>
                  <a:srgbClr val="7E6F98"/>
                </a:solidFill>
                <a:latin typeface="Meiryo"/>
                <a:ea typeface="メイリオ"/>
              </a:rPr>
              <a:t>② 到着</a:t>
            </a:r>
          </a:p>
        </p:txBody>
      </p:sp>
      <p:sp>
        <p:nvSpPr>
          <p:cNvPr id="21" name="TextBox 20"/>
          <p:cNvSpPr txBox="1"/>
          <p:nvPr/>
        </p:nvSpPr>
        <p:spPr>
          <a:xfrm>
            <a:off x="27686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2分</a:t>
            </a:r>
          </a:p>
        </p:txBody>
      </p:sp>
      <p:sp>
        <p:nvSpPr>
          <p:cNvPr id="22" name="TextBox 21"/>
          <p:cNvSpPr txBox="1"/>
          <p:nvPr/>
        </p:nvSpPr>
        <p:spPr>
          <a:xfrm>
            <a:off x="27686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定位置に立つ</a:t>
            </a:r>
          </a:p>
        </p:txBody>
      </p:sp>
      <p:sp>
        <p:nvSpPr>
          <p:cNvPr id="23" name="TextBox 22"/>
          <p:cNvSpPr txBox="1"/>
          <p:nvPr/>
        </p:nvSpPr>
        <p:spPr>
          <a:xfrm>
            <a:off x="42164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24" name="Rectangle 23"/>
          <p:cNvSpPr/>
          <p:nvPr/>
        </p:nvSpPr>
        <p:spPr>
          <a:xfrm>
            <a:off x="43434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1676400"/>
            <a:ext cx="16256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5800" y="1854200"/>
            <a:ext cx="1320800" cy="254000"/>
          </a:xfrm>
          <a:prstGeom prst="rect">
            <a:avLst/>
          </a:prstGeom>
          <a:noFill/>
        </p:spPr>
        <p:txBody>
          <a:bodyPr wrap="square" anchor="t" lIns="25400" rIns="25400" tIns="12700" bIns="12700">
            <a:spAutoFit/>
          </a:bodyPr>
          <a:lstStyle/>
          <a:p>
            <a:pPr algn="l"/>
            <a:r>
              <a:rPr sz="1250" b="1">
                <a:solidFill>
                  <a:srgbClr val="E0A526"/>
                </a:solidFill>
                <a:latin typeface="Meiryo"/>
                <a:ea typeface="メイリオ"/>
              </a:rPr>
              <a:t>③ 儀式</a:t>
            </a:r>
          </a:p>
        </p:txBody>
      </p:sp>
      <p:sp>
        <p:nvSpPr>
          <p:cNvPr id="27" name="TextBox 26"/>
          <p:cNvSpPr txBox="1"/>
          <p:nvPr/>
        </p:nvSpPr>
        <p:spPr>
          <a:xfrm>
            <a:off x="44958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90秒</a:t>
            </a:r>
          </a:p>
        </p:txBody>
      </p:sp>
      <p:sp>
        <p:nvSpPr>
          <p:cNvPr id="28" name="TextBox 27"/>
          <p:cNvSpPr txBox="1"/>
          <p:nvPr/>
        </p:nvSpPr>
        <p:spPr>
          <a:xfrm>
            <a:off x="44958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手拍子・騒音計・ベル4方位</a:t>
            </a:r>
          </a:p>
        </p:txBody>
      </p:sp>
      <p:sp>
        <p:nvSpPr>
          <p:cNvPr id="29" name="TextBox 28"/>
          <p:cNvSpPr txBox="1"/>
          <p:nvPr/>
        </p:nvSpPr>
        <p:spPr>
          <a:xfrm>
            <a:off x="59436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30" name="Rectangle 29"/>
          <p:cNvSpPr/>
          <p:nvPr/>
        </p:nvSpPr>
        <p:spPr>
          <a:xfrm>
            <a:off x="60706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70600" y="1676400"/>
            <a:ext cx="1625600" cy="4445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23000" y="1854200"/>
            <a:ext cx="1320800" cy="254000"/>
          </a:xfrm>
          <a:prstGeom prst="rect">
            <a:avLst/>
          </a:prstGeom>
          <a:noFill/>
        </p:spPr>
        <p:txBody>
          <a:bodyPr wrap="square" anchor="t" lIns="25400" rIns="25400" tIns="12700" bIns="12700">
            <a:spAutoFit/>
          </a:bodyPr>
          <a:lstStyle/>
          <a:p>
            <a:pPr algn="l"/>
            <a:r>
              <a:rPr sz="1250" b="1">
                <a:solidFill>
                  <a:srgbClr val="C0392B"/>
                </a:solidFill>
                <a:latin typeface="Meiryo"/>
                <a:ea typeface="メイリオ"/>
              </a:rPr>
              <a:t>④ 本番</a:t>
            </a:r>
          </a:p>
        </p:txBody>
      </p:sp>
      <p:sp>
        <p:nvSpPr>
          <p:cNvPr id="33" name="TextBox 32"/>
          <p:cNvSpPr txBox="1"/>
          <p:nvPr/>
        </p:nvSpPr>
        <p:spPr>
          <a:xfrm>
            <a:off x="62230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20〜30秒</a:t>
            </a:r>
          </a:p>
        </p:txBody>
      </p:sp>
      <p:sp>
        <p:nvSpPr>
          <p:cNvPr id="34" name="TextBox 33"/>
          <p:cNvSpPr txBox="1"/>
          <p:nvPr/>
        </p:nvSpPr>
        <p:spPr>
          <a:xfrm>
            <a:off x="62230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無言。1通過＝1テイク</a:t>
            </a:r>
          </a:p>
        </p:txBody>
      </p:sp>
      <p:sp>
        <p:nvSpPr>
          <p:cNvPr id="35" name="TextBox 34"/>
          <p:cNvSpPr txBox="1"/>
          <p:nvPr/>
        </p:nvSpPr>
        <p:spPr>
          <a:xfrm>
            <a:off x="76708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36" name="Rectangle 35"/>
          <p:cNvSpPr/>
          <p:nvPr/>
        </p:nvSpPr>
        <p:spPr>
          <a:xfrm>
            <a:off x="77978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97800" y="1676400"/>
            <a:ext cx="16256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50200" y="1854200"/>
            <a:ext cx="1320800" cy="254000"/>
          </a:xfrm>
          <a:prstGeom prst="rect">
            <a:avLst/>
          </a:prstGeom>
          <a:noFill/>
        </p:spPr>
        <p:txBody>
          <a:bodyPr wrap="square" anchor="t" lIns="25400" rIns="25400" tIns="12700" bIns="12700">
            <a:spAutoFit/>
          </a:bodyPr>
          <a:lstStyle/>
          <a:p>
            <a:pPr algn="l"/>
            <a:r>
              <a:rPr sz="1250" b="1">
                <a:solidFill>
                  <a:srgbClr val="E0A526"/>
                </a:solidFill>
                <a:latin typeface="Meiryo"/>
                <a:ea typeface="メイリオ"/>
              </a:rPr>
              <a:t>⑤ 直後</a:t>
            </a:r>
          </a:p>
        </p:txBody>
      </p:sp>
      <p:sp>
        <p:nvSpPr>
          <p:cNvPr id="39" name="TextBox 38"/>
          <p:cNvSpPr txBox="1"/>
          <p:nvPr/>
        </p:nvSpPr>
        <p:spPr>
          <a:xfrm>
            <a:off x="79502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30秒</a:t>
            </a:r>
          </a:p>
        </p:txBody>
      </p:sp>
      <p:sp>
        <p:nvSpPr>
          <p:cNvPr id="40" name="TextBox 39"/>
          <p:cNvSpPr txBox="1"/>
          <p:nvPr/>
        </p:nvSpPr>
        <p:spPr>
          <a:xfrm>
            <a:off x="79502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5秒数えてから声で記録</a:t>
            </a:r>
          </a:p>
        </p:txBody>
      </p:sp>
      <p:sp>
        <p:nvSpPr>
          <p:cNvPr id="41" name="TextBox 40"/>
          <p:cNvSpPr txBox="1"/>
          <p:nvPr/>
        </p:nvSpPr>
        <p:spPr>
          <a:xfrm>
            <a:off x="9398000" y="2235200"/>
            <a:ext cx="177800" cy="254000"/>
          </a:xfrm>
          <a:prstGeom prst="rect">
            <a:avLst/>
          </a:prstGeom>
          <a:noFill/>
        </p:spPr>
        <p:txBody>
          <a:bodyPr wrap="square" anchor="t" lIns="25400" rIns="25400" tIns="12700" bIns="12700">
            <a:spAutoFit/>
          </a:bodyPr>
          <a:lstStyle/>
          <a:p>
            <a:pPr algn="l"/>
            <a:r>
              <a:rPr sz="1500" b="0">
                <a:solidFill>
                  <a:srgbClr val="8A8F9A"/>
                </a:solidFill>
                <a:latin typeface="Meiryo"/>
                <a:ea typeface="メイリオ"/>
              </a:rPr>
              <a:t>›</a:t>
            </a:r>
          </a:p>
        </p:txBody>
      </p:sp>
      <p:sp>
        <p:nvSpPr>
          <p:cNvPr id="42" name="Rectangle 41"/>
          <p:cNvSpPr/>
          <p:nvPr/>
        </p:nvSpPr>
        <p:spPr>
          <a:xfrm>
            <a:off x="9525000" y="1676400"/>
            <a:ext cx="1625600" cy="1371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25000" y="1676400"/>
            <a:ext cx="1625600" cy="4445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77400" y="1854200"/>
            <a:ext cx="1320800" cy="254000"/>
          </a:xfrm>
          <a:prstGeom prst="rect">
            <a:avLst/>
          </a:prstGeom>
          <a:noFill/>
        </p:spPr>
        <p:txBody>
          <a:bodyPr wrap="square" anchor="t" lIns="25400" rIns="25400" tIns="12700" bIns="12700">
            <a:spAutoFit/>
          </a:bodyPr>
          <a:lstStyle/>
          <a:p>
            <a:pPr algn="l"/>
            <a:r>
              <a:rPr sz="1250" b="1">
                <a:solidFill>
                  <a:srgbClr val="2E7D5B"/>
                </a:solidFill>
                <a:latin typeface="Meiryo"/>
                <a:ea typeface="メイリオ"/>
              </a:rPr>
              <a:t>⑥ 確認</a:t>
            </a:r>
          </a:p>
        </p:txBody>
      </p:sp>
      <p:sp>
        <p:nvSpPr>
          <p:cNvPr id="45" name="TextBox 44"/>
          <p:cNvSpPr txBox="1"/>
          <p:nvPr/>
        </p:nvSpPr>
        <p:spPr>
          <a:xfrm>
            <a:off x="9677400" y="2108200"/>
            <a:ext cx="1320800" cy="228600"/>
          </a:xfrm>
          <a:prstGeom prst="rect">
            <a:avLst/>
          </a:prstGeom>
          <a:noFill/>
        </p:spPr>
        <p:txBody>
          <a:bodyPr wrap="square" anchor="t" lIns="25400" rIns="25400" tIns="12700" bIns="12700">
            <a:spAutoFit/>
          </a:bodyPr>
          <a:lstStyle/>
          <a:p>
            <a:pPr algn="l"/>
            <a:r>
              <a:rPr sz="1050" b="0">
                <a:solidFill>
                  <a:srgbClr val="8A8F9A"/>
                </a:solidFill>
                <a:latin typeface="Meiryo"/>
                <a:ea typeface="メイリオ"/>
              </a:rPr>
              <a:t>5分</a:t>
            </a:r>
          </a:p>
        </p:txBody>
      </p:sp>
      <p:sp>
        <p:nvSpPr>
          <p:cNvPr id="46" name="TextBox 45"/>
          <p:cNvSpPr txBox="1"/>
          <p:nvPr/>
        </p:nvSpPr>
        <p:spPr>
          <a:xfrm>
            <a:off x="9677400" y="2387600"/>
            <a:ext cx="1320800" cy="584200"/>
          </a:xfrm>
          <a:prstGeom prst="rect">
            <a:avLst/>
          </a:prstGeom>
          <a:noFill/>
        </p:spPr>
        <p:txBody>
          <a:bodyPr wrap="square" anchor="t" lIns="25400" rIns="25400" tIns="12700" bIns="12700">
            <a:spAutoFit/>
          </a:bodyPr>
          <a:lstStyle/>
          <a:p>
            <a:pPr algn="l">
              <a:lnSpc>
                <a:spcPct val="130000"/>
              </a:lnSpc>
            </a:pPr>
            <a:r>
              <a:rPr sz="1050" b="0">
                <a:solidFill>
                  <a:srgbClr val="595F6E"/>
                </a:solidFill>
                <a:latin typeface="Meiryo"/>
                <a:ea typeface="メイリオ"/>
              </a:rPr>
              <a:t>その場で再生して品質確認</a:t>
            </a:r>
          </a:p>
        </p:txBody>
      </p:sp>
      <p:sp>
        <p:nvSpPr>
          <p:cNvPr id="47" name="Rectangle 46"/>
          <p:cNvSpPr/>
          <p:nvPr/>
        </p:nvSpPr>
        <p:spPr>
          <a:xfrm>
            <a:off x="889000" y="3251200"/>
            <a:ext cx="5080000" cy="15494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89000" y="3251200"/>
            <a:ext cx="50800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2200" y="34290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③ 儀式の中身（90秒）</a:t>
            </a:r>
          </a:p>
        </p:txBody>
      </p:sp>
      <p:sp>
        <p:nvSpPr>
          <p:cNvPr id="50" name="Oval 49"/>
          <p:cNvSpPr/>
          <p:nvPr/>
        </p:nvSpPr>
        <p:spPr>
          <a:xfrm>
            <a:off x="1117600" y="3784600"/>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50" b="1">
                <a:solidFill>
                  <a:srgbClr val="FFFFFF"/>
                </a:solidFill>
                <a:latin typeface="Meiryo"/>
                <a:ea typeface="メイリオ"/>
              </a:rPr>
              <a:t>1</a:t>
            </a:r>
          </a:p>
        </p:txBody>
      </p:sp>
      <p:sp>
        <p:nvSpPr>
          <p:cNvPr id="51" name="TextBox 50"/>
          <p:cNvSpPr txBox="1"/>
          <p:nvPr/>
        </p:nvSpPr>
        <p:spPr>
          <a:xfrm>
            <a:off x="1422400" y="3759200"/>
            <a:ext cx="4445000" cy="279400"/>
          </a:xfrm>
          <a:prstGeom prst="rect">
            <a:avLst/>
          </a:prstGeom>
          <a:noFill/>
        </p:spPr>
        <p:txBody>
          <a:bodyPr wrap="square" anchor="t" lIns="25400" rIns="25400" tIns="12700" bIns="12700">
            <a:spAutoFit/>
          </a:bodyPr>
          <a:lstStyle/>
          <a:p>
            <a:pPr algn="l"/>
            <a:r>
              <a:rPr sz="1050" b="1">
                <a:solidFill>
                  <a:srgbClr val="222838"/>
                </a:solidFill>
                <a:latin typeface="Meiryo"/>
                <a:ea typeface="メイリオ"/>
              </a:rPr>
              <a:t>手拍子を1回　</a:t>
            </a:r>
            <a:r>
              <a:rPr sz="1000" b="0">
                <a:solidFill>
                  <a:srgbClr val="595F6E"/>
                </a:solidFill>
                <a:latin typeface="Meiryo"/>
                <a:ea typeface="メイリオ"/>
              </a:rPr>
              <a:t>録音と動画の時刻を合わせる</a:t>
            </a:r>
          </a:p>
        </p:txBody>
      </p:sp>
      <p:sp>
        <p:nvSpPr>
          <p:cNvPr id="52" name="Oval 51"/>
          <p:cNvSpPr/>
          <p:nvPr/>
        </p:nvSpPr>
        <p:spPr>
          <a:xfrm>
            <a:off x="1117600" y="4114800"/>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50" b="1">
                <a:solidFill>
                  <a:srgbClr val="FFFFFF"/>
                </a:solidFill>
                <a:latin typeface="Meiryo"/>
                <a:ea typeface="メイリオ"/>
              </a:rPr>
              <a:t>2</a:t>
            </a:r>
          </a:p>
        </p:txBody>
      </p:sp>
      <p:sp>
        <p:nvSpPr>
          <p:cNvPr id="53" name="TextBox 52"/>
          <p:cNvSpPr txBox="1"/>
          <p:nvPr/>
        </p:nvSpPr>
        <p:spPr>
          <a:xfrm>
            <a:off x="1422400" y="4089400"/>
            <a:ext cx="4445000" cy="279400"/>
          </a:xfrm>
          <a:prstGeom prst="rect">
            <a:avLst/>
          </a:prstGeom>
          <a:noFill/>
        </p:spPr>
        <p:txBody>
          <a:bodyPr wrap="square" anchor="t" lIns="25400" rIns="25400" tIns="12700" bIns="12700">
            <a:spAutoFit/>
          </a:bodyPr>
          <a:lstStyle/>
          <a:p>
            <a:pPr algn="l"/>
            <a:r>
              <a:rPr sz="1050" b="1">
                <a:solidFill>
                  <a:srgbClr val="222838"/>
                </a:solidFill>
                <a:latin typeface="Meiryo"/>
                <a:ea typeface="メイリオ"/>
              </a:rPr>
              <a:t>騒音計と並べて無言で60秒　</a:t>
            </a:r>
            <a:r>
              <a:rPr sz="1000" b="0">
                <a:solidFill>
                  <a:srgbClr val="595F6E"/>
                </a:solidFill>
                <a:latin typeface="Meiryo"/>
                <a:ea typeface="メイリオ"/>
              </a:rPr>
              <a:t>何デシベルだったかの基準を取る</a:t>
            </a:r>
          </a:p>
        </p:txBody>
      </p:sp>
      <p:sp>
        <p:nvSpPr>
          <p:cNvPr id="54" name="Oval 53"/>
          <p:cNvSpPr/>
          <p:nvPr/>
        </p:nvSpPr>
        <p:spPr>
          <a:xfrm>
            <a:off x="1117600" y="4445000"/>
            <a:ext cx="203200" cy="203200"/>
          </a:xfrm>
          <a:prstGeom prst="ellipse">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950" b="1">
                <a:solidFill>
                  <a:srgbClr val="FFFFFF"/>
                </a:solidFill>
                <a:latin typeface="Meiryo"/>
                <a:ea typeface="メイリオ"/>
              </a:rPr>
              <a:t>3</a:t>
            </a:r>
          </a:p>
        </p:txBody>
      </p:sp>
      <p:sp>
        <p:nvSpPr>
          <p:cNvPr id="55" name="TextBox 54"/>
          <p:cNvSpPr txBox="1"/>
          <p:nvPr/>
        </p:nvSpPr>
        <p:spPr>
          <a:xfrm>
            <a:off x="1422400" y="4419600"/>
            <a:ext cx="4445000" cy="279400"/>
          </a:xfrm>
          <a:prstGeom prst="rect">
            <a:avLst/>
          </a:prstGeom>
          <a:noFill/>
        </p:spPr>
        <p:txBody>
          <a:bodyPr wrap="square" anchor="t" lIns="25400" rIns="25400" tIns="12700" bIns="12700">
            <a:spAutoFit/>
          </a:bodyPr>
          <a:lstStyle/>
          <a:p>
            <a:pPr algn="l"/>
            <a:r>
              <a:rPr sz="1050" b="1">
                <a:solidFill>
                  <a:srgbClr val="222838"/>
                </a:solidFill>
                <a:latin typeface="Meiryo"/>
                <a:ea typeface="メイリオ"/>
              </a:rPr>
              <a:t>ベルを前後左右から1打ずつ　</a:t>
            </a:r>
            <a:r>
              <a:rPr sz="1000" b="0">
                <a:solidFill>
                  <a:srgbClr val="595F6E"/>
                </a:solidFill>
                <a:latin typeface="Meiryo"/>
                <a:ea typeface="メイリオ"/>
              </a:rPr>
              <a:t>マイクの正面と体の正面のズレを測る</a:t>
            </a:r>
          </a:p>
        </p:txBody>
      </p:sp>
      <p:sp>
        <p:nvSpPr>
          <p:cNvPr id="56" name="Rectangle 55"/>
          <p:cNvSpPr/>
          <p:nvPr/>
        </p:nvSpPr>
        <p:spPr>
          <a:xfrm>
            <a:off x="6223000" y="3251200"/>
            <a:ext cx="5080000" cy="15494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223000" y="3251200"/>
            <a:ext cx="5080000" cy="4445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26200" y="3429000"/>
            <a:ext cx="46736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帰宅後、その日のうちに</a:t>
            </a:r>
          </a:p>
        </p:txBody>
      </p:sp>
      <p:sp>
        <p:nvSpPr>
          <p:cNvPr id="59" name="Rectangle 58"/>
          <p:cNvSpPr/>
          <p:nvPr/>
        </p:nvSpPr>
        <p:spPr>
          <a:xfrm>
            <a:off x="6451600" y="38290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54800" y="37592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録音を学習データと同じ形式に変換する</a:t>
            </a:r>
          </a:p>
        </p:txBody>
      </p:sp>
      <p:sp>
        <p:nvSpPr>
          <p:cNvPr id="61" name="Rectangle 60"/>
          <p:cNvSpPr/>
          <p:nvPr/>
        </p:nvSpPr>
        <p:spPr>
          <a:xfrm>
            <a:off x="6451600" y="41084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54800" y="40386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1件ずつの10秒クリップに切り出す</a:t>
            </a:r>
          </a:p>
        </p:txBody>
      </p:sp>
      <p:sp>
        <p:nvSpPr>
          <p:cNvPr id="63" name="Rectangle 62"/>
          <p:cNvSpPr/>
          <p:nvPr/>
        </p:nvSpPr>
        <p:spPr>
          <a:xfrm>
            <a:off x="6451600" y="43878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54800" y="43180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紙の記録を表に打ち込む（注釈）</a:t>
            </a:r>
          </a:p>
        </p:txBody>
      </p:sp>
      <p:sp>
        <p:nvSpPr>
          <p:cNvPr id="65" name="Rectangle 64"/>
          <p:cNvSpPr/>
          <p:nvPr/>
        </p:nvSpPr>
        <p:spPr>
          <a:xfrm>
            <a:off x="6451600" y="4667250"/>
            <a:ext cx="76200" cy="76200"/>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54800" y="4597400"/>
            <a:ext cx="4445000" cy="254000"/>
          </a:xfrm>
          <a:prstGeom prst="rect">
            <a:avLst/>
          </a:prstGeom>
          <a:noFill/>
        </p:spPr>
        <p:txBody>
          <a:bodyPr wrap="square" anchor="t" lIns="25400" rIns="25400" tIns="12700" bIns="12700">
            <a:spAutoFit/>
          </a:bodyPr>
          <a:lstStyle/>
          <a:p>
            <a:pPr algn="l">
              <a:lnSpc>
                <a:spcPct val="120000"/>
              </a:lnSpc>
            </a:pPr>
            <a:r>
              <a:rPr sz="1050" b="0">
                <a:solidFill>
                  <a:srgbClr val="595F6E"/>
                </a:solidFill>
                <a:latin typeface="Meiryo"/>
                <a:ea typeface="メイリオ"/>
              </a:rPr>
              <a:t>検査スクリプトで形式ミスを機械的に見つける</a:t>
            </a:r>
          </a:p>
        </p:txBody>
      </p:sp>
      <p:sp>
        <p:nvSpPr>
          <p:cNvPr id="67" name="Rectangle 66"/>
          <p:cNvSpPr/>
          <p:nvPr/>
        </p:nvSpPr>
        <p:spPr>
          <a:xfrm>
            <a:off x="889000" y="4978400"/>
            <a:ext cx="10414000" cy="5080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89000" y="4978400"/>
            <a:ext cx="50800" cy="5080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17600" y="5105400"/>
            <a:ext cx="10033000" cy="304800"/>
          </a:xfrm>
          <a:prstGeom prst="rect">
            <a:avLst/>
          </a:prstGeom>
          <a:noFill/>
        </p:spPr>
        <p:txBody>
          <a:bodyPr wrap="square" anchor="t" lIns="25400" rIns="25400" tIns="12700" bIns="12700">
            <a:spAutoFit/>
          </a:bodyPr>
          <a:lstStyle/>
          <a:p>
            <a:pPr algn="l"/>
            <a:r>
              <a:rPr sz="1150" b="1">
                <a:solidFill>
                  <a:srgbClr val="222838"/>
                </a:solidFill>
                <a:latin typeface="Meiryo"/>
                <a:ea typeface="メイリオ"/>
              </a:rPr>
              <a:t>この一連の流れは、9/1に手元で通し確認まで済ませてあります。</a:t>
            </a:r>
            <a:r>
              <a:rPr sz="1150" b="0">
                <a:solidFill>
                  <a:srgbClr val="595F6E"/>
                </a:solidFill>
                <a:latin typeface="Meiryo"/>
                <a:ea typeface="メイリオ"/>
              </a:rPr>
              <a:t>機材が届いたその日から本番に入れます。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なぜ「何回で終わるか」が読めないのか</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9</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210回のうち、自分の都合だけでは録れないものが揃っています。</a:t>
            </a:r>
          </a:p>
        </p:txBody>
      </p:sp>
      <p:sp>
        <p:nvSpPr>
          <p:cNvPr id="12" name="Rectangle 11"/>
          <p:cNvSpPr/>
          <p:nvPr/>
        </p:nvSpPr>
        <p:spPr>
          <a:xfrm>
            <a:off x="889000" y="1651000"/>
            <a:ext cx="33528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89000" y="1651000"/>
            <a:ext cx="3352800" cy="4445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2200" y="1854200"/>
            <a:ext cx="1905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天候を待つ</a:t>
            </a:r>
          </a:p>
        </p:txBody>
      </p:sp>
      <p:sp>
        <p:nvSpPr>
          <p:cNvPr id="15" name="TextBox 14"/>
          <p:cNvSpPr txBox="1"/>
          <p:nvPr/>
        </p:nvSpPr>
        <p:spPr>
          <a:xfrm>
            <a:off x="3048000" y="1803400"/>
            <a:ext cx="1016000" cy="355600"/>
          </a:xfrm>
          <a:prstGeom prst="rect">
            <a:avLst/>
          </a:prstGeom>
          <a:noFill/>
        </p:spPr>
        <p:txBody>
          <a:bodyPr wrap="square" anchor="t" lIns="25400" rIns="25400" tIns="12700" bIns="12700">
            <a:spAutoFit/>
          </a:bodyPr>
          <a:lstStyle/>
          <a:p>
            <a:pPr algn="r"/>
            <a:r>
              <a:rPr sz="2000" b="1">
                <a:solidFill>
                  <a:srgbClr val="C0392B"/>
                </a:solidFill>
                <a:latin typeface="Meiryo"/>
                <a:ea typeface="メイリオ"/>
              </a:rPr>
              <a:t>8本</a:t>
            </a:r>
          </a:p>
        </p:txBody>
      </p:sp>
      <p:sp>
        <p:nvSpPr>
          <p:cNvPr id="16" name="TextBox 15"/>
          <p:cNvSpPr txBox="1"/>
          <p:nvPr/>
        </p:nvSpPr>
        <p:spPr>
          <a:xfrm>
            <a:off x="1092200" y="2311400"/>
            <a:ext cx="2946400" cy="1270000"/>
          </a:xfrm>
          <a:prstGeom prst="rect">
            <a:avLst/>
          </a:prstGeom>
          <a:noFill/>
        </p:spPr>
        <p:txBody>
          <a:bodyPr wrap="square" anchor="t" lIns="25400" rIns="25400" tIns="12700" bIns="12700">
            <a:spAutoFit/>
          </a:bodyPr>
          <a:lstStyle/>
          <a:p>
            <a:pPr algn="l">
              <a:lnSpc>
                <a:spcPct val="150000"/>
              </a:lnSpc>
            </a:pPr>
            <a:r>
              <a:rPr sz="1050" b="0">
                <a:solidFill>
                  <a:srgbClr val="595F6E"/>
                </a:solidFill>
                <a:latin typeface="Meiryo"/>
                <a:ea typeface="メイリオ"/>
              </a:rPr>
              <a:t>雨上がり4本・風のある日4本を</a:t>
            </a:r>
          </a:p>
          <a:p>
            <a:pPr algn="l">
              <a:lnSpc>
                <a:spcPct val="150000"/>
              </a:lnSpc>
            </a:pPr>
            <a:r>
              <a:rPr sz="1050" b="0">
                <a:solidFill>
                  <a:srgbClr val="595F6E"/>
                </a:solidFill>
                <a:latin typeface="Meiryo"/>
                <a:ea typeface="メイリオ"/>
              </a:rPr>
              <a:t>録ると決めてあります</a:t>
            </a:r>
          </a:p>
          <a:p>
            <a:pPr algn="l">
              <a:lnSpc>
                <a:spcPct val="150000"/>
              </a:lnSpc>
            </a:pPr>
            <a:r>
              <a:rPr sz="1050" b="0">
                <a:solidFill>
                  <a:srgbClr val="595F6E"/>
                </a:solidFill>
                <a:latin typeface="Meiryo"/>
                <a:ea typeface="メイリオ"/>
              </a:rPr>
              <a:t>その天気になるまで録れません</a:t>
            </a:r>
          </a:p>
        </p:txBody>
      </p:sp>
      <p:sp>
        <p:nvSpPr>
          <p:cNvPr id="17" name="Rectangle 16"/>
          <p:cNvSpPr/>
          <p:nvPr/>
        </p:nvSpPr>
        <p:spPr>
          <a:xfrm>
            <a:off x="4419600" y="1651000"/>
            <a:ext cx="33528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419600" y="1651000"/>
            <a:ext cx="3352800" cy="4445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22800" y="1854200"/>
            <a:ext cx="1905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遭遇を待つ</a:t>
            </a:r>
          </a:p>
        </p:txBody>
      </p:sp>
      <p:sp>
        <p:nvSpPr>
          <p:cNvPr id="20" name="TextBox 19"/>
          <p:cNvSpPr txBox="1"/>
          <p:nvPr/>
        </p:nvSpPr>
        <p:spPr>
          <a:xfrm>
            <a:off x="6578600" y="1803400"/>
            <a:ext cx="1016000" cy="355600"/>
          </a:xfrm>
          <a:prstGeom prst="rect">
            <a:avLst/>
          </a:prstGeom>
          <a:noFill/>
        </p:spPr>
        <p:txBody>
          <a:bodyPr wrap="square" anchor="t" lIns="25400" rIns="25400" tIns="12700" bIns="12700">
            <a:spAutoFit/>
          </a:bodyPr>
          <a:lstStyle/>
          <a:p>
            <a:pPr algn="r"/>
            <a:r>
              <a:rPr sz="2000" b="1">
                <a:solidFill>
                  <a:srgbClr val="E0A526"/>
                </a:solidFill>
                <a:latin typeface="Meiryo"/>
                <a:ea typeface="メイリオ"/>
              </a:rPr>
              <a:t>8本</a:t>
            </a:r>
          </a:p>
        </p:txBody>
      </p:sp>
      <p:sp>
        <p:nvSpPr>
          <p:cNvPr id="21" name="TextBox 20"/>
          <p:cNvSpPr txBox="1"/>
          <p:nvPr/>
        </p:nvSpPr>
        <p:spPr>
          <a:xfrm>
            <a:off x="4622800" y="2311400"/>
            <a:ext cx="2946400" cy="1270000"/>
          </a:xfrm>
          <a:prstGeom prst="rect">
            <a:avLst/>
          </a:prstGeom>
          <a:noFill/>
        </p:spPr>
        <p:txBody>
          <a:bodyPr wrap="square" anchor="t" lIns="25400" rIns="25400" tIns="12700" bIns="12700">
            <a:spAutoFit/>
          </a:bodyPr>
          <a:lstStyle/>
          <a:p>
            <a:pPr algn="l">
              <a:lnSpc>
                <a:spcPct val="150000"/>
              </a:lnSpc>
            </a:pPr>
            <a:r>
              <a:rPr sz="1050" b="0">
                <a:solidFill>
                  <a:srgbClr val="595F6E"/>
                </a:solidFill>
                <a:latin typeface="Meiryo"/>
                <a:ea typeface="メイリオ"/>
              </a:rPr>
              <a:t>サイレン・クラクションは</a:t>
            </a:r>
          </a:p>
          <a:p>
            <a:pPr algn="l">
              <a:lnSpc>
                <a:spcPct val="150000"/>
              </a:lnSpc>
            </a:pPr>
            <a:r>
              <a:rPr sz="1050" b="0">
                <a:solidFill>
                  <a:srgbClr val="595F6E"/>
                </a:solidFill>
                <a:latin typeface="Meiryo"/>
                <a:ea typeface="メイリオ"/>
              </a:rPr>
              <a:t>自分では鳴らせません</a:t>
            </a:r>
          </a:p>
          <a:p>
            <a:pPr algn="l">
              <a:lnSpc>
                <a:spcPct val="150000"/>
              </a:lnSpc>
            </a:pPr>
            <a:r>
              <a:rPr sz="1050" b="0">
                <a:solidFill>
                  <a:srgbClr val="595F6E"/>
                </a:solidFill>
                <a:latin typeface="Meiryo"/>
                <a:ea typeface="メイリオ"/>
              </a:rPr>
              <a:t>「0本でも成立」と決めた枠です</a:t>
            </a:r>
          </a:p>
        </p:txBody>
      </p:sp>
      <p:sp>
        <p:nvSpPr>
          <p:cNvPr id="22" name="Rectangle 21"/>
          <p:cNvSpPr/>
          <p:nvPr/>
        </p:nvSpPr>
        <p:spPr>
          <a:xfrm>
            <a:off x="7950200" y="1651000"/>
            <a:ext cx="3352800" cy="2133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50200" y="1651000"/>
            <a:ext cx="33528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53400" y="1854200"/>
            <a:ext cx="1905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人の予定が要る</a:t>
            </a:r>
          </a:p>
        </p:txBody>
      </p:sp>
      <p:sp>
        <p:nvSpPr>
          <p:cNvPr id="25" name="TextBox 24"/>
          <p:cNvSpPr txBox="1"/>
          <p:nvPr/>
        </p:nvSpPr>
        <p:spPr>
          <a:xfrm>
            <a:off x="10109200" y="1803400"/>
            <a:ext cx="1016000" cy="355600"/>
          </a:xfrm>
          <a:prstGeom prst="rect">
            <a:avLst/>
          </a:prstGeom>
          <a:noFill/>
        </p:spPr>
        <p:txBody>
          <a:bodyPr wrap="square" anchor="t" lIns="25400" rIns="25400" tIns="12700" bIns="12700">
            <a:spAutoFit/>
          </a:bodyPr>
          <a:lstStyle/>
          <a:p>
            <a:pPr algn="r"/>
            <a:r>
              <a:rPr sz="2000" b="1">
                <a:solidFill>
                  <a:srgbClr val="7E6F98"/>
                </a:solidFill>
                <a:latin typeface="Meiryo"/>
                <a:ea typeface="メイリオ"/>
              </a:rPr>
              <a:t>10本</a:t>
            </a:r>
          </a:p>
        </p:txBody>
      </p:sp>
      <p:sp>
        <p:nvSpPr>
          <p:cNvPr id="26" name="TextBox 25"/>
          <p:cNvSpPr txBox="1"/>
          <p:nvPr/>
        </p:nvSpPr>
        <p:spPr>
          <a:xfrm>
            <a:off x="8153400" y="2311400"/>
            <a:ext cx="2946400" cy="1270000"/>
          </a:xfrm>
          <a:prstGeom prst="rect">
            <a:avLst/>
          </a:prstGeom>
          <a:noFill/>
        </p:spPr>
        <p:txBody>
          <a:bodyPr wrap="square" anchor="t" lIns="25400" rIns="25400" tIns="12700" bIns="12700">
            <a:spAutoFit/>
          </a:bodyPr>
          <a:lstStyle/>
          <a:p>
            <a:pPr algn="l">
              <a:lnSpc>
                <a:spcPct val="150000"/>
              </a:lnSpc>
            </a:pPr>
            <a:r>
              <a:rPr sz="1050" b="0">
                <a:solidFill>
                  <a:srgbClr val="595F6E"/>
                </a:solidFill>
                <a:latin typeface="Meiryo"/>
                <a:ea typeface="メイリオ"/>
              </a:rPr>
              <a:t>EV・HVの接近と停車→発進は</a:t>
            </a:r>
          </a:p>
          <a:p>
            <a:pPr algn="l">
              <a:lnSpc>
                <a:spcPct val="150000"/>
              </a:lnSpc>
            </a:pPr>
            <a:r>
              <a:rPr sz="1050" b="0">
                <a:solidFill>
                  <a:srgbClr val="595F6E"/>
                </a:solidFill>
                <a:latin typeface="Meiryo"/>
                <a:ea typeface="メイリオ"/>
              </a:rPr>
              <a:t>協力者に運転してもらいます</a:t>
            </a:r>
          </a:p>
          <a:p>
            <a:pPr algn="l">
              <a:lnSpc>
                <a:spcPct val="150000"/>
              </a:lnSpc>
            </a:pPr>
            <a:r>
              <a:rPr sz="1050" b="0">
                <a:solidFill>
                  <a:srgbClr val="595F6E"/>
                </a:solidFill>
                <a:latin typeface="Meiryo"/>
                <a:ea typeface="メイリオ"/>
              </a:rPr>
              <a:t>大学駐車場の許可も要ります</a:t>
            </a:r>
          </a:p>
        </p:txBody>
      </p:sp>
      <p:sp>
        <p:nvSpPr>
          <p:cNvPr id="27" name="Rectangle 26"/>
          <p:cNvSpPr/>
          <p:nvPr/>
        </p:nvSpPr>
        <p:spPr>
          <a:xfrm>
            <a:off x="889000" y="3987800"/>
            <a:ext cx="10414000" cy="8382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17600" y="4114800"/>
            <a:ext cx="10033000" cy="609600"/>
          </a:xfrm>
          <a:prstGeom prst="rect">
            <a:avLst/>
          </a:prstGeom>
          <a:noFill/>
        </p:spPr>
        <p:txBody>
          <a:bodyPr wrap="square" anchor="t" lIns="25400" rIns="25400" tIns="12700" bIns="12700">
            <a:spAutoFit/>
          </a:bodyPr>
          <a:lstStyle/>
          <a:p>
            <a:pPr algn="l">
              <a:lnSpc>
                <a:spcPct val="140000"/>
              </a:lnSpc>
            </a:pPr>
            <a:r>
              <a:rPr sz="1200" b="1">
                <a:solidFill>
                  <a:srgbClr val="222838"/>
                </a:solidFill>
                <a:latin typeface="Meiryo"/>
                <a:ea typeface="メイリオ"/>
              </a:rPr>
              <a:t>さらに、風速3m/sを超える日と雨の日は録らないと決めています。</a:t>
            </a:r>
          </a:p>
          <a:p>
            <a:pPr algn="l">
              <a:lnSpc>
                <a:spcPct val="140000"/>
              </a:lnSpc>
            </a:pPr>
            <a:r>
              <a:rPr sz="1150" b="0">
                <a:solidFill>
                  <a:srgbClr val="595F6E"/>
                </a:solidFill>
                <a:latin typeface="Meiryo"/>
                <a:ea typeface="メイリオ"/>
              </a:rPr>
              <a:t>9月から10月は台風と秋雨の時期です。借りている期間がまるごと空振りになることが、十分に起こり得ます。</a:t>
            </a:r>
          </a:p>
        </p:txBody>
      </p:sp>
      <p:sp>
        <p:nvSpPr>
          <p:cNvPr id="29" name="Rectangle 28"/>
          <p:cNvSpPr/>
          <p:nvPr/>
        </p:nvSpPr>
        <p:spPr>
          <a:xfrm>
            <a:off x="889000" y="5003800"/>
            <a:ext cx="10414000" cy="8128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89000" y="5003800"/>
            <a:ext cx="50800" cy="8128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17600" y="5130800"/>
            <a:ext cx="10033000" cy="609600"/>
          </a:xfrm>
          <a:prstGeom prst="rect">
            <a:avLst/>
          </a:prstGeom>
          <a:noFill/>
        </p:spPr>
        <p:txBody>
          <a:bodyPr wrap="square" anchor="t" lIns="25400" rIns="25400" tIns="12700" bIns="12700">
            <a:spAutoFit/>
          </a:bodyPr>
          <a:lstStyle/>
          <a:p>
            <a:pPr algn="l">
              <a:lnSpc>
                <a:spcPct val="140000"/>
              </a:lnSpc>
            </a:pPr>
            <a:r>
              <a:rPr sz="1250" b="1">
                <a:solidFill>
                  <a:srgbClr val="222838"/>
                </a:solidFill>
                <a:latin typeface="Meiryo"/>
                <a:ea typeface="メイリオ"/>
              </a:rPr>
              <a:t>つまり、210回は「まとめて3日で片づける」ことができません。</a:t>
            </a:r>
          </a:p>
          <a:p>
            <a:pPr algn="l">
              <a:lnSpc>
                <a:spcPct val="140000"/>
              </a:lnSpc>
            </a:pPr>
            <a:r>
              <a:rPr sz="1150" b="0">
                <a:solidFill>
                  <a:srgbClr val="595F6E"/>
                </a:solidFill>
                <a:latin typeface="Meiryo"/>
                <a:ea typeface="メイリオ"/>
              </a:rPr>
              <a:t>晴れた日・協力者の空いた日・雨上がりの日を、9月末から11月中旬にかけて拾い集める形になります。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58800" y="177800"/>
            <a:ext cx="17780" cy="65024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6600" y="584200"/>
            <a:ext cx="381000" cy="7620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81000"/>
            <a:ext cx="10033000" cy="508000"/>
          </a:xfrm>
          <a:prstGeom prst="rect">
            <a:avLst/>
          </a:prstGeom>
          <a:noFill/>
        </p:spPr>
        <p:txBody>
          <a:bodyPr wrap="square" anchor="t" lIns="25400" rIns="25400" tIns="12700" bIns="12700">
            <a:spAutoFit/>
          </a:bodyPr>
          <a:lstStyle/>
          <a:p>
            <a:pPr algn="l"/>
            <a:r>
              <a:rPr sz="2200" b="1" spc="250">
                <a:solidFill>
                  <a:srgbClr val="222838"/>
                </a:solidFill>
                <a:latin typeface="Meiryo"/>
                <a:ea typeface="メイリオ"/>
              </a:rPr>
              <a:t>お願い：マイクは「レンタル」ではなく「購入」で</a:t>
            </a:r>
          </a:p>
        </p:txBody>
      </p:sp>
      <p:sp>
        <p:nvSpPr>
          <p:cNvPr id="5" name="Rectangle 4"/>
          <p:cNvSpPr/>
          <p:nvPr/>
        </p:nvSpPr>
        <p:spPr>
          <a:xfrm>
            <a:off x="558800" y="1143000"/>
            <a:ext cx="11049000" cy="15240"/>
          </a:xfrm>
          <a:prstGeom prst="rect">
            <a:avLst/>
          </a:prstGeom>
          <a:solidFill>
            <a:srgbClr val="2228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6426200"/>
            <a:ext cx="1397000" cy="254000"/>
          </a:xfrm>
          <a:prstGeom prst="rect">
            <a:avLst/>
          </a:prstGeom>
          <a:noFill/>
        </p:spPr>
        <p:txBody>
          <a:bodyPr wrap="square" anchor="t" lIns="25400" rIns="25400" tIns="12700" bIns="12700">
            <a:spAutoFit/>
          </a:bodyPr>
          <a:lstStyle/>
          <a:p>
            <a:pPr algn="l"/>
            <a:r>
              <a:rPr sz="1100" b="0">
                <a:solidFill>
                  <a:srgbClr val="8A8F9A"/>
                </a:solidFill>
                <a:latin typeface="Meiryo"/>
                <a:ea typeface="メイリオ"/>
              </a:rPr>
              <a:t>2026/09/15</a:t>
            </a:r>
          </a:p>
        </p:txBody>
      </p:sp>
      <p:sp>
        <p:nvSpPr>
          <p:cNvPr id="7" name="Rectangle 6"/>
          <p:cNvSpPr/>
          <p:nvPr/>
        </p:nvSpPr>
        <p:spPr>
          <a:xfrm>
            <a:off x="4775200" y="6375400"/>
            <a:ext cx="8128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振り返り</a:t>
            </a:r>
          </a:p>
        </p:txBody>
      </p:sp>
      <p:sp>
        <p:nvSpPr>
          <p:cNvPr id="8" name="Rectangle 7"/>
          <p:cNvSpPr/>
          <p:nvPr/>
        </p:nvSpPr>
        <p:spPr>
          <a:xfrm>
            <a:off x="5689600" y="6375400"/>
            <a:ext cx="965200" cy="279400"/>
          </a:xfrm>
          <a:prstGeom prst="rect">
            <a:avLst/>
          </a:prstGeom>
          <a:solidFill>
            <a:srgbClr val="E8E8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0">
                <a:solidFill>
                  <a:srgbClr val="8A8F9A"/>
                </a:solidFill>
                <a:latin typeface="Meiryo"/>
                <a:ea typeface="メイリオ"/>
              </a:rPr>
              <a:t>実録の計画</a:t>
            </a:r>
          </a:p>
        </p:txBody>
      </p:sp>
      <p:sp>
        <p:nvSpPr>
          <p:cNvPr id="9" name="Rectangle 8"/>
          <p:cNvSpPr/>
          <p:nvPr/>
        </p:nvSpPr>
        <p:spPr>
          <a:xfrm>
            <a:off x="6756400" y="6375400"/>
            <a:ext cx="660400" cy="279400"/>
          </a:xfrm>
          <a:prstGeom prst="rect">
            <a:avLst/>
          </a:prstGeom>
          <a:solidFill>
            <a:srgbClr val="232B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050" b="1">
                <a:solidFill>
                  <a:srgbClr val="FFFFFF"/>
                </a:solidFill>
                <a:latin typeface="Meiryo"/>
                <a:ea typeface="メイリオ"/>
              </a:rPr>
              <a:t>お願い</a:t>
            </a:r>
          </a:p>
        </p:txBody>
      </p:sp>
      <p:sp>
        <p:nvSpPr>
          <p:cNvPr id="10" name="TextBox 9"/>
          <p:cNvSpPr txBox="1"/>
          <p:nvPr/>
        </p:nvSpPr>
        <p:spPr>
          <a:xfrm>
            <a:off x="11049000" y="6426200"/>
            <a:ext cx="508000" cy="254000"/>
          </a:xfrm>
          <a:prstGeom prst="rect">
            <a:avLst/>
          </a:prstGeom>
          <a:noFill/>
        </p:spPr>
        <p:txBody>
          <a:bodyPr wrap="square" anchor="t" lIns="25400" rIns="25400" tIns="12700" bIns="12700">
            <a:spAutoFit/>
          </a:bodyPr>
          <a:lstStyle/>
          <a:p>
            <a:pPr algn="r"/>
            <a:r>
              <a:rPr sz="1100" b="0">
                <a:solidFill>
                  <a:srgbClr val="8A8F9A"/>
                </a:solidFill>
                <a:latin typeface="Meiryo"/>
                <a:ea typeface="メイリオ"/>
              </a:rPr>
              <a:t>10</a:t>
            </a:r>
          </a:p>
        </p:txBody>
      </p:sp>
      <p:sp>
        <p:nvSpPr>
          <p:cNvPr id="11" name="TextBox 10"/>
          <p:cNvSpPr txBox="1"/>
          <p:nvPr/>
        </p:nvSpPr>
        <p:spPr>
          <a:xfrm>
            <a:off x="889000" y="1270000"/>
            <a:ext cx="10414000" cy="254000"/>
          </a:xfrm>
          <a:prstGeom prst="rect">
            <a:avLst/>
          </a:prstGeom>
          <a:noFill/>
        </p:spPr>
        <p:txBody>
          <a:bodyPr wrap="square" anchor="t" lIns="25400" rIns="25400" tIns="12700" bIns="12700">
            <a:spAutoFit/>
          </a:bodyPr>
          <a:lstStyle/>
          <a:p>
            <a:pPr algn="l"/>
            <a:r>
              <a:rPr sz="1200" b="0">
                <a:solidFill>
                  <a:srgbClr val="8A8F9A"/>
                </a:solidFill>
                <a:latin typeface="Meiryo"/>
                <a:ea typeface="メイリオ"/>
              </a:rPr>
              <a:t>前の4枚のとおり、天候と人の都合に合わせて、2か月半のあいだ何度も現場に出ることになります。</a:t>
            </a:r>
          </a:p>
        </p:txBody>
      </p:sp>
      <p:sp>
        <p:nvSpPr>
          <p:cNvPr id="12" name="Rectangle 11"/>
          <p:cNvSpPr/>
          <p:nvPr/>
        </p:nvSpPr>
        <p:spPr>
          <a:xfrm>
            <a:off x="889000" y="1676400"/>
            <a:ext cx="6413500" cy="990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66800" y="1803400"/>
            <a:ext cx="279400" cy="2794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1</a:t>
            </a:r>
          </a:p>
        </p:txBody>
      </p:sp>
      <p:sp>
        <p:nvSpPr>
          <p:cNvPr id="14" name="TextBox 13"/>
          <p:cNvSpPr txBox="1"/>
          <p:nvPr/>
        </p:nvSpPr>
        <p:spPr>
          <a:xfrm>
            <a:off x="1447800" y="1790700"/>
            <a:ext cx="5715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測定の条件がそろう</a:t>
            </a:r>
          </a:p>
        </p:txBody>
      </p:sp>
      <p:sp>
        <p:nvSpPr>
          <p:cNvPr id="15" name="TextBox 14"/>
          <p:cNvSpPr txBox="1"/>
          <p:nvPr/>
        </p:nvSpPr>
        <p:spPr>
          <a:xfrm>
            <a:off x="1447800" y="2070100"/>
            <a:ext cx="5715000" cy="5334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音量の基準合わせは、同じ1台なら最初に1回やれば210回すべてに通ります。借りると毎回ちがう個体になり、やり直すたびに測定条件が変わります。</a:t>
            </a:r>
          </a:p>
        </p:txBody>
      </p:sp>
      <p:sp>
        <p:nvSpPr>
          <p:cNvPr id="16" name="Rectangle 15"/>
          <p:cNvSpPr/>
          <p:nvPr/>
        </p:nvSpPr>
        <p:spPr>
          <a:xfrm>
            <a:off x="889000" y="2794000"/>
            <a:ext cx="6413500" cy="990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66800" y="2921000"/>
            <a:ext cx="279400" cy="2794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2</a:t>
            </a:r>
          </a:p>
        </p:txBody>
      </p:sp>
      <p:sp>
        <p:nvSpPr>
          <p:cNvPr id="18" name="TextBox 17"/>
          <p:cNvSpPr txBox="1"/>
          <p:nvPr/>
        </p:nvSpPr>
        <p:spPr>
          <a:xfrm>
            <a:off x="1447800" y="2908300"/>
            <a:ext cx="5715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天候と機会に合わせて、いつでも出られる</a:t>
            </a:r>
          </a:p>
        </p:txBody>
      </p:sp>
      <p:sp>
        <p:nvSpPr>
          <p:cNvPr id="19" name="TextBox 18"/>
          <p:cNvSpPr txBox="1"/>
          <p:nvPr/>
        </p:nvSpPr>
        <p:spPr>
          <a:xfrm>
            <a:off x="1447800" y="3187700"/>
            <a:ext cx="5715000" cy="5334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雨上がりの日も、風の日も、協力者の空いた日も、手元にあれば出られます。借りている期間に合わせて天気を待つことはできません。</a:t>
            </a:r>
          </a:p>
        </p:txBody>
      </p:sp>
      <p:sp>
        <p:nvSpPr>
          <p:cNvPr id="20" name="Rectangle 19"/>
          <p:cNvSpPr/>
          <p:nvPr/>
        </p:nvSpPr>
        <p:spPr>
          <a:xfrm>
            <a:off x="889000" y="3911600"/>
            <a:ext cx="6413500" cy="9906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66800" y="4038600"/>
            <a:ext cx="279400" cy="279400"/>
          </a:xfrm>
          <a:prstGeom prst="ellipse">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0" bIns="0"/>
          <a:lstStyle/>
          <a:p>
            <a:pPr algn="ctr"/>
            <a:r>
              <a:rPr sz="1200" b="1">
                <a:solidFill>
                  <a:srgbClr val="FFFFFF"/>
                </a:solidFill>
                <a:latin typeface="Meiryo"/>
                <a:ea typeface="メイリオ"/>
              </a:rPr>
              <a:t>3</a:t>
            </a:r>
          </a:p>
        </p:txBody>
      </p:sp>
      <p:sp>
        <p:nvSpPr>
          <p:cNvPr id="22" name="TextBox 21"/>
          <p:cNvSpPr txBox="1"/>
          <p:nvPr/>
        </p:nvSpPr>
        <p:spPr>
          <a:xfrm>
            <a:off x="1447800" y="4025900"/>
            <a:ext cx="5715000" cy="254000"/>
          </a:xfrm>
          <a:prstGeom prst="rect">
            <a:avLst/>
          </a:prstGeom>
          <a:noFill/>
        </p:spPr>
        <p:txBody>
          <a:bodyPr wrap="square" anchor="t" lIns="25400" rIns="25400" tIns="12700" bIns="12700">
            <a:spAutoFit/>
          </a:bodyPr>
          <a:lstStyle/>
          <a:p>
            <a:pPr algn="l"/>
            <a:r>
              <a:rPr sz="1300" b="1">
                <a:solidFill>
                  <a:srgbClr val="222838"/>
                </a:solidFill>
                <a:latin typeface="Meiryo"/>
                <a:ea typeface="メイリオ"/>
              </a:rPr>
              <a:t>修士の測定の基準器になる</a:t>
            </a:r>
          </a:p>
        </p:txBody>
      </p:sp>
      <p:sp>
        <p:nvSpPr>
          <p:cNvPr id="23" name="TextBox 22"/>
          <p:cNvSpPr txBox="1"/>
          <p:nvPr/>
        </p:nvSpPr>
        <p:spPr>
          <a:xfrm>
            <a:off x="1447800" y="4305300"/>
            <a:ext cx="5715000" cy="5334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修士でデバイスを作ると自前のマイクが要りますが、その正しさは較正済みの機材と同じ場面を録って突き合わせる以外に確かめようがありません。</a:t>
            </a:r>
          </a:p>
        </p:txBody>
      </p:sp>
      <p:sp>
        <p:nvSpPr>
          <p:cNvPr id="24" name="Rectangle 23"/>
          <p:cNvSpPr/>
          <p:nvPr/>
        </p:nvSpPr>
        <p:spPr>
          <a:xfrm>
            <a:off x="7594600" y="1676400"/>
            <a:ext cx="3708400" cy="3225800"/>
          </a:xfrm>
          <a:prstGeom prst="rect">
            <a:avLst/>
          </a:prstGeom>
          <a:solidFill>
            <a:srgbClr val="FFFFFF"/>
          </a:solidFill>
          <a:ln w="12700">
            <a:solidFill>
              <a:srgbClr val="C9CB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594600" y="1676400"/>
            <a:ext cx="3708400" cy="44450"/>
          </a:xfrm>
          <a:prstGeom prst="rect">
            <a:avLst/>
          </a:prstGeom>
          <a:solidFill>
            <a:srgbClr val="7E6F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97800" y="1854200"/>
            <a:ext cx="3302000" cy="279400"/>
          </a:xfrm>
          <a:prstGeom prst="rect">
            <a:avLst/>
          </a:prstGeom>
          <a:noFill/>
        </p:spPr>
        <p:txBody>
          <a:bodyPr wrap="square" anchor="t" lIns="25400" rIns="25400" tIns="12700" bIns="12700">
            <a:spAutoFit/>
          </a:bodyPr>
          <a:lstStyle/>
          <a:p>
            <a:pPr algn="l"/>
            <a:r>
              <a:rPr sz="1400" b="1">
                <a:solidFill>
                  <a:srgbClr val="222838"/>
                </a:solidFill>
                <a:latin typeface="Meiryo"/>
                <a:ea typeface="メイリオ"/>
              </a:rPr>
              <a:t>なぜこの機種なのか</a:t>
            </a:r>
          </a:p>
        </p:txBody>
      </p:sp>
      <p:sp>
        <p:nvSpPr>
          <p:cNvPr id="27" name="TextBox 26"/>
          <p:cNvSpPr txBox="1"/>
          <p:nvPr/>
        </p:nvSpPr>
        <p:spPr>
          <a:xfrm>
            <a:off x="7823200" y="2184400"/>
            <a:ext cx="3251200" cy="6096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上下も含めた4方向を同時に録れる機種は、ZOOMの現行品では2つだけです。</a:t>
            </a:r>
          </a:p>
        </p:txBody>
      </p:sp>
      <p:sp>
        <p:nvSpPr>
          <p:cNvPr id="28" name="Rectangle 27"/>
          <p:cNvSpPr/>
          <p:nvPr/>
        </p:nvSpPr>
        <p:spPr>
          <a:xfrm>
            <a:off x="7823200" y="2870200"/>
            <a:ext cx="3251200" cy="558800"/>
          </a:xfrm>
          <a:prstGeom prst="rect">
            <a:avLst/>
          </a:prstGeom>
          <a:solidFill>
            <a:srgbClr val="F5F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75600" y="2933700"/>
            <a:ext cx="2159000" cy="228600"/>
          </a:xfrm>
          <a:prstGeom prst="rect">
            <a:avLst/>
          </a:prstGeom>
          <a:noFill/>
        </p:spPr>
        <p:txBody>
          <a:bodyPr wrap="square" anchor="t" lIns="25400" rIns="25400" tIns="12700" bIns="12700">
            <a:spAutoFit/>
          </a:bodyPr>
          <a:lstStyle/>
          <a:p>
            <a:pPr algn="l"/>
            <a:r>
              <a:rPr sz="1150" b="1">
                <a:solidFill>
                  <a:srgbClr val="2E7D5B"/>
                </a:solidFill>
                <a:latin typeface="Meiryo"/>
                <a:ea typeface="メイリオ"/>
              </a:rPr>
              <a:t>H3-VR</a:t>
            </a:r>
          </a:p>
        </p:txBody>
      </p:sp>
      <p:sp>
        <p:nvSpPr>
          <p:cNvPr id="30" name="TextBox 29"/>
          <p:cNvSpPr txBox="1"/>
          <p:nvPr/>
        </p:nvSpPr>
        <p:spPr>
          <a:xfrm>
            <a:off x="10033000" y="2933700"/>
            <a:ext cx="889000" cy="228600"/>
          </a:xfrm>
          <a:prstGeom prst="rect">
            <a:avLst/>
          </a:prstGeom>
          <a:noFill/>
        </p:spPr>
        <p:txBody>
          <a:bodyPr wrap="square" anchor="t" lIns="25400" rIns="25400" tIns="12700" bIns="12700">
            <a:spAutoFit/>
          </a:bodyPr>
          <a:lstStyle/>
          <a:p>
            <a:pPr algn="r"/>
            <a:r>
              <a:rPr sz="1100" b="1">
                <a:solidFill>
                  <a:srgbClr val="2E7D5B"/>
                </a:solidFill>
                <a:latin typeface="Meiryo"/>
                <a:ea typeface="メイリオ"/>
              </a:rPr>
              <a:t>166g</a:t>
            </a:r>
          </a:p>
        </p:txBody>
      </p:sp>
      <p:sp>
        <p:nvSpPr>
          <p:cNvPr id="31" name="TextBox 30"/>
          <p:cNvSpPr txBox="1"/>
          <p:nvPr/>
        </p:nvSpPr>
        <p:spPr>
          <a:xfrm>
            <a:off x="7975600" y="3175000"/>
            <a:ext cx="2946400" cy="203200"/>
          </a:xfrm>
          <a:prstGeom prst="rect">
            <a:avLst/>
          </a:prstGeom>
          <a:noFill/>
        </p:spPr>
        <p:txBody>
          <a:bodyPr wrap="square" anchor="t" lIns="25400" rIns="25400" tIns="12700" bIns="12700">
            <a:spAutoFit/>
          </a:bodyPr>
          <a:lstStyle/>
          <a:p>
            <a:pPr algn="l"/>
            <a:r>
              <a:rPr sz="900" b="0">
                <a:solidFill>
                  <a:srgbClr val="8A8F9A"/>
                </a:solidFill>
                <a:latin typeface="Meiryo"/>
                <a:ea typeface="メイリオ"/>
              </a:rPr>
              <a:t>これ。4方向で録れる機種で最軽量</a:t>
            </a:r>
          </a:p>
        </p:txBody>
      </p:sp>
      <p:sp>
        <p:nvSpPr>
          <p:cNvPr id="32" name="Rectangle 31"/>
          <p:cNvSpPr/>
          <p:nvPr/>
        </p:nvSpPr>
        <p:spPr>
          <a:xfrm>
            <a:off x="7823200" y="3530600"/>
            <a:ext cx="3251200" cy="55880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75600" y="3594100"/>
            <a:ext cx="2159000" cy="228600"/>
          </a:xfrm>
          <a:prstGeom prst="rect">
            <a:avLst/>
          </a:prstGeom>
          <a:noFill/>
        </p:spPr>
        <p:txBody>
          <a:bodyPr wrap="square" anchor="t" lIns="25400" rIns="25400" tIns="12700" bIns="12700">
            <a:spAutoFit/>
          </a:bodyPr>
          <a:lstStyle/>
          <a:p>
            <a:pPr algn="l"/>
            <a:r>
              <a:rPr sz="1150" b="1">
                <a:solidFill>
                  <a:srgbClr val="8A8F9A"/>
                </a:solidFill>
                <a:latin typeface="Meiryo"/>
                <a:ea typeface="メイリオ"/>
              </a:rPr>
              <a:t>H8＋専用カプセル</a:t>
            </a:r>
          </a:p>
        </p:txBody>
      </p:sp>
      <p:sp>
        <p:nvSpPr>
          <p:cNvPr id="34" name="TextBox 33"/>
          <p:cNvSpPr txBox="1"/>
          <p:nvPr/>
        </p:nvSpPr>
        <p:spPr>
          <a:xfrm>
            <a:off x="10033000" y="3594100"/>
            <a:ext cx="889000" cy="228600"/>
          </a:xfrm>
          <a:prstGeom prst="rect">
            <a:avLst/>
          </a:prstGeom>
          <a:noFill/>
        </p:spPr>
        <p:txBody>
          <a:bodyPr wrap="square" anchor="t" lIns="25400" rIns="25400" tIns="12700" bIns="12700">
            <a:spAutoFit/>
          </a:bodyPr>
          <a:lstStyle/>
          <a:p>
            <a:pPr algn="r"/>
            <a:r>
              <a:rPr sz="1100" b="1">
                <a:solidFill>
                  <a:srgbClr val="8A8F9A"/>
                </a:solidFill>
                <a:latin typeface="Meiryo"/>
                <a:ea typeface="メイリオ"/>
              </a:rPr>
              <a:t>576g＋</a:t>
            </a:r>
          </a:p>
        </p:txBody>
      </p:sp>
      <p:sp>
        <p:nvSpPr>
          <p:cNvPr id="35" name="TextBox 34"/>
          <p:cNvSpPr txBox="1"/>
          <p:nvPr/>
        </p:nvSpPr>
        <p:spPr>
          <a:xfrm>
            <a:off x="7975600" y="3835400"/>
            <a:ext cx="2946400" cy="203200"/>
          </a:xfrm>
          <a:prstGeom prst="rect">
            <a:avLst/>
          </a:prstGeom>
          <a:noFill/>
        </p:spPr>
        <p:txBody>
          <a:bodyPr wrap="square" anchor="t" lIns="25400" rIns="25400" tIns="12700" bIns="12700">
            <a:spAutoFit/>
          </a:bodyPr>
          <a:lstStyle/>
          <a:p>
            <a:pPr algn="l"/>
            <a:r>
              <a:rPr sz="900" b="0">
                <a:solidFill>
                  <a:srgbClr val="8A8F9A"/>
                </a:solidFill>
                <a:latin typeface="Meiryo"/>
                <a:ea typeface="メイリオ"/>
              </a:rPr>
              <a:t>同じことはできるが、胸に着けるには重い</a:t>
            </a:r>
          </a:p>
        </p:txBody>
      </p:sp>
      <p:sp>
        <p:nvSpPr>
          <p:cNvPr id="36" name="TextBox 35"/>
          <p:cNvSpPr txBox="1"/>
          <p:nvPr/>
        </p:nvSpPr>
        <p:spPr>
          <a:xfrm>
            <a:off x="7823200" y="4241800"/>
            <a:ext cx="3251200" cy="711200"/>
          </a:xfrm>
          <a:prstGeom prst="rect">
            <a:avLst/>
          </a:prstGeom>
          <a:noFill/>
        </p:spPr>
        <p:txBody>
          <a:bodyPr wrap="square" anchor="t" lIns="25400" rIns="25400" tIns="12700" bIns="12700">
            <a:spAutoFit/>
          </a:bodyPr>
          <a:lstStyle/>
          <a:p>
            <a:pPr algn="l">
              <a:lnSpc>
                <a:spcPct val="135000"/>
              </a:lnSpc>
            </a:pPr>
            <a:r>
              <a:rPr sz="1050" b="0">
                <a:solidFill>
                  <a:srgbClr val="595F6E"/>
                </a:solidFill>
                <a:latin typeface="Meiryo"/>
                <a:ea typeface="メイリオ"/>
              </a:rPr>
              <a:t>ほかの機種は全部ステレオ方式で、</a:t>
            </a:r>
          </a:p>
          <a:p>
            <a:pPr algn="l">
              <a:lnSpc>
                <a:spcPct val="135000"/>
              </a:lnSpc>
            </a:pPr>
            <a:r>
              <a:rPr sz="1050" b="1">
                <a:solidFill>
                  <a:srgbClr val="C0392B"/>
                </a:solidFill>
                <a:latin typeface="Meiryo"/>
                <a:ea typeface="メイリオ"/>
              </a:rPr>
              <a:t>高さの軸がありません。</a:t>
            </a:r>
            <a:r>
              <a:rPr sz="1050" b="0">
                <a:solidFill>
                  <a:srgbClr val="595F6E"/>
                </a:solidFill>
                <a:latin typeface="Meiryo"/>
                <a:ea typeface="メイリオ"/>
              </a:rPr>
              <a:t>学習に使ったデータと形式が合わず、モデルに入力できません。</a:t>
            </a:r>
          </a:p>
        </p:txBody>
      </p:sp>
      <p:sp>
        <p:nvSpPr>
          <p:cNvPr id="37" name="Rectangle 36"/>
          <p:cNvSpPr/>
          <p:nvPr/>
        </p:nvSpPr>
        <p:spPr>
          <a:xfrm>
            <a:off x="889000" y="5054600"/>
            <a:ext cx="10414000" cy="762000"/>
          </a:xfrm>
          <a:prstGeom prst="rect">
            <a:avLst/>
          </a:prstGeom>
          <a:solidFill>
            <a:srgbClr val="FDF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89000" y="5054600"/>
            <a:ext cx="50800" cy="762000"/>
          </a:xfrm>
          <a:prstGeom prst="rect">
            <a:avLst/>
          </a:prstGeom>
          <a:solidFill>
            <a:srgbClr val="E0A5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17600" y="5156200"/>
            <a:ext cx="10033000" cy="584200"/>
          </a:xfrm>
          <a:prstGeom prst="rect">
            <a:avLst/>
          </a:prstGeom>
          <a:noFill/>
        </p:spPr>
        <p:txBody>
          <a:bodyPr wrap="square" anchor="t" lIns="25400" rIns="25400" tIns="12700" bIns="12700">
            <a:spAutoFit/>
          </a:bodyPr>
          <a:lstStyle/>
          <a:p>
            <a:pPr algn="l">
              <a:lnSpc>
                <a:spcPct val="145000"/>
              </a:lnSpc>
            </a:pPr>
            <a:r>
              <a:rPr sz="1150" b="0">
                <a:solidFill>
                  <a:srgbClr val="595F6E"/>
                </a:solidFill>
                <a:latin typeface="Meiryo"/>
                <a:ea typeface="メイリオ"/>
              </a:rPr>
              <a:t>承認をいただけたら、すぐ発注して9月末に受け取り、動作確認とリハーサルを経て10月から本番に入ります。</a:t>
            </a:r>
          </a:p>
          <a:p>
            <a:pPr algn="l">
              <a:lnSpc>
                <a:spcPct val="145000"/>
              </a:lnSpc>
            </a:pPr>
            <a:r>
              <a:rPr sz="1150" b="1">
                <a:solidFill>
                  <a:srgbClr val="222838"/>
                </a:solidFill>
                <a:latin typeface="Meiryo"/>
                <a:ea typeface="メイリオ"/>
              </a:rPr>
              <a:t>12月末までに解析まで終える計画です。1月からは執筆に専念します。</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