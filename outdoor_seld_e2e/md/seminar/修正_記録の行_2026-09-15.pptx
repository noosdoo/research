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" name="Rectangle 1">
            <a:extLst>
              <a:ext uri="{FF2B5EF4-FFF2-40B4-BE49-F238E27FC236}">
                <a16:creationId xmlns:a16="http://schemas.microsoft.com/office/drawing/2014/main" id="{C1E4C875-3EAD-7D9B-25FC-3997F8636655}"/>
              </a:ext>
            </a:extLst>
          </p:cNvPr>
          <p:cNvSpPr/>
          <p:nvPr/>
        </p:nvSpPr>
        <p:spPr>
          <a:xfrm>
            <a:off x="1335617" y="4013420"/>
            <a:ext cx="9520765" cy="21917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7E353D54-93A5-02C1-7E54-D04F00B15D62}"/>
              </a:ext>
            </a:extLst>
          </p:cNvPr>
          <p:cNvSpPr/>
          <p:nvPr/>
        </p:nvSpPr>
        <p:spPr>
          <a:xfrm>
            <a:off x="889000" y="1624533"/>
            <a:ext cx="5080000" cy="2275995"/>
          </a:xfrm>
          <a:prstGeom prst="rect">
            <a:avLst/>
          </a:prstGeom>
          <a:solidFill>
            <a:srgbClr val="F5F4F7"/>
          </a:solidFill>
          <a:ln w="12700">
            <a:solidFill>
              <a:srgbClr val="D8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Rectangle 26">
            <a:extLst>
              <a:ext uri="{FF2B5EF4-FFF2-40B4-BE49-F238E27FC236}">
                <a16:creationId xmlns:a16="http://schemas.microsoft.com/office/drawing/2014/main" id="{38C0453D-78BE-0279-F982-B8ABEAB46810}"/>
              </a:ext>
            </a:extLst>
          </p:cNvPr>
          <p:cNvSpPr/>
          <p:nvPr/>
        </p:nvSpPr>
        <p:spPr>
          <a:xfrm>
            <a:off x="6223000" y="1624533"/>
            <a:ext cx="5080000" cy="2275995"/>
          </a:xfrm>
          <a:prstGeom prst="rect">
            <a:avLst/>
          </a:prstGeom>
          <a:solidFill>
            <a:srgbClr val="FCF8EF"/>
          </a:solidFill>
          <a:ln w="12700">
            <a:solidFill>
              <a:srgbClr val="F5E4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C22F2EB-0639-2CD3-9CE0-067863B6F2CE}"/>
              </a:ext>
            </a:extLst>
          </p:cNvPr>
          <p:cNvSpPr/>
          <p:nvPr/>
        </p:nvSpPr>
        <p:spPr>
          <a:xfrm>
            <a:off x="488325" y="0"/>
            <a:ext cx="0" cy="685800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211A0459-C23E-B5C0-A549-BDBEAC2BEBC7}"/>
              </a:ext>
            </a:extLst>
          </p:cNvPr>
          <p:cNvSpPr/>
          <p:nvPr/>
        </p:nvSpPr>
        <p:spPr>
          <a:xfrm flipV="1">
            <a:off x="0" y="913267"/>
            <a:ext cx="12192000" cy="0"/>
          </a:xfrm>
          <a:prstGeom prst="line">
            <a:avLst/>
          </a:prstGeom>
          <a:ln w="19050" cap="flat">
            <a:solidFill>
              <a:srgbClr val="5347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8A409C1-CE64-3726-E9D9-18FA94EBE7A1}"/>
              </a:ext>
            </a:extLst>
          </p:cNvPr>
          <p:cNvGrpSpPr/>
          <p:nvPr/>
        </p:nvGrpSpPr>
        <p:grpSpPr>
          <a:xfrm>
            <a:off x="347001" y="411790"/>
            <a:ext cx="591239" cy="89687"/>
            <a:chOff x="0" y="0"/>
            <a:chExt cx="233576" cy="35432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3A2DBBE-04BB-226C-296E-89D6631BC76C}"/>
                </a:ext>
              </a:extLst>
            </p:cNvPr>
            <p:cNvSpPr/>
            <p:nvPr/>
          </p:nvSpPr>
          <p:spPr>
            <a:xfrm>
              <a:off x="0" y="0"/>
              <a:ext cx="233576" cy="35432"/>
            </a:xfrm>
            <a:custGeom>
              <a:avLst/>
              <a:gdLst/>
              <a:ahLst/>
              <a:cxnLst/>
              <a:rect l="l" t="t" r="r" b="b"/>
              <a:pathLst>
                <a:path w="233576" h="35432">
                  <a:moveTo>
                    <a:pt x="0" y="0"/>
                  </a:moveTo>
                  <a:lnTo>
                    <a:pt x="233576" y="0"/>
                  </a:lnTo>
                  <a:lnTo>
                    <a:pt x="233576" y="35432"/>
                  </a:lnTo>
                  <a:lnTo>
                    <a:pt x="0" y="35432"/>
                  </a:lnTo>
                  <a:close/>
                </a:path>
              </a:pathLst>
            </a:custGeom>
            <a:gradFill rotWithShape="1">
              <a:gsLst>
                <a:gs pos="0">
                  <a:srgbClr val="53476B">
                    <a:alpha val="100000"/>
                  </a:srgbClr>
                </a:gs>
                <a:gs pos="100000">
                  <a:srgbClr val="A098B0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6F9028D-D1B9-B54B-6C7F-5FCE8C6DB833}"/>
                </a:ext>
              </a:extLst>
            </p:cNvPr>
            <p:cNvSpPr txBox="1"/>
            <p:nvPr/>
          </p:nvSpPr>
          <p:spPr>
            <a:xfrm>
              <a:off x="0" y="-219075"/>
              <a:ext cx="233576" cy="25450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8D6EDA3-2E08-EDE6-0FBE-68E2BBB765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760"/>
          </a:xfrm>
        </p:spPr>
        <p:txBody>
          <a:bodyPr/>
          <a:lstStyle/>
          <a:p>
            <a:r>
              <a:rPr kumimoji="1" lang="en-US" altLang="ja-JP"/>
              <a:t>2026/09/15</a:t>
            </a:r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387E5B91-1DEA-105B-23F4-E8752DDF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760"/>
          </a:xfrm>
        </p:spPr>
        <p:txBody>
          <a:bodyPr/>
          <a:lstStyle/>
          <a:p>
            <a:fld id="{4E9148DC-F7ED-4428-85F4-2C78C4B0CFB7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24" name="TextBox 13">
            <a:extLst>
              <a:ext uri="{FF2B5EF4-FFF2-40B4-BE49-F238E27FC236}">
                <a16:creationId xmlns:a16="http://schemas.microsoft.com/office/drawing/2014/main" id="{DC7E5370-DB50-4DC4-266E-CB38F3B60FF2}"/>
              </a:ext>
            </a:extLst>
          </p:cNvPr>
          <p:cNvSpPr txBox="1"/>
          <p:nvPr/>
        </p:nvSpPr>
        <p:spPr>
          <a:xfrm>
            <a:off x="1079564" y="179367"/>
            <a:ext cx="1045929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46"/>
              </a:lnSpc>
            </a:pPr>
            <a:r>
              <a:rPr lang="ja-JP" altLang="en-US" sz="3200" b="1" spc="679" dirty="0">
                <a:latin typeface="メイリオ" panose="020B0604030504040204" pitchFamily="50" charset="-128"/>
                <a:ea typeface="メイリオ" panose="020B0604030504040204" pitchFamily="50" charset="-128"/>
                <a:cs typeface="Noto Sans JP Medium"/>
                <a:sym typeface="Noto Sans JP Medium"/>
              </a:rPr>
              <a:t>どこで、どんな条件で録るのか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7E9EF3-3018-FD94-2167-31C7F23D7ED4}"/>
              </a:ext>
            </a:extLst>
          </p:cNvPr>
          <p:cNvSpPr txBox="1"/>
          <p:nvPr/>
        </p:nvSpPr>
        <p:spPr>
          <a:xfrm>
            <a:off x="889000" y="1179968"/>
            <a:ext cx="104140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6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場所を変えないと録れない音があり、天候の条件も決めて</a:t>
            </a:r>
            <a:r>
              <a:rPr lang="ja-JP" altLang="en-US" sz="16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ある。</a:t>
            </a:r>
            <a:endParaRPr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0D5FB51D-99F3-EDF7-2DA4-021AB2EF7C94}"/>
              </a:ext>
            </a:extLst>
          </p:cNvPr>
          <p:cNvSpPr txBox="1"/>
          <p:nvPr/>
        </p:nvSpPr>
        <p:spPr>
          <a:xfrm>
            <a:off x="1002550" y="1803400"/>
            <a:ext cx="46736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6か所を回</a:t>
            </a:r>
            <a:r>
              <a:rPr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る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499AD3C5-28D9-CCDE-F76A-1013D4AE075B}"/>
              </a:ext>
            </a:extLst>
          </p:cNvPr>
          <p:cNvSpPr txBox="1"/>
          <p:nvPr/>
        </p:nvSpPr>
        <p:spPr>
          <a:xfrm>
            <a:off x="1002550" y="2177705"/>
            <a:ext cx="4445000" cy="156607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79388" indent="-179388" algn="l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sz="14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静かな道</a:t>
            </a:r>
            <a:r>
              <a:rPr 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</a:t>
            </a:r>
            <a:r>
              <a:rPr sz="14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交通量の少ない住宅路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)</a:t>
            </a:r>
            <a:endParaRPr lang="en-US"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9388" indent="-1793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交通量の多い道</a:t>
            </a:r>
            <a:r>
              <a:rPr lang="en-US" altLang="ja-JP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</a:t>
            </a: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車・バイク</a:t>
            </a:r>
            <a:r>
              <a:rPr lang="en-US" altLang="ja-JP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)</a:t>
            </a:r>
          </a:p>
          <a:p>
            <a:pPr marL="179388" indent="-1793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繁華街</a:t>
            </a:r>
            <a:r>
              <a:rPr lang="en-US" altLang="ja-JP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</a:t>
            </a: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雑踏＝鳴ってはいけない場面</a:t>
            </a:r>
            <a:r>
              <a:rPr lang="en-US" altLang="ja-JP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)</a:t>
            </a:r>
          </a:p>
          <a:p>
            <a:pPr marL="179388" indent="-1793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工事現場の近く</a:t>
            </a:r>
            <a:r>
              <a:rPr lang="en-US" altLang="ja-JP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</a:t>
            </a: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高い騒音</a:t>
            </a:r>
            <a:r>
              <a:rPr lang="en-US" altLang="ja-JP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)</a:t>
            </a:r>
          </a:p>
          <a:p>
            <a:pPr marL="179388" indent="-1793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見通しの悪い角</a:t>
            </a:r>
            <a:r>
              <a:rPr lang="en-US" altLang="ja-JP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</a:t>
            </a: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塀のある交差点</a:t>
            </a:r>
            <a:r>
              <a:rPr lang="en-US" altLang="ja-JP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)</a:t>
            </a:r>
          </a:p>
          <a:p>
            <a:pPr marL="179388" indent="-179388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実在の踏切</a:t>
            </a:r>
            <a:r>
              <a:rPr lang="en-US" altLang="ja-JP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(</a:t>
            </a: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時刻表どおり＝確実</a:t>
            </a:r>
            <a:r>
              <a:rPr lang="en-US" altLang="ja-JP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)</a:t>
            </a:r>
            <a:endParaRPr lang="ja-JP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54" name="TextBox 28">
            <a:extLst>
              <a:ext uri="{FF2B5EF4-FFF2-40B4-BE49-F238E27FC236}">
                <a16:creationId xmlns:a16="http://schemas.microsoft.com/office/drawing/2014/main" id="{A123724D-E5D3-37B0-35BF-84FBD9C12264}"/>
              </a:ext>
            </a:extLst>
          </p:cNvPr>
          <p:cNvSpPr txBox="1"/>
          <p:nvPr/>
        </p:nvSpPr>
        <p:spPr>
          <a:xfrm>
            <a:off x="6336550" y="1803400"/>
            <a:ext cx="46736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録るとき</a:t>
            </a:r>
            <a:r>
              <a:rPr lang="ja-JP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のルール</a:t>
            </a:r>
            <a:endParaRPr b="1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58" name="TextBox 30">
            <a:extLst>
              <a:ext uri="{FF2B5EF4-FFF2-40B4-BE49-F238E27FC236}">
                <a16:creationId xmlns:a16="http://schemas.microsoft.com/office/drawing/2014/main" id="{19A11EC3-0804-9CFF-0538-CB7F5831FB08}"/>
              </a:ext>
            </a:extLst>
          </p:cNvPr>
          <p:cNvSpPr txBox="1"/>
          <p:nvPr/>
        </p:nvSpPr>
        <p:spPr>
          <a:xfrm>
            <a:off x="6336550" y="2133600"/>
            <a:ext cx="5130800" cy="116204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marL="179388" indent="-179388" algn="l">
              <a:lnSpc>
                <a:spcPct val="134000"/>
              </a:lnSpc>
              <a:buFont typeface="Wingdings" panose="05000000000000000000" pitchFamily="2" charset="2"/>
              <a:buChar char="Ø"/>
            </a:pP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中止の基準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 : 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風速</a:t>
            </a:r>
            <a:r>
              <a:rPr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3m/</a:t>
            </a:r>
            <a:r>
              <a:rPr sz="14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sを超える日と雨の日は録らない</a:t>
            </a:r>
            <a:endParaRPr lang="en-US"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9388" indent="-179388" algn="l">
              <a:lnSpc>
                <a:spcPct val="134000"/>
              </a:lnSpc>
              <a:buFont typeface="Wingdings" panose="05000000000000000000" pitchFamily="2" charset="2"/>
              <a:buChar char="Ø"/>
            </a:pP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装着 </a:t>
            </a:r>
            <a:r>
              <a:rPr lang="en-US" altLang="ja-JP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:</a:t>
            </a: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ヘルメット。静止で統一、歩行対比だけ歩行</a:t>
            </a:r>
            <a:r>
              <a:rPr lang="ja-JP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。</a:t>
            </a:r>
            <a:endParaRPr lang="en-US" altLang="ja-JP"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9388" indent="-179388" algn="l">
              <a:lnSpc>
                <a:spcPct val="134000"/>
              </a:lnSpc>
              <a:buFont typeface="Wingdings" panose="05000000000000000000" pitchFamily="2" charset="2"/>
              <a:buChar char="Ø"/>
            </a:pP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録音設定 </a:t>
            </a:r>
            <a:r>
              <a:rPr lang="en-US" altLang="ja-JP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: </a:t>
            </a: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家で全部固定。現地で押すのは録音ボタンのみ。</a:t>
            </a:r>
            <a:endParaRPr lang="en-US" altLang="ja-JP" sz="14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メイリオ"/>
            </a:endParaRPr>
          </a:p>
          <a:p>
            <a:pPr marL="179388" indent="-179388" algn="l">
              <a:lnSpc>
                <a:spcPct val="134000"/>
              </a:lnSpc>
              <a:buFont typeface="Wingdings" panose="05000000000000000000" pitchFamily="2" charset="2"/>
              <a:buChar char="Ø"/>
            </a:pPr>
            <a:r>
              <a:rPr lang="ja-JP" altLang="en-US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記録 </a:t>
            </a:r>
            <a:r>
              <a:rPr lang="en-US" altLang="ja-JP" sz="14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メイリオ"/>
              </a:rPr>
              <a:t>: 1件ごとに向き・車種・速度・横距離をスマホに手打ち</a:t>
            </a:r>
          </a:p>
        </p:txBody>
      </p:sp>
      <p:sp>
        <p:nvSpPr>
          <p:cNvPr id="92" name="TextBox 2">
            <a:extLst>
              <a:ext uri="{FF2B5EF4-FFF2-40B4-BE49-F238E27FC236}">
                <a16:creationId xmlns:a16="http://schemas.microsoft.com/office/drawing/2014/main" id="{0CABE6CF-D337-EE10-E7DF-A4064334964C}"/>
              </a:ext>
            </a:extLst>
          </p:cNvPr>
          <p:cNvSpPr txBox="1"/>
          <p:nvPr/>
        </p:nvSpPr>
        <p:spPr>
          <a:xfrm>
            <a:off x="1693651" y="4122459"/>
            <a:ext cx="2540000" cy="30264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b="1" dirty="0" err="1">
                <a:solidFill>
                  <a:srgbClr val="222838"/>
                </a:solidFill>
                <a:latin typeface="Meiryo"/>
                <a:ea typeface="メイリオ"/>
              </a:rPr>
              <a:t>記録方法</a:t>
            </a:r>
            <a:endParaRPr b="1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93" name="TextBox 3">
            <a:extLst>
              <a:ext uri="{FF2B5EF4-FFF2-40B4-BE49-F238E27FC236}">
                <a16:creationId xmlns:a16="http://schemas.microsoft.com/office/drawing/2014/main" id="{398AE26E-956F-F0DB-EA0C-DC10494EA6E0}"/>
              </a:ext>
            </a:extLst>
          </p:cNvPr>
          <p:cNvSpPr txBox="1"/>
          <p:nvPr/>
        </p:nvSpPr>
        <p:spPr>
          <a:xfrm>
            <a:off x="4218517" y="4228568"/>
            <a:ext cx="36068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400" b="0" dirty="0">
                <a:solidFill>
                  <a:schemeClr val="bg2">
                    <a:lumMod val="50000"/>
                  </a:schemeClr>
                </a:solidFill>
                <a:latin typeface="Meiryo"/>
                <a:ea typeface="メイリオ"/>
              </a:rPr>
              <a:t>速度：徐行〜約30km/h</a:t>
            </a:r>
          </a:p>
        </p:txBody>
      </p:sp>
      <p:sp>
        <p:nvSpPr>
          <p:cNvPr id="94" name="Rectangle 4">
            <a:extLst>
              <a:ext uri="{FF2B5EF4-FFF2-40B4-BE49-F238E27FC236}">
                <a16:creationId xmlns:a16="http://schemas.microsoft.com/office/drawing/2014/main" id="{88BE6046-A6FD-1964-84FB-59B0580E1786}"/>
              </a:ext>
            </a:extLst>
          </p:cNvPr>
          <p:cNvSpPr/>
          <p:nvPr/>
        </p:nvSpPr>
        <p:spPr>
          <a:xfrm>
            <a:off x="1519758" y="4463206"/>
            <a:ext cx="9141892" cy="685800"/>
          </a:xfrm>
          <a:prstGeom prst="rect">
            <a:avLst/>
          </a:prstGeom>
          <a:solidFill>
            <a:srgbClr val="C2C7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5" name="Rectangle 5">
            <a:extLst>
              <a:ext uri="{FF2B5EF4-FFF2-40B4-BE49-F238E27FC236}">
                <a16:creationId xmlns:a16="http://schemas.microsoft.com/office/drawing/2014/main" id="{E0134501-B8E6-A91C-59C9-82BC8F4A6B84}"/>
              </a:ext>
            </a:extLst>
          </p:cNvPr>
          <p:cNvSpPr/>
          <p:nvPr/>
        </p:nvSpPr>
        <p:spPr>
          <a:xfrm>
            <a:off x="1519758" y="5149006"/>
            <a:ext cx="9141892" cy="76200"/>
          </a:xfrm>
          <a:prstGeom prst="rect">
            <a:avLst/>
          </a:prstGeom>
          <a:solidFill>
            <a:srgbClr val="979D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6" name="Rectangle 6">
            <a:extLst>
              <a:ext uri="{FF2B5EF4-FFF2-40B4-BE49-F238E27FC236}">
                <a16:creationId xmlns:a16="http://schemas.microsoft.com/office/drawing/2014/main" id="{D62EB866-25BB-5450-21BE-070C941EE76C}"/>
              </a:ext>
            </a:extLst>
          </p:cNvPr>
          <p:cNvSpPr/>
          <p:nvPr/>
        </p:nvSpPr>
        <p:spPr>
          <a:xfrm>
            <a:off x="1519758" y="5225206"/>
            <a:ext cx="9141892" cy="585276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7" name="Rectangle 7">
            <a:extLst>
              <a:ext uri="{FF2B5EF4-FFF2-40B4-BE49-F238E27FC236}">
                <a16:creationId xmlns:a16="http://schemas.microsoft.com/office/drawing/2014/main" id="{A1ECBF5E-AEA4-A620-C422-59CA59FECB51}"/>
              </a:ext>
            </a:extLst>
          </p:cNvPr>
          <p:cNvSpPr/>
          <p:nvPr/>
        </p:nvSpPr>
        <p:spPr>
          <a:xfrm>
            <a:off x="18182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8" name="Rectangle 8">
            <a:extLst>
              <a:ext uri="{FF2B5EF4-FFF2-40B4-BE49-F238E27FC236}">
                <a16:creationId xmlns:a16="http://schemas.microsoft.com/office/drawing/2014/main" id="{D0E6EBD1-B115-2E9E-ED74-CCA12CB7C917}"/>
              </a:ext>
            </a:extLst>
          </p:cNvPr>
          <p:cNvSpPr/>
          <p:nvPr/>
        </p:nvSpPr>
        <p:spPr>
          <a:xfrm>
            <a:off x="24024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99" name="Rectangle 9">
            <a:extLst>
              <a:ext uri="{FF2B5EF4-FFF2-40B4-BE49-F238E27FC236}">
                <a16:creationId xmlns:a16="http://schemas.microsoft.com/office/drawing/2014/main" id="{F302E65C-7089-C6FC-C922-EED08E5BDB43}"/>
              </a:ext>
            </a:extLst>
          </p:cNvPr>
          <p:cNvSpPr/>
          <p:nvPr/>
        </p:nvSpPr>
        <p:spPr>
          <a:xfrm>
            <a:off x="29866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0" name="Rectangle 10">
            <a:extLst>
              <a:ext uri="{FF2B5EF4-FFF2-40B4-BE49-F238E27FC236}">
                <a16:creationId xmlns:a16="http://schemas.microsoft.com/office/drawing/2014/main" id="{E0FA3D0C-EB2F-DE42-55DF-BE60BEC282AD}"/>
              </a:ext>
            </a:extLst>
          </p:cNvPr>
          <p:cNvSpPr/>
          <p:nvPr/>
        </p:nvSpPr>
        <p:spPr>
          <a:xfrm>
            <a:off x="35708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1" name="Rectangle 11">
            <a:extLst>
              <a:ext uri="{FF2B5EF4-FFF2-40B4-BE49-F238E27FC236}">
                <a16:creationId xmlns:a16="http://schemas.microsoft.com/office/drawing/2014/main" id="{9D4ECE65-2B97-CC0A-A97F-A0CCE6756A24}"/>
              </a:ext>
            </a:extLst>
          </p:cNvPr>
          <p:cNvSpPr/>
          <p:nvPr/>
        </p:nvSpPr>
        <p:spPr>
          <a:xfrm>
            <a:off x="41550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2" name="Rectangle 12">
            <a:extLst>
              <a:ext uri="{FF2B5EF4-FFF2-40B4-BE49-F238E27FC236}">
                <a16:creationId xmlns:a16="http://schemas.microsoft.com/office/drawing/2014/main" id="{7CB937C5-151D-EA87-CE16-C2BF06503681}"/>
              </a:ext>
            </a:extLst>
          </p:cNvPr>
          <p:cNvSpPr/>
          <p:nvPr/>
        </p:nvSpPr>
        <p:spPr>
          <a:xfrm>
            <a:off x="47392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3" name="Rectangle 13">
            <a:extLst>
              <a:ext uri="{FF2B5EF4-FFF2-40B4-BE49-F238E27FC236}">
                <a16:creationId xmlns:a16="http://schemas.microsoft.com/office/drawing/2014/main" id="{D197C25D-7DAE-6E36-D315-D1F0804D736E}"/>
              </a:ext>
            </a:extLst>
          </p:cNvPr>
          <p:cNvSpPr/>
          <p:nvPr/>
        </p:nvSpPr>
        <p:spPr>
          <a:xfrm>
            <a:off x="53234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4" name="Rectangle 14">
            <a:extLst>
              <a:ext uri="{FF2B5EF4-FFF2-40B4-BE49-F238E27FC236}">
                <a16:creationId xmlns:a16="http://schemas.microsoft.com/office/drawing/2014/main" id="{A8741FE7-F43D-8A98-C3DD-ACF17788EAF7}"/>
              </a:ext>
            </a:extLst>
          </p:cNvPr>
          <p:cNvSpPr/>
          <p:nvPr/>
        </p:nvSpPr>
        <p:spPr>
          <a:xfrm>
            <a:off x="59076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5" name="Rectangle 15">
            <a:extLst>
              <a:ext uri="{FF2B5EF4-FFF2-40B4-BE49-F238E27FC236}">
                <a16:creationId xmlns:a16="http://schemas.microsoft.com/office/drawing/2014/main" id="{76C32C0D-2D8F-CDF9-8053-117E48620FD6}"/>
              </a:ext>
            </a:extLst>
          </p:cNvPr>
          <p:cNvSpPr/>
          <p:nvPr/>
        </p:nvSpPr>
        <p:spPr>
          <a:xfrm>
            <a:off x="64918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6" name="Rectangle 16">
            <a:extLst>
              <a:ext uri="{FF2B5EF4-FFF2-40B4-BE49-F238E27FC236}">
                <a16:creationId xmlns:a16="http://schemas.microsoft.com/office/drawing/2014/main" id="{1A131F2E-8710-FF6A-FCAC-2BA3F7443D09}"/>
              </a:ext>
            </a:extLst>
          </p:cNvPr>
          <p:cNvSpPr/>
          <p:nvPr/>
        </p:nvSpPr>
        <p:spPr>
          <a:xfrm>
            <a:off x="70760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7" name="Rectangle 17">
            <a:extLst>
              <a:ext uri="{FF2B5EF4-FFF2-40B4-BE49-F238E27FC236}">
                <a16:creationId xmlns:a16="http://schemas.microsoft.com/office/drawing/2014/main" id="{C1F739F5-ABC9-4274-D7A9-0D0D3C1541C1}"/>
              </a:ext>
            </a:extLst>
          </p:cNvPr>
          <p:cNvSpPr/>
          <p:nvPr/>
        </p:nvSpPr>
        <p:spPr>
          <a:xfrm>
            <a:off x="76602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8" name="Rectangle 18">
            <a:extLst>
              <a:ext uri="{FF2B5EF4-FFF2-40B4-BE49-F238E27FC236}">
                <a16:creationId xmlns:a16="http://schemas.microsoft.com/office/drawing/2014/main" id="{F9D6863E-855F-792C-E201-2DA278FE5B14}"/>
              </a:ext>
            </a:extLst>
          </p:cNvPr>
          <p:cNvSpPr/>
          <p:nvPr/>
        </p:nvSpPr>
        <p:spPr>
          <a:xfrm>
            <a:off x="82444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9" name="Rectangle 19">
            <a:extLst>
              <a:ext uri="{FF2B5EF4-FFF2-40B4-BE49-F238E27FC236}">
                <a16:creationId xmlns:a16="http://schemas.microsoft.com/office/drawing/2014/main" id="{B0174199-7C2E-21B5-E4EB-D09F064AE457}"/>
              </a:ext>
            </a:extLst>
          </p:cNvPr>
          <p:cNvSpPr/>
          <p:nvPr/>
        </p:nvSpPr>
        <p:spPr>
          <a:xfrm>
            <a:off x="88286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0" name="Rectangle 20">
            <a:extLst>
              <a:ext uri="{FF2B5EF4-FFF2-40B4-BE49-F238E27FC236}">
                <a16:creationId xmlns:a16="http://schemas.microsoft.com/office/drawing/2014/main" id="{B656B3A1-A368-F06D-8BC0-A5F3280D2E59}"/>
              </a:ext>
            </a:extLst>
          </p:cNvPr>
          <p:cNvSpPr/>
          <p:nvPr/>
        </p:nvSpPr>
        <p:spPr>
          <a:xfrm>
            <a:off x="94128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1" name="Rectangle 21">
            <a:extLst>
              <a:ext uri="{FF2B5EF4-FFF2-40B4-BE49-F238E27FC236}">
                <a16:creationId xmlns:a16="http://schemas.microsoft.com/office/drawing/2014/main" id="{CCFAA4B6-FE71-5496-A81F-E2FE5AD9F1FD}"/>
              </a:ext>
            </a:extLst>
          </p:cNvPr>
          <p:cNvSpPr/>
          <p:nvPr/>
        </p:nvSpPr>
        <p:spPr>
          <a:xfrm>
            <a:off x="1519757" y="4539406"/>
            <a:ext cx="9213915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145D0368-A41D-8EC7-F768-7B4CD781AA93}"/>
              </a:ext>
            </a:extLst>
          </p:cNvPr>
          <p:cNvSpPr/>
          <p:nvPr/>
        </p:nvSpPr>
        <p:spPr>
          <a:xfrm>
            <a:off x="1519757" y="5034706"/>
            <a:ext cx="9213915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3" name="TextBox 23">
            <a:extLst>
              <a:ext uri="{FF2B5EF4-FFF2-40B4-BE49-F238E27FC236}">
                <a16:creationId xmlns:a16="http://schemas.microsoft.com/office/drawing/2014/main" id="{3D2CCBC1-13DE-FD70-CDC5-23C969D856C9}"/>
              </a:ext>
            </a:extLst>
          </p:cNvPr>
          <p:cNvSpPr txBox="1"/>
          <p:nvPr/>
        </p:nvSpPr>
        <p:spPr>
          <a:xfrm>
            <a:off x="1767417" y="5326806"/>
            <a:ext cx="1143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400" b="0" dirty="0" err="1">
                <a:solidFill>
                  <a:schemeClr val="bg2">
                    <a:lumMod val="50000"/>
                  </a:schemeClr>
                </a:solidFill>
                <a:latin typeface="Meiryo"/>
                <a:ea typeface="メイリオ"/>
              </a:rPr>
              <a:t>歩道</a:t>
            </a:r>
            <a:endParaRPr sz="1400" b="0" dirty="0">
              <a:solidFill>
                <a:schemeClr val="bg2">
                  <a:lumMod val="50000"/>
                </a:schemeClr>
              </a:solidFill>
              <a:latin typeface="Meiryo"/>
              <a:ea typeface="メイリオ"/>
            </a:endParaRPr>
          </a:p>
        </p:txBody>
      </p:sp>
      <p:sp>
        <p:nvSpPr>
          <p:cNvPr id="114" name="Rounded Rectangle 24">
            <a:extLst>
              <a:ext uri="{FF2B5EF4-FFF2-40B4-BE49-F238E27FC236}">
                <a16:creationId xmlns:a16="http://schemas.microsoft.com/office/drawing/2014/main" id="{EF659E8B-160F-4C50-C474-14C4C9554639}"/>
              </a:ext>
            </a:extLst>
          </p:cNvPr>
          <p:cNvSpPr/>
          <p:nvPr/>
        </p:nvSpPr>
        <p:spPr>
          <a:xfrm>
            <a:off x="4425454" y="4590206"/>
            <a:ext cx="965200" cy="431800"/>
          </a:xfrm>
          <a:prstGeom prst="round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5" name="TextBox 25">
            <a:extLst>
              <a:ext uri="{FF2B5EF4-FFF2-40B4-BE49-F238E27FC236}">
                <a16:creationId xmlns:a16="http://schemas.microsoft.com/office/drawing/2014/main" id="{ABB06F08-051D-42DA-2EF6-0A606E556F15}"/>
              </a:ext>
            </a:extLst>
          </p:cNvPr>
          <p:cNvSpPr txBox="1"/>
          <p:nvPr/>
        </p:nvSpPr>
        <p:spPr>
          <a:xfrm>
            <a:off x="4408588" y="4677703"/>
            <a:ext cx="965200" cy="27186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Meiryo"/>
                <a:ea typeface="メイリオ"/>
              </a:rPr>
              <a:t>車</a:t>
            </a:r>
          </a:p>
        </p:txBody>
      </p:sp>
      <p:sp>
        <p:nvSpPr>
          <p:cNvPr id="116" name="Right Arrow 26">
            <a:extLst>
              <a:ext uri="{FF2B5EF4-FFF2-40B4-BE49-F238E27FC236}">
                <a16:creationId xmlns:a16="http://schemas.microsoft.com/office/drawing/2014/main" id="{02E3C121-98F1-DA9C-BA25-25FCC08B49B5}"/>
              </a:ext>
            </a:extLst>
          </p:cNvPr>
          <p:cNvSpPr/>
          <p:nvPr/>
        </p:nvSpPr>
        <p:spPr>
          <a:xfrm>
            <a:off x="5492254" y="4691806"/>
            <a:ext cx="406400" cy="228600"/>
          </a:xfrm>
          <a:prstGeom prst="rightArrow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7" name="Oval 27">
            <a:extLst>
              <a:ext uri="{FF2B5EF4-FFF2-40B4-BE49-F238E27FC236}">
                <a16:creationId xmlns:a16="http://schemas.microsoft.com/office/drawing/2014/main" id="{6C9A86C6-894C-51DA-B583-2C3276618AD8}"/>
              </a:ext>
            </a:extLst>
          </p:cNvPr>
          <p:cNvSpPr/>
          <p:nvPr/>
        </p:nvSpPr>
        <p:spPr>
          <a:xfrm>
            <a:off x="3300382" y="5453806"/>
            <a:ext cx="203200" cy="203200"/>
          </a:xfrm>
          <a:prstGeom prst="ellipse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8" name="Oval 28">
            <a:extLst>
              <a:ext uri="{FF2B5EF4-FFF2-40B4-BE49-F238E27FC236}">
                <a16:creationId xmlns:a16="http://schemas.microsoft.com/office/drawing/2014/main" id="{116AB09C-F1C5-D965-05F3-335A49B941DE}"/>
              </a:ext>
            </a:extLst>
          </p:cNvPr>
          <p:cNvSpPr/>
          <p:nvPr/>
        </p:nvSpPr>
        <p:spPr>
          <a:xfrm>
            <a:off x="3202517" y="5364906"/>
            <a:ext cx="381000" cy="381000"/>
          </a:xfrm>
          <a:prstGeom prst="ellipse">
            <a:avLst/>
          </a:prstGeom>
          <a:noFill/>
          <a:ln w="25400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cxnSp>
        <p:nvCxnSpPr>
          <p:cNvPr id="119" name="Connector 29">
            <a:extLst>
              <a:ext uri="{FF2B5EF4-FFF2-40B4-BE49-F238E27FC236}">
                <a16:creationId xmlns:a16="http://schemas.microsoft.com/office/drawing/2014/main" id="{C96B35BE-55B1-9C39-6C05-DA4E047010F1}"/>
              </a:ext>
            </a:extLst>
          </p:cNvPr>
          <p:cNvCxnSpPr>
            <a:cxnSpLocks/>
          </p:cNvCxnSpPr>
          <p:nvPr/>
        </p:nvCxnSpPr>
        <p:spPr>
          <a:xfrm>
            <a:off x="3393017" y="5072806"/>
            <a:ext cx="0" cy="254000"/>
          </a:xfrm>
          <a:prstGeom prst="line">
            <a:avLst/>
          </a:prstGeom>
          <a:ln w="2286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30">
            <a:extLst>
              <a:ext uri="{FF2B5EF4-FFF2-40B4-BE49-F238E27FC236}">
                <a16:creationId xmlns:a16="http://schemas.microsoft.com/office/drawing/2014/main" id="{48012F67-F263-E34E-0C26-D29E83E8DA37}"/>
              </a:ext>
            </a:extLst>
          </p:cNvPr>
          <p:cNvSpPr txBox="1"/>
          <p:nvPr/>
        </p:nvSpPr>
        <p:spPr>
          <a:xfrm>
            <a:off x="3742266" y="5352206"/>
            <a:ext cx="6997701" cy="28148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dirty="0" err="1">
                <a:solidFill>
                  <a:srgbClr val="C00000"/>
                </a:solidFill>
                <a:latin typeface="Meiryo"/>
                <a:ea typeface="メイリオ"/>
              </a:rPr>
              <a:t>横距離</a:t>
            </a:r>
            <a:r>
              <a:rPr sz="1400" b="1" dirty="0">
                <a:solidFill>
                  <a:srgbClr val="C00000"/>
                </a:solidFill>
                <a:latin typeface="Meiryo"/>
                <a:ea typeface="メイリオ"/>
              </a:rPr>
              <a:t> 2.0〜3.2m</a:t>
            </a:r>
            <a:r>
              <a:rPr lang="en-US" sz="1400" b="1" dirty="0">
                <a:solidFill>
                  <a:srgbClr val="C00000"/>
                </a:solidFill>
                <a:latin typeface="Meiryo"/>
                <a:ea typeface="メイリオ"/>
              </a:rPr>
              <a:t>(</a:t>
            </a:r>
            <a:r>
              <a:rPr sz="1400" b="1" dirty="0" err="1">
                <a:solidFill>
                  <a:srgbClr val="C00000"/>
                </a:solidFill>
                <a:latin typeface="Meiryo"/>
                <a:ea typeface="メイリオ"/>
              </a:rPr>
              <a:t>鳴るべき車</a:t>
            </a:r>
            <a:r>
              <a:rPr lang="en-US" sz="1400" b="1" dirty="0">
                <a:solidFill>
                  <a:srgbClr val="C00000"/>
                </a:solidFill>
                <a:latin typeface="Meiryo"/>
                <a:ea typeface="メイリオ"/>
              </a:rPr>
              <a:t>) / </a:t>
            </a:r>
            <a:r>
              <a:rPr lang="en-US" altLang="ja-JP" sz="1400" b="1" dirty="0">
                <a:solidFill>
                  <a:srgbClr val="C00000"/>
                </a:solidFill>
                <a:latin typeface="Meiryo"/>
                <a:ea typeface="メイリオ"/>
              </a:rPr>
              <a:t>5〜15m(</a:t>
            </a:r>
            <a:r>
              <a:rPr lang="ja-JP" altLang="en-US" sz="1400" b="1" dirty="0">
                <a:solidFill>
                  <a:srgbClr val="C00000"/>
                </a:solidFill>
                <a:latin typeface="Meiryo"/>
                <a:ea typeface="メイリオ"/>
              </a:rPr>
              <a:t>鳴ってはいけない車</a:t>
            </a:r>
            <a:r>
              <a:rPr lang="en-US" altLang="ja-JP" sz="1400" b="1" dirty="0">
                <a:solidFill>
                  <a:srgbClr val="C00000"/>
                </a:solidFill>
                <a:latin typeface="Meiryo"/>
                <a:ea typeface="メイリオ"/>
              </a:rPr>
              <a:t>)</a:t>
            </a:r>
            <a:endParaRPr lang="ja-JP" altLang="en-US" sz="1400" b="1" dirty="0">
              <a:solidFill>
                <a:srgbClr val="C00000"/>
              </a:solidFill>
              <a:latin typeface="Meiryo"/>
              <a:ea typeface="メイリオ"/>
            </a:endParaRPr>
          </a:p>
        </p:txBody>
      </p:sp>
      <p:sp>
        <p:nvSpPr>
          <p:cNvPr id="121" name="TextBox 31">
            <a:extLst>
              <a:ext uri="{FF2B5EF4-FFF2-40B4-BE49-F238E27FC236}">
                <a16:creationId xmlns:a16="http://schemas.microsoft.com/office/drawing/2014/main" id="{5A69E583-B6E5-E86F-D61E-CF51DE55BFB5}"/>
              </a:ext>
            </a:extLst>
          </p:cNvPr>
          <p:cNvSpPr txBox="1"/>
          <p:nvPr/>
        </p:nvSpPr>
        <p:spPr>
          <a:xfrm>
            <a:off x="2147617" y="5861282"/>
            <a:ext cx="3810000" cy="24109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lang="ja-JP" alt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装着者</a:t>
            </a:r>
            <a:r>
              <a:rPr lang="en-US" altLang="ja-JP" sz="1400" b="0" dirty="0">
                <a:solidFill>
                  <a:srgbClr val="222838"/>
                </a:solidFill>
                <a:latin typeface="Meiryo"/>
                <a:ea typeface="メイリオ"/>
              </a:rPr>
              <a:t>(</a:t>
            </a:r>
            <a:r>
              <a:rPr lang="ja-JP" alt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頭上に</a:t>
            </a:r>
            <a:r>
              <a:rPr lang="en-US" altLang="ja-JP" sz="1400" b="0" dirty="0">
                <a:solidFill>
                  <a:srgbClr val="222838"/>
                </a:solidFill>
                <a:latin typeface="Meiryo"/>
                <a:ea typeface="メイリオ"/>
              </a:rPr>
              <a:t>4</a:t>
            </a:r>
            <a:r>
              <a:rPr lang="ja-JP" altLang="en-US" sz="1400" b="0" dirty="0">
                <a:solidFill>
                  <a:srgbClr val="222838"/>
                </a:solidFill>
                <a:latin typeface="Meiryo"/>
                <a:ea typeface="メイリオ"/>
              </a:rPr>
              <a:t>方向マイク</a:t>
            </a:r>
            <a:r>
              <a:rPr lang="en-US" altLang="ja-JP" sz="1400" b="0" dirty="0">
                <a:solidFill>
                  <a:srgbClr val="222838"/>
                </a:solidFill>
                <a:latin typeface="Meiryo"/>
                <a:ea typeface="メイリオ"/>
              </a:rPr>
              <a:t>)</a:t>
            </a:r>
            <a:endParaRPr sz="1400" b="0" dirty="0">
              <a:solidFill>
                <a:srgbClr val="222838"/>
              </a:solidFill>
              <a:latin typeface="Meiryo"/>
              <a:ea typeface="メイリオ"/>
            </a:endParaRPr>
          </a:p>
        </p:txBody>
      </p:sp>
      <p:sp>
        <p:nvSpPr>
          <p:cNvPr id="122" name="Rectangle 20">
            <a:extLst>
              <a:ext uri="{FF2B5EF4-FFF2-40B4-BE49-F238E27FC236}">
                <a16:creationId xmlns:a16="http://schemas.microsoft.com/office/drawing/2014/main" id="{8BC65C3E-1AE6-89FD-D307-1126682F7A32}"/>
              </a:ext>
            </a:extLst>
          </p:cNvPr>
          <p:cNvSpPr/>
          <p:nvPr/>
        </p:nvSpPr>
        <p:spPr>
          <a:xfrm>
            <a:off x="9997017" y="4780706"/>
            <a:ext cx="330200" cy="50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5" name="Rounded Rectangle 97">
            <a:extLst>
              <a:ext uri="{FF2B5EF4-FFF2-40B4-BE49-F238E27FC236}">
                <a16:creationId xmlns:a16="http://schemas.microsoft.com/office/drawing/2014/main" id="{61E5024D-CD65-0D21-72D0-2557D6293295}"/>
              </a:ext>
            </a:extLst>
          </p:cNvPr>
          <p:cNvSpPr/>
          <p:nvPr/>
        </p:nvSpPr>
        <p:spPr>
          <a:xfrm>
            <a:off x="8589723" y="6392061"/>
            <a:ext cx="90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 err="1">
                <a:solidFill>
                  <a:srgbClr val="66707F"/>
                </a:solidFill>
                <a:latin typeface="Meiryo"/>
                <a:ea typeface="メイリオ"/>
              </a:rPr>
              <a:t>まとめ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47" name="Rounded Rectangle 96">
            <a:extLst>
              <a:ext uri="{FF2B5EF4-FFF2-40B4-BE49-F238E27FC236}">
                <a16:creationId xmlns:a16="http://schemas.microsoft.com/office/drawing/2014/main" id="{729968EB-8896-FA9A-5B52-A1B3033EB413}"/>
              </a:ext>
            </a:extLst>
          </p:cNvPr>
          <p:cNvSpPr/>
          <p:nvPr/>
        </p:nvSpPr>
        <p:spPr>
          <a:xfrm>
            <a:off x="7998482" y="6392061"/>
            <a:ext cx="54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相談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51" name="Rounded Rectangle 95">
            <a:extLst>
              <a:ext uri="{FF2B5EF4-FFF2-40B4-BE49-F238E27FC236}">
                <a16:creationId xmlns:a16="http://schemas.microsoft.com/office/drawing/2014/main" id="{B94905C1-9CC0-34D5-3F84-54AF3FE76E66}"/>
              </a:ext>
            </a:extLst>
          </p:cNvPr>
          <p:cNvSpPr/>
          <p:nvPr/>
        </p:nvSpPr>
        <p:spPr>
          <a:xfrm>
            <a:off x="6687241" y="6392995"/>
            <a:ext cx="1260000" cy="288000"/>
          </a:xfrm>
          <a:prstGeom prst="round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1" dirty="0">
                <a:solidFill>
                  <a:schemeClr val="bg1"/>
                </a:solidFill>
                <a:latin typeface="Meiryo"/>
                <a:ea typeface="メイリオ"/>
              </a:rPr>
              <a:t>実録の計画</a:t>
            </a:r>
            <a:endParaRPr sz="1600" b="1" dirty="0">
              <a:solidFill>
                <a:schemeClr val="bg1"/>
              </a:solidFill>
              <a:latin typeface="Meiryo"/>
              <a:ea typeface="メイリオ"/>
            </a:endParaRPr>
          </a:p>
        </p:txBody>
      </p:sp>
      <p:sp>
        <p:nvSpPr>
          <p:cNvPr id="55" name="Rounded Rectangle 94">
            <a:extLst>
              <a:ext uri="{FF2B5EF4-FFF2-40B4-BE49-F238E27FC236}">
                <a16:creationId xmlns:a16="http://schemas.microsoft.com/office/drawing/2014/main" id="{3399DC6D-D672-4ED7-0BC7-B0ACD628B866}"/>
              </a:ext>
            </a:extLst>
          </p:cNvPr>
          <p:cNvSpPr/>
          <p:nvPr/>
        </p:nvSpPr>
        <p:spPr>
          <a:xfrm>
            <a:off x="5556000" y="6394684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振り返り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57" name="Rounded Rectangle 93">
            <a:extLst>
              <a:ext uri="{FF2B5EF4-FFF2-40B4-BE49-F238E27FC236}">
                <a16:creationId xmlns:a16="http://schemas.microsoft.com/office/drawing/2014/main" id="{67925D73-2716-ADCA-9143-FE31DF5AEF1B}"/>
              </a:ext>
            </a:extLst>
          </p:cNvPr>
          <p:cNvSpPr/>
          <p:nvPr/>
        </p:nvSpPr>
        <p:spPr>
          <a:xfrm>
            <a:off x="4244759" y="6392061"/>
            <a:ext cx="126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b="0" dirty="0">
                <a:solidFill>
                  <a:srgbClr val="66707F"/>
                </a:solidFill>
                <a:latin typeface="Meiryo"/>
                <a:ea typeface="メイリオ"/>
              </a:rPr>
              <a:t>研究の前提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  <p:sp>
        <p:nvSpPr>
          <p:cNvPr id="60" name="Rounded Rectangle 92">
            <a:extLst>
              <a:ext uri="{FF2B5EF4-FFF2-40B4-BE49-F238E27FC236}">
                <a16:creationId xmlns:a16="http://schemas.microsoft.com/office/drawing/2014/main" id="{9DA28EF1-AEA5-3F15-A569-D77CD5415574}"/>
              </a:ext>
            </a:extLst>
          </p:cNvPr>
          <p:cNvSpPr/>
          <p:nvPr/>
        </p:nvSpPr>
        <p:spPr>
          <a:xfrm>
            <a:off x="3113518" y="6392061"/>
            <a:ext cx="1080000" cy="288000"/>
          </a:xfrm>
          <a:prstGeom prst="roundRect">
            <a:avLst/>
          </a:prstGeom>
          <a:solidFill>
            <a:srgbClr val="E4E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</a:pPr>
            <a:r>
              <a:rPr lang="ja-JP" altLang="en-US" sz="1600" dirty="0">
                <a:solidFill>
                  <a:srgbClr val="66707F"/>
                </a:solidFill>
                <a:latin typeface="Meiryo"/>
                <a:ea typeface="メイリオ"/>
              </a:rPr>
              <a:t>近況報告</a:t>
            </a:r>
            <a:endParaRPr sz="1600" b="0" dirty="0">
              <a:solidFill>
                <a:srgbClr val="66707F"/>
              </a:solidFill>
              <a:latin typeface="Meiryo"/>
              <a:ea typeface="メイリオ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