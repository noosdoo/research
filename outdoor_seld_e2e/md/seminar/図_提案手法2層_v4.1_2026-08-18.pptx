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85800" y="1219200"/>
            <a:ext cx="10820400" cy="0"/>
          </a:xfrm>
          <a:prstGeom prst="line">
            <a:avLst/>
          </a:prstGeom>
          <a:ln w="19050">
            <a:solidFill>
              <a:srgbClr val="1623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85800" y="508000"/>
            <a:ext cx="88900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6233A"/>
                </a:solidFill>
                <a:latin typeface="游ゴシック"/>
                <a:ea typeface="游ゴシック"/>
              </a:rPr>
              <a:t>提案手法 ― ２層の仕組み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22400"/>
            <a:ext cx="57404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游ゴシック"/>
                <a:ea typeface="游ゴシック"/>
              </a:rPr>
              <a:t>知覚層(SELD＋SDE)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>
                <a:solidFill>
                  <a:srgbClr val="3A4658"/>
                </a:solidFill>
                <a:latin typeface="游ゴシック"/>
                <a:ea typeface="游ゴシック"/>
              </a:rPr>
              <a:t>8クラスの検出・方向・距離を0.1秒ごとに推定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09800"/>
            <a:ext cx="5740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3A4658"/>
                </a:solidFill>
                <a:latin typeface="游ゴシック"/>
                <a:ea typeface="游ゴシック"/>
              </a:rPr>
              <a:t>▼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438400"/>
            <a:ext cx="5740400" cy="2235200"/>
          </a:xfrm>
          <a:prstGeom prst="rect">
            <a:avLst/>
          </a:prstGeom>
          <a:solidFill>
            <a:srgbClr val="FFFFFF"/>
          </a:solidFill>
          <a:ln w="19050">
            <a:solidFill>
              <a:srgbClr val="B37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游ゴシック"/>
                <a:ea typeface="游ゴシック"/>
              </a:rPr>
              <a:t>通知層(3役割) ― 最接近の予測で出し分け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1">
                <a:solidFill>
                  <a:srgbClr val="C4432B"/>
                </a:solidFill>
                <a:latin typeface="游ゴシック"/>
                <a:ea typeface="游ゴシック"/>
              </a:rPr>
              <a:t>近距離</a:t>
            </a:r>
            <a:r>
              <a:rPr sz="1250" b="0">
                <a:solidFill>
                  <a:srgbClr val="3A4658"/>
                </a:solidFill>
                <a:latin typeface="游ゴシック"/>
                <a:ea typeface="游ゴシック"/>
              </a:rPr>
              <a:t>：このまま進むと約1m以内まで近づき、2.5秒以内に到達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1">
                <a:solidFill>
                  <a:srgbClr val="B37E00"/>
                </a:solidFill>
                <a:latin typeface="游ゴシック"/>
                <a:ea typeface="游ゴシック"/>
              </a:rPr>
              <a:t>中距離</a:t>
            </a:r>
            <a:r>
              <a:rPr sz="1250" b="0">
                <a:solidFill>
                  <a:srgbClr val="3A4658"/>
                </a:solidFill>
                <a:latin typeface="游ゴシック"/>
                <a:ea typeface="游ゴシック"/>
              </a:rPr>
              <a:t>：約2m以内・4秒以内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1">
                <a:solidFill>
                  <a:srgbClr val="2F7D6D"/>
                </a:solidFill>
                <a:latin typeface="游ゴシック"/>
                <a:ea typeface="游ゴシック"/>
              </a:rPr>
              <a:t>遠距離</a:t>
            </a:r>
            <a:r>
              <a:rPr sz="1250" b="0">
                <a:solidFill>
                  <a:srgbClr val="3A4658"/>
                </a:solidFill>
                <a:latin typeface="游ゴシック"/>
                <a:ea typeface="游ゴシック"/>
              </a:rPr>
              <a:t>：横を通り過ぎるだけの対象は鳴らさない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66707F"/>
                </a:solidFill>
                <a:latin typeface="游ゴシック"/>
                <a:ea typeface="游ゴシック"/>
              </a:rPr>
              <a:t>※ 既に1.5m/3.2m以内にいる場合は距離だけでも鳴らす(保険)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66707F"/>
                </a:solidFill>
                <a:latin typeface="游ゴシック"/>
                <a:ea typeface="游ゴシック"/>
              </a:rPr>
              <a:t>対象は</a:t>
            </a:r>
            <a:r>
              <a:rPr sz="1150" b="1">
                <a:solidFill>
                  <a:srgbClr val="66707F"/>
                </a:solidFill>
                <a:latin typeface="游ゴシック"/>
                <a:ea typeface="游ゴシック"/>
              </a:rPr>
              <a:t>車・キックボード・バイク</a:t>
            </a:r>
            <a:r>
              <a:rPr sz="1150" b="0">
                <a:solidFill>
                  <a:srgbClr val="66707F"/>
                </a:solidFill>
                <a:latin typeface="游ゴシック"/>
                <a:ea typeface="游ゴシック"/>
              </a:rPr>
              <a:t>。サイレン等5クラスは距離を使わず検出したら通知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24400"/>
            <a:ext cx="5740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3A4658"/>
                </a:solidFill>
                <a:latin typeface="游ゴシック"/>
                <a:ea typeface="游ゴシック"/>
              </a:rPr>
              <a:t>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953000"/>
            <a:ext cx="57404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16233A"/>
                </a:solidFill>
                <a:latin typeface="游ゴシック"/>
                <a:ea typeface="游ゴシック"/>
              </a:rPr>
              <a:t>首元振動デバイス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>
                <a:solidFill>
                  <a:srgbClr val="3A4658"/>
                </a:solidFill>
                <a:latin typeface="游ゴシック"/>
                <a:ea typeface="游ゴシック"/>
              </a:rPr>
              <a:t>方向 × 振動でユーザに伝える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16600"/>
            <a:ext cx="5740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6233A"/>
                </a:solidFill>
                <a:latin typeface="游ゴシック"/>
                <a:ea typeface="游ゴシック"/>
              </a:rPr>
              <a:t>全部鳴らすと使えない → 通知の頻度そのものを設計対象に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80200" y="1422400"/>
            <a:ext cx="4826000" cy="3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80200" y="1549400"/>
            <a:ext cx="482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1">
                <a:solidFill>
                  <a:srgbClr val="16233A"/>
                </a:solidFill>
                <a:latin typeface="游ゴシック"/>
                <a:ea typeface="游ゴシック"/>
              </a:rPr>
              <a:t>同じ「近づいてくる」でも、鳴らすべき相手は片方だけ</a:t>
            </a:r>
          </a:p>
        </p:txBody>
      </p:sp>
      <p:sp>
        <p:nvSpPr>
          <p:cNvPr id="12" name="Oval 11"/>
          <p:cNvSpPr/>
          <p:nvPr/>
        </p:nvSpPr>
        <p:spPr>
          <a:xfrm>
            <a:off x="6883400" y="3479800"/>
            <a:ext cx="1168400" cy="1168400"/>
          </a:xfrm>
          <a:prstGeom prst="ellipse">
            <a:avLst/>
          </a:prstGeom>
          <a:noFill/>
          <a:ln w="12700">
            <a:solidFill>
              <a:srgbClr val="BFC6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88200" y="3784600"/>
            <a:ext cx="558800" cy="558800"/>
          </a:xfrm>
          <a:prstGeom prst="ellipse">
            <a:avLst/>
          </a:prstGeom>
          <a:noFill/>
          <a:ln w="12700">
            <a:solidFill>
              <a:srgbClr val="BFC6C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>
            <a:off x="7035800" y="2413000"/>
            <a:ext cx="4191000" cy="0"/>
          </a:xfrm>
          <a:prstGeom prst="line">
            <a:avLst/>
          </a:prstGeom>
          <a:ln w="31750">
            <a:solidFill>
              <a:srgbClr val="2F7D6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467600" y="2413000"/>
            <a:ext cx="3530600" cy="1651000"/>
          </a:xfrm>
          <a:prstGeom prst="line">
            <a:avLst/>
          </a:prstGeom>
          <a:ln w="12700">
            <a:solidFill>
              <a:srgbClr val="BFC6CC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934700" y="2349500"/>
            <a:ext cx="127000" cy="127000"/>
          </a:xfrm>
          <a:prstGeom prst="ellipse">
            <a:avLst/>
          </a:prstGeom>
          <a:solidFill>
            <a:srgbClr val="2F7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7467600" y="2413000"/>
            <a:ext cx="1117600" cy="1651000"/>
          </a:xfrm>
          <a:prstGeom prst="line">
            <a:avLst/>
          </a:prstGeom>
          <a:ln w="12700">
            <a:solidFill>
              <a:srgbClr val="BFC6CC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521700" y="2349500"/>
            <a:ext cx="127000" cy="127000"/>
          </a:xfrm>
          <a:prstGeom prst="ellipse">
            <a:avLst/>
          </a:prstGeom>
          <a:solidFill>
            <a:srgbClr val="2F7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2600" y="2032000"/>
            <a:ext cx="4495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2F7D6D"/>
                </a:solidFill>
                <a:latin typeface="游ゴシック"/>
                <a:ea typeface="游ゴシック"/>
              </a:rPr>
              <a:t>横を通り過ぎる → 鳴らさない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1200" y="2565400"/>
            <a:ext cx="1905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2F7D6D"/>
                </a:solidFill>
                <a:latin typeface="游ゴシック"/>
                <a:ea typeface="游ゴシック"/>
              </a:rPr>
              <a:t>方位が横に流れる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7467600" y="2413000"/>
            <a:ext cx="0" cy="1066800"/>
          </a:xfrm>
          <a:prstGeom prst="line">
            <a:avLst/>
          </a:prstGeom>
          <a:ln w="12700">
            <a:solidFill>
              <a:srgbClr val="6670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48400" y="2832100"/>
            <a:ext cx="1117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66707F"/>
                </a:solidFill>
                <a:latin typeface="游ゴシック"/>
                <a:ea typeface="游ゴシック"/>
              </a:rPr>
              <a:t>最接近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8178800" y="4064000"/>
            <a:ext cx="3048000" cy="0"/>
          </a:xfrm>
          <a:prstGeom prst="line">
            <a:avLst/>
          </a:prstGeom>
          <a:ln w="31750">
            <a:solidFill>
              <a:srgbClr val="C443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0934700" y="4000500"/>
            <a:ext cx="127000" cy="127000"/>
          </a:xfrm>
          <a:prstGeom prst="ellipse">
            <a:avLst/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78900" y="4000500"/>
            <a:ext cx="127000" cy="127000"/>
          </a:xfrm>
          <a:prstGeom prst="ellipse">
            <a:avLst/>
          </a:prstGeom>
          <a:solidFill>
            <a:srgbClr val="C4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2600" y="3657600"/>
            <a:ext cx="4495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C4432B"/>
                </a:solidFill>
                <a:latin typeface="游ゴシック"/>
                <a:ea typeface="游ゴシック"/>
              </a:rPr>
              <a:t>正面に来る → 至近警告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2600" y="4241800"/>
            <a:ext cx="4495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C4432B"/>
                </a:solidFill>
                <a:latin typeface="游ゴシック"/>
                <a:ea typeface="游ゴシック"/>
              </a:rPr>
              <a:t>方位が変わらないまま近づく</a:t>
            </a:r>
          </a:p>
        </p:txBody>
      </p:sp>
      <p:sp>
        <p:nvSpPr>
          <p:cNvPr id="28" name="Oval 27"/>
          <p:cNvSpPr/>
          <p:nvPr/>
        </p:nvSpPr>
        <p:spPr>
          <a:xfrm>
            <a:off x="7378700" y="3975100"/>
            <a:ext cx="177800" cy="177800"/>
          </a:xfrm>
          <a:prstGeom prst="ellipse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 bIns="1016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2600" y="4724400"/>
            <a:ext cx="1270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3A4658"/>
                </a:solidFill>
                <a:latin typeface="游ゴシック"/>
                <a:ea typeface="游ゴシック"/>
              </a:rPr>
              <a:t>歩行者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1800" y="4978400"/>
            <a:ext cx="4622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66707F"/>
                </a:solidFill>
                <a:latin typeface="游ゴシック"/>
                <a:ea typeface="游ゴシック"/>
              </a:rPr>
              <a:t>点線の円＝保険として残した距離しきい値(1.5m / 3.2m)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80200" y="5334000"/>
            <a:ext cx="482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3A4658"/>
                </a:solidFill>
                <a:latin typeface="游ゴシック"/>
                <a:ea typeface="游ゴシック"/>
              </a:rPr>
              <a:t>船の見張りと同じ原理 ― 方位が変わらず近づく相手が危ない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