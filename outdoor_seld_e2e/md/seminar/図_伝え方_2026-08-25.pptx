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20">
                <a:solidFill>
                  <a:srgbClr val="222838"/>
                </a:solidFill>
                <a:latin typeface="Meiryo"/>
                <a:ea typeface="メイリオ"/>
              </a:rPr>
              <a:t>伝え方　―　方向は「場所」、危険度は「鳴り方」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95400"/>
            <a:ext cx="1041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首元に振動子を5個並べる構想。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鳴っている位置で方向を、鳴り方の強さと間隔で危険度を表す。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778000"/>
            <a:ext cx="5080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1778000"/>
            <a:ext cx="50800" cy="31750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55800"/>
            <a:ext cx="4572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方向 ＝ どの振動子が鳴るか</a:t>
            </a:r>
          </a:p>
        </p:txBody>
      </p:sp>
      <p:sp>
        <p:nvSpPr>
          <p:cNvPr id="10" name="Oval 9"/>
          <p:cNvSpPr/>
          <p:nvPr/>
        </p:nvSpPr>
        <p:spPr>
          <a:xfrm>
            <a:off x="2997200" y="3479800"/>
            <a:ext cx="863600" cy="86360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1000" y="3759200"/>
            <a:ext cx="1016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595F6E"/>
                </a:solidFill>
                <a:latin typeface="Meiryo"/>
                <a:ea typeface="メイリオ"/>
              </a:rPr>
              <a:t>首</a:t>
            </a:r>
          </a:p>
        </p:txBody>
      </p:sp>
      <p:sp>
        <p:nvSpPr>
          <p:cNvPr id="12" name="Oval 11"/>
          <p:cNvSpPr/>
          <p:nvPr/>
        </p:nvSpPr>
        <p:spPr>
          <a:xfrm>
            <a:off x="2118226" y="3329509"/>
            <a:ext cx="330200" cy="33020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2326" y="3062809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左</a:t>
            </a:r>
          </a:p>
        </p:txBody>
      </p:sp>
      <p:sp>
        <p:nvSpPr>
          <p:cNvPr id="14" name="Oval 13"/>
          <p:cNvSpPr/>
          <p:nvPr/>
        </p:nvSpPr>
        <p:spPr>
          <a:xfrm>
            <a:off x="2564595" y="2747789"/>
            <a:ext cx="330200" cy="33020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8695" y="2481089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左前</a:t>
            </a:r>
          </a:p>
        </p:txBody>
      </p:sp>
      <p:sp>
        <p:nvSpPr>
          <p:cNvPr id="16" name="Oval 15"/>
          <p:cNvSpPr/>
          <p:nvPr/>
        </p:nvSpPr>
        <p:spPr>
          <a:xfrm>
            <a:off x="3263900" y="2527300"/>
            <a:ext cx="330200" cy="33020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8000" y="2260600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前</a:t>
            </a:r>
          </a:p>
        </p:txBody>
      </p:sp>
      <p:sp>
        <p:nvSpPr>
          <p:cNvPr id="18" name="Oval 17"/>
          <p:cNvSpPr/>
          <p:nvPr/>
        </p:nvSpPr>
        <p:spPr>
          <a:xfrm>
            <a:off x="3963204" y="2747789"/>
            <a:ext cx="330200" cy="330200"/>
          </a:xfrm>
          <a:prstGeom prst="ellipse">
            <a:avLst/>
          </a:prstGeom>
          <a:solidFill>
            <a:srgbClr val="E0A526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7304" y="2481089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1">
                <a:solidFill>
                  <a:srgbClr val="C0392B"/>
                </a:solidFill>
                <a:latin typeface="Meiryo"/>
                <a:ea typeface="メイリオ"/>
              </a:rPr>
              <a:t>右前</a:t>
            </a:r>
          </a:p>
        </p:txBody>
      </p:sp>
      <p:sp>
        <p:nvSpPr>
          <p:cNvPr id="20" name="Oval 19"/>
          <p:cNvSpPr/>
          <p:nvPr/>
        </p:nvSpPr>
        <p:spPr>
          <a:xfrm>
            <a:off x="4409573" y="3329509"/>
            <a:ext cx="330200" cy="33020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3673" y="3062809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19600"/>
            <a:ext cx="4572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右前から車 → </a:t>
            </a:r>
            <a:r>
              <a:rPr sz="1200" b="1">
                <a:solidFill>
                  <a:srgbClr val="C0392B"/>
                </a:solidFill>
                <a:latin typeface="Meiryo"/>
                <a:ea typeface="メイリオ"/>
              </a:rPr>
              <a:t>右前の1個だけが鳴る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3000" y="1778000"/>
            <a:ext cx="5080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3000" y="1778000"/>
            <a:ext cx="50800" cy="31750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0" y="1955800"/>
            <a:ext cx="4572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危険度 ＝ 強さと間隔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2514600"/>
            <a:ext cx="9652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C0392B"/>
                </a:solidFill>
                <a:latin typeface="Meiryo"/>
                <a:ea typeface="メイリオ"/>
              </a:rPr>
              <a:t>至近警告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9200" y="2514600"/>
            <a:ext cx="3302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0200" y="2514600"/>
            <a:ext cx="3302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31200" y="2514600"/>
            <a:ext cx="3302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12200" y="2514600"/>
            <a:ext cx="3302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3200" y="2514600"/>
            <a:ext cx="3302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74200" y="2514600"/>
            <a:ext cx="3302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33000" y="2540000"/>
            <a:ext cx="106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強く・短い間隔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3225800"/>
            <a:ext cx="9652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E0A526"/>
                </a:solidFill>
                <a:latin typeface="Meiryo"/>
                <a:ea typeface="メイリオ"/>
              </a:rPr>
              <a:t>注意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9200" y="3282950"/>
            <a:ext cx="330200" cy="2159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31200" y="3282950"/>
            <a:ext cx="330200" cy="2159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3200" y="3282950"/>
            <a:ext cx="330200" cy="2159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33000" y="3251200"/>
            <a:ext cx="106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弱く・広い間隔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0" y="3937000"/>
            <a:ext cx="9652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8A8F9A"/>
                </a:solidFill>
                <a:latin typeface="Meiryo"/>
                <a:ea typeface="メイリオ"/>
              </a:rPr>
              <a:t>抑制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69200" y="4038600"/>
            <a:ext cx="2235200" cy="25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33000" y="3962400"/>
            <a:ext cx="106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鳴らさない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0" y="4419600"/>
            <a:ext cx="4572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同じ「近づいてくる」でも、</a:t>
            </a: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慌てるべきかが指先で分かる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000" y="5207000"/>
            <a:ext cx="76200" cy="558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5207000"/>
            <a:ext cx="103378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93800" y="5308600"/>
            <a:ext cx="9906000" cy="381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音を「聞かせ直す」のではなく、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触覚に置き換えて伝える</a:t>
            </a:r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。デバイスは未実装で、本発表では構想。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2026/08/30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