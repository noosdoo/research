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30">
            <a:extLst>
              <a:ext uri="{FF2B5EF4-FFF2-40B4-BE49-F238E27FC236}">
                <a16:creationId xmlns:a16="http://schemas.microsoft.com/office/drawing/2014/main" id="{9DB4937B-B01D-A5C2-7DC2-915689D430E3}"/>
              </a:ext>
            </a:extLst>
          </p:cNvPr>
          <p:cNvSpPr/>
          <p:nvPr/>
        </p:nvSpPr>
        <p:spPr>
          <a:xfrm>
            <a:off x="6676411" y="1521482"/>
            <a:ext cx="4699000" cy="3482323"/>
          </a:xfrm>
          <a:prstGeom prst="rect">
            <a:avLst/>
          </a:prstGeom>
          <a:solidFill>
            <a:srgbClr val="F5F4F7"/>
          </a:solidFill>
          <a:ln w="12700">
            <a:solidFill>
              <a:srgbClr val="D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9F1ECED9-6CFC-1ABF-39BA-27628B29E482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5AD6201-8330-3647-4109-30012DEF790F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BA0D73D-7419-7BC0-2A8F-A0D47B6F9571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63D2835-8811-F829-F30C-71E35A2ACC39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BC4D4C4-9944-0DA2-2035-5A5EBCBF2CD1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BFF9B14-11A6-6E10-C746-14CDEC5E5A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760"/>
          </a:xfrm>
        </p:spPr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944C6CB-9BE6-D528-DBC6-F471CCF9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760"/>
          </a:xfrm>
        </p:spPr>
        <p:txBody>
          <a:bodyPr/>
          <a:lstStyle/>
          <a:p>
            <a:fld id="{4E9148DC-F7ED-4428-85F4-2C78C4B0CFB7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4F25F2BC-488D-E2C4-B4CD-B07A0602120B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①すり抜けと対向を、どう区別するか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57EBCEEF-039C-CB49-2DE5-A1E04C16876C}"/>
              </a:ext>
            </a:extLst>
          </p:cNvPr>
          <p:cNvSpPr/>
          <p:nvPr/>
        </p:nvSpPr>
        <p:spPr>
          <a:xfrm>
            <a:off x="976651" y="1521482"/>
            <a:ext cx="5461000" cy="3482323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D87BDC3-133D-DF0E-FB49-0D42731D63BC}"/>
              </a:ext>
            </a:extLst>
          </p:cNvPr>
          <p:cNvSpPr txBox="1"/>
          <p:nvPr/>
        </p:nvSpPr>
        <p:spPr>
          <a:xfrm>
            <a:off x="1179851" y="1673883"/>
            <a:ext cx="503174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装着者から見た「方向」の変わり方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D4E5CB31-41BC-3C5C-1066-D00BFB7C0A77}"/>
              </a:ext>
            </a:extLst>
          </p:cNvPr>
          <p:cNvSpPr/>
          <p:nvPr/>
        </p:nvSpPr>
        <p:spPr>
          <a:xfrm>
            <a:off x="3605551" y="4086883"/>
            <a:ext cx="203200" cy="203200"/>
          </a:xfrm>
          <a:prstGeom prst="ellipse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B071D2B-BE82-36BB-A6C1-4FDD937356FB}"/>
              </a:ext>
            </a:extLst>
          </p:cNvPr>
          <p:cNvSpPr txBox="1"/>
          <p:nvPr/>
        </p:nvSpPr>
        <p:spPr>
          <a:xfrm>
            <a:off x="2818151" y="4340883"/>
            <a:ext cx="177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装着者</a:t>
            </a:r>
            <a:endParaRPr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E81CE798-BB06-8357-BFBC-CF0A64F8E22A}"/>
              </a:ext>
            </a:extLst>
          </p:cNvPr>
          <p:cNvSpPr/>
          <p:nvPr/>
        </p:nvSpPr>
        <p:spPr>
          <a:xfrm>
            <a:off x="3691911" y="2258083"/>
            <a:ext cx="30480" cy="1752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sosceles Triangle 16">
            <a:extLst>
              <a:ext uri="{FF2B5EF4-FFF2-40B4-BE49-F238E27FC236}">
                <a16:creationId xmlns:a16="http://schemas.microsoft.com/office/drawing/2014/main" id="{97777B49-6871-BBD0-528D-FB0BB7E68DBC}"/>
              </a:ext>
            </a:extLst>
          </p:cNvPr>
          <p:cNvSpPr/>
          <p:nvPr/>
        </p:nvSpPr>
        <p:spPr>
          <a:xfrm rot="10800000">
            <a:off x="3618251" y="2181883"/>
            <a:ext cx="177800" cy="177800"/>
          </a:xfrm>
          <a:prstGeom prst="triangl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50BD9BA-1184-008A-6A01-4F376D3F4D8D}"/>
              </a:ext>
            </a:extLst>
          </p:cNvPr>
          <p:cNvSpPr txBox="1"/>
          <p:nvPr/>
        </p:nvSpPr>
        <p:spPr>
          <a:xfrm>
            <a:off x="1802151" y="2134824"/>
            <a:ext cx="1779249" cy="58926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1" dirty="0" err="1">
                <a:solidFill>
                  <a:srgbClr val="C0392B"/>
                </a:solidFill>
                <a:latin typeface="Meiryo"/>
                <a:ea typeface="メイリオ"/>
              </a:rPr>
              <a:t>対向型</a:t>
            </a:r>
            <a:endParaRPr sz="1600" b="1" dirty="0">
              <a:solidFill>
                <a:srgbClr val="C0392B"/>
              </a:solidFill>
              <a:latin typeface="Meiryo"/>
              <a:ea typeface="メイリオ"/>
            </a:endParaRPr>
          </a:p>
          <a:p>
            <a:pPr algn="r">
              <a:lnSpc>
                <a:spcPct val="125000"/>
              </a:lnSpc>
            </a:pPr>
            <a:r>
              <a:rPr sz="1400" b="0" dirty="0" err="1">
                <a:solidFill>
                  <a:srgbClr val="595F6E"/>
                </a:solidFill>
                <a:latin typeface="Meiryo"/>
                <a:ea typeface="メイリオ"/>
              </a:rPr>
              <a:t>方位が変わらない</a:t>
            </a:r>
            <a:endParaRPr sz="1400" b="0" dirty="0">
              <a:solidFill>
                <a:srgbClr val="595F6E"/>
              </a:solidFill>
              <a:latin typeface="Meiryo"/>
              <a:ea typeface="メイリオ"/>
            </a:endParaRP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29E0792E-4652-0D66-60EC-6065521004EC}"/>
              </a:ext>
            </a:extLst>
          </p:cNvPr>
          <p:cNvSpPr/>
          <p:nvPr/>
        </p:nvSpPr>
        <p:spPr>
          <a:xfrm>
            <a:off x="1484651" y="3020083"/>
            <a:ext cx="4445000" cy="3048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osceles Triangle 19">
            <a:extLst>
              <a:ext uri="{FF2B5EF4-FFF2-40B4-BE49-F238E27FC236}">
                <a16:creationId xmlns:a16="http://schemas.microsoft.com/office/drawing/2014/main" id="{1D50F52C-28B1-6BE9-C83A-CAC628C79FC4}"/>
              </a:ext>
            </a:extLst>
          </p:cNvPr>
          <p:cNvSpPr/>
          <p:nvPr/>
        </p:nvSpPr>
        <p:spPr>
          <a:xfrm rot="5400000">
            <a:off x="5497851" y="2943883"/>
            <a:ext cx="177800" cy="177800"/>
          </a:xfrm>
          <a:prstGeom prst="triangl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D3A5680-8D0E-FF34-1B37-B4D31F5F0BF0}"/>
              </a:ext>
            </a:extLst>
          </p:cNvPr>
          <p:cNvSpPr txBox="1"/>
          <p:nvPr/>
        </p:nvSpPr>
        <p:spPr>
          <a:xfrm>
            <a:off x="3921637" y="2443519"/>
            <a:ext cx="1613807" cy="58926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irty="0" err="1">
                <a:solidFill>
                  <a:srgbClr val="2E7D5B"/>
                </a:solidFill>
                <a:latin typeface="Meiryo"/>
                <a:ea typeface="メイリオ"/>
              </a:rPr>
              <a:t>すり抜け型</a:t>
            </a:r>
            <a:endParaRPr sz="1600" b="1" dirty="0">
              <a:solidFill>
                <a:srgbClr val="2E7D5B"/>
              </a:solidFill>
              <a:latin typeface="Meiryo"/>
              <a:ea typeface="メイリオ"/>
            </a:endParaRPr>
          </a:p>
          <a:p>
            <a:pPr algn="l">
              <a:lnSpc>
                <a:spcPct val="125000"/>
              </a:lnSpc>
            </a:pPr>
            <a:r>
              <a:rPr sz="1400" b="0" dirty="0" err="1">
                <a:solidFill>
                  <a:srgbClr val="595F6E"/>
                </a:solidFill>
                <a:latin typeface="Meiryo"/>
                <a:ea typeface="メイリオ"/>
              </a:rPr>
              <a:t>方位が速く変わる</a:t>
            </a:r>
            <a:endParaRPr sz="1400" b="0" dirty="0">
              <a:solidFill>
                <a:srgbClr val="595F6E"/>
              </a:solidFill>
              <a:latin typeface="Meiryo"/>
              <a:ea typeface="メイリオ"/>
            </a:endParaRPr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5981F55D-891E-82ED-A5DD-B7E2354EA482}"/>
              </a:ext>
            </a:extLst>
          </p:cNvPr>
          <p:cNvSpPr/>
          <p:nvPr/>
        </p:nvSpPr>
        <p:spPr>
          <a:xfrm>
            <a:off x="3707151" y="4188483"/>
            <a:ext cx="12700" cy="127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2">
            <a:extLst>
              <a:ext uri="{FF2B5EF4-FFF2-40B4-BE49-F238E27FC236}">
                <a16:creationId xmlns:a16="http://schemas.microsoft.com/office/drawing/2014/main" id="{38493D0F-423A-4FC0-10AA-F34889786FEB}"/>
              </a:ext>
            </a:extLst>
          </p:cNvPr>
          <p:cNvCxnSpPr/>
          <p:nvPr/>
        </p:nvCxnSpPr>
        <p:spPr>
          <a:xfrm flipH="1" flipV="1">
            <a:off x="1802151" y="3032783"/>
            <a:ext cx="1905000" cy="1155700"/>
          </a:xfrm>
          <a:prstGeom prst="line">
            <a:avLst/>
          </a:prstGeom>
          <a:ln w="10160">
            <a:solidFill>
              <a:srgbClr val="2E7D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3">
            <a:extLst>
              <a:ext uri="{FF2B5EF4-FFF2-40B4-BE49-F238E27FC236}">
                <a16:creationId xmlns:a16="http://schemas.microsoft.com/office/drawing/2014/main" id="{DB124A70-5D35-6E6E-B947-788A8FF9AC99}"/>
              </a:ext>
            </a:extLst>
          </p:cNvPr>
          <p:cNvSpPr/>
          <p:nvPr/>
        </p:nvSpPr>
        <p:spPr>
          <a:xfrm>
            <a:off x="3707151" y="4188483"/>
            <a:ext cx="12700" cy="127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1F2FC0BF-C816-0728-66A0-0803DA93193F}"/>
              </a:ext>
            </a:extLst>
          </p:cNvPr>
          <p:cNvCxnSpPr/>
          <p:nvPr/>
        </p:nvCxnSpPr>
        <p:spPr>
          <a:xfrm flipH="1" flipV="1">
            <a:off x="2945151" y="3032783"/>
            <a:ext cx="762000" cy="1155700"/>
          </a:xfrm>
          <a:prstGeom prst="line">
            <a:avLst/>
          </a:prstGeom>
          <a:ln w="10160">
            <a:solidFill>
              <a:srgbClr val="2E7D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F593768-FE32-5255-9C25-23A84665EC40}"/>
              </a:ext>
            </a:extLst>
          </p:cNvPr>
          <p:cNvSpPr/>
          <p:nvPr/>
        </p:nvSpPr>
        <p:spPr>
          <a:xfrm>
            <a:off x="3707151" y="4188483"/>
            <a:ext cx="12700" cy="127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6">
            <a:extLst>
              <a:ext uri="{FF2B5EF4-FFF2-40B4-BE49-F238E27FC236}">
                <a16:creationId xmlns:a16="http://schemas.microsoft.com/office/drawing/2014/main" id="{2E75C03D-7DCD-462F-5A77-0E4D9105C8DC}"/>
              </a:ext>
            </a:extLst>
          </p:cNvPr>
          <p:cNvCxnSpPr/>
          <p:nvPr/>
        </p:nvCxnSpPr>
        <p:spPr>
          <a:xfrm flipV="1">
            <a:off x="3707151" y="3032783"/>
            <a:ext cx="762000" cy="1155700"/>
          </a:xfrm>
          <a:prstGeom prst="line">
            <a:avLst/>
          </a:prstGeom>
          <a:ln w="10160">
            <a:solidFill>
              <a:srgbClr val="2E7D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7">
            <a:extLst>
              <a:ext uri="{FF2B5EF4-FFF2-40B4-BE49-F238E27FC236}">
                <a16:creationId xmlns:a16="http://schemas.microsoft.com/office/drawing/2014/main" id="{551C0798-77BF-FD6D-AC28-08F0AEBA808B}"/>
              </a:ext>
            </a:extLst>
          </p:cNvPr>
          <p:cNvSpPr/>
          <p:nvPr/>
        </p:nvSpPr>
        <p:spPr>
          <a:xfrm>
            <a:off x="3707151" y="4188483"/>
            <a:ext cx="12700" cy="127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28">
            <a:extLst>
              <a:ext uri="{FF2B5EF4-FFF2-40B4-BE49-F238E27FC236}">
                <a16:creationId xmlns:a16="http://schemas.microsoft.com/office/drawing/2014/main" id="{5C81035E-7F95-3459-B3F8-F190736CB27C}"/>
              </a:ext>
            </a:extLst>
          </p:cNvPr>
          <p:cNvCxnSpPr/>
          <p:nvPr/>
        </p:nvCxnSpPr>
        <p:spPr>
          <a:xfrm flipV="1">
            <a:off x="3707151" y="3032783"/>
            <a:ext cx="1905000" cy="1155700"/>
          </a:xfrm>
          <a:prstGeom prst="line">
            <a:avLst/>
          </a:prstGeom>
          <a:ln w="10160">
            <a:solidFill>
              <a:srgbClr val="2E7D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29">
            <a:extLst>
              <a:ext uri="{FF2B5EF4-FFF2-40B4-BE49-F238E27FC236}">
                <a16:creationId xmlns:a16="http://schemas.microsoft.com/office/drawing/2014/main" id="{E26C1ED9-01AD-A232-2FB3-7C23EABC30FF}"/>
              </a:ext>
            </a:extLst>
          </p:cNvPr>
          <p:cNvSpPr txBox="1"/>
          <p:nvPr/>
        </p:nvSpPr>
        <p:spPr>
          <a:xfrm>
            <a:off x="1179851" y="4691878"/>
            <a:ext cx="50546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判定は毎フレーム、直近0.5秒の方位の傾きで行う（最接近がいつかは知らない）</a:t>
            </a:r>
          </a:p>
        </p:txBody>
      </p:sp>
      <p:sp>
        <p:nvSpPr>
          <p:cNvPr id="36" name="TextBox 32">
            <a:extLst>
              <a:ext uri="{FF2B5EF4-FFF2-40B4-BE49-F238E27FC236}">
                <a16:creationId xmlns:a16="http://schemas.microsoft.com/office/drawing/2014/main" id="{B51C1368-5613-6BC1-C2E6-95C5835A948C}"/>
              </a:ext>
            </a:extLst>
          </p:cNvPr>
          <p:cNvSpPr txBox="1"/>
          <p:nvPr/>
        </p:nvSpPr>
        <p:spPr>
          <a:xfrm>
            <a:off x="6894851" y="1699283"/>
            <a:ext cx="3960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救済ルートを1本足した</a:t>
            </a:r>
          </a:p>
        </p:txBody>
      </p:sp>
      <p:sp>
        <p:nvSpPr>
          <p:cNvPr id="39" name="Oval 34">
            <a:extLst>
              <a:ext uri="{FF2B5EF4-FFF2-40B4-BE49-F238E27FC236}">
                <a16:creationId xmlns:a16="http://schemas.microsoft.com/office/drawing/2014/main" id="{5DEDFF64-ACA4-94F5-9299-9617903EEF85}"/>
              </a:ext>
            </a:extLst>
          </p:cNvPr>
          <p:cNvSpPr/>
          <p:nvPr/>
        </p:nvSpPr>
        <p:spPr>
          <a:xfrm>
            <a:off x="6920251" y="2138416"/>
            <a:ext cx="254000" cy="254000"/>
          </a:xfrm>
          <a:prstGeom prst="ellips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Meiryo"/>
                <a:ea typeface="メイリオ"/>
              </a:rPr>
              <a:t>1</a:t>
            </a:r>
          </a:p>
        </p:txBody>
      </p:sp>
      <p:sp>
        <p:nvSpPr>
          <p:cNvPr id="40" name="TextBox 35">
            <a:extLst>
              <a:ext uri="{FF2B5EF4-FFF2-40B4-BE49-F238E27FC236}">
                <a16:creationId xmlns:a16="http://schemas.microsoft.com/office/drawing/2014/main" id="{84B5F30F-610B-65B3-8E49-9A057760BB16}"/>
              </a:ext>
            </a:extLst>
          </p:cNvPr>
          <p:cNvSpPr txBox="1"/>
          <p:nvPr/>
        </p:nvSpPr>
        <p:spPr>
          <a:xfrm>
            <a:off x="7275851" y="2100996"/>
            <a:ext cx="3937000" cy="5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方位がほとんど変わらない</a:t>
            </a:r>
            <a:endParaRPr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25000"/>
              </a:lnSpc>
            </a:pPr>
            <a:r>
              <a:rPr sz="1200" b="0" dirty="0">
                <a:solidFill>
                  <a:srgbClr val="8A8F9A"/>
                </a:solidFill>
                <a:latin typeface="Meiryo"/>
                <a:ea typeface="メイリオ"/>
              </a:rPr>
              <a:t>|</a:t>
            </a:r>
            <a:r>
              <a:rPr sz="1200" b="0" dirty="0" err="1">
                <a:solidFill>
                  <a:srgbClr val="8A8F9A"/>
                </a:solidFill>
                <a:latin typeface="Meiryo"/>
                <a:ea typeface="メイリオ"/>
              </a:rPr>
              <a:t>dθ</a:t>
            </a:r>
            <a:r>
              <a:rPr sz="1200" b="0" dirty="0">
                <a:solidFill>
                  <a:srgbClr val="8A8F9A"/>
                </a:solidFill>
                <a:latin typeface="Meiryo"/>
                <a:ea typeface="メイリオ"/>
              </a:rPr>
              <a:t>/dt| ≤ 0.10 rad/s</a:t>
            </a:r>
          </a:p>
        </p:txBody>
      </p:sp>
      <p:sp>
        <p:nvSpPr>
          <p:cNvPr id="42" name="Oval 36">
            <a:extLst>
              <a:ext uri="{FF2B5EF4-FFF2-40B4-BE49-F238E27FC236}">
                <a16:creationId xmlns:a16="http://schemas.microsoft.com/office/drawing/2014/main" id="{EEFFF364-F411-94D8-D0D8-75B01E3CC81B}"/>
              </a:ext>
            </a:extLst>
          </p:cNvPr>
          <p:cNvSpPr/>
          <p:nvPr/>
        </p:nvSpPr>
        <p:spPr>
          <a:xfrm>
            <a:off x="6920251" y="2655382"/>
            <a:ext cx="254000" cy="254000"/>
          </a:xfrm>
          <a:prstGeom prst="ellips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Meiryo"/>
                <a:ea typeface="メイリオ"/>
              </a:rPr>
              <a:t>2</a:t>
            </a:r>
          </a:p>
        </p:txBody>
      </p:sp>
      <p:sp>
        <p:nvSpPr>
          <p:cNvPr id="43" name="TextBox 37">
            <a:extLst>
              <a:ext uri="{FF2B5EF4-FFF2-40B4-BE49-F238E27FC236}">
                <a16:creationId xmlns:a16="http://schemas.microsoft.com/office/drawing/2014/main" id="{2334ABF1-FFEC-8007-964E-782932ED7569}"/>
              </a:ext>
            </a:extLst>
          </p:cNvPr>
          <p:cNvSpPr txBox="1"/>
          <p:nvPr/>
        </p:nvSpPr>
        <p:spPr>
          <a:xfrm>
            <a:off x="7275851" y="2625062"/>
            <a:ext cx="3937000" cy="5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距離が縮んでいる</a:t>
            </a:r>
            <a:endParaRPr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25000"/>
              </a:lnSpc>
            </a:pPr>
            <a:r>
              <a:rPr sz="1200" b="0" dirty="0" err="1">
                <a:solidFill>
                  <a:srgbClr val="8A8F9A"/>
                </a:solidFill>
                <a:latin typeface="Meiryo"/>
                <a:ea typeface="メイリオ"/>
              </a:rPr>
              <a:t>頑健な傾きがマイナス</a:t>
            </a:r>
            <a:endParaRPr sz="12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44" name="Oval 38">
            <a:extLst>
              <a:ext uri="{FF2B5EF4-FFF2-40B4-BE49-F238E27FC236}">
                <a16:creationId xmlns:a16="http://schemas.microsoft.com/office/drawing/2014/main" id="{A0E750E0-AC75-4ACF-A793-25299E2D5CAC}"/>
              </a:ext>
            </a:extLst>
          </p:cNvPr>
          <p:cNvSpPr/>
          <p:nvPr/>
        </p:nvSpPr>
        <p:spPr>
          <a:xfrm>
            <a:off x="6920251" y="3190869"/>
            <a:ext cx="254000" cy="254000"/>
          </a:xfrm>
          <a:prstGeom prst="ellips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Meiryo"/>
                <a:ea typeface="メイリオ"/>
              </a:rPr>
              <a:t>3</a:t>
            </a:r>
          </a:p>
        </p:txBody>
      </p:sp>
      <p:sp>
        <p:nvSpPr>
          <p:cNvPr id="45" name="TextBox 39">
            <a:extLst>
              <a:ext uri="{FF2B5EF4-FFF2-40B4-BE49-F238E27FC236}">
                <a16:creationId xmlns:a16="http://schemas.microsoft.com/office/drawing/2014/main" id="{B294D421-6ADF-7505-6FC9-67DB013CB384}"/>
              </a:ext>
            </a:extLst>
          </p:cNvPr>
          <p:cNvSpPr txBox="1"/>
          <p:nvPr/>
        </p:nvSpPr>
        <p:spPr>
          <a:xfrm>
            <a:off x="7275851" y="3158223"/>
            <a:ext cx="3937000" cy="5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15m以内にいる</a:t>
            </a:r>
          </a:p>
          <a:p>
            <a:pPr algn="l">
              <a:lnSpc>
                <a:spcPct val="125000"/>
              </a:lnSpc>
            </a:pPr>
            <a:r>
              <a:rPr sz="1200" b="0" dirty="0" err="1">
                <a:solidFill>
                  <a:srgbClr val="8A8F9A"/>
                </a:solidFill>
                <a:latin typeface="Meiryo"/>
                <a:ea typeface="メイリオ"/>
              </a:rPr>
              <a:t>距離ゲート</a:t>
            </a:r>
            <a:endParaRPr sz="12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46" name="Rectangle 40">
            <a:extLst>
              <a:ext uri="{FF2B5EF4-FFF2-40B4-BE49-F238E27FC236}">
                <a16:creationId xmlns:a16="http://schemas.microsoft.com/office/drawing/2014/main" id="{5993804F-C4A5-B806-D24F-0E2B0834B260}"/>
              </a:ext>
            </a:extLst>
          </p:cNvPr>
          <p:cNvSpPr/>
          <p:nvPr/>
        </p:nvSpPr>
        <p:spPr>
          <a:xfrm>
            <a:off x="6920251" y="3909085"/>
            <a:ext cx="4241800" cy="946985"/>
          </a:xfrm>
          <a:prstGeom prst="rect">
            <a:avLst/>
          </a:prstGeom>
          <a:solidFill>
            <a:srgbClr val="FDF7E8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1">
            <a:extLst>
              <a:ext uri="{FF2B5EF4-FFF2-40B4-BE49-F238E27FC236}">
                <a16:creationId xmlns:a16="http://schemas.microsoft.com/office/drawing/2014/main" id="{A3B00681-88CE-E7BD-A0FA-B16214E40317}"/>
              </a:ext>
            </a:extLst>
          </p:cNvPr>
          <p:cNvSpPr txBox="1"/>
          <p:nvPr/>
        </p:nvSpPr>
        <p:spPr>
          <a:xfrm>
            <a:off x="7072651" y="4010686"/>
            <a:ext cx="3962400" cy="69640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船の衝突回避と同じ原則</a:t>
            </a:r>
            <a:r>
              <a:rPr lang="en-US" sz="1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(CBDR)</a:t>
            </a:r>
            <a:r>
              <a:rPr lang="ja-JP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。</a:t>
            </a:r>
            <a:endParaRPr lang="en-US" altLang="ja-JP" sz="11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35000"/>
              </a:lnSpc>
            </a:pPr>
            <a:r>
              <a:rPr sz="11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方位が変わらないまま近づいてくる相手は、衝突コース</a:t>
            </a:r>
            <a:r>
              <a:rPr lang="ja-JP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に</a:t>
            </a:r>
            <a:endParaRPr lang="en-US" altLang="ja-JP" sz="11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35000"/>
              </a:lnSpc>
            </a:pPr>
            <a:r>
              <a:rPr lang="ja-JP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いると判断。</a:t>
            </a:r>
            <a:endParaRPr sz="11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48" name="Rectangle 42">
            <a:extLst>
              <a:ext uri="{FF2B5EF4-FFF2-40B4-BE49-F238E27FC236}">
                <a16:creationId xmlns:a16="http://schemas.microsoft.com/office/drawing/2014/main" id="{C462BAD1-1D0B-7AD3-F29E-5F3EF70B534D}"/>
              </a:ext>
            </a:extLst>
          </p:cNvPr>
          <p:cNvSpPr/>
          <p:nvPr/>
        </p:nvSpPr>
        <p:spPr>
          <a:xfrm>
            <a:off x="976651" y="5271361"/>
            <a:ext cx="10414000" cy="900000"/>
          </a:xfrm>
          <a:prstGeom prst="rect">
            <a:avLst/>
          </a:prstGeom>
          <a:solidFill>
            <a:srgbClr val="F5F3F9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44">
            <a:extLst>
              <a:ext uri="{FF2B5EF4-FFF2-40B4-BE49-F238E27FC236}">
                <a16:creationId xmlns:a16="http://schemas.microsoft.com/office/drawing/2014/main" id="{4DD3327E-405D-9843-A5C0-F776FF9CC588}"/>
              </a:ext>
            </a:extLst>
          </p:cNvPr>
          <p:cNvSpPr txBox="1"/>
          <p:nvPr/>
        </p:nvSpPr>
        <p:spPr>
          <a:xfrm>
            <a:off x="1256053" y="5284330"/>
            <a:ext cx="10097747" cy="87511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b="1" dirty="0">
                <a:solidFill>
                  <a:srgbClr val="7E6F98"/>
                </a:solidFill>
                <a:latin typeface="Meiryo"/>
                <a:ea typeface="メイリオ"/>
              </a:rPr>
              <a:t>なぜ15mで切るのか</a:t>
            </a:r>
          </a:p>
          <a:p>
            <a:pPr algn="l">
              <a:lnSpc>
                <a:spcPts val="1800"/>
              </a:lnSpc>
            </a:pPr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方位の変化率は距離の2乗に反比例。遠くをまっすぐ通り過ぎる安全な車も「方位が変わらない」ように見える</a:t>
            </a: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ため</a:t>
            </a:r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、</a:t>
            </a:r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距離で切らないと遠い車まで強い警告にな</a:t>
            </a: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る</a:t>
            </a:r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。</a:t>
            </a:r>
          </a:p>
        </p:txBody>
      </p:sp>
      <p:sp>
        <p:nvSpPr>
          <p:cNvPr id="62" name="Rounded Rectangle 97">
            <a:extLst>
              <a:ext uri="{FF2B5EF4-FFF2-40B4-BE49-F238E27FC236}">
                <a16:creationId xmlns:a16="http://schemas.microsoft.com/office/drawing/2014/main" id="{DA0469AD-6043-26B6-FF09-3BE8397CFD9E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64" name="Rounded Rectangle 96">
            <a:extLst>
              <a:ext uri="{FF2B5EF4-FFF2-40B4-BE49-F238E27FC236}">
                <a16:creationId xmlns:a16="http://schemas.microsoft.com/office/drawing/2014/main" id="{45B9DF2A-687D-D023-554F-8E890D0F5270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66" name="Rounded Rectangle 95">
            <a:extLst>
              <a:ext uri="{FF2B5EF4-FFF2-40B4-BE49-F238E27FC236}">
                <a16:creationId xmlns:a16="http://schemas.microsoft.com/office/drawing/2014/main" id="{60A30604-D298-2AA9-D08E-9B8251C289D9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実録の計画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68" name="Rounded Rectangle 94">
            <a:extLst>
              <a:ext uri="{FF2B5EF4-FFF2-40B4-BE49-F238E27FC236}">
                <a16:creationId xmlns:a16="http://schemas.microsoft.com/office/drawing/2014/main" id="{5174B101-CB1A-D965-6F17-079805F88B97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振り返り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70" name="Rounded Rectangle 93">
            <a:extLst>
              <a:ext uri="{FF2B5EF4-FFF2-40B4-BE49-F238E27FC236}">
                <a16:creationId xmlns:a16="http://schemas.microsoft.com/office/drawing/2014/main" id="{51CD59B5-BC7E-049D-4C49-148246FE74A8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72" name="Rounded Rectangle 92">
            <a:extLst>
              <a:ext uri="{FF2B5EF4-FFF2-40B4-BE49-F238E27FC236}">
                <a16:creationId xmlns:a16="http://schemas.microsoft.com/office/drawing/2014/main" id="{E09377D5-82BA-209C-1149-7F5BD451484B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41">
            <a:extLst>
              <a:ext uri="{FF2B5EF4-FFF2-40B4-BE49-F238E27FC236}">
                <a16:creationId xmlns:a16="http://schemas.microsoft.com/office/drawing/2014/main" id="{848A268F-0B45-4A23-98AC-9CACD630FFB2}"/>
              </a:ext>
            </a:extLst>
          </p:cNvPr>
          <p:cNvSpPr/>
          <p:nvPr/>
        </p:nvSpPr>
        <p:spPr>
          <a:xfrm>
            <a:off x="938240" y="4622800"/>
            <a:ext cx="5080000" cy="965200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44">
            <a:extLst>
              <a:ext uri="{FF2B5EF4-FFF2-40B4-BE49-F238E27FC236}">
                <a16:creationId xmlns:a16="http://schemas.microsoft.com/office/drawing/2014/main" id="{9F7C6D12-D9E8-833A-239E-A6057F94B629}"/>
              </a:ext>
            </a:extLst>
          </p:cNvPr>
          <p:cNvSpPr/>
          <p:nvPr/>
        </p:nvSpPr>
        <p:spPr>
          <a:xfrm>
            <a:off x="6272240" y="4622800"/>
            <a:ext cx="5080000" cy="965200"/>
          </a:xfrm>
          <a:prstGeom prst="rect">
            <a:avLst/>
          </a:prstGeom>
          <a:solidFill>
            <a:srgbClr val="F6F7F7"/>
          </a:solidFill>
          <a:ln w="12700">
            <a:solidFill>
              <a:srgbClr val="DB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93DB369F-06FC-CF41-1CD5-5870AC5C443C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8ADF383-A6AB-0123-2CE0-571EECD54513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FE381C0-3D3F-D2A9-686B-07744BD4B9A2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7E4642-626B-FCB0-6388-0D2AD9AEA506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17291F3-6BC3-37D0-652B-AD5A99AEF016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E6F3956-7819-C859-8C11-3F1212951E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760"/>
          </a:xfrm>
        </p:spPr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4E2638CE-FD79-C4F6-CE36-029A392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760"/>
          </a:xfrm>
        </p:spPr>
        <p:txBody>
          <a:bodyPr/>
          <a:lstStyle/>
          <a:p>
            <a:fld id="{4E9148DC-F7ED-4428-85F4-2C78C4B0CFB7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D9F35259-5B1A-FFA1-C7FB-206E715222E7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①その結果</a:t>
            </a:r>
            <a:endParaRPr lang="en-US" sz="3200" b="1" spc="679" dirty="0">
              <a:latin typeface="メイリオ" panose="020B0604030504040204" pitchFamily="50" charset="-128"/>
              <a:ea typeface="メイリオ" panose="020B0604030504040204" pitchFamily="50" charset="-128"/>
              <a:cs typeface="Noto Sans JP Medium"/>
              <a:sym typeface="Noto Sans JP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17BD81-1FCF-E0E6-4095-30B10D509F6A}"/>
              </a:ext>
            </a:extLst>
          </p:cNvPr>
          <p:cNvSpPr txBox="1"/>
          <p:nvPr/>
        </p:nvSpPr>
        <p:spPr>
          <a:xfrm>
            <a:off x="938240" y="1267158"/>
            <a:ext cx="10414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車を「対向型」と「すり抜け型」に分けて</a:t>
            </a: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、</a:t>
            </a:r>
            <a:r>
              <a:rPr lang="ja-JP" alt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比較。</a:t>
            </a:r>
            <a:endParaRPr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3F5FAAF4-9BDE-C1FB-1139-EA1246837422}"/>
              </a:ext>
            </a:extLst>
          </p:cNvPr>
          <p:cNvSpPr/>
          <p:nvPr/>
        </p:nvSpPr>
        <p:spPr>
          <a:xfrm>
            <a:off x="938240" y="1853241"/>
            <a:ext cx="10414000" cy="3556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56B200D8-634E-C5D7-45A4-C1406570A2CD}"/>
              </a:ext>
            </a:extLst>
          </p:cNvPr>
          <p:cNvSpPr txBox="1"/>
          <p:nvPr/>
        </p:nvSpPr>
        <p:spPr>
          <a:xfrm>
            <a:off x="1116040" y="1902546"/>
            <a:ext cx="3175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rgbClr val="FFFFFF"/>
                </a:solidFill>
                <a:latin typeface="Meiryo"/>
                <a:ea typeface="メイリオ"/>
              </a:rPr>
              <a:t>どんな車か</a:t>
            </a:r>
            <a:endParaRPr b="1" dirty="0">
              <a:solidFill>
                <a:srgbClr val="FFFFFF"/>
              </a:solidFill>
              <a:latin typeface="Meiryo"/>
              <a:ea typeface="メイリオ"/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6434FEE2-B5CC-3C7B-F524-E414D36CB9AF}"/>
              </a:ext>
            </a:extLst>
          </p:cNvPr>
          <p:cNvSpPr txBox="1"/>
          <p:nvPr/>
        </p:nvSpPr>
        <p:spPr>
          <a:xfrm>
            <a:off x="4367240" y="1902546"/>
            <a:ext cx="1397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Meiryo"/>
                <a:ea typeface="メイリオ"/>
              </a:rPr>
              <a:t>型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CFE7921B-CD71-52EA-F411-EC828C9BA404}"/>
              </a:ext>
            </a:extLst>
          </p:cNvPr>
          <p:cNvSpPr txBox="1"/>
          <p:nvPr/>
        </p:nvSpPr>
        <p:spPr>
          <a:xfrm>
            <a:off x="5840440" y="1902546"/>
            <a:ext cx="1143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Meiryo"/>
                <a:ea typeface="メイリオ"/>
              </a:rPr>
              <a:t>件数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3E54B023-D416-3A72-71D4-689387D86446}"/>
              </a:ext>
            </a:extLst>
          </p:cNvPr>
          <p:cNvSpPr txBox="1"/>
          <p:nvPr/>
        </p:nvSpPr>
        <p:spPr>
          <a:xfrm>
            <a:off x="7059640" y="1902546"/>
            <a:ext cx="1905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Meiryo"/>
                <a:ea typeface="メイリオ"/>
              </a:rPr>
              <a:t>前</a:t>
            </a: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22F96D18-A221-72AE-34B3-B9568553632E}"/>
              </a:ext>
            </a:extLst>
          </p:cNvPr>
          <p:cNvSpPr txBox="1"/>
          <p:nvPr/>
        </p:nvSpPr>
        <p:spPr>
          <a:xfrm>
            <a:off x="9040840" y="1902546"/>
            <a:ext cx="1905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lang="ja-JP" altLang="en-US" b="1" dirty="0">
                <a:solidFill>
                  <a:srgbClr val="FFFFFF"/>
                </a:solidFill>
                <a:latin typeface="Meiryo"/>
                <a:ea typeface="メイリオ"/>
              </a:rPr>
              <a:t>今</a:t>
            </a:r>
            <a:endParaRPr b="1" dirty="0">
              <a:solidFill>
                <a:srgbClr val="FFFFFF"/>
              </a:solidFill>
              <a:latin typeface="Meiryo"/>
              <a:ea typeface="メイリオ"/>
            </a:endParaRP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57FFB633-5FF6-21E5-3DD4-997CD44751AA}"/>
              </a:ext>
            </a:extLst>
          </p:cNvPr>
          <p:cNvSpPr/>
          <p:nvPr/>
        </p:nvSpPr>
        <p:spPr>
          <a:xfrm>
            <a:off x="938240" y="2208841"/>
            <a:ext cx="10414000" cy="5588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2D46889C-145F-B6BF-EFF3-961A144BEF24}"/>
              </a:ext>
            </a:extLst>
          </p:cNvPr>
          <p:cNvSpPr txBox="1"/>
          <p:nvPr/>
        </p:nvSpPr>
        <p:spPr>
          <a:xfrm>
            <a:off x="1116040" y="2373941"/>
            <a:ext cx="317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222838"/>
                </a:solidFill>
                <a:latin typeface="Meiryo"/>
                <a:ea typeface="メイリオ"/>
              </a:rPr>
              <a:t>危ない</a:t>
            </a:r>
            <a:r>
              <a:rPr 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(</a:t>
            </a:r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1.5m以内</a:t>
            </a:r>
            <a:r>
              <a:rPr 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)</a:t>
            </a:r>
            <a:endParaRPr sz="1400" b="0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9ECBCC86-8B90-CC7C-AE0D-4FF56E01383E}"/>
              </a:ext>
            </a:extLst>
          </p:cNvPr>
          <p:cNvSpPr txBox="1"/>
          <p:nvPr/>
        </p:nvSpPr>
        <p:spPr>
          <a:xfrm>
            <a:off x="4367240" y="2373941"/>
            <a:ext cx="1397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 err="1">
                <a:solidFill>
                  <a:srgbClr val="C0392B"/>
                </a:solidFill>
                <a:latin typeface="Meiryo"/>
                <a:ea typeface="メイリオ"/>
              </a:rPr>
              <a:t>対向</a:t>
            </a:r>
            <a:endParaRPr sz="1400" b="1" dirty="0">
              <a:solidFill>
                <a:srgbClr val="C0392B"/>
              </a:solidFill>
              <a:latin typeface="Meiryo"/>
              <a:ea typeface="メイリオ"/>
            </a:endParaRPr>
          </a:p>
        </p:txBody>
      </p:sp>
      <p:sp>
        <p:nvSpPr>
          <p:cNvPr id="35" name="TextBox 20">
            <a:extLst>
              <a:ext uri="{FF2B5EF4-FFF2-40B4-BE49-F238E27FC236}">
                <a16:creationId xmlns:a16="http://schemas.microsoft.com/office/drawing/2014/main" id="{10E0EF26-4A00-F8F6-0BB9-7FB1DFF5D1E9}"/>
              </a:ext>
            </a:extLst>
          </p:cNvPr>
          <p:cNvSpPr txBox="1"/>
          <p:nvPr/>
        </p:nvSpPr>
        <p:spPr>
          <a:xfrm>
            <a:off x="5840440" y="2373941"/>
            <a:ext cx="1143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460</a:t>
            </a: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6C4BE516-F2B0-0621-8E8A-4076F7A76D5A}"/>
              </a:ext>
            </a:extLst>
          </p:cNvPr>
          <p:cNvSpPr txBox="1"/>
          <p:nvPr/>
        </p:nvSpPr>
        <p:spPr>
          <a:xfrm>
            <a:off x="7059640" y="2373941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595F6E"/>
                </a:solidFill>
                <a:latin typeface="Meiryo"/>
                <a:ea typeface="メイリオ"/>
              </a:rPr>
              <a:t>強い警告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 81%</a:t>
            </a:r>
          </a:p>
        </p:txBody>
      </p:sp>
      <p:sp>
        <p:nvSpPr>
          <p:cNvPr id="40" name="TextBox 22">
            <a:extLst>
              <a:ext uri="{FF2B5EF4-FFF2-40B4-BE49-F238E27FC236}">
                <a16:creationId xmlns:a16="http://schemas.microsoft.com/office/drawing/2014/main" id="{CEEA9C29-E56C-4A0C-13AB-6640B14807B2}"/>
              </a:ext>
            </a:extLst>
          </p:cNvPr>
          <p:cNvSpPr txBox="1"/>
          <p:nvPr/>
        </p:nvSpPr>
        <p:spPr>
          <a:xfrm>
            <a:off x="9040840" y="2335841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>
                <a:solidFill>
                  <a:srgbClr val="C0392B"/>
                </a:solidFill>
                <a:latin typeface="Meiryo"/>
                <a:ea typeface="メイリオ"/>
              </a:rPr>
              <a:t>90%</a:t>
            </a:r>
          </a:p>
        </p:txBody>
      </p:sp>
      <p:sp>
        <p:nvSpPr>
          <p:cNvPr id="43" name="Rectangle 23">
            <a:extLst>
              <a:ext uri="{FF2B5EF4-FFF2-40B4-BE49-F238E27FC236}">
                <a16:creationId xmlns:a16="http://schemas.microsoft.com/office/drawing/2014/main" id="{7BF2E70B-4BDC-5CCB-ADEB-CDA63CD5094D}"/>
              </a:ext>
            </a:extLst>
          </p:cNvPr>
          <p:cNvSpPr/>
          <p:nvPr/>
        </p:nvSpPr>
        <p:spPr>
          <a:xfrm>
            <a:off x="938240" y="2767641"/>
            <a:ext cx="10414000" cy="558800"/>
          </a:xfrm>
          <a:prstGeom prst="rect">
            <a:avLst/>
          </a:prstGeom>
          <a:solidFill>
            <a:srgbClr val="F2F3F5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TextBox 24">
            <a:extLst>
              <a:ext uri="{FF2B5EF4-FFF2-40B4-BE49-F238E27FC236}">
                <a16:creationId xmlns:a16="http://schemas.microsoft.com/office/drawing/2014/main" id="{961EE52C-F8C4-C15D-590B-7F258E60197B}"/>
              </a:ext>
            </a:extLst>
          </p:cNvPr>
          <p:cNvSpPr txBox="1"/>
          <p:nvPr/>
        </p:nvSpPr>
        <p:spPr>
          <a:xfrm>
            <a:off x="1116040" y="2932741"/>
            <a:ext cx="317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222838"/>
                </a:solidFill>
                <a:latin typeface="Meiryo"/>
                <a:ea typeface="メイリオ"/>
              </a:rPr>
              <a:t>危ない</a:t>
            </a:r>
            <a:r>
              <a:rPr 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(</a:t>
            </a:r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1.5m以内</a:t>
            </a:r>
            <a:r>
              <a:rPr 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)</a:t>
            </a:r>
            <a:endParaRPr sz="1400" b="0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47" name="TextBox 25">
            <a:extLst>
              <a:ext uri="{FF2B5EF4-FFF2-40B4-BE49-F238E27FC236}">
                <a16:creationId xmlns:a16="http://schemas.microsoft.com/office/drawing/2014/main" id="{9FE021B9-3E1E-0F0F-1A37-46FB7637BB99}"/>
              </a:ext>
            </a:extLst>
          </p:cNvPr>
          <p:cNvSpPr txBox="1"/>
          <p:nvPr/>
        </p:nvSpPr>
        <p:spPr>
          <a:xfrm>
            <a:off x="4367240" y="2932741"/>
            <a:ext cx="1397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 err="1">
                <a:solidFill>
                  <a:srgbClr val="C0392B"/>
                </a:solidFill>
                <a:latin typeface="Meiryo"/>
                <a:ea typeface="メイリオ"/>
              </a:rPr>
              <a:t>すり抜け</a:t>
            </a:r>
            <a:endParaRPr sz="1400" b="1" dirty="0">
              <a:solidFill>
                <a:srgbClr val="C0392B"/>
              </a:solidFill>
              <a:latin typeface="Meiryo"/>
              <a:ea typeface="メイリオ"/>
            </a:endParaRPr>
          </a:p>
        </p:txBody>
      </p:sp>
      <p:sp>
        <p:nvSpPr>
          <p:cNvPr id="49" name="TextBox 26">
            <a:extLst>
              <a:ext uri="{FF2B5EF4-FFF2-40B4-BE49-F238E27FC236}">
                <a16:creationId xmlns:a16="http://schemas.microsoft.com/office/drawing/2014/main" id="{FAC770C2-971C-62B1-D751-1018CC18E5AC}"/>
              </a:ext>
            </a:extLst>
          </p:cNvPr>
          <p:cNvSpPr txBox="1"/>
          <p:nvPr/>
        </p:nvSpPr>
        <p:spPr>
          <a:xfrm>
            <a:off x="5840440" y="2932741"/>
            <a:ext cx="1143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43</a:t>
            </a: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AC355FA1-D8B1-C4AD-BAD9-1995BB3B253B}"/>
              </a:ext>
            </a:extLst>
          </p:cNvPr>
          <p:cNvSpPr txBox="1"/>
          <p:nvPr/>
        </p:nvSpPr>
        <p:spPr>
          <a:xfrm>
            <a:off x="7059640" y="2932741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595F6E"/>
                </a:solidFill>
                <a:latin typeface="Meiryo"/>
                <a:ea typeface="メイリオ"/>
              </a:rPr>
              <a:t>強い警告 77%</a:t>
            </a:r>
          </a:p>
        </p:txBody>
      </p:sp>
      <p:sp>
        <p:nvSpPr>
          <p:cNvPr id="54" name="TextBox 28">
            <a:extLst>
              <a:ext uri="{FF2B5EF4-FFF2-40B4-BE49-F238E27FC236}">
                <a16:creationId xmlns:a16="http://schemas.microsoft.com/office/drawing/2014/main" id="{88DD13D8-4535-BE9D-E05C-48EBF229F738}"/>
              </a:ext>
            </a:extLst>
          </p:cNvPr>
          <p:cNvSpPr txBox="1"/>
          <p:nvPr/>
        </p:nvSpPr>
        <p:spPr>
          <a:xfrm>
            <a:off x="9040840" y="2894641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Meiryo"/>
                <a:ea typeface="メイリオ"/>
              </a:rPr>
              <a:t>93%</a:t>
            </a:r>
          </a:p>
        </p:txBody>
      </p:sp>
      <p:sp>
        <p:nvSpPr>
          <p:cNvPr id="56" name="Rectangle 29">
            <a:extLst>
              <a:ext uri="{FF2B5EF4-FFF2-40B4-BE49-F238E27FC236}">
                <a16:creationId xmlns:a16="http://schemas.microsoft.com/office/drawing/2014/main" id="{76BC228D-7848-A048-A3A4-E402586814B6}"/>
              </a:ext>
            </a:extLst>
          </p:cNvPr>
          <p:cNvSpPr/>
          <p:nvPr/>
        </p:nvSpPr>
        <p:spPr>
          <a:xfrm>
            <a:off x="938240" y="3326441"/>
            <a:ext cx="10414000" cy="5588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8" name="TextBox 30">
            <a:extLst>
              <a:ext uri="{FF2B5EF4-FFF2-40B4-BE49-F238E27FC236}">
                <a16:creationId xmlns:a16="http://schemas.microsoft.com/office/drawing/2014/main" id="{07319E2A-6600-5B31-9929-7E6B06450778}"/>
              </a:ext>
            </a:extLst>
          </p:cNvPr>
          <p:cNvSpPr txBox="1"/>
          <p:nvPr/>
        </p:nvSpPr>
        <p:spPr>
          <a:xfrm>
            <a:off x="1116040" y="3491541"/>
            <a:ext cx="317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222838"/>
                </a:solidFill>
                <a:latin typeface="Meiryo"/>
                <a:ea typeface="メイリオ"/>
              </a:rPr>
              <a:t>鳴らすべきでない</a:t>
            </a:r>
            <a:r>
              <a:rPr 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(</a:t>
            </a:r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3.2m超</a:t>
            </a:r>
            <a:r>
              <a:rPr 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)</a:t>
            </a:r>
            <a:endParaRPr sz="1400" b="0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60" name="TextBox 31">
            <a:extLst>
              <a:ext uri="{FF2B5EF4-FFF2-40B4-BE49-F238E27FC236}">
                <a16:creationId xmlns:a16="http://schemas.microsoft.com/office/drawing/2014/main" id="{E54D26EF-01DD-273B-DBD5-F3E6FA1F2F7F}"/>
              </a:ext>
            </a:extLst>
          </p:cNvPr>
          <p:cNvSpPr txBox="1"/>
          <p:nvPr/>
        </p:nvSpPr>
        <p:spPr>
          <a:xfrm>
            <a:off x="4367240" y="3491541"/>
            <a:ext cx="1397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>
                <a:solidFill>
                  <a:srgbClr val="2E7D5B"/>
                </a:solidFill>
                <a:latin typeface="Meiryo"/>
                <a:ea typeface="メイリオ"/>
              </a:rPr>
              <a:t>対向</a:t>
            </a:r>
          </a:p>
        </p:txBody>
      </p:sp>
      <p:sp>
        <p:nvSpPr>
          <p:cNvPr id="62" name="TextBox 32">
            <a:extLst>
              <a:ext uri="{FF2B5EF4-FFF2-40B4-BE49-F238E27FC236}">
                <a16:creationId xmlns:a16="http://schemas.microsoft.com/office/drawing/2014/main" id="{F8A9BA07-138F-85D1-92C3-5C0DB99D9EB2}"/>
              </a:ext>
            </a:extLst>
          </p:cNvPr>
          <p:cNvSpPr txBox="1"/>
          <p:nvPr/>
        </p:nvSpPr>
        <p:spPr>
          <a:xfrm>
            <a:off x="5840440" y="3491541"/>
            <a:ext cx="1143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52</a:t>
            </a:r>
          </a:p>
        </p:txBody>
      </p:sp>
      <p:sp>
        <p:nvSpPr>
          <p:cNvPr id="64" name="TextBox 33">
            <a:extLst>
              <a:ext uri="{FF2B5EF4-FFF2-40B4-BE49-F238E27FC236}">
                <a16:creationId xmlns:a16="http://schemas.microsoft.com/office/drawing/2014/main" id="{34308D62-94DE-8388-35C3-1B22C11E4D57}"/>
              </a:ext>
            </a:extLst>
          </p:cNvPr>
          <p:cNvSpPr txBox="1"/>
          <p:nvPr/>
        </p:nvSpPr>
        <p:spPr>
          <a:xfrm>
            <a:off x="7059640" y="3491541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 </a:t>
            </a:r>
            <a:r>
              <a:rPr sz="1400" b="0" dirty="0" err="1">
                <a:solidFill>
                  <a:srgbClr val="595F6E"/>
                </a:solidFill>
                <a:latin typeface="Meiryo"/>
                <a:ea typeface="メイリオ"/>
              </a:rPr>
              <a:t>黙れた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33%</a:t>
            </a:r>
          </a:p>
        </p:txBody>
      </p:sp>
      <p:sp>
        <p:nvSpPr>
          <p:cNvPr id="66" name="TextBox 34">
            <a:extLst>
              <a:ext uri="{FF2B5EF4-FFF2-40B4-BE49-F238E27FC236}">
                <a16:creationId xmlns:a16="http://schemas.microsoft.com/office/drawing/2014/main" id="{A93AFC76-62DB-0AAA-7441-E1E52EB54709}"/>
              </a:ext>
            </a:extLst>
          </p:cNvPr>
          <p:cNvSpPr txBox="1"/>
          <p:nvPr/>
        </p:nvSpPr>
        <p:spPr>
          <a:xfrm>
            <a:off x="9040840" y="3453441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>
                <a:solidFill>
                  <a:srgbClr val="2E7D5B"/>
                </a:solidFill>
                <a:latin typeface="Meiryo"/>
                <a:ea typeface="メイリオ"/>
              </a:rPr>
              <a:t>71%</a:t>
            </a:r>
          </a:p>
        </p:txBody>
      </p:sp>
      <p:sp>
        <p:nvSpPr>
          <p:cNvPr id="68" name="Rectangle 35">
            <a:extLst>
              <a:ext uri="{FF2B5EF4-FFF2-40B4-BE49-F238E27FC236}">
                <a16:creationId xmlns:a16="http://schemas.microsoft.com/office/drawing/2014/main" id="{FA746CBF-69EF-7B05-2809-D760135B608B}"/>
              </a:ext>
            </a:extLst>
          </p:cNvPr>
          <p:cNvSpPr/>
          <p:nvPr/>
        </p:nvSpPr>
        <p:spPr>
          <a:xfrm>
            <a:off x="938240" y="3885241"/>
            <a:ext cx="10414000" cy="558800"/>
          </a:xfrm>
          <a:prstGeom prst="rect">
            <a:avLst/>
          </a:prstGeom>
          <a:solidFill>
            <a:srgbClr val="F2F3F5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0" name="TextBox 36">
            <a:extLst>
              <a:ext uri="{FF2B5EF4-FFF2-40B4-BE49-F238E27FC236}">
                <a16:creationId xmlns:a16="http://schemas.microsoft.com/office/drawing/2014/main" id="{EA0951F4-370F-C95C-E415-856A68EA1162}"/>
              </a:ext>
            </a:extLst>
          </p:cNvPr>
          <p:cNvSpPr txBox="1"/>
          <p:nvPr/>
        </p:nvSpPr>
        <p:spPr>
          <a:xfrm>
            <a:off x="1116040" y="4050341"/>
            <a:ext cx="317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222838"/>
                </a:solidFill>
                <a:latin typeface="Meiryo"/>
                <a:ea typeface="メイリオ"/>
              </a:rPr>
              <a:t>鳴らすべきでない</a:t>
            </a:r>
            <a:r>
              <a:rPr 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(</a:t>
            </a:r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3.2m超</a:t>
            </a:r>
            <a:r>
              <a:rPr 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)</a:t>
            </a:r>
            <a:endParaRPr sz="1400" b="0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72" name="TextBox 37">
            <a:extLst>
              <a:ext uri="{FF2B5EF4-FFF2-40B4-BE49-F238E27FC236}">
                <a16:creationId xmlns:a16="http://schemas.microsoft.com/office/drawing/2014/main" id="{359B3583-5DBD-9C79-76F6-F93489B14E03}"/>
              </a:ext>
            </a:extLst>
          </p:cNvPr>
          <p:cNvSpPr txBox="1"/>
          <p:nvPr/>
        </p:nvSpPr>
        <p:spPr>
          <a:xfrm>
            <a:off x="4367240" y="4050341"/>
            <a:ext cx="1397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 err="1">
                <a:solidFill>
                  <a:srgbClr val="8A8F9A"/>
                </a:solidFill>
                <a:latin typeface="Meiryo"/>
                <a:ea typeface="メイリオ"/>
              </a:rPr>
              <a:t>すり抜け</a:t>
            </a:r>
            <a:endParaRPr sz="1400" b="1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74" name="TextBox 38">
            <a:extLst>
              <a:ext uri="{FF2B5EF4-FFF2-40B4-BE49-F238E27FC236}">
                <a16:creationId xmlns:a16="http://schemas.microsoft.com/office/drawing/2014/main" id="{45A86E56-A5E2-6ECF-0167-0B7063B0B5A8}"/>
              </a:ext>
            </a:extLst>
          </p:cNvPr>
          <p:cNvSpPr txBox="1"/>
          <p:nvPr/>
        </p:nvSpPr>
        <p:spPr>
          <a:xfrm>
            <a:off x="5840440" y="4050341"/>
            <a:ext cx="1143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501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E15EA0C1-C3D0-40CA-4FCE-3F67654B6847}"/>
              </a:ext>
            </a:extLst>
          </p:cNvPr>
          <p:cNvSpPr txBox="1"/>
          <p:nvPr/>
        </p:nvSpPr>
        <p:spPr>
          <a:xfrm>
            <a:off x="7059640" y="4050341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 </a:t>
            </a:r>
            <a:r>
              <a:rPr sz="1400" b="0" dirty="0" err="1">
                <a:solidFill>
                  <a:srgbClr val="595F6E"/>
                </a:solidFill>
                <a:latin typeface="Meiryo"/>
                <a:ea typeface="メイリオ"/>
              </a:rPr>
              <a:t>黙れた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62%</a:t>
            </a:r>
          </a:p>
        </p:txBody>
      </p:sp>
      <p:sp>
        <p:nvSpPr>
          <p:cNvPr id="78" name="TextBox 40">
            <a:extLst>
              <a:ext uri="{FF2B5EF4-FFF2-40B4-BE49-F238E27FC236}">
                <a16:creationId xmlns:a16="http://schemas.microsoft.com/office/drawing/2014/main" id="{2AC4E71D-5710-8EF3-D67B-2CE3F0C466B2}"/>
              </a:ext>
            </a:extLst>
          </p:cNvPr>
          <p:cNvSpPr txBox="1"/>
          <p:nvPr/>
        </p:nvSpPr>
        <p:spPr>
          <a:xfrm>
            <a:off x="9040840" y="4012241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>
                <a:solidFill>
                  <a:srgbClr val="8A8F9A"/>
                </a:solidFill>
                <a:latin typeface="Meiryo"/>
                <a:ea typeface="メイリオ"/>
              </a:rPr>
              <a:t>64%</a:t>
            </a:r>
          </a:p>
        </p:txBody>
      </p:sp>
      <p:sp>
        <p:nvSpPr>
          <p:cNvPr id="84" name="TextBox 43">
            <a:extLst>
              <a:ext uri="{FF2B5EF4-FFF2-40B4-BE49-F238E27FC236}">
                <a16:creationId xmlns:a16="http://schemas.microsoft.com/office/drawing/2014/main" id="{2FF2C9E6-D43F-9F4B-D13B-7C232913338B}"/>
              </a:ext>
            </a:extLst>
          </p:cNvPr>
          <p:cNvSpPr txBox="1"/>
          <p:nvPr/>
        </p:nvSpPr>
        <p:spPr>
          <a:xfrm>
            <a:off x="1166840" y="4592414"/>
            <a:ext cx="4699000" cy="96244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結果</a:t>
            </a:r>
          </a:p>
          <a:p>
            <a:pPr algn="l">
              <a:lnSpc>
                <a:spcPct val="135000"/>
              </a:lnSpc>
            </a:pPr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危ない車には強く鳴るようになり、鳴らすべきでない対向車では黙るようにな</a:t>
            </a: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った。</a:t>
            </a:r>
            <a:endParaRPr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90" name="TextBox 46">
            <a:extLst>
              <a:ext uri="{FF2B5EF4-FFF2-40B4-BE49-F238E27FC236}">
                <a16:creationId xmlns:a16="http://schemas.microsoft.com/office/drawing/2014/main" id="{1D70C4FC-04AA-EE23-D7C2-9AC9D68E1BD5}"/>
              </a:ext>
            </a:extLst>
          </p:cNvPr>
          <p:cNvSpPr txBox="1"/>
          <p:nvPr/>
        </p:nvSpPr>
        <p:spPr>
          <a:xfrm>
            <a:off x="6500840" y="4592414"/>
            <a:ext cx="4699000" cy="96244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弱点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35000"/>
              </a:lnSpc>
            </a:pPr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すり抜けていく安全な車での無駄鳴りは、62→64%と</a:t>
            </a:r>
            <a:endParaRPr lang="en-US"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35000"/>
              </a:lnSpc>
            </a:pPr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ほぼ改善してい</a:t>
            </a: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ない。</a:t>
            </a:r>
            <a:endParaRPr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92" name="TextBox 47">
            <a:extLst>
              <a:ext uri="{FF2B5EF4-FFF2-40B4-BE49-F238E27FC236}">
                <a16:creationId xmlns:a16="http://schemas.microsoft.com/office/drawing/2014/main" id="{17BAAED1-D6A9-3CD5-FE66-57746C08F9AC}"/>
              </a:ext>
            </a:extLst>
          </p:cNvPr>
          <p:cNvSpPr txBox="1"/>
          <p:nvPr/>
        </p:nvSpPr>
        <p:spPr>
          <a:xfrm>
            <a:off x="889000" y="5816600"/>
            <a:ext cx="10414000" cy="508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※</a:t>
            </a:r>
            <a:endParaRPr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sz="1600" b="0">
                <a:latin typeface="Meiryo"/>
                <a:ea typeface="メイリオ"/>
              </a:rPr>
              <a:t>※型の分け方＝正解の軌跡で、最接近の2.5〜1.5秒前の方位変化率が 0.10 rad/s 未満なら対向型、以上ならすり抜け型。</a:t>
            </a:r>
          </a:p>
        </p:txBody>
      </p:sp>
      <p:sp>
        <p:nvSpPr>
          <p:cNvPr id="39" name="Rounded Rectangle 97">
            <a:extLst>
              <a:ext uri="{FF2B5EF4-FFF2-40B4-BE49-F238E27FC236}">
                <a16:creationId xmlns:a16="http://schemas.microsoft.com/office/drawing/2014/main" id="{E7AAC976-C235-C86B-46BB-717D0E06638D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4" name="Rounded Rectangle 96">
            <a:extLst>
              <a:ext uri="{FF2B5EF4-FFF2-40B4-BE49-F238E27FC236}">
                <a16:creationId xmlns:a16="http://schemas.microsoft.com/office/drawing/2014/main" id="{03E08090-D77B-27D7-9B21-0AC5F761A7B1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8" name="Rounded Rectangle 95">
            <a:extLst>
              <a:ext uri="{FF2B5EF4-FFF2-40B4-BE49-F238E27FC236}">
                <a16:creationId xmlns:a16="http://schemas.microsoft.com/office/drawing/2014/main" id="{92756D62-7C1D-4E70-2567-31A99660B925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実録の計画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3" name="Rounded Rectangle 94">
            <a:extLst>
              <a:ext uri="{FF2B5EF4-FFF2-40B4-BE49-F238E27FC236}">
                <a16:creationId xmlns:a16="http://schemas.microsoft.com/office/drawing/2014/main" id="{FD63D787-56D8-2C31-406A-AEB833C59D87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振り返り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57" name="Rounded Rectangle 93">
            <a:extLst>
              <a:ext uri="{FF2B5EF4-FFF2-40B4-BE49-F238E27FC236}">
                <a16:creationId xmlns:a16="http://schemas.microsoft.com/office/drawing/2014/main" id="{9F1785D3-53F0-B48E-A839-B4BD471B9807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61" name="Rounded Rectangle 92">
            <a:extLst>
              <a:ext uri="{FF2B5EF4-FFF2-40B4-BE49-F238E27FC236}">
                <a16:creationId xmlns:a16="http://schemas.microsoft.com/office/drawing/2014/main" id="{F29489C0-B8AF-4122-9E72-2B6064D84B00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