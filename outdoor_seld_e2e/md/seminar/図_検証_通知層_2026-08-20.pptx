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85800" y="1219200"/>
            <a:ext cx="10820400" cy="0"/>
          </a:xfrm>
          <a:prstGeom prst="line">
            <a:avLst/>
          </a:prstGeom>
          <a:ln w="1905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85800" y="508000"/>
            <a:ext cx="10922000" cy="60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>
                <a:solidFill>
                  <a:srgbClr val="16233A"/>
                </a:solidFill>
                <a:latin typeface="游ゴシック"/>
                <a:ea typeface="游ゴシック"/>
              </a:rPr>
              <a:t>検 証 ― 通 知 層 （ 危 険 な 接 近 を 伝 え ら れ た か 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0800"/>
            <a:ext cx="1092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確定評価セット（学習・検証に未使用の1,800クリップ）／危険な車508台／採点器・分母は同一。規則だけを差し替えて比較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76400"/>
            <a:ext cx="7569200" cy="546100"/>
          </a:xfrm>
          <a:prstGeom prst="rect">
            <a:avLst/>
          </a:prstGeom>
          <a:solidFill>
            <a:srgbClr val="F0F0EC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18415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16233A"/>
                </a:solidFill>
                <a:latin typeface="游ゴシック"/>
                <a:ea typeface="游ゴシック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3200" y="1841500"/>
            <a:ext cx="1879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16233A"/>
                </a:solidFill>
                <a:latin typeface="游ゴシック"/>
                <a:ea typeface="游ゴシック"/>
              </a:rPr>
              <a:t>距離しきい値のみ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6800" y="1841500"/>
            <a:ext cx="2006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16233A"/>
                </a:solidFill>
                <a:latin typeface="游ゴシック"/>
                <a:ea typeface="游ゴシック"/>
              </a:rPr>
              <a:t>最接近の予測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22500"/>
            <a:ext cx="75692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3876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3A4658"/>
                </a:solidFill>
                <a:latin typeface="游ゴシック"/>
                <a:ea typeface="游ゴシック"/>
              </a:rPr>
              <a:t>1.5m以内まで来る車への至近警告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0800" y="2374900"/>
            <a:ext cx="2133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6707F"/>
                </a:solidFill>
                <a:latin typeface="游ゴシック"/>
                <a:ea typeface="游ゴシック"/>
              </a:rPr>
              <a:t>69.9%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4400" y="2349500"/>
            <a:ext cx="2260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2F7D6D"/>
                </a:solidFill>
                <a:latin typeface="游ゴシック"/>
                <a:ea typeface="游ゴシック"/>
              </a:rPr>
              <a:t>85.0%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68600"/>
            <a:ext cx="75692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9337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3A4658"/>
                </a:solidFill>
                <a:latin typeface="游ゴシック"/>
                <a:ea typeface="游ゴシック"/>
              </a:rPr>
              <a:t>警告から最接近までの余裕（中央値）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0800" y="2921000"/>
            <a:ext cx="2133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6707F"/>
                </a:solidFill>
                <a:latin typeface="游ゴシック"/>
                <a:ea typeface="游ゴシック"/>
              </a:rPr>
              <a:t>0.00秒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4400" y="2895600"/>
            <a:ext cx="2260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2F7D6D"/>
                </a:solidFill>
                <a:latin typeface="游ゴシック"/>
                <a:ea typeface="游ゴシック"/>
              </a:rPr>
              <a:t>0.80秒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314700"/>
            <a:ext cx="75692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200" y="34798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3A4658"/>
                </a:solidFill>
                <a:latin typeface="游ゴシック"/>
                <a:ea typeface="游ゴシック"/>
              </a:rPr>
              <a:t>余裕が0.5秒以上あった割合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0800" y="3467100"/>
            <a:ext cx="2133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6707F"/>
                </a:solidFill>
                <a:latin typeface="游ゴシック"/>
                <a:ea typeface="游ゴシック"/>
              </a:rPr>
              <a:t>0.6%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4400" y="3441700"/>
            <a:ext cx="2260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2F7D6D"/>
                </a:solidFill>
                <a:latin typeface="游ゴシック"/>
                <a:ea typeface="游ゴシック"/>
              </a:rPr>
              <a:t>65.3%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860800"/>
            <a:ext cx="75692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" y="40259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3A4658"/>
                </a:solidFill>
                <a:latin typeface="游ゴシック"/>
                <a:ea typeface="游ゴシック"/>
              </a:rPr>
              <a:t>安全な車を鳴らさなかった割合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0800" y="4013200"/>
            <a:ext cx="2133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6707F"/>
                </a:solidFill>
                <a:latin typeface="游ゴシック"/>
                <a:ea typeface="游ゴシック"/>
              </a:rPr>
              <a:t>90.4%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4400" y="3987800"/>
            <a:ext cx="2260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C4432B"/>
                </a:solidFill>
                <a:latin typeface="游ゴシック"/>
                <a:ea typeface="游ゴシック"/>
              </a:rPr>
              <a:t>85.2%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406900"/>
            <a:ext cx="7569200" cy="5461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200" y="4572000"/>
            <a:ext cx="2921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3A4658"/>
                </a:solidFill>
                <a:latin typeface="游ゴシック"/>
                <a:ea typeface="游ゴシック"/>
              </a:rPr>
              <a:t>安全な車への誤った至近警告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0800" y="4559300"/>
            <a:ext cx="2133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66707F"/>
                </a:solidFill>
                <a:latin typeface="游ゴシック"/>
                <a:ea typeface="游ゴシック"/>
              </a:rPr>
              <a:t>1.3%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4400" y="4533900"/>
            <a:ext cx="22606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C4432B"/>
                </a:solidFill>
                <a:latin typeface="游ゴシック"/>
                <a:ea typeface="游ゴシック"/>
              </a:rPr>
              <a:t>3.7%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054600"/>
            <a:ext cx="7569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游ゴシック"/>
                <a:ea typeface="游ゴシック"/>
              </a:rPr>
              <a:t>静音なキックボードへの至近警告 88.7%（距離しきい値のみで測定。確定評価の通知採点は車が対象のため、最接近予測での値は未測定）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59800" y="1676400"/>
            <a:ext cx="2946400" cy="121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2F7D6D"/>
                </a:solidFill>
                <a:latin typeface="游ゴシック"/>
                <a:ea typeface="游ゴシック"/>
              </a:rPr>
              <a:t>何が変わったか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旧方式は中央値で</a:t>
            </a:r>
            <a:r>
              <a:rPr sz="1150" b="1">
                <a:solidFill>
                  <a:srgbClr val="16233A"/>
                </a:solidFill>
                <a:latin typeface="游ゴシック"/>
                <a:ea typeface="游ゴシック"/>
              </a:rPr>
              <a:t>最接近のちょうどその瞬間</a:t>
            </a: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に鳴っていた＝間に合っていない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9800" y="3048000"/>
            <a:ext cx="29464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C4432B"/>
                </a:solidFill>
                <a:latin typeface="游ゴシック"/>
                <a:ea typeface="游ゴシック"/>
              </a:rPr>
              <a:t>代償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早く鳴らすことと、余計に鳴らさないことは両立しない。抑制が5ポイント下がり、誤った至近警告が増える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9800" y="4572000"/>
            <a:ext cx="2946400" cy="1524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B37E00"/>
                </a:solidFill>
                <a:latin typeface="游ゴシック"/>
                <a:ea typeface="游ゴシック"/>
              </a:rPr>
              <a:t>実時間で動かすと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上の値は判定時刻より</a:t>
            </a:r>
            <a:r>
              <a:rPr sz="1150" b="1">
                <a:solidFill>
                  <a:srgbClr val="16233A"/>
                </a:solidFill>
                <a:latin typeface="游ゴシック"/>
                <a:ea typeface="游ゴシック"/>
              </a:rPr>
              <a:t>後の音も参照</a:t>
            </a: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している。各時刻までの音だけで判定すると</a:t>
            </a:r>
            <a:r>
              <a:rPr sz="1300" b="1">
                <a:solidFill>
                  <a:srgbClr val="16233A"/>
                </a:solidFill>
                <a:latin typeface="游ゴシック"/>
                <a:ea typeface="游ゴシック"/>
              </a:rPr>
              <a:t>75.0%</a:t>
            </a:r>
            <a:r>
              <a:rPr sz="1150" b="0">
                <a:solidFill>
                  <a:srgbClr val="3A4658"/>
                </a:solidFill>
                <a:latin typeface="游ゴシック"/>
                <a:ea typeface="游ゴシック"/>
              </a:rPr>
              <a:t>（因果学習後）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5308600"/>
            <a:ext cx="75692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60600" y="5765800"/>
            <a:ext cx="5511800" cy="0"/>
          </a:xfrm>
          <a:prstGeom prst="line">
            <a:avLst/>
          </a:prstGeom>
          <a:ln w="1905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260600" y="5715000"/>
            <a:ext cx="0" cy="1016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097866" y="5715000"/>
            <a:ext cx="0" cy="1016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35133" y="5715000"/>
            <a:ext cx="0" cy="1016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772400" y="5715000"/>
            <a:ext cx="0" cy="1016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88200" y="5867400"/>
            <a:ext cx="1168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1">
                <a:solidFill>
                  <a:srgbClr val="16233A"/>
                </a:solidFill>
                <a:latin typeface="游ゴシック"/>
                <a:ea typeface="游ゴシック"/>
              </a:rPr>
              <a:t>最接近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867400"/>
            <a:ext cx="11684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游ゴシック"/>
                <a:ea typeface="游ゴシック"/>
              </a:rPr>
              <a:t>1.5秒前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410200"/>
            <a:ext cx="1524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1">
                <a:solidFill>
                  <a:srgbClr val="16233A"/>
                </a:solidFill>
                <a:latin typeface="游ゴシック"/>
                <a:ea typeface="游ゴシック"/>
              </a:rPr>
              <a:t>いつ鳴るか</a:t>
            </a:r>
          </a:p>
        </p:txBody>
      </p:sp>
      <p:sp>
        <p:nvSpPr>
          <p:cNvPr id="42" name="Oval 41"/>
          <p:cNvSpPr/>
          <p:nvPr/>
        </p:nvSpPr>
        <p:spPr>
          <a:xfrm>
            <a:off x="7696200" y="5511800"/>
            <a:ext cx="152400" cy="152400"/>
          </a:xfrm>
          <a:prstGeom prst="ellipse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2400" y="5435600"/>
            <a:ext cx="2413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游ゴシック"/>
                <a:ea typeface="游ゴシック"/>
              </a:rPr>
              <a:t>距離しきい値のみ ＝ 同時</a:t>
            </a:r>
          </a:p>
        </p:txBody>
      </p:sp>
      <p:sp>
        <p:nvSpPr>
          <p:cNvPr id="44" name="Oval 43"/>
          <p:cNvSpPr/>
          <p:nvPr/>
        </p:nvSpPr>
        <p:spPr>
          <a:xfrm>
            <a:off x="4756573" y="5867400"/>
            <a:ext cx="152400" cy="152400"/>
          </a:xfrm>
          <a:prstGeom prst="ellipse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1016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19773" y="6096000"/>
            <a:ext cx="23622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游ゴシック"/>
                <a:ea typeface="游ゴシック"/>
              </a:rPr>
              <a:t>最接近の予測 ＝ 0.80秒前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273800"/>
            <a:ext cx="10922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16233A"/>
                </a:solidFill>
                <a:latin typeface="游ゴシック"/>
                <a:ea typeface="游ゴシック"/>
              </a:rPr>
              <a:t>「全部鳴らす」でも「近づくまで黙る」でもなく、鳴らす相手と鳴らす時刻を選べることを数値で確認した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