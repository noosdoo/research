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685800" y="1219200"/>
            <a:ext cx="10820400" cy="0"/>
          </a:xfrm>
          <a:prstGeom prst="line">
            <a:avLst/>
          </a:prstGeom>
          <a:ln w="19050">
            <a:solidFill>
              <a:srgbClr val="1623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685800" y="508000"/>
            <a:ext cx="10922000" cy="609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2600" b="1">
                <a:solidFill>
                  <a:srgbClr val="16233A"/>
                </a:solidFill>
                <a:latin typeface="游ゴシック"/>
                <a:ea typeface="游ゴシック"/>
              </a:rPr>
              <a:t>検 証 ― 通 知 層 （ 危 険 な 接 近 を 伝 え ら れ た か 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20800"/>
            <a:ext cx="10922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50" b="0">
                <a:solidFill>
                  <a:srgbClr val="3A4658"/>
                </a:solidFill>
                <a:latin typeface="游ゴシック"/>
                <a:ea typeface="游ゴシック"/>
              </a:rPr>
              <a:t>確定評価セット（学習・検証に未使用の1,800クリップ）／危険な車508台／採点器・分母は同一。規則だけを差し替えて比較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676400"/>
            <a:ext cx="7569200" cy="546100"/>
          </a:xfrm>
          <a:prstGeom prst="rect">
            <a:avLst/>
          </a:prstGeom>
          <a:solidFill>
            <a:srgbClr val="F0F0EC"/>
          </a:solidFill>
          <a:ln w="12700">
            <a:solidFill>
              <a:srgbClr val="D9DA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7000" rIns="127000" tIns="101600" bIns="101600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38200" y="1841500"/>
            <a:ext cx="2921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50" b="1">
                <a:solidFill>
                  <a:srgbClr val="16233A"/>
                </a:solidFill>
                <a:latin typeface="游ゴシック"/>
                <a:ea typeface="游ゴシック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013200" y="1841500"/>
            <a:ext cx="18796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ct val="130000"/>
              </a:lnSpc>
              <a:spcAft>
                <a:spcPts val="0"/>
              </a:spcAft>
            </a:pPr>
            <a:r>
              <a:rPr sz="1250" b="1">
                <a:solidFill>
                  <a:srgbClr val="16233A"/>
                </a:solidFill>
                <a:latin typeface="游ゴシック"/>
                <a:ea typeface="游ゴシック"/>
              </a:rPr>
              <a:t>距離しきい値のみ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46800" y="1841500"/>
            <a:ext cx="20066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ct val="130000"/>
              </a:lnSpc>
              <a:spcAft>
                <a:spcPts val="0"/>
              </a:spcAft>
            </a:pPr>
            <a:r>
              <a:rPr sz="1250" b="1">
                <a:solidFill>
                  <a:srgbClr val="16233A"/>
                </a:solidFill>
                <a:latin typeface="游ゴシック"/>
                <a:ea typeface="游ゴシック"/>
              </a:rPr>
              <a:t>最接近の予測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2222500"/>
            <a:ext cx="7569200" cy="5461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A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7000" rIns="127000" tIns="101600" bIns="101600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8200" y="2387600"/>
            <a:ext cx="2921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00" b="0">
                <a:solidFill>
                  <a:srgbClr val="3A4658"/>
                </a:solidFill>
                <a:latin typeface="游ゴシック"/>
                <a:ea typeface="游ゴシック"/>
              </a:rPr>
              <a:t>1.5m以内まで来る車への至近警告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60800" y="2374900"/>
            <a:ext cx="21336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ct val="130000"/>
              </a:lnSpc>
              <a:spcAft>
                <a:spcPts val="0"/>
              </a:spcAft>
            </a:pPr>
            <a:r>
              <a:rPr sz="1400" b="0">
                <a:solidFill>
                  <a:srgbClr val="66707F"/>
                </a:solidFill>
                <a:latin typeface="游ゴシック"/>
                <a:ea typeface="游ゴシック"/>
              </a:rPr>
              <a:t>69.9%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94400" y="2349500"/>
            <a:ext cx="22606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ct val="130000"/>
              </a:lnSpc>
              <a:spcAft>
                <a:spcPts val="0"/>
              </a:spcAft>
            </a:pPr>
            <a:r>
              <a:rPr sz="1700" b="1">
                <a:solidFill>
                  <a:srgbClr val="2F7D6D"/>
                </a:solidFill>
                <a:latin typeface="游ゴシック"/>
                <a:ea typeface="游ゴシック"/>
              </a:rPr>
              <a:t>85.0%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85800" y="2768600"/>
            <a:ext cx="7569200" cy="5461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A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7000" rIns="127000" tIns="101600" bIns="101600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8200" y="2933700"/>
            <a:ext cx="2921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00" b="0">
                <a:solidFill>
                  <a:srgbClr val="3A4658"/>
                </a:solidFill>
                <a:latin typeface="游ゴシック"/>
                <a:ea typeface="游ゴシック"/>
              </a:rPr>
              <a:t>警告から最接近までの余裕（中央値）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60800" y="2921000"/>
            <a:ext cx="21336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ct val="130000"/>
              </a:lnSpc>
              <a:spcAft>
                <a:spcPts val="0"/>
              </a:spcAft>
            </a:pPr>
            <a:r>
              <a:rPr sz="1400" b="0">
                <a:solidFill>
                  <a:srgbClr val="66707F"/>
                </a:solidFill>
                <a:latin typeface="游ゴシック"/>
                <a:ea typeface="游ゴシック"/>
              </a:rPr>
              <a:t>0.00秒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94400" y="2895600"/>
            <a:ext cx="22606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ct val="130000"/>
              </a:lnSpc>
              <a:spcAft>
                <a:spcPts val="0"/>
              </a:spcAft>
            </a:pPr>
            <a:r>
              <a:rPr sz="1700" b="1">
                <a:solidFill>
                  <a:srgbClr val="2F7D6D"/>
                </a:solidFill>
                <a:latin typeface="游ゴシック"/>
                <a:ea typeface="游ゴシック"/>
              </a:rPr>
              <a:t>0.80秒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85800" y="3314700"/>
            <a:ext cx="7569200" cy="5461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A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7000" rIns="127000" tIns="101600" bIns="101600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8200" y="3479800"/>
            <a:ext cx="2921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00" b="0">
                <a:solidFill>
                  <a:srgbClr val="3A4658"/>
                </a:solidFill>
                <a:latin typeface="游ゴシック"/>
                <a:ea typeface="游ゴシック"/>
              </a:rPr>
              <a:t>余裕が0.5秒以上あった割合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60800" y="3467100"/>
            <a:ext cx="21336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ct val="130000"/>
              </a:lnSpc>
              <a:spcAft>
                <a:spcPts val="0"/>
              </a:spcAft>
            </a:pPr>
            <a:r>
              <a:rPr sz="1400" b="0">
                <a:solidFill>
                  <a:srgbClr val="66707F"/>
                </a:solidFill>
                <a:latin typeface="游ゴシック"/>
                <a:ea typeface="游ゴシック"/>
              </a:rPr>
              <a:t>0.6%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94400" y="3441700"/>
            <a:ext cx="22606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ct val="130000"/>
              </a:lnSpc>
              <a:spcAft>
                <a:spcPts val="0"/>
              </a:spcAft>
            </a:pPr>
            <a:r>
              <a:rPr sz="1700" b="1">
                <a:solidFill>
                  <a:srgbClr val="2F7D6D"/>
                </a:solidFill>
                <a:latin typeface="游ゴシック"/>
                <a:ea typeface="游ゴシック"/>
              </a:rPr>
              <a:t>65.3%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85800" y="3860800"/>
            <a:ext cx="7569200" cy="5461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A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7000" rIns="127000" tIns="101600" bIns="101600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8200" y="4025900"/>
            <a:ext cx="2921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00" b="0">
                <a:solidFill>
                  <a:srgbClr val="3A4658"/>
                </a:solidFill>
                <a:latin typeface="游ゴシック"/>
                <a:ea typeface="游ゴシック"/>
              </a:rPr>
              <a:t>安全な車を鳴らさなかった割合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60800" y="4013200"/>
            <a:ext cx="21336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ct val="130000"/>
              </a:lnSpc>
              <a:spcAft>
                <a:spcPts val="0"/>
              </a:spcAft>
            </a:pPr>
            <a:r>
              <a:rPr sz="1400" b="0">
                <a:solidFill>
                  <a:srgbClr val="66707F"/>
                </a:solidFill>
                <a:latin typeface="游ゴシック"/>
                <a:ea typeface="游ゴシック"/>
              </a:rPr>
              <a:t>90.4%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94400" y="3987800"/>
            <a:ext cx="22606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ct val="130000"/>
              </a:lnSpc>
              <a:spcAft>
                <a:spcPts val="0"/>
              </a:spcAft>
            </a:pPr>
            <a:r>
              <a:rPr sz="1700" b="1">
                <a:solidFill>
                  <a:srgbClr val="C4432B"/>
                </a:solidFill>
                <a:latin typeface="游ゴシック"/>
                <a:ea typeface="游ゴシック"/>
              </a:rPr>
              <a:t>85.2%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85800" y="4406900"/>
            <a:ext cx="7569200" cy="5461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A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7000" rIns="127000" tIns="101600" bIns="101600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8200" y="4572000"/>
            <a:ext cx="2921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00" b="0">
                <a:solidFill>
                  <a:srgbClr val="3A4658"/>
                </a:solidFill>
                <a:latin typeface="游ゴシック"/>
                <a:ea typeface="游ゴシック"/>
              </a:rPr>
              <a:t>安全な車への誤った至近警告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860800" y="4559300"/>
            <a:ext cx="21336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ct val="130000"/>
              </a:lnSpc>
              <a:spcAft>
                <a:spcPts val="0"/>
              </a:spcAft>
            </a:pPr>
            <a:r>
              <a:rPr sz="1400" b="0">
                <a:solidFill>
                  <a:srgbClr val="66707F"/>
                </a:solidFill>
                <a:latin typeface="游ゴシック"/>
                <a:ea typeface="游ゴシック"/>
              </a:rPr>
              <a:t>1.3%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94400" y="4533900"/>
            <a:ext cx="22606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ct val="130000"/>
              </a:lnSpc>
              <a:spcAft>
                <a:spcPts val="0"/>
              </a:spcAft>
            </a:pPr>
            <a:r>
              <a:rPr sz="1700" b="1">
                <a:solidFill>
                  <a:srgbClr val="C4432B"/>
                </a:solidFill>
                <a:latin typeface="游ゴシック"/>
                <a:ea typeface="游ゴシック"/>
              </a:rPr>
              <a:t>3.7%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" y="5054600"/>
            <a:ext cx="75692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50" b="0">
                <a:solidFill>
                  <a:srgbClr val="66707F"/>
                </a:solidFill>
                <a:latin typeface="游ゴシック"/>
                <a:ea typeface="游ゴシック"/>
              </a:rPr>
              <a:t>静音なキックボードへの至近警告 88.7%（距離しきい値のみで測定。確定評価の通知採点は車が対象のため、最接近予測での値は未測定）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559800" y="1676400"/>
            <a:ext cx="2946400" cy="1219200"/>
          </a:xfrm>
          <a:prstGeom prst="rect">
            <a:avLst/>
          </a:prstGeom>
          <a:solidFill>
            <a:srgbClr val="FFFFFF"/>
          </a:solidFill>
          <a:ln w="19050">
            <a:solidFill>
              <a:srgbClr val="2F7D6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7000" rIns="127000" tIns="101600" bIns="101600"/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300" b="1">
                <a:solidFill>
                  <a:srgbClr val="2F7D6D"/>
                </a:solidFill>
                <a:latin typeface="游ゴシック"/>
                <a:ea typeface="游ゴシック"/>
              </a:rPr>
              <a:t>何が変わったか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50" b="0">
                <a:solidFill>
                  <a:srgbClr val="3A4658"/>
                </a:solidFill>
                <a:latin typeface="游ゴシック"/>
                <a:ea typeface="游ゴシック"/>
              </a:rPr>
              <a:t>旧方式は中央値で</a:t>
            </a:r>
            <a:r>
              <a:rPr sz="1150" b="1">
                <a:solidFill>
                  <a:srgbClr val="16233A"/>
                </a:solidFill>
                <a:latin typeface="游ゴシック"/>
                <a:ea typeface="游ゴシック"/>
              </a:rPr>
              <a:t>最接近のちょうどその瞬間</a:t>
            </a:r>
            <a:r>
              <a:rPr sz="1150" b="0">
                <a:solidFill>
                  <a:srgbClr val="3A4658"/>
                </a:solidFill>
                <a:latin typeface="游ゴシック"/>
                <a:ea typeface="游ゴシック"/>
              </a:rPr>
              <a:t>に鳴っていた＝間に合っていない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559800" y="3048000"/>
            <a:ext cx="2946400" cy="1371600"/>
          </a:xfrm>
          <a:prstGeom prst="rect">
            <a:avLst/>
          </a:prstGeom>
          <a:solidFill>
            <a:srgbClr val="FFFFFF"/>
          </a:solidFill>
          <a:ln w="19050">
            <a:solidFill>
              <a:srgbClr val="C443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7000" rIns="127000" tIns="101600" bIns="101600"/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300" b="1">
                <a:solidFill>
                  <a:srgbClr val="C4432B"/>
                </a:solidFill>
                <a:latin typeface="游ゴシック"/>
                <a:ea typeface="游ゴシック"/>
              </a:rPr>
              <a:t>代償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50" b="0">
                <a:solidFill>
                  <a:srgbClr val="3A4658"/>
                </a:solidFill>
                <a:latin typeface="游ゴシック"/>
                <a:ea typeface="游ゴシック"/>
              </a:rPr>
              <a:t>早く鳴らすことと、余計に鳴らさないことは両立しない。抑制が5ポイント下がり、誤った至近警告が増える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559800" y="4572000"/>
            <a:ext cx="2946400" cy="1524000"/>
          </a:xfrm>
          <a:prstGeom prst="rect">
            <a:avLst/>
          </a:prstGeom>
          <a:solidFill>
            <a:srgbClr val="FFFFFF"/>
          </a:solidFill>
          <a:ln w="19050">
            <a:solidFill>
              <a:srgbClr val="B37E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7000" rIns="127000" tIns="101600" bIns="101600"/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300" b="1">
                <a:solidFill>
                  <a:srgbClr val="B37E00"/>
                </a:solidFill>
                <a:latin typeface="游ゴシック"/>
                <a:ea typeface="游ゴシック"/>
              </a:rPr>
              <a:t>実時間で動かすと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50" b="0">
                <a:solidFill>
                  <a:srgbClr val="3A4658"/>
                </a:solidFill>
                <a:latin typeface="游ゴシック"/>
                <a:ea typeface="游ゴシック"/>
              </a:rPr>
              <a:t>上の値は判定時刻より</a:t>
            </a:r>
            <a:r>
              <a:rPr sz="1150" b="1">
                <a:solidFill>
                  <a:srgbClr val="16233A"/>
                </a:solidFill>
                <a:latin typeface="游ゴシック"/>
                <a:ea typeface="游ゴシック"/>
              </a:rPr>
              <a:t>後の音も参照</a:t>
            </a:r>
            <a:r>
              <a:rPr sz="1150" b="0">
                <a:solidFill>
                  <a:srgbClr val="3A4658"/>
                </a:solidFill>
                <a:latin typeface="游ゴシック"/>
                <a:ea typeface="游ゴシック"/>
              </a:rPr>
              <a:t>している。各時刻までの音だけで判定すると</a:t>
            </a:r>
            <a:r>
              <a:rPr sz="1300" b="1">
                <a:solidFill>
                  <a:srgbClr val="16233A"/>
                </a:solidFill>
                <a:latin typeface="游ゴシック"/>
                <a:ea typeface="游ゴシック"/>
              </a:rPr>
              <a:t>75.0%</a:t>
            </a:r>
            <a:r>
              <a:rPr sz="1150" b="0">
                <a:solidFill>
                  <a:srgbClr val="3A4658"/>
                </a:solidFill>
                <a:latin typeface="游ゴシック"/>
                <a:ea typeface="游ゴシック"/>
              </a:rPr>
              <a:t>（因果学習後）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5800" y="6273800"/>
            <a:ext cx="10922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50" b="1">
                <a:solidFill>
                  <a:srgbClr val="16233A"/>
                </a:solidFill>
                <a:latin typeface="游ゴシック"/>
                <a:ea typeface="游ゴシック"/>
              </a:rPr>
              <a:t>「全部鳴らす」でも「近づくまで黙る」でもなく、鳴らす相手と鳴らす時刻を選べることを数値で確認した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