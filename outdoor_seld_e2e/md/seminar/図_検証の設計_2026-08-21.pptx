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58800" y="177800"/>
            <a:ext cx="17780" cy="6502400"/>
          </a:xfrm>
          <a:prstGeom prst="rect">
            <a:avLst/>
          </a:prstGeom>
          <a:solidFill>
            <a:srgbClr val="7E6F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6600" y="584200"/>
            <a:ext cx="381000" cy="76200"/>
          </a:xfrm>
          <a:prstGeom prst="rect">
            <a:avLst/>
          </a:prstGeom>
          <a:solidFill>
            <a:srgbClr val="7E6F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44600" y="381000"/>
            <a:ext cx="10160000" cy="5080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2300" b="1" spc="250">
                <a:solidFill>
                  <a:srgbClr val="222838"/>
                </a:solidFill>
                <a:latin typeface="Meiryo"/>
                <a:ea typeface="メイリオ"/>
              </a:rPr>
              <a:t>検証の設計 — 学習に使っていないデータで1回だけ測る</a:t>
            </a:r>
          </a:p>
        </p:txBody>
      </p:sp>
      <p:sp>
        <p:nvSpPr>
          <p:cNvPr id="5" name="Rectangle 4"/>
          <p:cNvSpPr/>
          <p:nvPr/>
        </p:nvSpPr>
        <p:spPr>
          <a:xfrm>
            <a:off x="558800" y="1143000"/>
            <a:ext cx="11049000" cy="15240"/>
          </a:xfrm>
          <a:prstGeom prst="rect">
            <a:avLst/>
          </a:prstGeom>
          <a:solidFill>
            <a:srgbClr val="2228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89000" y="1270000"/>
            <a:ext cx="10414000" cy="3048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350" b="0">
                <a:solidFill>
                  <a:srgbClr val="595F6E"/>
                </a:solidFill>
                <a:latin typeface="Meiryo"/>
                <a:ea typeface="メイリオ"/>
              </a:rPr>
              <a:t>データを3つに分け、</a:t>
            </a:r>
            <a:r>
              <a:rPr sz="1350" b="1">
                <a:solidFill>
                  <a:srgbClr val="222838"/>
                </a:solidFill>
                <a:latin typeface="Meiryo"/>
                <a:ea typeface="メイリオ"/>
              </a:rPr>
              <a:t>評価は一度も見ていないデータで1回だけ採点する</a:t>
            </a:r>
            <a:r>
              <a:rPr sz="1350" b="0">
                <a:solidFill>
                  <a:srgbClr val="595F6E"/>
                </a:solidFill>
                <a:latin typeface="Meiryo"/>
                <a:ea typeface="メイリオ"/>
              </a:rPr>
              <a:t>。手順は測る前に凍結してある。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889000" y="1676400"/>
            <a:ext cx="3175000" cy="1981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9CB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89000" y="1676400"/>
            <a:ext cx="50800" cy="1981200"/>
          </a:xfrm>
          <a:prstGeom prst="rect">
            <a:avLst/>
          </a:prstGeom>
          <a:solidFill>
            <a:srgbClr val="7E6F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2200" y="1803400"/>
            <a:ext cx="279400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1" spc="120">
                <a:solidFill>
                  <a:srgbClr val="7E6F98"/>
                </a:solidFill>
                <a:latin typeface="Meiryo"/>
                <a:ea typeface="メイリオ"/>
              </a:rPr>
              <a:t>STEP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2200" y="2032000"/>
            <a:ext cx="2794000" cy="3048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500" b="1">
                <a:solidFill>
                  <a:srgbClr val="222838"/>
                </a:solidFill>
                <a:latin typeface="Meiryo"/>
                <a:ea typeface="メイリオ"/>
              </a:rPr>
              <a:t>学習（微調整）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2200" y="2413000"/>
            <a:ext cx="2794000" cy="3810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2600" b="1">
                <a:solidFill>
                  <a:srgbClr val="222838"/>
                </a:solidFill>
                <a:latin typeface="Meiryo"/>
                <a:ea typeface="メイリオ"/>
              </a:rPr>
              <a:t>10,200</a:t>
            </a:r>
            <a:r>
              <a:rPr sz="1200" b="0">
                <a:solidFill>
                  <a:srgbClr val="595F6E"/>
                </a:solidFill>
                <a:latin typeface="Meiryo"/>
                <a:ea typeface="メイリオ"/>
              </a:rPr>
              <a:t>　クリップ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2200" y="2895600"/>
            <a:ext cx="2794000" cy="6858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>
                <a:solidFill>
                  <a:srgbClr val="595F6E"/>
                </a:solidFill>
                <a:latin typeface="Meiryo"/>
                <a:ea typeface="メイリオ"/>
              </a:rPr>
              <a:t>8クラス・約28時間の合成データ</a:t>
            </a:r>
          </a:p>
          <a:p>
            <a:pPr algn="l">
              <a:lnSpc>
                <a:spcPct val="135000"/>
              </a:lnSpc>
            </a:pPr>
            <a:r>
              <a:rPr sz="1200" b="0">
                <a:solidFill>
                  <a:srgbClr val="595F6E"/>
                </a:solidFill>
                <a:latin typeface="Meiryo"/>
                <a:ea typeface="メイリオ"/>
              </a:rPr>
              <a:t>距離ヘッド込みで全体を微調整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08500" y="1676400"/>
            <a:ext cx="3175000" cy="1981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9CB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08500" y="1676400"/>
            <a:ext cx="50800" cy="1981200"/>
          </a:xfrm>
          <a:prstGeom prst="rect">
            <a:avLst/>
          </a:prstGeom>
          <a:solidFill>
            <a:srgbClr val="7E6F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11700" y="1803400"/>
            <a:ext cx="279400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1" spc="120">
                <a:solidFill>
                  <a:srgbClr val="7E6F98"/>
                </a:solidFill>
                <a:latin typeface="Meiryo"/>
                <a:ea typeface="メイリオ"/>
              </a:rPr>
              <a:t>STEP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11700" y="2032000"/>
            <a:ext cx="2794000" cy="3048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500" b="1">
                <a:solidFill>
                  <a:srgbClr val="222838"/>
                </a:solidFill>
                <a:latin typeface="Meiryo"/>
                <a:ea typeface="メイリオ"/>
              </a:rPr>
              <a:t>検証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11700" y="2413000"/>
            <a:ext cx="2794000" cy="3810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2000" b="1">
                <a:solidFill>
                  <a:srgbClr val="222838"/>
                </a:solidFill>
                <a:latin typeface="Meiryo"/>
                <a:ea typeface="メイリオ"/>
              </a:rPr>
              <a:t>別クリップ</a:t>
            </a:r>
            <a:r>
              <a:rPr sz="1200" b="0">
                <a:solidFill>
                  <a:srgbClr val="595F6E"/>
                </a:solidFill>
                <a:latin typeface="Meiryo"/>
                <a:ea typeface="メイリオ"/>
              </a:rPr>
              <a:t>　同一方式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11700" y="2895600"/>
            <a:ext cx="2794000" cy="6858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>
                <a:solidFill>
                  <a:srgbClr val="595F6E"/>
                </a:solidFill>
                <a:latin typeface="Meiryo"/>
                <a:ea typeface="メイリオ"/>
              </a:rPr>
              <a:t>モデルの選択と通知しきい値の決定</a:t>
            </a:r>
          </a:p>
          <a:p>
            <a:pPr algn="l">
              <a:lnSpc>
                <a:spcPct val="135000"/>
              </a:lnSpc>
            </a:pPr>
            <a:r>
              <a:rPr sz="1200" b="0">
                <a:solidFill>
                  <a:srgbClr val="595F6E"/>
                </a:solidFill>
                <a:latin typeface="Meiryo"/>
                <a:ea typeface="メイリオ"/>
              </a:rPr>
              <a:t>ここで決めた設定は以後変えない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28000" y="1676400"/>
            <a:ext cx="3175000" cy="1981200"/>
          </a:xfrm>
          <a:prstGeom prst="rect">
            <a:avLst/>
          </a:prstGeom>
          <a:solidFill>
            <a:srgbClr val="FBF4DE"/>
          </a:solidFill>
          <a:ln w="12700">
            <a:solidFill>
              <a:srgbClr val="C9CB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28000" y="1676400"/>
            <a:ext cx="50800" cy="1981200"/>
          </a:xfrm>
          <a:prstGeom prst="rect">
            <a:avLst/>
          </a:prstGeom>
          <a:solidFill>
            <a:srgbClr val="E0A5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31200" y="1803400"/>
            <a:ext cx="279400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1" spc="120">
                <a:solidFill>
                  <a:srgbClr val="E0A526"/>
                </a:solidFill>
                <a:latin typeface="Meiryo"/>
                <a:ea typeface="メイリオ"/>
              </a:rPr>
              <a:t>STEP 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31200" y="2032000"/>
            <a:ext cx="2794000" cy="3048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500" b="1">
                <a:solidFill>
                  <a:srgbClr val="222838"/>
                </a:solidFill>
                <a:latin typeface="Meiryo"/>
                <a:ea typeface="メイリオ"/>
              </a:rPr>
              <a:t>評価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31200" y="2413000"/>
            <a:ext cx="2794000" cy="3810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2600" b="1">
                <a:solidFill>
                  <a:srgbClr val="222838"/>
                </a:solidFill>
                <a:latin typeface="Meiryo"/>
                <a:ea typeface="メイリオ"/>
              </a:rPr>
              <a:t>1,800</a:t>
            </a:r>
            <a:r>
              <a:rPr sz="1200" b="0">
                <a:solidFill>
                  <a:srgbClr val="595F6E"/>
                </a:solidFill>
                <a:latin typeface="Meiryo"/>
                <a:ea typeface="メイリオ"/>
              </a:rPr>
              <a:t>　クリップ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31200" y="2895600"/>
            <a:ext cx="2794000" cy="6858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>
                <a:solidFill>
                  <a:srgbClr val="595F6E"/>
                </a:solidFill>
                <a:latin typeface="Meiryo"/>
                <a:ea typeface="メイリオ"/>
              </a:rPr>
              <a:t>同一設計・新乱数のデータ</a:t>
            </a:r>
          </a:p>
          <a:p>
            <a:pPr algn="l">
              <a:lnSpc>
                <a:spcPct val="135000"/>
              </a:lnSpc>
            </a:pPr>
            <a:r>
              <a:rPr sz="1200" b="0">
                <a:solidFill>
                  <a:srgbClr val="595F6E"/>
                </a:solidFill>
                <a:latin typeface="Meiryo"/>
                <a:ea typeface="メイリオ"/>
              </a:rPr>
              <a:t>学習にも検証にも未使用</a:t>
            </a:r>
          </a:p>
          <a:p>
            <a:pPr algn="l">
              <a:lnSpc>
                <a:spcPct val="135000"/>
              </a:lnSpc>
            </a:pPr>
            <a:r>
              <a:rPr sz="1200" b="1">
                <a:solidFill>
                  <a:srgbClr val="E0A526"/>
                </a:solidFill>
                <a:latin typeface="Meiryo"/>
                <a:ea typeface="メイリオ"/>
              </a:rPr>
              <a:t>1回だけ採点する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40200" y="2463800"/>
            <a:ext cx="304800" cy="3048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/>
            <a:r>
              <a:rPr sz="2000" b="0">
                <a:solidFill>
                  <a:srgbClr val="8A8F9A"/>
                </a:solidFill>
                <a:latin typeface="Meiryo"/>
                <a:ea typeface="メイリオ"/>
              </a:rPr>
              <a:t>→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59700" y="2463800"/>
            <a:ext cx="304800" cy="3048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/>
            <a:r>
              <a:rPr sz="2000" b="0">
                <a:solidFill>
                  <a:srgbClr val="8A8F9A"/>
                </a:solidFill>
                <a:latin typeface="Meiryo"/>
                <a:ea typeface="メイリオ"/>
              </a:rPr>
              <a:t>→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89000" y="3860800"/>
            <a:ext cx="5016500" cy="1549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9CB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92200" y="4013200"/>
            <a:ext cx="4635500" cy="2540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400" b="1">
                <a:solidFill>
                  <a:srgbClr val="222838"/>
                </a:solidFill>
                <a:latin typeface="Meiryo"/>
                <a:ea typeface="メイリオ"/>
              </a:rPr>
              <a:t>何を測るか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2200" y="4343400"/>
            <a:ext cx="4635500" cy="990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595F6E"/>
                </a:solidFill>
                <a:latin typeface="Meiryo"/>
                <a:ea typeface="メイリオ"/>
              </a:rPr>
              <a:t>・種類が当たったか（検出率）</a:t>
            </a:r>
          </a:p>
          <a:p>
            <a:pPr algn="l">
              <a:lnSpc>
                <a:spcPct val="140000"/>
              </a:lnSpc>
            </a:pPr>
            <a:r>
              <a:rPr sz="1200" b="0">
                <a:solidFill>
                  <a:srgbClr val="595F6E"/>
                </a:solidFill>
                <a:latin typeface="Meiryo"/>
                <a:ea typeface="メイリオ"/>
              </a:rPr>
              <a:t>・方向が何度ずれたか（方向誤差）</a:t>
            </a:r>
          </a:p>
          <a:p>
            <a:pPr algn="l">
              <a:lnSpc>
                <a:spcPct val="140000"/>
              </a:lnSpc>
            </a:pPr>
            <a:r>
              <a:rPr sz="1200" b="0">
                <a:solidFill>
                  <a:srgbClr val="595F6E"/>
                </a:solidFill>
                <a:latin typeface="Meiryo"/>
                <a:ea typeface="メイリオ"/>
              </a:rPr>
              <a:t>・距離が何メートルずれたか（絶対誤差）</a:t>
            </a:r>
          </a:p>
          <a:p>
            <a:pPr algn="l">
              <a:lnSpc>
                <a:spcPct val="140000"/>
              </a:lnSpc>
            </a:pPr>
            <a:r>
              <a:rPr sz="1200" b="0">
                <a:solidFill>
                  <a:srgbClr val="595F6E"/>
                </a:solidFill>
                <a:latin typeface="Meiryo"/>
                <a:ea typeface="メイリオ"/>
              </a:rPr>
              <a:t>・通知が届いたか、余計に鳴らなかったか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86500" y="3860800"/>
            <a:ext cx="5016500" cy="1549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9CB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89700" y="4013200"/>
            <a:ext cx="4635500" cy="2540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400" b="1">
                <a:solidFill>
                  <a:srgbClr val="222838"/>
                </a:solidFill>
                <a:latin typeface="Meiryo"/>
                <a:ea typeface="メイリオ"/>
              </a:rPr>
              <a:t>なぜ1回だけなのか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89700" y="4343400"/>
            <a:ext cx="4635500" cy="990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595F6E"/>
                </a:solidFill>
                <a:latin typeface="Meiryo"/>
                <a:ea typeface="メイリオ"/>
              </a:rPr>
              <a:t>何度も測って一番良い回を選ぶと、</a:t>
            </a:r>
          </a:p>
          <a:p>
            <a:pPr algn="l">
              <a:lnSpc>
                <a:spcPct val="140000"/>
              </a:lnSpc>
            </a:pPr>
            <a:r>
              <a:rPr sz="1200" b="0">
                <a:solidFill>
                  <a:srgbClr val="595F6E"/>
                </a:solidFill>
                <a:latin typeface="Meiryo"/>
                <a:ea typeface="メイリオ"/>
              </a:rPr>
              <a:t>偶然を実力と取り違えてしまう。</a:t>
            </a:r>
          </a:p>
          <a:p>
            <a:pPr algn="l">
              <a:lnSpc>
                <a:spcPct val="140000"/>
              </a:lnSpc>
            </a:pPr>
            <a:r>
              <a:rPr sz="1200" b="0">
                <a:solidFill>
                  <a:srgbClr val="595F6E"/>
                </a:solidFill>
                <a:latin typeface="Meiryo"/>
                <a:ea typeface="メイリオ"/>
              </a:rPr>
              <a:t>そこで基準としきい値を先に凍結し、</a:t>
            </a:r>
          </a:p>
          <a:p>
            <a:pPr algn="l">
              <a:lnSpc>
                <a:spcPct val="140000"/>
              </a:lnSpc>
            </a:pPr>
            <a:r>
              <a:rPr sz="1200" b="0">
                <a:solidFill>
                  <a:srgbClr val="595F6E"/>
                </a:solidFill>
                <a:latin typeface="Meiryo"/>
                <a:ea typeface="メイリオ"/>
              </a:rPr>
              <a:t>生成したてのデータで1回だけ採点する。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89000" y="5588000"/>
            <a:ext cx="76200" cy="660400"/>
          </a:xfrm>
          <a:prstGeom prst="rect">
            <a:avLst/>
          </a:prstGeom>
          <a:solidFill>
            <a:srgbClr val="E0A5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65200" y="5588000"/>
            <a:ext cx="10337800" cy="66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9CB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193800" y="5689600"/>
            <a:ext cx="9906000" cy="5080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400" b="1">
                <a:solidFill>
                  <a:srgbClr val="222838"/>
                </a:solidFill>
                <a:latin typeface="Meiryo"/>
                <a:ea typeface="メイリオ"/>
              </a:rPr>
              <a:t>基準を先に決める → 未使用データを新たに生成 → 1回だけ評価</a:t>
            </a:r>
            <a:r>
              <a:rPr sz="1300" b="0">
                <a:solidFill>
                  <a:srgbClr val="595F6E"/>
                </a:solidFill>
                <a:latin typeface="Meiryo"/>
                <a:ea typeface="メイリオ"/>
              </a:rPr>
              <a:t>　＝ 答案を見てから基準を変えられない手順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6600" y="6426200"/>
            <a:ext cx="1143000" cy="2540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8A8F9A"/>
                </a:solidFill>
                <a:latin typeface="Meiryo"/>
                <a:ea typeface="メイリオ"/>
              </a:rPr>
              <a:t>2026/09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810000" y="6375400"/>
            <a:ext cx="965200" cy="279400"/>
          </a:xfrm>
          <a:prstGeom prst="rect">
            <a:avLst/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tIns="12700" bIns="12700"/>
          <a:lstStyle/>
          <a:p>
            <a:pPr algn="ctr"/>
            <a:r>
              <a:rPr sz="1050" b="0">
                <a:solidFill>
                  <a:srgbClr val="8A8F9A"/>
                </a:solidFill>
                <a:latin typeface="Meiryo"/>
                <a:ea typeface="メイリオ"/>
              </a:rPr>
              <a:t>背景・目的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876800" y="6375400"/>
            <a:ext cx="812800" cy="279400"/>
          </a:xfrm>
          <a:prstGeom prst="rect">
            <a:avLst/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tIns="12700" bIns="12700"/>
          <a:lstStyle/>
          <a:p>
            <a:pPr algn="ctr"/>
            <a:r>
              <a:rPr sz="1050" b="0">
                <a:solidFill>
                  <a:srgbClr val="8A8F9A"/>
                </a:solidFill>
                <a:latin typeface="Meiryo"/>
                <a:ea typeface="メイリオ"/>
              </a:rPr>
              <a:t>基礎知識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791200" y="6375400"/>
            <a:ext cx="812800" cy="279400"/>
          </a:xfrm>
          <a:prstGeom prst="rect">
            <a:avLst/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tIns="12700" bIns="12700"/>
          <a:lstStyle/>
          <a:p>
            <a:pPr algn="ctr"/>
            <a:r>
              <a:rPr sz="1050" b="0">
                <a:solidFill>
                  <a:srgbClr val="8A8F9A"/>
                </a:solidFill>
                <a:latin typeface="Meiryo"/>
                <a:ea typeface="メイリオ"/>
              </a:rPr>
              <a:t>関連研究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705600" y="6375400"/>
            <a:ext cx="812800" cy="279400"/>
          </a:xfrm>
          <a:prstGeom prst="rect">
            <a:avLst/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tIns="12700" bIns="12700"/>
          <a:lstStyle/>
          <a:p>
            <a:pPr algn="ctr"/>
            <a:r>
              <a:rPr sz="1050" b="0">
                <a:solidFill>
                  <a:srgbClr val="8A8F9A"/>
                </a:solidFill>
                <a:latin typeface="Meiryo"/>
                <a:ea typeface="メイリオ"/>
              </a:rPr>
              <a:t>提案手法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620000" y="6375400"/>
            <a:ext cx="508000" cy="279400"/>
          </a:xfrm>
          <a:prstGeom prst="rect">
            <a:avLst/>
          </a:prstGeom>
          <a:solidFill>
            <a:srgbClr val="232B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Meiryo"/>
                <a:ea typeface="メイリオ"/>
              </a:rPr>
              <a:t>検証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229600" y="6375400"/>
            <a:ext cx="1117600" cy="279400"/>
          </a:xfrm>
          <a:prstGeom prst="rect">
            <a:avLst/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tIns="12700" bIns="12700"/>
          <a:lstStyle/>
          <a:p>
            <a:pPr algn="ctr"/>
            <a:r>
              <a:rPr sz="1050" b="0">
                <a:solidFill>
                  <a:srgbClr val="8A8F9A"/>
                </a:solidFill>
                <a:latin typeface="Meiryo"/>
                <a:ea typeface="メイリオ"/>
              </a:rPr>
              <a:t>今後・まとめ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049000" y="6426200"/>
            <a:ext cx="508000" cy="2540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1100" b="0">
                <a:solidFill>
                  <a:srgbClr val="8A8F9A"/>
                </a:solidFill>
                <a:latin typeface="Meiryo"/>
                <a:ea typeface="メイリオ"/>
              </a:rPr>
              <a:t>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