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25400" y="-25400"/>
            <a:ext cx="12242800" cy="93980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4800"/>
            <a:ext cx="6350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8CEDA"/>
                </a:solidFill>
                <a:latin typeface="Meiryo"/>
                <a:ea typeface="メイリオ"/>
              </a:rPr>
              <a:t>2026 夏ゼミ ・ 中間発表</a:t>
            </a:r>
          </a:p>
        </p:txBody>
      </p:sp>
      <p:sp>
        <p:nvSpPr>
          <p:cNvPr id="5" name="Oval 4"/>
          <p:cNvSpPr/>
          <p:nvPr/>
        </p:nvSpPr>
        <p:spPr>
          <a:xfrm>
            <a:off x="9194800" y="1828800"/>
            <a:ext cx="660400" cy="6604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13800" y="1447800"/>
            <a:ext cx="1422400" cy="14224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82000" y="1016000"/>
            <a:ext cx="2286000" cy="22860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24800" y="558800"/>
            <a:ext cx="3200400" cy="32004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23400" y="2057400"/>
            <a:ext cx="203200" cy="203200"/>
          </a:xfrm>
          <a:prstGeom prst="ellips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51000"/>
            <a:ext cx="889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233A"/>
                </a:solidFill>
                <a:latin typeface="Meiryo"/>
                <a:ea typeface="メイリオ"/>
              </a:rPr>
              <a:t>SELDモデルを用いた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233A"/>
                </a:solidFill>
                <a:latin typeface="Meiryo"/>
                <a:ea typeface="メイリオ"/>
              </a:rPr>
              <a:t>難聴歩行者向け屋外危険音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233A"/>
                </a:solidFill>
                <a:latin typeface="Meiryo"/>
                <a:ea typeface="メイリオ"/>
              </a:rPr>
              <a:t>通知システムの構築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508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B4　</a:t>
            </a:r>
            <a:r>
              <a:rPr sz="2000" b="1">
                <a:solidFill>
                  <a:srgbClr val="16233A"/>
                </a:solidFill>
                <a:latin typeface="Meiryo"/>
                <a:ea typeface="メイリオ"/>
              </a:rPr>
              <a:t>松本 鋭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152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304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457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609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762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914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1066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1219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1371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1524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1676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1828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1981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2133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2286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2438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2590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2743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2895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3048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3200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3352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3505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3657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Parallelogram 36"/>
          <p:cNvSpPr/>
          <p:nvPr/>
        </p:nvSpPr>
        <p:spPr>
          <a:xfrm>
            <a:off x="3810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3962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4114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4267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4419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4572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4724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4876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5029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5181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5334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5486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5638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5791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5943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6096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6248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6400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6553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6705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6858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010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7162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7315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7467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7620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7772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7924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8077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8229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8382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8534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8686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8839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8991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Parallelogram 71"/>
          <p:cNvSpPr/>
          <p:nvPr/>
        </p:nvSpPr>
        <p:spPr>
          <a:xfrm>
            <a:off x="9144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Parallelogram 72"/>
          <p:cNvSpPr/>
          <p:nvPr/>
        </p:nvSpPr>
        <p:spPr>
          <a:xfrm>
            <a:off x="9296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Parallelogram 73"/>
          <p:cNvSpPr/>
          <p:nvPr/>
        </p:nvSpPr>
        <p:spPr>
          <a:xfrm>
            <a:off x="9448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Parallelogram 74"/>
          <p:cNvSpPr/>
          <p:nvPr/>
        </p:nvSpPr>
        <p:spPr>
          <a:xfrm>
            <a:off x="9601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Parallelogram 75"/>
          <p:cNvSpPr/>
          <p:nvPr/>
        </p:nvSpPr>
        <p:spPr>
          <a:xfrm>
            <a:off x="9753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Parallelogram 76"/>
          <p:cNvSpPr/>
          <p:nvPr/>
        </p:nvSpPr>
        <p:spPr>
          <a:xfrm>
            <a:off x="9906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Parallelogram 77"/>
          <p:cNvSpPr/>
          <p:nvPr/>
        </p:nvSpPr>
        <p:spPr>
          <a:xfrm>
            <a:off x="10058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Parallelogram 78"/>
          <p:cNvSpPr/>
          <p:nvPr/>
        </p:nvSpPr>
        <p:spPr>
          <a:xfrm>
            <a:off x="10210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Parallelogram 79"/>
          <p:cNvSpPr/>
          <p:nvPr/>
        </p:nvSpPr>
        <p:spPr>
          <a:xfrm>
            <a:off x="10363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Parallelogram 80"/>
          <p:cNvSpPr/>
          <p:nvPr/>
        </p:nvSpPr>
        <p:spPr>
          <a:xfrm>
            <a:off x="10515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Parallelogram 81"/>
          <p:cNvSpPr/>
          <p:nvPr/>
        </p:nvSpPr>
        <p:spPr>
          <a:xfrm>
            <a:off x="106680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Parallelogram 82"/>
          <p:cNvSpPr/>
          <p:nvPr/>
        </p:nvSpPr>
        <p:spPr>
          <a:xfrm>
            <a:off x="108204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Parallelogram 83"/>
          <p:cNvSpPr/>
          <p:nvPr/>
        </p:nvSpPr>
        <p:spPr>
          <a:xfrm>
            <a:off x="109728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Parallelogram 84"/>
          <p:cNvSpPr/>
          <p:nvPr/>
        </p:nvSpPr>
        <p:spPr>
          <a:xfrm>
            <a:off x="111252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Parallelogram 85"/>
          <p:cNvSpPr/>
          <p:nvPr/>
        </p:nvSpPr>
        <p:spPr>
          <a:xfrm>
            <a:off x="112776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Parallelogram 86"/>
          <p:cNvSpPr/>
          <p:nvPr/>
        </p:nvSpPr>
        <p:spPr>
          <a:xfrm>
            <a:off x="114300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Parallelogram 87"/>
          <p:cNvSpPr/>
          <p:nvPr/>
        </p:nvSpPr>
        <p:spPr>
          <a:xfrm>
            <a:off x="115824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Parallelogram 88"/>
          <p:cNvSpPr/>
          <p:nvPr/>
        </p:nvSpPr>
        <p:spPr>
          <a:xfrm>
            <a:off x="117348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Parallelogram 89"/>
          <p:cNvSpPr/>
          <p:nvPr/>
        </p:nvSpPr>
        <p:spPr>
          <a:xfrm>
            <a:off x="11887200" y="59690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Parallelogram 90"/>
          <p:cNvSpPr/>
          <p:nvPr/>
        </p:nvSpPr>
        <p:spPr>
          <a:xfrm>
            <a:off x="12039600" y="59690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研究背景 — 歩行者の安全は聴覚に支えられている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24000"/>
            <a:ext cx="5588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歩行者は接近車・サイレン・踏切などの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危険察知を聴覚に依存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している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難聴者はその情報が欠落し、屋外歩行の事故リスクが高い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6707F"/>
                </a:solidFill>
                <a:latin typeface="Meiryo"/>
                <a:ea typeface="メイリオ"/>
              </a:rPr>
              <a:t>・</a:t>
            </a:r>
            <a:r>
              <a:rPr sz="1300" b="0">
                <a:solidFill>
                  <a:srgbClr val="66707F"/>
                </a:solidFill>
                <a:latin typeface="Meiryo"/>
                <a:ea typeface="メイリオ"/>
              </a:rPr>
              <a:t>イヤホン歩行者・高齢者にも共通する課題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8A200"/>
                </a:solidFill>
                <a:latin typeface="Meiryo"/>
                <a:ea typeface="メイリオ"/>
              </a:rPr>
              <a:t>■ 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機械の耳は疲れず全方位を常時監視でき、可聴域の外の信号も扱える
→「耳の代わり」に</a:t>
            </a:r>
            <a:r>
              <a:rPr sz="1500" b="1">
                <a:solidFill>
                  <a:srgbClr val="B37E00"/>
                </a:solidFill>
                <a:latin typeface="Meiryo"/>
                <a:ea typeface="メイリオ"/>
              </a:rPr>
              <a:t>とどまらない支援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まで狙える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2000" y="1422400"/>
            <a:ext cx="43180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10800000">
            <a:off x="8382000" y="1651000"/>
            <a:ext cx="1778000" cy="1219200"/>
          </a:xfrm>
          <a:prstGeom prst="triangle">
            <a:avLst/>
          </a:prstGeom>
          <a:solidFill>
            <a:srgbClr val="E2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9000" y="18542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前方視野</a:t>
            </a:r>
          </a:p>
        </p:txBody>
      </p:sp>
      <p:sp>
        <p:nvSpPr>
          <p:cNvPr id="9" name="Oval 8"/>
          <p:cNvSpPr/>
          <p:nvPr/>
        </p:nvSpPr>
        <p:spPr>
          <a:xfrm>
            <a:off x="9093200" y="2921000"/>
            <a:ext cx="355600" cy="3556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0" y="3327400"/>
            <a:ext cx="127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ユーザー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620000" y="3352800"/>
            <a:ext cx="1397000" cy="187960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271000" y="3352800"/>
            <a:ext cx="0" cy="208280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525000" y="3352800"/>
            <a:ext cx="1397000" cy="187960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36000" y="1727200"/>
            <a:ext cx="508000" cy="1117600"/>
          </a:xfrm>
          <a:prstGeom prst="line">
            <a:avLst/>
          </a:prstGeom>
          <a:ln w="31750">
            <a:solidFill>
              <a:srgbClr val="E8A2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13600" y="14986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7E00"/>
                </a:solidFill>
                <a:latin typeface="Meiryo"/>
                <a:ea typeface="メイリオ"/>
              </a:rPr>
              <a:t>サイレン（前方も対象）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2800" y="530860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33A"/>
                </a:solidFill>
                <a:latin typeface="Meiryo"/>
                <a:ea typeface="メイリオ"/>
              </a:rPr>
              <a:t>緊急車両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2200" y="548640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33A"/>
                </a:solidFill>
                <a:latin typeface="Meiryo"/>
                <a:ea typeface="メイリオ"/>
              </a:rPr>
              <a:t>車・バイク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36200" y="5308600"/>
            <a:ext cx="139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33A"/>
                </a:solidFill>
                <a:latin typeface="Meiryo"/>
                <a:ea typeface="メイリオ"/>
              </a:rPr>
              <a:t>キックボード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研究目的 — 種類・方向・距離を、危険度に変えて届ける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3437466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検出対象＝8クラス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サイレン（救急・パト・消防）／クラクション／バック音／自転車ベル／車（EV・大型含む）／踏切＋列車／キックボード／バイク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7266" y="1498600"/>
            <a:ext cx="3437466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伝え方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音の種類・方向・距離を推定し、危険度3段階（至近警告／注意／抑制）を将来的には首元の振動で伝える構成を想定。行動の判断は本人に委ねる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8733" y="1498600"/>
            <a:ext cx="3437466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前提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視覚は健常と仮定。検出・通知は全方位——絞るのは方向でなく「視覚で代替できる情報」。前方でも音でしか得られない情報（サイレン・踏切警報・EV）は対象。第1対象は難聴者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191000"/>
            <a:ext cx="76200" cy="152400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4191000"/>
            <a:ext cx="107442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このシステムができること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危険音の</a:t>
            </a: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種類・方向・距離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を同時に推定し、安全な車は鳴らさず、</a:t>
            </a:r>
            <a:r>
              <a:rPr sz="1400" b="1">
                <a:solidFill>
                  <a:srgbClr val="B37E00"/>
                </a:solidFill>
                <a:latin typeface="Meiryo"/>
                <a:ea typeface="メイリオ"/>
              </a:rPr>
              <a:t>危険な接近だけを3段階で通知する（提示は首元振動を将来構想）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。音源仕様は日本の法規・省令・実測研究に根拠を持たせている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PRELIMINARIES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SELDとは — 画像でいう物体検出の、音・方向版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08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SELD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（Sound Event Localization and Detection）＝音の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種類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と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時間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と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方向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を、複数の音源について同時に当てるタスク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79600"/>
            <a:ext cx="5207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90600" y="4165600"/>
            <a:ext cx="4597400" cy="0"/>
          </a:xfrm>
          <a:prstGeom prst="line">
            <a:avLst/>
          </a:prstGeom>
          <a:ln w="1905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49800" y="4241800"/>
            <a:ext cx="889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時間 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7800" y="2387600"/>
            <a:ext cx="1778000" cy="330200"/>
          </a:xfrm>
          <a:prstGeom prst="rect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27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0800" y="2921000"/>
            <a:ext cx="2159000" cy="330200"/>
          </a:xfrm>
          <a:prstGeom prst="rect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27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eiryo"/>
                <a:ea typeface="メイリオ"/>
              </a:rPr>
              <a:t>サイレン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3800" y="3454400"/>
            <a:ext cx="1524000" cy="33020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127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eiryo"/>
                <a:ea typeface="メイリオ"/>
              </a:rPr>
              <a:t>自転車ベル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97400"/>
            <a:ext cx="520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SED：「今、何が鳴っているか」（種類×時間）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1879600"/>
            <a:ext cx="5207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15300" y="2413000"/>
            <a:ext cx="1676400" cy="1676400"/>
          </a:xfrm>
          <a:prstGeom prst="ellipse">
            <a:avLst/>
          </a:prstGeom>
          <a:noFill/>
          <a:ln w="1905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1900" y="3149600"/>
            <a:ext cx="203200" cy="2032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8953500" y="2692400"/>
            <a:ext cx="736600" cy="558800"/>
          </a:xfrm>
          <a:prstGeom prst="line">
            <a:avLst/>
          </a:prstGeom>
          <a:ln w="38100">
            <a:solidFill>
              <a:srgbClr val="E8A2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461500" y="2311400"/>
            <a:ext cx="190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右斜め前 30°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9500" y="2032000"/>
            <a:ext cx="50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4597400"/>
            <a:ext cx="520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SSL：「どっちから鳴っているか」（方位・仰角）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054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本研究はここに</a:t>
            </a:r>
            <a:r>
              <a:rPr sz="1500" b="1">
                <a:solidFill>
                  <a:srgbClr val="B37E00"/>
                </a:solidFill>
                <a:latin typeface="Meiryo"/>
                <a:ea typeface="メイリオ"/>
              </a:rPr>
              <a:t>音源距離推定（SDE）を拡張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し、種類＋方向＋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距離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の同時推定にする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RELATED WORK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PSELDNets（2024）— SELDの基盤モデル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73200"/>
            <a:ext cx="508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大規模合成データで事前学習した</a:t>
            </a: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SELD基盤モデル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（1,167時間・170クラス、主要3データセットでSOTA）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省データ適応手法 AdapterBit を導入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出力は multi-ACCDOA（同一クラス最大3つ同時検出）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A200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本研究はこの基盤に</a:t>
            </a:r>
            <a:r>
              <a:rPr sz="1400" b="1">
                <a:solidFill>
                  <a:srgbClr val="B37E00"/>
                </a:solidFill>
                <a:latin typeface="Meiryo"/>
                <a:ea typeface="メイリオ"/>
              </a:rPr>
              <a:t>距離推定ヘッドを拡張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し、屋外・移動音源・8クラスへ応用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3000" y="1422400"/>
            <a:ext cx="5334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75400" y="1752600"/>
            <a:ext cx="1422400" cy="990600"/>
          </a:xfrm>
          <a:prstGeom prst="rect">
            <a:avLst/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51600" y="1676400"/>
            <a:ext cx="14224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33A"/>
                </a:solidFill>
                <a:latin typeface="Meiryo"/>
                <a:ea typeface="メイリオ"/>
              </a:rPr>
              <a:t>大規模合成データ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3A4658"/>
                </a:solidFill>
                <a:latin typeface="Meiryo"/>
                <a:ea typeface="メイリオ"/>
              </a:rPr>
              <a:t>1,167時間
170クラス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24800" y="2159000"/>
            <a:ext cx="431800" cy="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0" y="1803400"/>
            <a:ext cx="81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事前学習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7400" y="1778000"/>
            <a:ext cx="1270000" cy="78740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SELD
基盤モデル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28200" y="2159000"/>
            <a:ext cx="431800" cy="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48800" y="1600200"/>
            <a:ext cx="127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少データ適応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800" y="1752600"/>
            <a:ext cx="127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(AdapterBit)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10800" y="1651000"/>
            <a:ext cx="1193800" cy="1066800"/>
          </a:xfrm>
          <a:prstGeom prst="rect">
            <a:avLst/>
          </a:prstGeom>
          <a:solidFill>
            <a:srgbClr val="FFF8E8"/>
          </a:solidFill>
          <a:ln w="25400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37E00"/>
                </a:solidFill>
                <a:latin typeface="Meiryo"/>
                <a:ea typeface="メイリオ"/>
              </a:rPr>
              <a:t>本研究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16233A"/>
                </a:solidFill>
                <a:latin typeface="Meiryo"/>
                <a:ea typeface="メイリオ"/>
              </a:rPr>
              <a:t>屋外・移動音源
8クラス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B37E00"/>
                </a:solidFill>
                <a:latin typeface="Meiryo"/>
                <a:ea typeface="メイリオ"/>
              </a:rPr>
              <a:t>＋距離ヘッド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795000" y="2743200"/>
            <a:ext cx="0" cy="457200"/>
          </a:xfrm>
          <a:prstGeom prst="line">
            <a:avLst/>
          </a:prstGeom>
          <a:ln w="19050">
            <a:solidFill>
              <a:srgbClr val="B37E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82000" y="3251200"/>
            <a:ext cx="30480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9000" y="3352800"/>
            <a:ext cx="279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出力ヘッド（multi-ACCDOA）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4400" y="3657600"/>
            <a:ext cx="558800" cy="304800"/>
          </a:xfrm>
          <a:prstGeom prst="rect">
            <a:avLst/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33A"/>
                </a:solidFill>
                <a:latin typeface="Meiryo"/>
                <a:ea typeface="メイリオ"/>
              </a:rP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4800" y="3657600"/>
            <a:ext cx="558800" cy="304800"/>
          </a:xfrm>
          <a:prstGeom prst="rect">
            <a:avLst/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33A"/>
                </a:solidFill>
                <a:latin typeface="Meiryo"/>
                <a:ea typeface="メイリオ"/>
              </a:rPr>
              <a:t>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55200" y="3657600"/>
            <a:ext cx="558800" cy="304800"/>
          </a:xfrm>
          <a:prstGeom prst="rect">
            <a:avLst/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6233A"/>
                </a:solidFill>
                <a:latin typeface="Meiryo"/>
                <a:ea typeface="メイリオ"/>
              </a:rPr>
              <a:t>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0" y="3657600"/>
            <a:ext cx="660400" cy="304800"/>
          </a:xfrm>
          <a:prstGeom prst="rect">
            <a:avLst/>
          </a:prstGeom>
          <a:solidFill>
            <a:srgbClr val="FFF8E8"/>
          </a:solidFill>
          <a:ln w="19050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37E00"/>
                </a:solidFill>
                <a:latin typeface="Meiryo"/>
                <a:ea typeface="メイリオ"/>
              </a:rPr>
              <a:t>距離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9000" y="4064000"/>
            <a:ext cx="28448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方向(x,y,z)に距離の1軸を追加。
SELD部分は等価性テストで不変を担保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3000" y="4953000"/>
            <a:ext cx="533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基盤モデルの転移＋距離ヘッド拡張（黄＝本研究の追加）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RELATED WORK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DynamicSound（2026）— 屋外音響の物理シミュレータ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22400"/>
            <a:ext cx="508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室内RIRツールの限界を屋外向けに解いたオープンソース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自由音場・任意マイクアレイ・音源の連続3D移動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屋外物理を明示的にモデル化：伝搬遅延・ドップラー・距離減衰・大気吸収・一次反射</a:t>
            </a:r>
          </a:p>
        </p:txBody>
      </p:sp>
      <p:sp>
        <p:nvSpPr>
          <p:cNvPr id="6" name="Rectangle 5"/>
          <p:cNvSpPr/>
          <p:nvPr/>
        </p:nvSpPr>
        <p:spPr>
          <a:xfrm>
            <a:off x="6223000" y="1320800"/>
            <a:ext cx="5334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1803400"/>
            <a:ext cx="355600" cy="3556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05600" y="1651000"/>
            <a:ext cx="660400" cy="6604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27800" y="1473200"/>
            <a:ext cx="1016000" cy="1016000"/>
          </a:xfrm>
          <a:prstGeom prst="ellipse">
            <a:avLst/>
          </a:prstGeom>
          <a:noFill/>
          <a:ln w="19050">
            <a:solidFill>
              <a:srgbClr val="D3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6900" y="1892300"/>
            <a:ext cx="177800" cy="177800"/>
          </a:xfrm>
          <a:prstGeom prst="ellips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7239000" y="1574800"/>
            <a:ext cx="482600" cy="127000"/>
          </a:xfrm>
          <a:prstGeom prst="line">
            <a:avLst/>
          </a:prstGeom>
          <a:ln w="25400">
            <a:solidFill>
              <a:srgbClr val="B37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89800" y="1346200"/>
            <a:ext cx="254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37E00"/>
                </a:solidFill>
                <a:latin typeface="Meiryo"/>
                <a:ea typeface="メイリオ"/>
              </a:rPr>
              <a:t>移動する音源（3D・連続）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3600" y="2082800"/>
            <a:ext cx="3200400" cy="86360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061200" y="2159000"/>
            <a:ext cx="787400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33A"/>
                </a:solidFill>
                <a:latin typeface="Meiryo"/>
                <a:ea typeface="メイリオ"/>
              </a:rPr>
              <a:t>伝搬遅延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74000" y="2362200"/>
            <a:ext cx="787400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33A"/>
                </a:solidFill>
                <a:latin typeface="Meiryo"/>
                <a:ea typeface="メイリオ"/>
              </a:rPr>
              <a:t>ドップラー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565400"/>
            <a:ext cx="787400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33A"/>
                </a:solidFill>
                <a:latin typeface="Meiryo"/>
                <a:ea typeface="メイリオ"/>
              </a:rPr>
              <a:t>距離減衰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9600" y="2768600"/>
            <a:ext cx="787400" cy="2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233A"/>
                </a:solidFill>
                <a:latin typeface="Meiryo"/>
                <a:ea typeface="メイリオ"/>
              </a:rPr>
              <a:t>大気吸収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6200" y="3505200"/>
            <a:ext cx="4927600" cy="0"/>
          </a:xfrm>
          <a:prstGeom prst="line">
            <a:avLst/>
          </a:prstGeom>
          <a:ln w="254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26200" y="3581400"/>
            <a:ext cx="63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地面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62800" y="2108200"/>
            <a:ext cx="1600200" cy="1397000"/>
          </a:xfrm>
          <a:prstGeom prst="line">
            <a:avLst/>
          </a:prstGeom>
          <a:ln w="19050">
            <a:solidFill>
              <a:srgbClr val="6670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63000" y="3098800"/>
            <a:ext cx="1727200" cy="406400"/>
          </a:xfrm>
          <a:prstGeom prst="line">
            <a:avLst/>
          </a:prstGeom>
          <a:ln w="19050">
            <a:solidFill>
              <a:srgbClr val="6670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55000" y="3606800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07F"/>
                </a:solidFill>
                <a:latin typeface="Meiryo"/>
                <a:ea typeface="メイリオ"/>
              </a:rPr>
              <a:t>一次反射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14000" y="2743200"/>
            <a:ext cx="914400" cy="4318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91800" y="2908300"/>
            <a:ext cx="88900" cy="88900"/>
          </a:xfrm>
          <a:prstGeom prst="ellipse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95000" y="2832100"/>
            <a:ext cx="88900" cy="88900"/>
          </a:xfrm>
          <a:prstGeom prst="ellipse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98200" y="2908300"/>
            <a:ext cx="88900" cy="88900"/>
          </a:xfrm>
          <a:prstGeom prst="ellipse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95000" y="2997200"/>
            <a:ext cx="88900" cy="88900"/>
          </a:xfrm>
          <a:prstGeom prst="ellipse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0000" y="32258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233A"/>
                </a:solidFill>
                <a:latin typeface="Meiryo"/>
                <a:ea typeface="メイリオ"/>
              </a:rPr>
              <a:t>4chマイクアレイ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318000"/>
            <a:ext cx="76200" cy="137160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2000" y="4318000"/>
            <a:ext cx="10744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それでも残る空白＝本研究の位置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歩行者装着 × 複数危険クラス同時 × 距離まで</a:t>
            </a: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を屋外で扱った研究は調査した範囲で見当たらない。分業型（分類CNN＋信号処理DOA）は複数音源の同時発生で対応付けが壊れやすい → 同時推定型SELDを採用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PROPOSED METHOD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提案手法 — 合成データで学習を成立させる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73200"/>
            <a:ext cx="3437466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物理シミュレーション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伝搬遅延／ドップラー／距離減衰／大気吸収／地面反射を自作実装（物理検証済み）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74066" y="2298700"/>
            <a:ext cx="177800" cy="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377266" y="1473200"/>
            <a:ext cx="3437466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4ch音＋方向・距離ラベル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同一経路から同時に出力（FOA）。生成誤差ゼロの教師ラベル（シミュレータ内部基準・実世界とのモデル化誤差は残る）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5533" y="2298700"/>
            <a:ext cx="177800" cy="0"/>
          </a:xfrm>
          <a:prstGeom prst="line">
            <a:avLst/>
          </a:prstGeom>
          <a:ln w="25400">
            <a:solidFill>
              <a:srgbClr val="3A46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068733" y="1473200"/>
            <a:ext cx="3437466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学習・評価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PSELDNetsをファインチューニング。学習10,200＋評価1,800クリップ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3600"/>
            <a:ext cx="108204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なぜ合成か：① 屋外・歩行者視点・距離つきの学習データが調査した範囲で存在しない　② 物理を自分で持てば1つずつ外せる＝</a:t>
            </a: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ablationができる土俵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になる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音源の音量・周波数は</a:t>
            </a: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日本の法規・省令・実測研究で出典を層別管理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（規則値と設計値を混同しない）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A200"/>
                </a:solidFill>
                <a:latin typeface="Meiryo"/>
                <a:ea typeface="メイリオ"/>
              </a:rPr>
              <a:t>■ 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空間手がかりが理想的過ぎる限界 → </a:t>
            </a:r>
            <a:r>
              <a:rPr sz="1400" b="1">
                <a:solidFill>
                  <a:srgbClr val="B37E00"/>
                </a:solidFill>
                <a:latin typeface="Meiryo"/>
                <a:ea typeface="メイリオ"/>
              </a:rPr>
              <a:t>9月に実録で検証</a:t>
            </a:r>
            <a:r>
              <a:rPr sz="1400" b="0">
                <a:solidFill>
                  <a:srgbClr val="3A4658"/>
                </a:solidFill>
                <a:latin typeface="Meiryo"/>
                <a:ea typeface="メイリオ"/>
              </a:rPr>
              <a:t>（測定方法は後述）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PROPOSED METHOD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2層の仕組み — 推定距離で「いつ・どの強さで」を決める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97000"/>
            <a:ext cx="5080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知覚層（SELD＋SDE）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8クラスの検出・方向・距離を0.1秒ごとに推定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35200"/>
            <a:ext cx="508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3800"/>
            <a:ext cx="5080000" cy="149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通知層（規則v3.4）— 推定距離で出し分け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4432B"/>
                </a:solidFill>
                <a:latin typeface="Meiryo"/>
                <a:ea typeface="メイリオ"/>
              </a:rPr>
              <a:t>至近警告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　推定距離≤1.5mが2フレーム連続（同一物体は方位連結±60°の近似）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37E00"/>
                </a:solidFill>
                <a:latin typeface="Meiryo"/>
                <a:ea typeface="メイリオ"/>
              </a:rPr>
              <a:t>注意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　≤3.0m　　</a:t>
            </a:r>
            <a:r>
              <a:rPr sz="1200" b="1">
                <a:solidFill>
                  <a:srgbClr val="2F7D6D"/>
                </a:solidFill>
                <a:latin typeface="Meiryo"/>
                <a:ea typeface="メイリオ"/>
              </a:rPr>
              <a:t>抑制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　&gt;3.2m＝安全な車は鳴らさない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87800"/>
            <a:ext cx="508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7F"/>
                </a:solidFill>
                <a:latin typeface="Meiryo"/>
                <a:ea typeface="メイリオ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216400"/>
            <a:ext cx="5080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首元振動デバイス（今後）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方向×振動でユーザに伝える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80000"/>
            <a:ext cx="508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707F"/>
                </a:solidFill>
                <a:latin typeface="Meiryo"/>
                <a:ea typeface="メイリオ"/>
              </a:rPr>
              <a:t>知覚層が「何が・どこから・どれだけ近くに」を推定し、通知層が「いつ・どの強さで」伝えるかを決める</a:t>
            </a:r>
          </a:p>
        </p:txBody>
      </p:sp>
      <p:sp>
        <p:nvSpPr>
          <p:cNvPr id="11" name="Oval 10"/>
          <p:cNvSpPr/>
          <p:nvPr/>
        </p:nvSpPr>
        <p:spPr>
          <a:xfrm>
            <a:off x="6985000" y="1397000"/>
            <a:ext cx="3810000" cy="3810000"/>
          </a:xfrm>
          <a:prstGeom prst="ellipse">
            <a:avLst/>
          </a:prstGeom>
          <a:solidFill>
            <a:srgbClr val="E3EBE6"/>
          </a:solidFill>
          <a:ln w="19050">
            <a:solidFill>
              <a:srgbClr val="2F7D6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0800" y="2082800"/>
            <a:ext cx="2438400" cy="2438400"/>
          </a:xfrm>
          <a:prstGeom prst="ellipse">
            <a:avLst/>
          </a:prstGeom>
          <a:solidFill>
            <a:srgbClr val="F4E8C7"/>
          </a:solidFill>
          <a:ln w="19050">
            <a:solidFill>
              <a:srgbClr val="B3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80400" y="2692400"/>
            <a:ext cx="1219200" cy="1219200"/>
          </a:xfrm>
          <a:prstGeom prst="ellipse">
            <a:avLst/>
          </a:prstGeom>
          <a:solidFill>
            <a:srgbClr val="ECCFC7"/>
          </a:solidFill>
          <a:ln w="19050">
            <a:solidFill>
              <a:srgbClr val="C4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88400" y="3200400"/>
            <a:ext cx="203200" cy="2032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4000" y="2794000"/>
            <a:ext cx="203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432B"/>
                </a:solidFill>
                <a:latin typeface="Meiryo"/>
                <a:ea typeface="メイリオ"/>
              </a:rPr>
              <a:t>≤1.5m 至近警告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0" y="2235200"/>
            <a:ext cx="203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≤3.0m 注意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0" y="1574800"/>
            <a:ext cx="203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7D6D"/>
                </a:solidFill>
                <a:latin typeface="Meiryo"/>
                <a:ea typeface="メイリオ"/>
              </a:rPr>
              <a:t>&gt;3.2m 抑制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0" y="5308600"/>
            <a:ext cx="431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全部鳴らすと使えない → 通知の頻度そのものを設計対象に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VALIDATION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検証の前に — データセットと評価手順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25600"/>
          <a:ext cx="10820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4724400"/>
                <a:gridCol w="4191000"/>
              </a:tblGrid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区分</a:t>
                      </a:r>
                    </a:p>
                  </a:txBody>
                  <a:tcPr marT="50800" marB="50800"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中身</a:t>
                      </a:r>
                    </a:p>
                  </a:txBody>
                  <a:tcPr marT="50800" marB="50800"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本研究での役割</a:t>
                      </a:r>
                    </a:p>
                  </a:txBody>
                  <a:tcPr marT="50800" marB="50800">
                    <a:solidFill>
                      <a:srgbClr val="EFEF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事前学習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1,167時間・170クラス（PSELDNets付属）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出発点の基盤モデル（既存を利用）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学習（微調整）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本研究の合成10,200クリップ（8クラス・約28時間）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距離ヘッド込みで全体をファインチューニング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検証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学習と同一方式の別クリップ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モデル選択・通知閾値の決定（発表数値には不使用）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評価</a:t>
                      </a:r>
                    </a:p>
                  </a:txBody>
                  <a:tcPr marT="50800" marB="50800">
                    <a:solidFill>
                      <a:srgbClr val="FFF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同一設計・新乱数の1,800クリップ（学習・検証に未使用）</a:t>
                      </a:r>
                    </a:p>
                  </a:txBody>
                  <a:tcPr marT="50800" marB="50800">
                    <a:solidFill>
                      <a:srgbClr val="FFF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最終結果の測定 — 1回だけ採点</a:t>
                      </a:r>
                    </a:p>
                  </a:txBody>
                  <a:tcPr marT="50800" marB="50800">
                    <a:solidFill>
                      <a:srgbClr val="FFF8E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5207000"/>
            <a:ext cx="10820400" cy="68580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基準を先に決める → 未使用データを新たに生成 → 1回だけ評価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　＝ 答案を見てから基準を変えられない手順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RESULTS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検証 — 8クラスの検出・方向・距離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446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評価データ：</a:t>
            </a: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学習に未使用の1,800クリップ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（合成・種類/方向/距離の正解つき）で</a:t>
            </a: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1回だけ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評価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76400"/>
          <a:ext cx="7874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2286000"/>
                <a:gridCol w="2032000"/>
              </a:tblGrid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クラス</a:t>
                      </a:r>
                    </a:p>
                  </a:txBody>
                  <a:tcPr marT="25400" marB="25400"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検出率（可聴フレーム）</a:t>
                      </a:r>
                    </a:p>
                  </a:txBody>
                  <a:tcPr marT="25400" marB="25400"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方向誤差（中央値）</a:t>
                      </a:r>
                    </a:p>
                  </a:txBody>
                  <a:tcPr marT="25400" marB="25400">
                    <a:solidFill>
                      <a:srgbClr val="EFEFE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サイレン（救急・パト・消防）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99.5%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3.2°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クラクション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99.2%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2.2°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バック音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97.2%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5.1°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自転車ベル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97.6%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4.1°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車（EV・大型含む）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99.4%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2.0°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踏切・列車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100.0%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3.5°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キックボード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97.3%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1.0°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12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6233A"/>
                          </a:solidFill>
                          <a:latin typeface="Meiryo"/>
                          <a:ea typeface="メイリオ"/>
                        </a:rPr>
                        <a:t>バイク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99.8%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1.0°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890000" y="1676400"/>
            <a:ext cx="2616200" cy="370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距離推定（車）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至近（≤5m）の
中央絶対誤差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6233A"/>
                </a:solidFill>
                <a:latin typeface="Meiryo"/>
                <a:ea typeface="メイリオ"/>
              </a:rPr>
              <a:t>0.21m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静音EVだけの場面でも検出率 99.0%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118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707F"/>
                </a:solidFill>
                <a:latin typeface="Meiryo"/>
                <a:ea typeface="メイリオ"/>
              </a:rPr>
              <a:t>可聴フレーム＝背景騒音に対してSNR≥0dBの区間。検出率はその全フレームに対する割合、方向誤差は全検出の中央値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RESULTS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検証 — 遠方の危険への「気づき」を距離で測る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108204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93800" y="2540000"/>
            <a:ext cx="9804400" cy="0"/>
          </a:xfrm>
          <a:prstGeom prst="line">
            <a:avLst/>
          </a:prstGeom>
          <a:ln w="2540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3800" y="2476500"/>
            <a:ext cx="0" cy="127000"/>
          </a:xfrm>
          <a:prstGeom prst="line">
            <a:avLst/>
          </a:prstGeom>
          <a:ln w="127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2800" y="2667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0m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61933" y="2476500"/>
            <a:ext cx="0" cy="127000"/>
          </a:xfrm>
          <a:prstGeom prst="line">
            <a:avLst/>
          </a:prstGeom>
          <a:ln w="127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80933" y="2667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100m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30066" y="2476500"/>
            <a:ext cx="0" cy="127000"/>
          </a:xfrm>
          <a:prstGeom prst="line">
            <a:avLst/>
          </a:prstGeom>
          <a:ln w="127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49066" y="2667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200m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98200" y="2476500"/>
            <a:ext cx="0" cy="127000"/>
          </a:xfrm>
          <a:prstGeom prst="line">
            <a:avLst/>
          </a:prstGeom>
          <a:ln w="1270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617200" y="2667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300m</a:t>
            </a:r>
          </a:p>
        </p:txBody>
      </p:sp>
      <p:sp>
        <p:nvSpPr>
          <p:cNvPr id="15" name="Oval 14"/>
          <p:cNvSpPr/>
          <p:nvPr/>
        </p:nvSpPr>
        <p:spPr>
          <a:xfrm>
            <a:off x="1104900" y="2451100"/>
            <a:ext cx="177800" cy="1778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2159000"/>
            <a:ext cx="76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A4658"/>
                </a:solidFill>
                <a:latin typeface="Meiryo"/>
                <a:ea typeface="メイリオ"/>
              </a:rPr>
              <a:t>歩行者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991517" y="1879600"/>
            <a:ext cx="0" cy="660400"/>
          </a:xfrm>
          <a:prstGeom prst="line">
            <a:avLst/>
          </a:prstGeom>
          <a:ln w="31750">
            <a:solidFill>
              <a:srgbClr val="C443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02517" y="1600200"/>
            <a:ext cx="177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432B"/>
                </a:solidFill>
                <a:latin typeface="Meiryo"/>
                <a:ea typeface="メイリオ"/>
              </a:rPr>
              <a:t>中央 208m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0311892" y="2057400"/>
            <a:ext cx="0" cy="482600"/>
          </a:xfrm>
          <a:prstGeom prst="line">
            <a:avLst/>
          </a:prstGeom>
          <a:ln w="25400">
            <a:solidFill>
              <a:srgbClr val="B37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49892" y="18034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p90 279m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1096244" y="2235200"/>
            <a:ext cx="0" cy="304800"/>
          </a:xfrm>
          <a:prstGeom prst="line">
            <a:avLst/>
          </a:prstGeom>
          <a:ln w="19050">
            <a:solidFill>
              <a:srgbClr val="6670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953244" y="1981200"/>
            <a:ext cx="139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Meiryo"/>
                <a:ea typeface="メイリオ"/>
              </a:rPr>
              <a:t>最大 303m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9210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サイレン初検知距離（100〜300mの遠方配置・未検知ゼロ・開発評価セット）— 常時監視による早期の気づきを距離で定量化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632200"/>
            <a:ext cx="3437466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通知層（車）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1.5m以内まで近づく車に至近警告が出た割合 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69.9%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3.2mより遠い車を鳴らさなかった割合 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90.4%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安全な車への誤った至近警告 1.3%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7266" y="3632200"/>
            <a:ext cx="3437466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静音の脅威にも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1.5m以内まで近づく</a:t>
            </a:r>
            <a:r>
              <a:rPr sz="1250" b="1">
                <a:solidFill>
                  <a:srgbClr val="16233A"/>
                </a:solidFill>
                <a:latin typeface="Meiryo"/>
                <a:ea typeface="メイリオ"/>
              </a:rPr>
              <a:t>キックボード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への至近警告 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88.7%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8733" y="3632200"/>
            <a:ext cx="3437466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可聴域の外へ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6233A"/>
                </a:solidFill>
                <a:latin typeface="Meiryo"/>
                <a:ea typeface="メイリオ"/>
              </a:rPr>
              <a:t>40kHz超音波</a:t>
            </a: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の検出系を実装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（仮定受信機・設計音圧の合成試験で10m・実機は9月確認）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DESIGN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通知設計の改良 — 「どこまで近づくか」を予測して鳴らす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5740400" cy="939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問題：距離だけで鳴らすと、速い相手ほど余裕が消える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時速50kmの車では、安全境界を越えてから最接近まで約0.2秒しかない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38400"/>
            <a:ext cx="5740400" cy="1168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4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試して失敗した案：接近速度から到達時間で鳴らす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「近づいているか」しか見ないため、</a:t>
            </a:r>
            <a:r>
              <a:rPr sz="1250" b="1">
                <a:solidFill>
                  <a:srgbClr val="C4432B"/>
                </a:solidFill>
                <a:latin typeface="Meiryo"/>
                <a:ea typeface="メイリオ"/>
              </a:rPr>
              <a:t>横をすれ違うだけの車にも鳴った</a:t>
            </a: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。安全な相手への抑制が崩壊した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6707F"/>
                </a:solidFill>
                <a:latin typeface="Meiryo"/>
                <a:ea typeface="メイリオ"/>
              </a:rPr>
              <a:t>→ 速度だけでは足りない。進行方向が要る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733800"/>
            <a:ext cx="5740400" cy="1168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採用：このまま進むと「どこまで」近づくかを解く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距離の縮み方と</a:t>
            </a:r>
            <a:r>
              <a:rPr sz="1250" b="1">
                <a:solidFill>
                  <a:srgbClr val="16233A"/>
                </a:solidFill>
                <a:latin typeface="Meiryo"/>
                <a:ea typeface="メイリオ"/>
              </a:rPr>
              <a:t>方位の振れ方</a:t>
            </a: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から最接近の距離と時刻を求め、</a:t>
            </a:r>
            <a:r>
              <a:rPr sz="1250" b="1">
                <a:solidFill>
                  <a:srgbClr val="2F7D6D"/>
                </a:solidFill>
                <a:latin typeface="Meiryo"/>
                <a:ea typeface="メイリオ"/>
              </a:rPr>
              <a:t>正面に来る相手だけ早く鳴らす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6707F"/>
                </a:solidFill>
                <a:latin typeface="Meiryo"/>
                <a:ea typeface="メイリオ"/>
              </a:rPr>
              <a:t>近距離では従来の距離判定を保険として残す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6731000" y="1371600"/>
            <a:ext cx="4775200" cy="353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91400" y="3098800"/>
            <a:ext cx="1117600" cy="1117600"/>
          </a:xfrm>
          <a:prstGeom prst="ellipse">
            <a:avLst/>
          </a:prstGeom>
          <a:solidFill>
            <a:srgbClr val="ECCFC7"/>
          </a:solidFill>
          <a:ln w="15240">
            <a:solidFill>
              <a:srgbClr val="C443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1300" y="3568700"/>
            <a:ext cx="177800" cy="1778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88200" y="4267200"/>
            <a:ext cx="152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658"/>
                </a:solidFill>
                <a:latin typeface="Meiryo"/>
                <a:ea typeface="メイリオ"/>
              </a:rPr>
              <a:t>歩行者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636000" y="3657600"/>
            <a:ext cx="2565400" cy="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34400" y="3276600"/>
            <a:ext cx="279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4432B"/>
                </a:solidFill>
                <a:latin typeface="Meiryo"/>
                <a:ea typeface="メイリオ"/>
              </a:rPr>
              <a:t>正面に来る → 鳴らす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035800" y="2311400"/>
            <a:ext cx="4165600" cy="0"/>
          </a:xfrm>
          <a:prstGeom prst="line">
            <a:avLst/>
          </a:prstGeom>
          <a:ln w="31750">
            <a:solidFill>
              <a:srgbClr val="2F7D6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08800" y="1905000"/>
            <a:ext cx="426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F7D6D"/>
                </a:solidFill>
                <a:latin typeface="Meiryo"/>
                <a:ea typeface="メイリオ"/>
              </a:rPr>
              <a:t>横を通り過ぎる → 鳴らさない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72000"/>
            <a:ext cx="4521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どちらも「近づいて」はいる。区別できるのは最接近の予測だけ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054600"/>
            <a:ext cx="108204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通知から最接近までの余裕（中央値）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　0.20秒 → 1.50秒</a:t>
            </a: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　／　余裕が2.5秒以上あった割合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　4.1% → 26.1%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同時に至近への到達 </a:t>
            </a:r>
            <a:r>
              <a:rPr sz="1200" b="1">
                <a:solidFill>
                  <a:srgbClr val="2F7D6D"/>
                </a:solidFill>
                <a:latin typeface="Meiryo"/>
                <a:ea typeface="メイリオ"/>
              </a:rPr>
              <a:t>+1.0pt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・注意への到達 </a:t>
            </a:r>
            <a:r>
              <a:rPr sz="1200" b="1">
                <a:solidFill>
                  <a:srgbClr val="2F7D6D"/>
                </a:solidFill>
                <a:latin typeface="Meiryo"/>
                <a:ea typeface="メイリオ"/>
              </a:rPr>
              <a:t>+5.2pt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。代償として安全な相手への抑制 </a:t>
            </a:r>
            <a:r>
              <a:rPr sz="1200" b="1">
                <a:solidFill>
                  <a:srgbClr val="C4432B"/>
                </a:solidFill>
                <a:latin typeface="Meiryo"/>
                <a:ea typeface="メイリオ"/>
              </a:rPr>
              <a:t>−3.3pt</a:t>
            </a: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（早く鳴らすことと余計に鳴らさないことは両立しない）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92800"/>
            <a:ext cx="1082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同一の推定結果に対し通知規則だけを差し替えた比較（合成データ・検証用分割）。しきい値は検証データを2つに割り、片方で選んでもう片方で採点して決定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NEXT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今後の方針① — 物理ablationで問いに答える（9月）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0800"/>
            <a:ext cx="108204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動機：どの物理要因が、どの誤り（</a:t>
            </a:r>
            <a:r>
              <a:rPr sz="1500" b="1">
                <a:solidFill>
                  <a:srgbClr val="16233A"/>
                </a:solidFill>
                <a:latin typeface="Meiryo"/>
                <a:ea typeface="メイリオ"/>
              </a:rPr>
              <a:t>見逃し／誤通知／方向外れ</a:t>
            </a:r>
            <a:r>
              <a:rPr sz="1500" b="0">
                <a:solidFill>
                  <a:srgbClr val="3A4658"/>
                </a:solidFill>
                <a:latin typeface="Meiryo"/>
                <a:ea typeface="メイリオ"/>
              </a:rPr>
              <a:t>）を生むのかを分離する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30400"/>
            <a:ext cx="3437466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規模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物理を1つだけ外した版 ×4（ドップラー・大気吸収・幾何減衰・地面反射）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7266" y="1930400"/>
            <a:ext cx="3437466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測り方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各版を同一の評価セット＋実環境録音の共通土俵で採点 → 落ちた分＝その物理の大事さ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8733" y="1930400"/>
            <a:ext cx="3437466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27000" bIns="1016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位置づけ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「合成データのどの物理が実環境性能に必要か」という問いに、切り分け実験で直接答える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NEXT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今後の方針② — 実録評価の測定方法（9月）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343746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4318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走行車20・弱点20（EV/発進/自転車/見通し不良）・キックボード20。速度×横距離×左右を散らし、幾何を合成シナリオに揃える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63600" y="1498600"/>
            <a:ext cx="10414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① 統制録音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7266" y="1371600"/>
            <a:ext cx="343746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4318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踏切8＋バック音の統制4＋機会枠8。サイレン・クラクションは遭遇したら他を中断して最優先記録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5066" y="1498600"/>
            <a:ext cx="1181100" cy="254000"/>
          </a:xfrm>
          <a:prstGeom prst="rect">
            <a:avLst/>
          </a:prstGeom>
          <a:noFill/>
          <a:ln w="15240">
            <a:solidFill>
              <a:srgbClr val="B3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7E00"/>
                </a:solidFill>
                <a:latin typeface="Meiryo"/>
                <a:ea typeface="メイリオ"/>
              </a:rPr>
              <a:t>② 固定・機会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8733" y="1371600"/>
            <a:ext cx="3437466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4318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静穏・繁華街・雨上がり・風 計20本＋連続録音100分。誤警告率／時の実世界試験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6533" y="1498600"/>
            <a:ext cx="762000" cy="254000"/>
          </a:xfrm>
          <a:prstGeom prst="rect">
            <a:avLst/>
          </a:prstGeom>
          <a:noFill/>
          <a:ln w="15240">
            <a:solidFill>
              <a:srgbClr val="2F7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7D6D"/>
                </a:solidFill>
                <a:latin typeface="Meiryo"/>
                <a:ea typeface="メイリオ"/>
              </a:rPr>
              <a:t>③ 負例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8800"/>
            <a:ext cx="108204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機材：4ch FOAマイク（Zoom H3-VR・レンタル）・96kHz・風防。テイク前に方位校正音＋騒音計LAeqを記録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注釈（車種・目視速度・横距離・風速・LAeq）を正解として</a:t>
            </a: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同じモデル・同じ通知閾値</a:t>
            </a:r>
            <a:r>
              <a:rPr sz="1350" b="0">
                <a:solidFill>
                  <a:srgbClr val="3A4658"/>
                </a:solidFill>
                <a:latin typeface="Meiryo"/>
                <a:ea typeface="メイリオ"/>
              </a:rPr>
              <a:t>で比較（正解は実録注釈の粒度・計100本＋静止/歩行対比20本＝計画値）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67200"/>
            <a:ext cx="76200" cy="1397000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4267200"/>
            <a:ext cx="10744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016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233A"/>
                </a:solidFill>
                <a:latin typeface="Meiryo"/>
                <a:ea typeface="メイリオ"/>
              </a:rPr>
              <a:t>サイレンはスピーカ再生で測らない（設計判断）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緊急車両との誤認リスクに加え、規定音圧90–120dB@20mに市販スピーカでは届かず「近くの偽物」を測ることになる → </a:t>
            </a: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機会捕捉が正しい測定法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正直な限界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478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実録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3200" y="13716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実環境は未検証。これから実録で測るが、測れるのは「胸部装着・実環境での通知性能」までにとどまる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844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至近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3200" y="21082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車の至近帯は安全上そもそも再現できない — 至近警告の実環境確認は自転車・キックボードでの部分検証にとどまる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210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3200" y="28448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総合SELDスコアは事前基準に僅差で未達。実録ではフレーム単位の正解位置が得られないため、実測のSELDスコアは出さない（通知評価と幾何近似の誤差のみ）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通知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3200" y="35814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接近方向を見る改良で余裕時間は伸びたが、安全な相手への抑制は下がる。早く鳴らすことと余計に鳴らさないことは両立しない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942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学習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3200" y="43180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キックボードの高騒音下検出は他クラスより低い — 距離重視の学習とのトレードオフが残る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130800"/>
            <a:ext cx="482600" cy="254000"/>
          </a:xfrm>
          <a:prstGeom prst="rect">
            <a:avLst/>
          </a:prstGeom>
          <a:noFill/>
          <a:ln w="15240">
            <a:solidFill>
              <a:srgbClr val="3A4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A4658"/>
                </a:solidFill>
                <a:latin typeface="Meiryo"/>
                <a:ea typeface="メイリオ"/>
              </a:rPr>
              <a:t>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3200" y="5054600"/>
            <a:ext cx="1003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4658"/>
                </a:solidFill>
                <a:latin typeface="Meiryo"/>
                <a:ea typeface="メイリオ"/>
              </a:rPr>
              <a:t>上限実験では、余裕時間の頭打ちの主因は距離推定の精度と複数音源の追跡（同一物体の判定は方位の連続性による近似にとどまる）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2800"/>
            <a:ext cx="10820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07F"/>
                </a:solidFill>
                <a:latin typeface="Meiryo"/>
                <a:ea typeface="メイリオ"/>
              </a:rPr>
              <a:t>限界は「どのケースが・何台・なぜ」まで個票で分解済み。測れないものは測れないと先に宣言してから実録の収録に入る。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24000"/>
            <a:ext cx="108204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屋外の危険音クラスを対象に、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距離つきSELD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を日本準拠の合成データで構築し、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学習に未使用の評価データで性能を確認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（事前設定の目標をおおむね達成）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通知層が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段階的に出し分け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 — 至近への警告・安全な車の抑制・静かなキックボードへの警告をいずれも確認。さらに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最接近の予測で鳴らす設計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に改め、速い相手ほど余裕が縮む弱点を緩和（数値は検証のページ。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すべて合成データでの評価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遠方サイレンの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初検知距離を定量化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（開発評価）・超音波帯の検出系も実装（合成試験）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次：実環境録音——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静止条件を全ablation版の共通試験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、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歩行条件は別枠で評価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——で「どの物理が必要か」と「実環境でどれだけ落ちるか」を測る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0"/>
              </a:spcAft>
            </a:pP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あわせて</a:t>
            </a:r>
            <a:r>
              <a:rPr sz="1600" b="1">
                <a:solidFill>
                  <a:srgbClr val="16233A"/>
                </a:solidFill>
                <a:latin typeface="Meiryo"/>
                <a:ea typeface="メイリオ"/>
              </a:rPr>
              <a:t>距離推定の精度向上</a:t>
            </a:r>
            <a:r>
              <a:rPr sz="1600" b="0">
                <a:solidFill>
                  <a:srgbClr val="3A4658"/>
                </a:solidFill>
                <a:latin typeface="Meiryo"/>
                <a:ea typeface="メイリオ"/>
              </a:rPr>
              <a:t>を目標に加える — 上限実験から、通知の余裕時間を伸ばす鍵がそこにあると分かったため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52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304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457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609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762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914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1066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1219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1371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1524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1676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1828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1981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2133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2286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2438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2590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Parallelogram 23"/>
          <p:cNvSpPr/>
          <p:nvPr/>
        </p:nvSpPr>
        <p:spPr>
          <a:xfrm>
            <a:off x="2743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2895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Parallelogram 25"/>
          <p:cNvSpPr/>
          <p:nvPr/>
        </p:nvSpPr>
        <p:spPr>
          <a:xfrm>
            <a:off x="3048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3200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3352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Parallelogram 28"/>
          <p:cNvSpPr/>
          <p:nvPr/>
        </p:nvSpPr>
        <p:spPr>
          <a:xfrm>
            <a:off x="3505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3657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3810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3962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4114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4267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Parallelogram 34"/>
          <p:cNvSpPr/>
          <p:nvPr/>
        </p:nvSpPr>
        <p:spPr>
          <a:xfrm>
            <a:off x="4419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4572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Parallelogram 36"/>
          <p:cNvSpPr/>
          <p:nvPr/>
        </p:nvSpPr>
        <p:spPr>
          <a:xfrm>
            <a:off x="4724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4876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5029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Parallelogram 39"/>
          <p:cNvSpPr/>
          <p:nvPr/>
        </p:nvSpPr>
        <p:spPr>
          <a:xfrm>
            <a:off x="5181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5334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5486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Parallelogram 42"/>
          <p:cNvSpPr/>
          <p:nvPr/>
        </p:nvSpPr>
        <p:spPr>
          <a:xfrm>
            <a:off x="5638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Parallelogram 43"/>
          <p:cNvSpPr/>
          <p:nvPr/>
        </p:nvSpPr>
        <p:spPr>
          <a:xfrm>
            <a:off x="5791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Parallelogram 44"/>
          <p:cNvSpPr/>
          <p:nvPr/>
        </p:nvSpPr>
        <p:spPr>
          <a:xfrm>
            <a:off x="5943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6096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Parallelogram 46"/>
          <p:cNvSpPr/>
          <p:nvPr/>
        </p:nvSpPr>
        <p:spPr>
          <a:xfrm>
            <a:off x="6248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6400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Parallelogram 48"/>
          <p:cNvSpPr/>
          <p:nvPr/>
        </p:nvSpPr>
        <p:spPr>
          <a:xfrm>
            <a:off x="6553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Parallelogram 49"/>
          <p:cNvSpPr/>
          <p:nvPr/>
        </p:nvSpPr>
        <p:spPr>
          <a:xfrm>
            <a:off x="6705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Parallelogram 50"/>
          <p:cNvSpPr/>
          <p:nvPr/>
        </p:nvSpPr>
        <p:spPr>
          <a:xfrm>
            <a:off x="6858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Parallelogram 51"/>
          <p:cNvSpPr/>
          <p:nvPr/>
        </p:nvSpPr>
        <p:spPr>
          <a:xfrm>
            <a:off x="7010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Parallelogram 52"/>
          <p:cNvSpPr/>
          <p:nvPr/>
        </p:nvSpPr>
        <p:spPr>
          <a:xfrm>
            <a:off x="7162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Parallelogram 53"/>
          <p:cNvSpPr/>
          <p:nvPr/>
        </p:nvSpPr>
        <p:spPr>
          <a:xfrm>
            <a:off x="7315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7467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Parallelogram 55"/>
          <p:cNvSpPr/>
          <p:nvPr/>
        </p:nvSpPr>
        <p:spPr>
          <a:xfrm>
            <a:off x="7620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Parallelogram 56"/>
          <p:cNvSpPr/>
          <p:nvPr/>
        </p:nvSpPr>
        <p:spPr>
          <a:xfrm>
            <a:off x="7772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Parallelogram 57"/>
          <p:cNvSpPr/>
          <p:nvPr/>
        </p:nvSpPr>
        <p:spPr>
          <a:xfrm>
            <a:off x="7924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Parallelogram 58"/>
          <p:cNvSpPr/>
          <p:nvPr/>
        </p:nvSpPr>
        <p:spPr>
          <a:xfrm>
            <a:off x="8077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8229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Parallelogram 60"/>
          <p:cNvSpPr/>
          <p:nvPr/>
        </p:nvSpPr>
        <p:spPr>
          <a:xfrm>
            <a:off x="8382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Parallelogram 61"/>
          <p:cNvSpPr/>
          <p:nvPr/>
        </p:nvSpPr>
        <p:spPr>
          <a:xfrm>
            <a:off x="8534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Parallelogram 62"/>
          <p:cNvSpPr/>
          <p:nvPr/>
        </p:nvSpPr>
        <p:spPr>
          <a:xfrm>
            <a:off x="8686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>
            <a:off x="8839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>
            <a:off x="8991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>
            <a:off x="9144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Parallelogram 66"/>
          <p:cNvSpPr/>
          <p:nvPr/>
        </p:nvSpPr>
        <p:spPr>
          <a:xfrm>
            <a:off x="9296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9448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Parallelogram 68"/>
          <p:cNvSpPr/>
          <p:nvPr/>
        </p:nvSpPr>
        <p:spPr>
          <a:xfrm>
            <a:off x="9601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Parallelogram 69"/>
          <p:cNvSpPr/>
          <p:nvPr/>
        </p:nvSpPr>
        <p:spPr>
          <a:xfrm>
            <a:off x="9753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9906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Parallelogram 71"/>
          <p:cNvSpPr/>
          <p:nvPr/>
        </p:nvSpPr>
        <p:spPr>
          <a:xfrm>
            <a:off x="10058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Parallelogram 72"/>
          <p:cNvSpPr/>
          <p:nvPr/>
        </p:nvSpPr>
        <p:spPr>
          <a:xfrm>
            <a:off x="10210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Parallelogram 73"/>
          <p:cNvSpPr/>
          <p:nvPr/>
        </p:nvSpPr>
        <p:spPr>
          <a:xfrm>
            <a:off x="10363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Parallelogram 74"/>
          <p:cNvSpPr/>
          <p:nvPr/>
        </p:nvSpPr>
        <p:spPr>
          <a:xfrm>
            <a:off x="10515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Parallelogram 75"/>
          <p:cNvSpPr/>
          <p:nvPr/>
        </p:nvSpPr>
        <p:spPr>
          <a:xfrm>
            <a:off x="106680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Parallelogram 76"/>
          <p:cNvSpPr/>
          <p:nvPr/>
        </p:nvSpPr>
        <p:spPr>
          <a:xfrm>
            <a:off x="108204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Parallelogram 77"/>
          <p:cNvSpPr/>
          <p:nvPr/>
        </p:nvSpPr>
        <p:spPr>
          <a:xfrm>
            <a:off x="109728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Parallelogram 78"/>
          <p:cNvSpPr/>
          <p:nvPr/>
        </p:nvSpPr>
        <p:spPr>
          <a:xfrm>
            <a:off x="111252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Parallelogram 79"/>
          <p:cNvSpPr/>
          <p:nvPr/>
        </p:nvSpPr>
        <p:spPr>
          <a:xfrm>
            <a:off x="112776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Parallelogram 80"/>
          <p:cNvSpPr/>
          <p:nvPr/>
        </p:nvSpPr>
        <p:spPr>
          <a:xfrm>
            <a:off x="114300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Parallelogram 81"/>
          <p:cNvSpPr/>
          <p:nvPr/>
        </p:nvSpPr>
        <p:spPr>
          <a:xfrm>
            <a:off x="115824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Parallelogram 82"/>
          <p:cNvSpPr/>
          <p:nvPr/>
        </p:nvSpPr>
        <p:spPr>
          <a:xfrm>
            <a:off x="117348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Parallelogram 83"/>
          <p:cNvSpPr/>
          <p:nvPr/>
        </p:nvSpPr>
        <p:spPr>
          <a:xfrm>
            <a:off x="11887200" y="5791200"/>
            <a:ext cx="177800" cy="101600"/>
          </a:xfrm>
          <a:prstGeom prst="parallelogram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Parallelogram 84"/>
          <p:cNvSpPr/>
          <p:nvPr/>
        </p:nvSpPr>
        <p:spPr>
          <a:xfrm>
            <a:off x="12039600" y="5791200"/>
            <a:ext cx="177800" cy="101600"/>
          </a:xfrm>
          <a:prstGeom prst="parallelogram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73200"/>
            <a:ext cx="1082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[1] J. Hu et al., "PSELDNets: Pre-trained Neural Networks on Large-scale Synthetic Datasets for Sound Event Localization and Detection," arXiv:2411.06399, 2024.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[2] L. Barbisan et al., "DynamicSound simulator for simulating moving sources and microphone arrays," arXiv:2601.15433, 2026.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[3] E. Fonseca et al., "FSD50K: An Open Dataset of Human-Labeled Sound Events," IEEE/ACM TASLP, 2022.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[4] K. Shimada et al., "Ensemble of ACCDOA- and EINV2-based Systems…," DCASE2021 Challenge, 2021.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[5] Q. Wang et al., "A Four-Stage Data Augmentation Approach to ResNet-Conformer Based Acoustic Modeling…," IEEE/ACM TASLP, 2023.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[6] DCASE2024 Challenge Task 3: Sound Event Localization and Detection with Source Distance Estimation.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付録 — 評価指標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73200"/>
          <a:ext cx="108204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534400"/>
              </a:tblGrid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指標</a:t>
                      </a:r>
                    </a:p>
                  </a:txBody>
                  <a:tcPr>
                    <a:solidFill>
                      <a:srgbClr val="EFEF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意味</a:t>
                      </a:r>
                    </a:p>
                  </a:txBody>
                  <a:tcPr>
                    <a:solidFill>
                      <a:srgbClr val="EFEFEA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ER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検出のミス率：正解と比べて何割ミスがあるか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F値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検出の正確さ：誤検出の少なさと見逃しの少なさのバランス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LE_CD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定位の誤差：正解と比べて何度ズレているか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LR_CD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定位の検出率：方向まで含めて正確に検出できた割合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26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SELDスコア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A4658"/>
                          </a:solidFill>
                          <a:latin typeface="Meiryo"/>
                          <a:ea typeface="メイリオ"/>
                        </a:rPr>
                        <a:t>上記4つの統合：{ ER＋(1−F)＋LE/180＋(1−LR) } /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07000"/>
            <a:ext cx="1082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07F"/>
                </a:solidFill>
                <a:latin typeface="Meiryo"/>
                <a:ea typeface="メイリオ"/>
              </a:rPr>
              <a:t>距離・通知は別指標：至近≤5mの中央絶対誤差／危険度3段階の到達・抑制・誤警告率（車＝トラック単位）。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5400" y="-25400"/>
            <a:ext cx="12242800" cy="6908800"/>
          </a:xfrm>
          <a:prstGeom prst="rect">
            <a:avLst/>
          </a:prstGeom>
          <a:solidFill>
            <a:srgbClr val="F7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1000"/>
            <a:ext cx="10820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37E00"/>
                </a:solidFill>
                <a:latin typeface="Meiryo"/>
                <a:ea typeface="メイリオ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60400"/>
            <a:ext cx="1082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Meiryo"/>
                <a:ea typeface="メイリオ"/>
              </a:rPr>
              <a:t>付録 — 確定評価の仕組み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24000"/>
            <a:ext cx="108204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確定評価セット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：検証セットと同一設計・新乱数・未使用フォールドの1,800本。</a:t>
            </a: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生成前に計画をコミット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（事前登録）し、推論・採点は1回だけ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開発値と確定値の乖離は全指標±2pt以内 ＝ 同一生成方式の未知シードへ汎化している直接証拠（実環境への汎化は9月に検証）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採点系の検証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：採点スクリプトは単体テストと独立実装の突き合わせで検証済み。通知ルールの同一物体連続性（±60°連結）もこの過程で追加された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■ 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失敗ケースは</a:t>
            </a:r>
            <a:r>
              <a:rPr sz="1450" b="1">
                <a:solidFill>
                  <a:srgbClr val="16233A"/>
                </a:solidFill>
                <a:latin typeface="Meiryo"/>
                <a:ea typeface="メイリオ"/>
              </a:rPr>
              <a:t>個票監査</a:t>
            </a:r>
            <a:r>
              <a:rPr sz="1450" b="0">
                <a:solidFill>
                  <a:srgbClr val="3A4658"/>
                </a:solidFill>
                <a:latin typeface="Meiryo"/>
                <a:ea typeface="メイリオ"/>
              </a:rPr>
              <a:t>で全数分類（至近警告に届かなかった重大車153台の内訳まで記録）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12700">
            <a:solidFill>
              <a:srgbClr val="D9DA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6400800"/>
            <a:ext cx="90805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54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90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650" y="6400800"/>
            <a:ext cx="7620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6250" y="6400800"/>
            <a:ext cx="4699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7750" y="6400800"/>
            <a:ext cx="1054100" cy="2794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0" y="6400800"/>
            <a:ext cx="114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