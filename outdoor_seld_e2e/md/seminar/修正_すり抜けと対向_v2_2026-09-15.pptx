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30">
            <a:extLst>
              <a:ext uri="{FF2B5EF4-FFF2-40B4-BE49-F238E27FC236}">
                <a16:creationId xmlns:a16="http://schemas.microsoft.com/office/drawing/2014/main" id="{9DB4937B-B01D-A5C2-7DC2-915689D430E3}"/>
              </a:ext>
            </a:extLst>
          </p:cNvPr>
          <p:cNvSpPr/>
          <p:nvPr/>
        </p:nvSpPr>
        <p:spPr>
          <a:xfrm>
            <a:off x="6676411" y="1521482"/>
            <a:ext cx="4699000" cy="3482323"/>
          </a:xfrm>
          <a:prstGeom prst="rect">
            <a:avLst/>
          </a:prstGeom>
          <a:solidFill>
            <a:srgbClr val="F5F4F7"/>
          </a:solidFill>
          <a:ln w="12700">
            <a:solidFill>
              <a:srgbClr val="D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F1ECED9-6CFC-1ABF-39BA-27628B29E482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5AD6201-8330-3647-4109-30012DEF790F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BA0D73D-7419-7BC0-2A8F-A0D47B6F9571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63D2835-8811-F829-F30C-71E35A2ACC39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BC4D4C4-9944-0DA2-2035-5A5EBCBF2CD1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BFF9B14-11A6-6E10-C746-14CDEC5E5A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944C6CB-9BE6-D528-DBC6-F471CCF9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4F25F2BC-488D-E2C4-B4CD-B07A0602120B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①すり抜けと対向を、どう区別するか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57EBCEEF-039C-CB49-2DE5-A1E04C16876C}"/>
              </a:ext>
            </a:extLst>
          </p:cNvPr>
          <p:cNvSpPr/>
          <p:nvPr/>
        </p:nvSpPr>
        <p:spPr>
          <a:xfrm>
            <a:off x="976651" y="1521482"/>
            <a:ext cx="5461000" cy="3482323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D87BDC3-133D-DF0E-FB49-0D42731D63BC}"/>
              </a:ext>
            </a:extLst>
          </p:cNvPr>
          <p:cNvSpPr txBox="1"/>
          <p:nvPr/>
        </p:nvSpPr>
        <p:spPr>
          <a:xfrm>
            <a:off x="1179851" y="1673883"/>
            <a:ext cx="503174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装着者から見た「方向」の変わり方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D4E5CB31-41BC-3C5C-1066-D00BFB7C0A77}"/>
              </a:ext>
            </a:extLst>
          </p:cNvPr>
          <p:cNvSpPr/>
          <p:nvPr/>
        </p:nvSpPr>
        <p:spPr>
          <a:xfrm>
            <a:off x="5383551" y="2753382"/>
            <a:ext cx="203200" cy="203200"/>
          </a:xfrm>
          <a:prstGeom prst="ellipse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B071D2B-BE82-36BB-A6C1-4FDD937356FB}"/>
              </a:ext>
            </a:extLst>
          </p:cNvPr>
          <p:cNvSpPr txBox="1"/>
          <p:nvPr/>
        </p:nvSpPr>
        <p:spPr>
          <a:xfrm>
            <a:off x="5637551" y="2719092"/>
            <a:ext cx="762000" cy="2717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装着者</a:t>
            </a:r>
            <a:endParaRPr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32" name="TextBox 29">
            <a:extLst>
              <a:ext uri="{FF2B5EF4-FFF2-40B4-BE49-F238E27FC236}">
                <a16:creationId xmlns:a16="http://schemas.microsoft.com/office/drawing/2014/main" id="{E26C1ED9-01AD-A232-2FB3-7C23EABC30FF}"/>
              </a:ext>
            </a:extLst>
          </p:cNvPr>
          <p:cNvSpPr txBox="1"/>
          <p:nvPr/>
        </p:nvSpPr>
        <p:spPr>
          <a:xfrm>
            <a:off x="1179851" y="4691878"/>
            <a:ext cx="50546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判定は毎フレーム、直近0.5秒の方位の傾きで行う（最接近がいつかは知らない）</a:t>
            </a: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B51C1368-5613-6BC1-C2E6-95C5835A948C}"/>
              </a:ext>
            </a:extLst>
          </p:cNvPr>
          <p:cNvSpPr txBox="1"/>
          <p:nvPr/>
        </p:nvSpPr>
        <p:spPr>
          <a:xfrm>
            <a:off x="6894851" y="1699283"/>
            <a:ext cx="3960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追加ルート(4フレーム)</a:t>
            </a:r>
          </a:p>
        </p:txBody>
      </p:sp>
      <p:sp>
        <p:nvSpPr>
          <p:cNvPr id="39" name="Oval 34">
            <a:extLst>
              <a:ext uri="{FF2B5EF4-FFF2-40B4-BE49-F238E27FC236}">
                <a16:creationId xmlns:a16="http://schemas.microsoft.com/office/drawing/2014/main" id="{5DEDFF64-ACA4-94F5-9299-9617903EEF85}"/>
              </a:ext>
            </a:extLst>
          </p:cNvPr>
          <p:cNvSpPr/>
          <p:nvPr/>
        </p:nvSpPr>
        <p:spPr>
          <a:xfrm>
            <a:off x="6920251" y="2138416"/>
            <a:ext cx="254000" cy="2540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eiryo"/>
                <a:ea typeface="メイリオ"/>
              </a:rPr>
              <a:t>1</a:t>
            </a: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84B5F30F-610B-65B3-8E49-9A057760BB16}"/>
              </a:ext>
            </a:extLst>
          </p:cNvPr>
          <p:cNvSpPr txBox="1"/>
          <p:nvPr/>
        </p:nvSpPr>
        <p:spPr>
          <a:xfrm>
            <a:off x="7275851" y="2100996"/>
            <a:ext cx="3937000" cy="5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方位がほとんど変わらない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25000"/>
              </a:lnSpc>
            </a:pPr>
            <a:r>
              <a:rPr sz="1200" b="0" dirty="0">
                <a:solidFill>
                  <a:srgbClr val="8A8F9A"/>
                </a:solidFill>
                <a:latin typeface="Meiryo"/>
                <a:ea typeface="メイリオ"/>
              </a:rPr>
              <a:t>|</a:t>
            </a:r>
            <a:r>
              <a:rPr sz="1200" b="0" dirty="0" err="1">
                <a:solidFill>
                  <a:srgbClr val="8A8F9A"/>
                </a:solidFill>
                <a:latin typeface="Meiryo"/>
                <a:ea typeface="メイリオ"/>
              </a:rPr>
              <a:t>dθ</a:t>
            </a:r>
            <a:r>
              <a:rPr sz="1200" b="0" dirty="0">
                <a:solidFill>
                  <a:srgbClr val="8A8F9A"/>
                </a:solidFill>
                <a:latin typeface="Meiryo"/>
                <a:ea typeface="メイリオ"/>
              </a:rPr>
              <a:t>/dt| ≤ 0.10 rad/s</a:t>
            </a:r>
          </a:p>
        </p:txBody>
      </p:sp>
      <p:sp>
        <p:nvSpPr>
          <p:cNvPr id="42" name="Oval 36">
            <a:extLst>
              <a:ext uri="{FF2B5EF4-FFF2-40B4-BE49-F238E27FC236}">
                <a16:creationId xmlns:a16="http://schemas.microsoft.com/office/drawing/2014/main" id="{EEFFF364-F411-94D8-D0D8-75B01E3CC81B}"/>
              </a:ext>
            </a:extLst>
          </p:cNvPr>
          <p:cNvSpPr/>
          <p:nvPr/>
        </p:nvSpPr>
        <p:spPr>
          <a:xfrm>
            <a:off x="6920251" y="2655382"/>
            <a:ext cx="254000" cy="2540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eiryo"/>
                <a:ea typeface="メイリオ"/>
              </a:rPr>
              <a:t>2</a:t>
            </a:r>
          </a:p>
        </p:txBody>
      </p:sp>
      <p:sp>
        <p:nvSpPr>
          <p:cNvPr id="43" name="TextBox 37">
            <a:extLst>
              <a:ext uri="{FF2B5EF4-FFF2-40B4-BE49-F238E27FC236}">
                <a16:creationId xmlns:a16="http://schemas.microsoft.com/office/drawing/2014/main" id="{2334ABF1-FFEC-8007-964E-782932ED7569}"/>
              </a:ext>
            </a:extLst>
          </p:cNvPr>
          <p:cNvSpPr txBox="1"/>
          <p:nvPr/>
        </p:nvSpPr>
        <p:spPr>
          <a:xfrm>
            <a:off x="7275851" y="2625062"/>
            <a:ext cx="3937000" cy="5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距離が縮んでいる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25000"/>
              </a:lnSpc>
            </a:pPr>
            <a:r>
              <a:rPr sz="1200" b="0" dirty="0" err="1">
                <a:solidFill>
                  <a:srgbClr val="8A8F9A"/>
                </a:solidFill>
                <a:latin typeface="Meiryo"/>
                <a:ea typeface="メイリオ"/>
              </a:rPr>
              <a:t>直近0.5秒の距離の傾き(最小二乗)がマイナス</a:t>
            </a:r>
            <a:endParaRPr sz="12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44" name="Oval 38">
            <a:extLst>
              <a:ext uri="{FF2B5EF4-FFF2-40B4-BE49-F238E27FC236}">
                <a16:creationId xmlns:a16="http://schemas.microsoft.com/office/drawing/2014/main" id="{A0E750E0-AC75-4ACF-A793-25299E2D5CAC}"/>
              </a:ext>
            </a:extLst>
          </p:cNvPr>
          <p:cNvSpPr/>
          <p:nvPr/>
        </p:nvSpPr>
        <p:spPr>
          <a:xfrm>
            <a:off x="6920251" y="3190869"/>
            <a:ext cx="254000" cy="2540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eiryo"/>
                <a:ea typeface="メイリオ"/>
              </a:rPr>
              <a:t>3</a:t>
            </a:r>
          </a:p>
        </p:txBody>
      </p:sp>
      <p:sp>
        <p:nvSpPr>
          <p:cNvPr id="45" name="TextBox 39">
            <a:extLst>
              <a:ext uri="{FF2B5EF4-FFF2-40B4-BE49-F238E27FC236}">
                <a16:creationId xmlns:a16="http://schemas.microsoft.com/office/drawing/2014/main" id="{B294D421-6ADF-7505-6FC9-67DB013CB384}"/>
              </a:ext>
            </a:extLst>
          </p:cNvPr>
          <p:cNvSpPr txBox="1"/>
          <p:nvPr/>
        </p:nvSpPr>
        <p:spPr>
          <a:xfrm>
            <a:off x="7275851" y="3158223"/>
            <a:ext cx="3937000" cy="5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15m以内にいる</a:t>
            </a:r>
          </a:p>
          <a:p>
            <a:pPr algn="l">
              <a:lnSpc>
                <a:spcPct val="125000"/>
              </a:lnSpc>
            </a:pPr>
            <a:r>
              <a:rPr sz="1200" b="0" dirty="0" err="1">
                <a:solidFill>
                  <a:srgbClr val="8A8F9A"/>
                </a:solidFill>
                <a:latin typeface="Meiryo"/>
                <a:ea typeface="メイリオ"/>
              </a:rPr>
              <a:t>距離ゲート</a:t>
            </a:r>
            <a:endParaRPr sz="12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46" name="Rectangle 40">
            <a:extLst>
              <a:ext uri="{FF2B5EF4-FFF2-40B4-BE49-F238E27FC236}">
                <a16:creationId xmlns:a16="http://schemas.microsoft.com/office/drawing/2014/main" id="{5993804F-C4A5-B806-D24F-0E2B0834B260}"/>
              </a:ext>
            </a:extLst>
          </p:cNvPr>
          <p:cNvSpPr/>
          <p:nvPr/>
        </p:nvSpPr>
        <p:spPr>
          <a:xfrm>
            <a:off x="6920251" y="3909085"/>
            <a:ext cx="4241800" cy="946985"/>
          </a:xfrm>
          <a:prstGeom prst="rect">
            <a:avLst/>
          </a:prstGeom>
          <a:solidFill>
            <a:srgbClr val="FDF7E8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1">
            <a:extLst>
              <a:ext uri="{FF2B5EF4-FFF2-40B4-BE49-F238E27FC236}">
                <a16:creationId xmlns:a16="http://schemas.microsoft.com/office/drawing/2014/main" id="{A3B00681-88CE-E7BD-A0FA-B16214E40317}"/>
              </a:ext>
            </a:extLst>
          </p:cNvPr>
          <p:cNvSpPr txBox="1"/>
          <p:nvPr/>
        </p:nvSpPr>
        <p:spPr>
          <a:xfrm>
            <a:off x="7072651" y="4010686"/>
            <a:ext cx="3962400" cy="69640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船の衝突回避と同じ原則</a:t>
            </a:r>
            <a:r>
              <a:rPr lang="en-US" sz="1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(CBDR)</a:t>
            </a:r>
            <a:r>
              <a:rPr lang="ja-JP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。</a:t>
            </a:r>
            <a:endParaRPr lang="en-US" altLang="ja-JP" sz="11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5000"/>
              </a:lnSpc>
            </a:pPr>
            <a:r>
              <a:rPr sz="11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方位が変わらないまま近づいてくる相手は、衝突コース</a:t>
            </a:r>
            <a:r>
              <a:rPr lang="ja-JP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に</a:t>
            </a:r>
            <a:endParaRPr lang="en-US" altLang="ja-JP" sz="11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5000"/>
              </a:lnSpc>
            </a:pPr>
            <a:r>
              <a:rPr lang="ja-JP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いると判断。</a:t>
            </a:r>
            <a:endParaRPr sz="11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48" name="Rectangle 42">
            <a:extLst>
              <a:ext uri="{FF2B5EF4-FFF2-40B4-BE49-F238E27FC236}">
                <a16:creationId xmlns:a16="http://schemas.microsoft.com/office/drawing/2014/main" id="{C462BAD1-1D0B-7AD3-F29E-5F3EF70B534D}"/>
              </a:ext>
            </a:extLst>
          </p:cNvPr>
          <p:cNvSpPr/>
          <p:nvPr/>
        </p:nvSpPr>
        <p:spPr>
          <a:xfrm>
            <a:off x="976651" y="5271361"/>
            <a:ext cx="10414000" cy="900000"/>
          </a:xfrm>
          <a:prstGeom prst="rect">
            <a:avLst/>
          </a:prstGeom>
          <a:solidFill>
            <a:srgbClr val="F5F3F9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44">
            <a:extLst>
              <a:ext uri="{FF2B5EF4-FFF2-40B4-BE49-F238E27FC236}">
                <a16:creationId xmlns:a16="http://schemas.microsoft.com/office/drawing/2014/main" id="{4DD3327E-405D-9843-A5C0-F776FF9CC588}"/>
              </a:ext>
            </a:extLst>
          </p:cNvPr>
          <p:cNvSpPr txBox="1"/>
          <p:nvPr/>
        </p:nvSpPr>
        <p:spPr>
          <a:xfrm>
            <a:off x="1256053" y="5284330"/>
            <a:ext cx="10097747" cy="87511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b="1" dirty="0">
                <a:solidFill>
                  <a:srgbClr val="7E6F98"/>
                </a:solidFill>
                <a:latin typeface="Meiryo"/>
                <a:ea typeface="メイリオ"/>
              </a:rPr>
              <a:t>なぜ15mで切るのか</a:t>
            </a:r>
          </a:p>
          <a:p>
            <a:pPr algn="l">
              <a:lnSpc>
                <a:spcPts val="1800"/>
              </a:lnSpc>
            </a:pP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方位の変化率は距離の2乗に反比例。遠くをまっすぐ通り過ぎる安全な車も「方位が変わらない」ように見える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ため</a:t>
            </a: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、</a:t>
            </a:r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距離で切らないと遠い車まで強い警告にな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る</a:t>
            </a: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。</a:t>
            </a:r>
          </a:p>
        </p:txBody>
      </p:sp>
      <p:sp>
        <p:nvSpPr>
          <p:cNvPr id="62" name="Rounded Rectangle 97">
            <a:extLst>
              <a:ext uri="{FF2B5EF4-FFF2-40B4-BE49-F238E27FC236}">
                <a16:creationId xmlns:a16="http://schemas.microsoft.com/office/drawing/2014/main" id="{DA0469AD-6043-26B6-FF09-3BE8397CFD9E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4" name="Rounded Rectangle 96">
            <a:extLst>
              <a:ext uri="{FF2B5EF4-FFF2-40B4-BE49-F238E27FC236}">
                <a16:creationId xmlns:a16="http://schemas.microsoft.com/office/drawing/2014/main" id="{45B9DF2A-687D-D023-554F-8E890D0F5270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6" name="Rounded Rectangle 95">
            <a:extLst>
              <a:ext uri="{FF2B5EF4-FFF2-40B4-BE49-F238E27FC236}">
                <a16:creationId xmlns:a16="http://schemas.microsoft.com/office/drawing/2014/main" id="{60A30604-D298-2AA9-D08E-9B8251C289D9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8" name="Rounded Rectangle 94">
            <a:extLst>
              <a:ext uri="{FF2B5EF4-FFF2-40B4-BE49-F238E27FC236}">
                <a16:creationId xmlns:a16="http://schemas.microsoft.com/office/drawing/2014/main" id="{5174B101-CB1A-D965-6F17-079805F88B97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70" name="Rounded Rectangle 93">
            <a:extLst>
              <a:ext uri="{FF2B5EF4-FFF2-40B4-BE49-F238E27FC236}">
                <a16:creationId xmlns:a16="http://schemas.microsoft.com/office/drawing/2014/main" id="{51CD59B5-BC7E-049D-4C49-148246FE74A8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72" name="Rounded Rectangle 92">
            <a:extLst>
              <a:ext uri="{FF2B5EF4-FFF2-40B4-BE49-F238E27FC236}">
                <a16:creationId xmlns:a16="http://schemas.microsoft.com/office/drawing/2014/main" id="{E09377D5-82BA-209C-1149-7F5BD451484B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422400" y="2839742"/>
            <a:ext cx="3859551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Isosceles Triangle 73"/>
          <p:cNvSpPr/>
          <p:nvPr/>
        </p:nvSpPr>
        <p:spPr>
          <a:xfrm rot="5400000">
            <a:off x="5193051" y="2766082"/>
            <a:ext cx="177800" cy="177800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422400" y="3627142"/>
            <a:ext cx="4342151" cy="3048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Isosceles Triangle 75"/>
          <p:cNvSpPr/>
          <p:nvPr/>
        </p:nvSpPr>
        <p:spPr>
          <a:xfrm rot="5400000">
            <a:off x="5675651" y="3553482"/>
            <a:ext cx="177800" cy="177800"/>
          </a:xfrm>
          <a:prstGeom prst="triangl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592600" y="2823232"/>
            <a:ext cx="63500" cy="63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592600" y="3610632"/>
            <a:ext cx="63500" cy="635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 flipH="1">
            <a:off x="1624350" y="2854982"/>
            <a:ext cx="3860801" cy="787400"/>
          </a:xfrm>
          <a:prstGeom prst="line">
            <a:avLst/>
          </a:prstGeom>
          <a:ln w="10160">
            <a:solidFill>
              <a:srgbClr val="2E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2151401" y="2823232"/>
            <a:ext cx="63500" cy="63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151401" y="3610632"/>
            <a:ext cx="63500" cy="635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 flipH="1">
            <a:off x="2183151" y="2854982"/>
            <a:ext cx="3302000" cy="787400"/>
          </a:xfrm>
          <a:prstGeom prst="line">
            <a:avLst/>
          </a:prstGeom>
          <a:ln w="10160">
            <a:solidFill>
              <a:srgbClr val="2E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2710201" y="2823232"/>
            <a:ext cx="63500" cy="63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710201" y="3610632"/>
            <a:ext cx="63500" cy="635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 flipH="1">
            <a:off x="2741951" y="2854982"/>
            <a:ext cx="2743200" cy="787400"/>
          </a:xfrm>
          <a:prstGeom prst="line">
            <a:avLst/>
          </a:prstGeom>
          <a:ln w="10160">
            <a:solidFill>
              <a:srgbClr val="2E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3269001" y="2823232"/>
            <a:ext cx="63500" cy="63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269001" y="3610632"/>
            <a:ext cx="63500" cy="635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H="1">
            <a:off x="3300751" y="2854982"/>
            <a:ext cx="2184400" cy="787400"/>
          </a:xfrm>
          <a:prstGeom prst="line">
            <a:avLst/>
          </a:prstGeom>
          <a:ln w="10160">
            <a:solidFill>
              <a:srgbClr val="2E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3827801" y="2823232"/>
            <a:ext cx="63500" cy="63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827801" y="3610632"/>
            <a:ext cx="63500" cy="635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H="1">
            <a:off x="3859551" y="2854982"/>
            <a:ext cx="1625600" cy="787400"/>
          </a:xfrm>
          <a:prstGeom prst="line">
            <a:avLst/>
          </a:prstGeom>
          <a:ln w="10160">
            <a:solidFill>
              <a:srgbClr val="2E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4386601" y="2823232"/>
            <a:ext cx="63500" cy="63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386601" y="3610632"/>
            <a:ext cx="63500" cy="635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 flipH="1">
            <a:off x="4418351" y="2854982"/>
            <a:ext cx="1066800" cy="787400"/>
          </a:xfrm>
          <a:prstGeom prst="line">
            <a:avLst/>
          </a:prstGeom>
          <a:ln w="10160">
            <a:solidFill>
              <a:srgbClr val="2E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4945401" y="2823232"/>
            <a:ext cx="63500" cy="63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945401" y="3610632"/>
            <a:ext cx="63500" cy="635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H="1">
            <a:off x="4977151" y="2854982"/>
            <a:ext cx="508000" cy="787400"/>
          </a:xfrm>
          <a:prstGeom prst="line">
            <a:avLst/>
          </a:prstGeom>
          <a:ln w="10160">
            <a:solidFill>
              <a:srgbClr val="2E7D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473200" y="2346982"/>
            <a:ext cx="1905000" cy="431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C0392B"/>
                </a:solidFill>
                <a:latin typeface="Meiryo"/>
                <a:ea typeface="メイリオ"/>
              </a:rPr>
              <a:t>対向型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方位が変わらない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73200" y="3743982"/>
            <a:ext cx="1905000" cy="431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2E7D5B"/>
                </a:solidFill>
                <a:latin typeface="Meiryo"/>
                <a:ea typeface="メイリオ"/>
              </a:rPr>
              <a:t>すり抜け型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方位が速く変わる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32000" y="2931182"/>
            <a:ext cx="1905000" cy="381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遠いうちは緑も動かない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→ 15mで切る理由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79851" y="4318005"/>
            <a:ext cx="2159000" cy="203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8A8F9A"/>
                </a:solidFill>
                <a:latin typeface="Meiryo"/>
                <a:ea typeface="メイリオ"/>
              </a:rPr>
              <a:t>■ 等しい時間間隔の車の位置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