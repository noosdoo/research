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222838"/>
                </a:solidFill>
                <a:latin typeface="Meiryo"/>
                <a:ea typeface="メイリオ"/>
              </a:rPr>
              <a:t>夏 ゼ ミ の 振 り 返 り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1270000"/>
            <a:ext cx="1041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222838"/>
                </a:solidFill>
                <a:latin typeface="Meiryo"/>
                <a:ea typeface="メイリオ"/>
              </a:rPr>
              <a:t>いただいた4件すべてに手を動かしました。</a:t>
            </a:r>
            <a:r>
              <a:rPr sz="1200" b="0">
                <a:solidFill>
                  <a:srgbClr val="595F6E"/>
                </a:solidFill>
                <a:latin typeface="Meiryo"/>
                <a:ea typeface="メイリオ"/>
              </a:rPr>
              <a:t>　この後、1件ずつご説明します。</a:t>
            </a:r>
          </a:p>
        </p:txBody>
      </p:sp>
      <p:sp>
        <p:nvSpPr>
          <p:cNvPr id="15" name="Oval 14"/>
          <p:cNvSpPr/>
          <p:nvPr/>
        </p:nvSpPr>
        <p:spPr>
          <a:xfrm>
            <a:off x="889000" y="1803400"/>
            <a:ext cx="355600" cy="3556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メイリオ"/>
              </a:rPr>
              <a:t>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2400" y="1778000"/>
            <a:ext cx="8128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狭いところをすり抜けていく車と対向してくる車が、同じ至近警告になって区別できないのではないか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82200" y="1828800"/>
            <a:ext cx="1320800" cy="279400"/>
          </a:xfrm>
          <a:prstGeom prst="rect">
            <a:avLst/>
          </a:prstGeom>
          <a:noFill/>
          <a:ln w="1397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00" b="1">
                <a:solidFill>
                  <a:srgbClr val="C0392B"/>
                </a:solidFill>
                <a:latin typeface="Meiryo"/>
                <a:ea typeface="メイリオ"/>
              </a:rPr>
              <a:t>8・9枚目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2400" y="2260600"/>
            <a:ext cx="381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8000" y="2260600"/>
            <a:ext cx="9525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222838"/>
                </a:solidFill>
                <a:latin typeface="Meiryo"/>
                <a:ea typeface="メイリオ"/>
              </a:rPr>
              <a:t>方位の変化率で区別する仕組みを実装した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9000" y="25908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9000" y="2717800"/>
            <a:ext cx="355600" cy="3556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メイリオ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2400" y="2692400"/>
            <a:ext cx="8128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振動による方向指示のデバイスは、全盲や弱視の方向けの製品やノウハウもいろいろある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82200" y="2743200"/>
            <a:ext cx="1320800" cy="279400"/>
          </a:xfrm>
          <a:prstGeom prst="rect">
            <a:avLst/>
          </a:prstGeom>
          <a:noFill/>
          <a:ln w="1397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00" b="1">
                <a:solidFill>
                  <a:srgbClr val="E0A526"/>
                </a:solidFill>
                <a:latin typeface="Meiryo"/>
                <a:ea typeface="メイリオ"/>
              </a:rPr>
              <a:t>10枚目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2400" y="3175000"/>
            <a:ext cx="381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78000" y="3175000"/>
            <a:ext cx="9525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222838"/>
                </a:solidFill>
                <a:latin typeface="Meiryo"/>
                <a:ea typeface="メイリオ"/>
              </a:rPr>
              <a:t>先行研究を調べ、首元は4〜6方向が現実的と分かった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9000" y="35052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9000" y="3632200"/>
            <a:ext cx="355600" cy="355600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メイリオ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2400" y="3606800"/>
            <a:ext cx="8128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前方を検出対象外としているが、研究上はとりあえず全方位録ってみるでいいのでは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82200" y="3657600"/>
            <a:ext cx="1320800" cy="279400"/>
          </a:xfrm>
          <a:prstGeom prst="rect">
            <a:avLst/>
          </a:prstGeom>
          <a:noFill/>
          <a:ln w="1397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00" b="1">
                <a:solidFill>
                  <a:srgbClr val="E0A526"/>
                </a:solidFill>
                <a:latin typeface="Meiryo"/>
                <a:ea typeface="メイリオ"/>
              </a:rPr>
              <a:t>10枚目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2400" y="4089400"/>
            <a:ext cx="381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8000" y="4089400"/>
            <a:ext cx="9525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222838"/>
                </a:solidFill>
                <a:latin typeface="Meiryo"/>
                <a:ea typeface="メイリオ"/>
              </a:rPr>
              <a:t>記録紙に前方の欄を追加した（追加費用はゼロ）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9000" y="4419600"/>
            <a:ext cx="104140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9000" y="4546600"/>
            <a:ext cx="355600" cy="3556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eiryo"/>
                <a:ea typeface="メイリオ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2400" y="4521200"/>
            <a:ext cx="8128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振動デバイスを一から作るとハードルが高そう。Joy-conとUnityとかで簡単に作ってみてもいいかも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82200" y="4572000"/>
            <a:ext cx="1320800" cy="279400"/>
          </a:xfrm>
          <a:prstGeom prst="rect">
            <a:avLst/>
          </a:prstGeom>
          <a:noFill/>
          <a:ln w="1397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00" b="1">
                <a:solidFill>
                  <a:srgbClr val="2E7D5B"/>
                </a:solidFill>
                <a:latin typeface="Meiryo"/>
                <a:ea typeface="メイリオ"/>
              </a:rPr>
              <a:t>11枚目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2400" y="5003800"/>
            <a:ext cx="381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7E6F98"/>
                </a:solidFill>
                <a:latin typeface="Meiryo"/>
                <a:ea typeface="メイリオ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78000" y="5003800"/>
            <a:ext cx="9525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222838"/>
                </a:solidFill>
                <a:latin typeface="Meiryo"/>
                <a:ea typeface="メイリオ"/>
              </a:rPr>
              <a:t>作った。9/2に実機で振動した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222838"/>
                </a:solidFill>
                <a:latin typeface="Meiryo"/>
                <a:ea typeface="メイリオ"/>
              </a:rPr>
              <a:t>②③　触 覚 の 先 行 調 査 と 、 前 方 の 記 録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1270000"/>
            <a:ext cx="1041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どちらもご助言のとおりに動きました。②は調査、③は収録前に決めました。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9000" y="1651000"/>
            <a:ext cx="5080000" cy="416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9000" y="1651000"/>
            <a:ext cx="5080000" cy="4445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7600" y="1828800"/>
            <a:ext cx="46228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222838"/>
                </a:solidFill>
                <a:latin typeface="Meiryo"/>
                <a:ea typeface="メイリオ"/>
              </a:rPr>
              <a:t>② 触覚で方向は、どこまで伝わるのか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2159000"/>
            <a:ext cx="4622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腰の振動ベルトで測った先行研究の値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7600" y="2438400"/>
            <a:ext cx="4622800" cy="3048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19200" y="2489200"/>
            <a:ext cx="1905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222838"/>
                </a:solidFill>
                <a:latin typeface="Meiryo"/>
                <a:ea typeface="メイリオ"/>
              </a:rPr>
              <a:t>並べ方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4000" y="2489200"/>
            <a:ext cx="1651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1">
                <a:solidFill>
                  <a:srgbClr val="222838"/>
                </a:solidFill>
                <a:latin typeface="Meiryo"/>
                <a:ea typeface="メイリオ"/>
              </a:rPr>
              <a:t>方向を当てられた割合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2794000"/>
            <a:ext cx="2540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222838"/>
                </a:solidFill>
                <a:latin typeface="Meiryo"/>
                <a:ea typeface="メイリオ"/>
              </a:rPr>
              <a:t>8個・間隔 107mm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4000" y="2768600"/>
            <a:ext cx="1651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1">
                <a:solidFill>
                  <a:srgbClr val="2E7D5B"/>
                </a:solidFill>
                <a:latin typeface="Meiryo"/>
                <a:ea typeface="メイリオ"/>
              </a:rPr>
              <a:t>98%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" y="3149600"/>
            <a:ext cx="2540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222838"/>
                </a:solidFill>
                <a:latin typeface="Meiryo"/>
                <a:ea typeface="メイリオ"/>
              </a:rPr>
              <a:t>12個・間隔 72mm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4000" y="3124200"/>
            <a:ext cx="1651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400" b="1">
                <a:solidFill>
                  <a:srgbClr val="C0392B"/>
                </a:solidFill>
                <a:latin typeface="Meiryo"/>
                <a:ea typeface="メイリオ"/>
              </a:rPr>
              <a:t>74%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3530600"/>
            <a:ext cx="4622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間隔が狭くなると急に落ちる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7600" y="3886200"/>
            <a:ext cx="46228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7600" y="4038600"/>
            <a:ext cx="4622800" cy="660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首回りは35〜40cmしかないので、8方向にすると間隔45〜50mm。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これは腰で74%に落ちた間隔より狭く、しかも首は腰より鈍い。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7600" y="4749800"/>
            <a:ext cx="4622800" cy="508000"/>
          </a:xfrm>
          <a:prstGeom prst="rect">
            <a:avLst/>
          </a:prstGeom>
          <a:solidFill>
            <a:srgbClr val="FD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70000" y="4864100"/>
            <a:ext cx="4318000" cy="30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222838"/>
                </a:solidFill>
                <a:latin typeface="Meiryo"/>
                <a:ea typeface="メイリオ"/>
              </a:rPr>
              <a:t>→ 首元は </a:t>
            </a:r>
            <a:r>
              <a:rPr sz="1400" b="1">
                <a:solidFill>
                  <a:srgbClr val="C0392B"/>
                </a:solidFill>
                <a:latin typeface="Meiryo"/>
                <a:ea typeface="メイリオ"/>
              </a:rPr>
              <a:t>4〜6方向</a:t>
            </a:r>
            <a:r>
              <a:rPr sz="1200" b="0">
                <a:solidFill>
                  <a:srgbClr val="222838"/>
                </a:solidFill>
                <a:latin typeface="Meiryo"/>
                <a:ea typeface="メイリオ"/>
              </a:rPr>
              <a:t> が現実的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600" y="5359400"/>
            <a:ext cx="46228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いまの構想は振動子5個。この範囲に収まっている。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※ レビュー論文からの引用。卒論に載せる前に原典で確認する。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3000" y="1651000"/>
            <a:ext cx="5080000" cy="416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23000" y="1651000"/>
            <a:ext cx="5080000" cy="4445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1600" y="1828800"/>
            <a:ext cx="46228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222838"/>
                </a:solidFill>
                <a:latin typeface="Meiryo"/>
                <a:ea typeface="メイリオ"/>
              </a:rPr>
              <a:t>③ 前方も記録する（8/30に決定）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51600" y="2209800"/>
            <a:ext cx="4622800" cy="558800"/>
          </a:xfrm>
          <a:prstGeom prst="rect">
            <a:avLst/>
          </a:prstGeom>
          <a:solidFill>
            <a:srgbClr val="F5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4000" y="2311400"/>
            <a:ext cx="43180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222838"/>
                </a:solidFill>
                <a:latin typeface="Meiryo"/>
                <a:ea typeface="メイリオ"/>
              </a:rPr>
              <a:t>マイクは最初から全方位を録っているので、追加の費用も手間もゼロ。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51600" y="2997200"/>
            <a:ext cx="76200" cy="762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4800" y="2908300"/>
            <a:ext cx="436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変えるのは記録紙だけ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4800" y="3136900"/>
            <a:ext cx="43688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A8F9A"/>
                </a:solidFill>
                <a:latin typeface="Meiryo"/>
                <a:ea typeface="メイリオ"/>
              </a:rPr>
              <a:t>前方のイベントも1行書く。それ以外は何も変えない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51600" y="3657600"/>
            <a:ext cx="76200" cy="762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54800" y="3568700"/>
            <a:ext cx="436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採点では既定で除外する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4800" y="3797300"/>
            <a:ext cx="43688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A8F9A"/>
                </a:solidFill>
                <a:latin typeface="Meiryo"/>
                <a:ea typeface="メイリオ"/>
              </a:rPr>
              <a:t>別の列に入れて別集計。前方は通知の対象外という前提は保つ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51600" y="4318000"/>
            <a:ext cx="76200" cy="762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4800" y="4229100"/>
            <a:ext cx="436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110本の内訳は動かさない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4800" y="4457700"/>
            <a:ext cx="43688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A8F9A"/>
                </a:solidFill>
                <a:latin typeface="Meiryo"/>
                <a:ea typeface="メイリオ"/>
              </a:rPr>
              <a:t>録る前に決めた配分（A〜F）はそのまま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51600" y="4978400"/>
            <a:ext cx="76200" cy="762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54800" y="4889500"/>
            <a:ext cx="436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録らなければ二度と取れない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54800" y="5118100"/>
            <a:ext cx="43688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8A8F9A"/>
                </a:solidFill>
                <a:latin typeface="Meiryo"/>
                <a:ea typeface="メイリオ"/>
              </a:rPr>
              <a:t>解析の段階なら後から外せるが、録音は撮り直せない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51600" y="5461000"/>
            <a:ext cx="46228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51600" y="5588000"/>
            <a:ext cx="4622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データを見て思いがけないことが分かる可能性を、残しました。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