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8800" y="177800"/>
            <a:ext cx="17780" cy="65024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6600" y="584200"/>
            <a:ext cx="381000" cy="762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4600" y="381000"/>
            <a:ext cx="10160000" cy="508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300" b="1" spc="250">
                <a:solidFill>
                  <a:srgbClr val="222838"/>
                </a:solidFill>
                <a:latin typeface="Meiryo"/>
                <a:ea typeface="メイリオ"/>
              </a:rPr>
              <a:t>今後の方針②　実録評価の測定方法（9月予定）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58800" y="1143000"/>
            <a:ext cx="11049000" cy="15240"/>
          </a:xfrm>
          <a:prstGeom prst="rect">
            <a:avLst/>
          </a:prstGeom>
          <a:solidFill>
            <a:srgbClr val="22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9000" y="1498600"/>
            <a:ext cx="3429000" cy="157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6800" y="1651000"/>
            <a:ext cx="1117600" cy="279400"/>
          </a:xfrm>
          <a:prstGeom prst="rect">
            <a:avLst/>
          </a:prstGeom>
          <a:noFill/>
          <a:ln w="15240">
            <a:solidFill>
              <a:srgbClr val="2228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150" b="1">
                <a:solidFill>
                  <a:srgbClr val="222838"/>
                </a:solidFill>
                <a:latin typeface="Meiryo"/>
                <a:ea typeface="メイリオ"/>
              </a:rPr>
              <a:t>① 統制録音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2006600"/>
            <a:ext cx="3098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自分で音を出す・走らせる（私有地）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2260600"/>
            <a:ext cx="3098800" cy="762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8000"/>
              </a:lnSpc>
            </a:pPr>
            <a:r>
              <a:rPr sz="1100" b="0">
                <a:solidFill>
                  <a:srgbClr val="595F6E"/>
                </a:solidFill>
                <a:latin typeface="Meiryo"/>
                <a:ea typeface="メイリオ"/>
              </a:rPr>
              <a:t>バック音（実物ブザー）／自転車ベル</a:t>
            </a:r>
          </a:p>
          <a:p>
            <a:pPr algn="l">
              <a:lnSpc>
                <a:spcPct val="138000"/>
              </a:lnSpc>
            </a:pPr>
            <a:r>
              <a:rPr sz="1100" b="0">
                <a:solidFill>
                  <a:srgbClr val="595F6E"/>
                </a:solidFill>
                <a:latin typeface="Meiryo"/>
                <a:ea typeface="メイリオ"/>
              </a:rPr>
              <a:t>自転車の至近通過／キックボード</a:t>
            </a:r>
          </a:p>
          <a:p>
            <a:pPr algn="l">
              <a:lnSpc>
                <a:spcPct val="138000"/>
              </a:lnSpc>
            </a:pPr>
            <a:r>
              <a:rPr sz="1100" b="0">
                <a:solidFill>
                  <a:srgbClr val="595F6E"/>
                </a:solidFill>
                <a:latin typeface="Meiryo"/>
                <a:ea typeface="メイリオ"/>
              </a:rPr>
              <a:t>EV・HVの接近／停車→発進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08500" y="1498600"/>
            <a:ext cx="3429000" cy="157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86300" y="1651000"/>
            <a:ext cx="1422400" cy="279400"/>
          </a:xfrm>
          <a:prstGeom prst="rect">
            <a:avLst/>
          </a:prstGeom>
          <a:noFill/>
          <a:ln w="15240">
            <a:solidFill>
              <a:srgbClr val="E0A5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150" b="1">
                <a:solidFill>
                  <a:srgbClr val="E0A526"/>
                </a:solidFill>
                <a:latin typeface="Meiryo"/>
                <a:ea typeface="メイリオ"/>
              </a:rPr>
              <a:t>② 待ち受け録音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6300" y="2006600"/>
            <a:ext cx="3098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通るのを待って記録する（公道）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6300" y="2260600"/>
            <a:ext cx="3098800" cy="762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8000"/>
              </a:lnSpc>
            </a:pPr>
            <a:r>
              <a:rPr sz="1100" b="0">
                <a:solidFill>
                  <a:srgbClr val="595F6E"/>
                </a:solidFill>
                <a:latin typeface="Meiryo"/>
                <a:ea typeface="メイリオ"/>
              </a:rPr>
              <a:t>車の走行音（静穏路・交通量路 半々）</a:t>
            </a:r>
          </a:p>
          <a:p>
            <a:pPr algn="l">
              <a:lnSpc>
                <a:spcPct val="138000"/>
              </a:lnSpc>
            </a:pPr>
            <a:r>
              <a:rPr sz="1100" b="0">
                <a:solidFill>
                  <a:srgbClr val="595F6E"/>
                </a:solidFill>
                <a:latin typeface="Meiryo"/>
                <a:ea typeface="メイリオ"/>
              </a:rPr>
              <a:t>踏切・列車（時刻表どおり＝確実）</a:t>
            </a:r>
          </a:p>
          <a:p>
            <a:pPr algn="l">
              <a:lnSpc>
                <a:spcPct val="138000"/>
              </a:lnSpc>
            </a:pPr>
            <a:r>
              <a:rPr sz="1100" b="0">
                <a:solidFill>
                  <a:srgbClr val="595F6E"/>
                </a:solidFill>
                <a:latin typeface="Meiryo"/>
                <a:ea typeface="メイリオ"/>
              </a:rPr>
              <a:t>サイレン・クラクションは遭遇時のみ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8000" y="1498600"/>
            <a:ext cx="3429000" cy="157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05800" y="1651000"/>
            <a:ext cx="812800" cy="279400"/>
          </a:xfrm>
          <a:prstGeom prst="rect">
            <a:avLst/>
          </a:prstGeom>
          <a:noFill/>
          <a:ln w="1524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150" b="1">
                <a:solidFill>
                  <a:srgbClr val="2E7D5B"/>
                </a:solidFill>
                <a:latin typeface="Meiryo"/>
                <a:ea typeface="メイリオ"/>
              </a:rPr>
              <a:t>③ 負例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5800" y="2006600"/>
            <a:ext cx="3098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鳴ってはいけない場面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5800" y="2260600"/>
            <a:ext cx="3098800" cy="762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8000"/>
              </a:lnSpc>
            </a:pPr>
            <a:r>
              <a:rPr sz="1100" b="0">
                <a:solidFill>
                  <a:srgbClr val="595F6E"/>
                </a:solidFill>
                <a:latin typeface="Meiryo"/>
                <a:ea typeface="メイリオ"/>
              </a:rPr>
              <a:t>静穏・繁華街／工事・雨上がり・風</a:t>
            </a:r>
          </a:p>
          <a:p>
            <a:pPr algn="l">
              <a:lnSpc>
                <a:spcPct val="138000"/>
              </a:lnSpc>
            </a:pPr>
            <a:r>
              <a:rPr sz="1100" b="0">
                <a:solidFill>
                  <a:srgbClr val="595F6E"/>
                </a:solidFill>
                <a:latin typeface="Meiryo"/>
                <a:ea typeface="メイリオ"/>
              </a:rPr>
              <a:t>連続録音100分以上を別枠で確保</a:t>
            </a:r>
          </a:p>
          <a:p>
            <a:pPr algn="l">
              <a:lnSpc>
                <a:spcPct val="138000"/>
              </a:lnSpc>
            </a:pPr>
            <a:r>
              <a:rPr sz="1100" b="0">
                <a:solidFill>
                  <a:srgbClr val="595F6E"/>
                </a:solidFill>
                <a:latin typeface="Meiryo"/>
                <a:ea typeface="メイリオ"/>
              </a:rPr>
              <a:t>→ 誤警告率［回/時］を評価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340100"/>
            <a:ext cx="101600" cy="101600"/>
          </a:xfrm>
          <a:prstGeom prst="rect">
            <a:avLst/>
          </a:prstGeom>
          <a:solidFill>
            <a:srgbClr val="22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8400" y="3276600"/>
            <a:ext cx="10160000" cy="279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222838"/>
                </a:solidFill>
                <a:latin typeface="Meiryo"/>
                <a:ea typeface="メイリオ"/>
              </a:rPr>
              <a:t>機材：</a:t>
            </a:r>
            <a:r>
              <a:rPr sz="1300" b="0">
                <a:solidFill>
                  <a:srgbClr val="595F6E"/>
                </a:solidFill>
                <a:latin typeface="Meiryo"/>
                <a:ea typeface="メイリオ"/>
              </a:rPr>
              <a:t>4ch FOAマイク(Zoom H3-VR)＋風防・チェストハーネス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3670300"/>
            <a:ext cx="101600" cy="101600"/>
          </a:xfrm>
          <a:prstGeom prst="rect">
            <a:avLst/>
          </a:prstGeom>
          <a:solidFill>
            <a:srgbClr val="22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68400" y="3606800"/>
            <a:ext cx="10160000" cy="279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222838"/>
                </a:solidFill>
                <a:latin typeface="Meiryo"/>
                <a:ea typeface="メイリオ"/>
              </a:rPr>
              <a:t>計測具：</a:t>
            </a:r>
            <a:r>
              <a:rPr sz="1300" b="0">
                <a:solidFill>
                  <a:srgbClr val="595F6E"/>
                </a:solidFill>
                <a:latin typeface="Meiryo"/>
                <a:ea typeface="メイリオ"/>
              </a:rPr>
              <a:t>騒音計(LAeq)・メジャー・音源用の自転車ベルとバックブザー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4000500"/>
            <a:ext cx="101600" cy="101600"/>
          </a:xfrm>
          <a:prstGeom prst="rect">
            <a:avLst/>
          </a:prstGeom>
          <a:solidFill>
            <a:srgbClr val="22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68400" y="3937000"/>
            <a:ext cx="10160000" cy="279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222838"/>
                </a:solidFill>
                <a:latin typeface="Meiryo"/>
                <a:ea typeface="メイリオ"/>
              </a:rPr>
              <a:t>実環境性能：</a:t>
            </a:r>
            <a:r>
              <a:rPr sz="1300" b="0">
                <a:solidFill>
                  <a:srgbClr val="595F6E"/>
                </a:solidFill>
                <a:latin typeface="Meiryo"/>
                <a:ea typeface="メイリオ"/>
              </a:rPr>
              <a:t>静止100本 ／ 歩行影響：静止50本 ↔ 歩行50本の対応比較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67000" y="4368800"/>
            <a:ext cx="6858000" cy="187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70200" y="4495800"/>
            <a:ext cx="3810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222838"/>
                </a:solidFill>
                <a:latin typeface="Meiryo"/>
                <a:ea typeface="メイリオ"/>
              </a:rPr>
              <a:t>車の記録のしかた（公道・待ち受け）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85000" y="4521200"/>
            <a:ext cx="233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速度：徐行〜約30km/h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46400" y="4851400"/>
            <a:ext cx="6299200" cy="406400"/>
          </a:xfrm>
          <a:prstGeom prst="rect">
            <a:avLst/>
          </a:prstGeom>
          <a:solidFill>
            <a:srgbClr val="E9E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12000" y="4927600"/>
            <a:ext cx="660400" cy="254000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eiryo"/>
                <a:ea typeface="メイリオ"/>
              </a:rPr>
              <a:t>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48600" y="4902200"/>
            <a:ext cx="508000" cy="279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700" b="0">
                <a:solidFill>
                  <a:srgbClr val="222838"/>
                </a:solidFill>
                <a:latin typeface="Meiryo"/>
                <a:ea typeface="メイリオ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00600" y="5257800"/>
            <a:ext cx="20320" cy="431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699000" y="5689600"/>
            <a:ext cx="203200" cy="203200"/>
          </a:xfrm>
          <a:prstGeom prst="ellipse">
            <a:avLst/>
          </a:prstGeom>
          <a:solidFill>
            <a:srgbClr val="22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78400" y="5334000"/>
            <a:ext cx="4064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Meiryo"/>
                <a:ea typeface="メイリオ"/>
              </a:rPr>
              <a:t>横距離 2.0〜3.2m ／ 5〜15m（目測）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86200" y="5918200"/>
            <a:ext cx="3302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装着者（胸部4chマイク・静止）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600" y="6426200"/>
            <a:ext cx="1143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8A8F9A"/>
                </a:solidFill>
                <a:latin typeface="Meiryo"/>
                <a:ea typeface="メイリオ"/>
              </a:rPr>
              <a:t>2026/09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10000" y="6375400"/>
            <a:ext cx="9652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背景・目的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76800" y="6375400"/>
            <a:ext cx="8128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基礎知識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91200" y="6375400"/>
            <a:ext cx="8128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関連研究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05600" y="6375400"/>
            <a:ext cx="8128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提案手法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20000" y="6375400"/>
            <a:ext cx="5080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検証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0" y="6375400"/>
            <a:ext cx="1117600" cy="279400"/>
          </a:xfrm>
          <a:prstGeom prst="rect">
            <a:avLst/>
          </a:prstGeom>
          <a:solidFill>
            <a:srgbClr val="23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今後・まとめ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49000" y="6426200"/>
            <a:ext cx="508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8A8F9A"/>
                </a:solidFill>
                <a:latin typeface="Meiryo"/>
                <a:ea typeface="メイリオ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