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11">
            <a:extLst>
              <a:ext uri="{FF2B5EF4-FFF2-40B4-BE49-F238E27FC236}">
                <a16:creationId xmlns:a16="http://schemas.microsoft.com/office/drawing/2014/main" id="{A7E5A0B4-FF4B-24E2-AC92-AECFD1BFEE89}"/>
              </a:ext>
            </a:extLst>
          </p:cNvPr>
          <p:cNvSpPr/>
          <p:nvPr/>
        </p:nvSpPr>
        <p:spPr>
          <a:xfrm>
            <a:off x="889000" y="1676400"/>
            <a:ext cx="1625600" cy="1371600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648BAAED-AF73-8F11-6F86-6D84B8027EC0}"/>
              </a:ext>
            </a:extLst>
          </p:cNvPr>
          <p:cNvSpPr/>
          <p:nvPr/>
        </p:nvSpPr>
        <p:spPr>
          <a:xfrm>
            <a:off x="2616200" y="1676400"/>
            <a:ext cx="1625600" cy="1371600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6CCFFFDC-6705-C2D9-9F8E-6B0599745234}"/>
              </a:ext>
            </a:extLst>
          </p:cNvPr>
          <p:cNvSpPr/>
          <p:nvPr/>
        </p:nvSpPr>
        <p:spPr>
          <a:xfrm>
            <a:off x="4343400" y="1676400"/>
            <a:ext cx="1625600" cy="13716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1D83A7F7-BB36-62D2-E64D-AC0575AADE48}"/>
              </a:ext>
            </a:extLst>
          </p:cNvPr>
          <p:cNvSpPr/>
          <p:nvPr/>
        </p:nvSpPr>
        <p:spPr>
          <a:xfrm>
            <a:off x="6070600" y="1676400"/>
            <a:ext cx="1625600" cy="1371600"/>
          </a:xfrm>
          <a:prstGeom prst="rect">
            <a:avLst/>
          </a:prstGeom>
          <a:solidFill>
            <a:srgbClr val="FAF1F0"/>
          </a:solidFill>
          <a:ln w="12700">
            <a:solidFill>
              <a:srgbClr val="ECC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35">
            <a:extLst>
              <a:ext uri="{FF2B5EF4-FFF2-40B4-BE49-F238E27FC236}">
                <a16:creationId xmlns:a16="http://schemas.microsoft.com/office/drawing/2014/main" id="{55755C35-77A7-707E-E9D6-14149ED98C6B}"/>
              </a:ext>
            </a:extLst>
          </p:cNvPr>
          <p:cNvSpPr/>
          <p:nvPr/>
        </p:nvSpPr>
        <p:spPr>
          <a:xfrm>
            <a:off x="7797800" y="1676400"/>
            <a:ext cx="1625600" cy="13716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41">
            <a:extLst>
              <a:ext uri="{FF2B5EF4-FFF2-40B4-BE49-F238E27FC236}">
                <a16:creationId xmlns:a16="http://schemas.microsoft.com/office/drawing/2014/main" id="{A18F1E6B-A57E-B037-FAF3-FF1E1B5BF969}"/>
              </a:ext>
            </a:extLst>
          </p:cNvPr>
          <p:cNvSpPr/>
          <p:nvPr/>
        </p:nvSpPr>
        <p:spPr>
          <a:xfrm>
            <a:off x="9525000" y="1676400"/>
            <a:ext cx="1625600" cy="1371600"/>
          </a:xfrm>
          <a:prstGeom prst="rect">
            <a:avLst/>
          </a:prstGeom>
          <a:solidFill>
            <a:srgbClr val="F0F5F3"/>
          </a:solidFill>
          <a:ln w="12700">
            <a:solidFill>
              <a:srgbClr val="C0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46">
            <a:extLst>
              <a:ext uri="{FF2B5EF4-FFF2-40B4-BE49-F238E27FC236}">
                <a16:creationId xmlns:a16="http://schemas.microsoft.com/office/drawing/2014/main" id="{4867898B-554E-7F77-A577-097B8D88D896}"/>
              </a:ext>
            </a:extLst>
          </p:cNvPr>
          <p:cNvSpPr/>
          <p:nvPr/>
        </p:nvSpPr>
        <p:spPr>
          <a:xfrm>
            <a:off x="889000" y="3561848"/>
            <a:ext cx="5080000" cy="2015166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55">
            <a:extLst>
              <a:ext uri="{FF2B5EF4-FFF2-40B4-BE49-F238E27FC236}">
                <a16:creationId xmlns:a16="http://schemas.microsoft.com/office/drawing/2014/main" id="{92E5AA5C-571B-D5C1-C318-A50748EB3788}"/>
              </a:ext>
            </a:extLst>
          </p:cNvPr>
          <p:cNvSpPr/>
          <p:nvPr/>
        </p:nvSpPr>
        <p:spPr>
          <a:xfrm>
            <a:off x="6070600" y="3567368"/>
            <a:ext cx="5080000" cy="2015166"/>
          </a:xfrm>
          <a:prstGeom prst="rect">
            <a:avLst/>
          </a:prstGeom>
          <a:solidFill>
            <a:srgbClr val="F0F5F3"/>
          </a:solidFill>
          <a:ln w="12700">
            <a:solidFill>
              <a:srgbClr val="C0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7F7A4D1-D542-F157-0BDE-AA261FE65656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9219B1-E4FE-89E0-9289-B8565ECCB299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D0C2C85-88BB-4106-DBAB-B3B8415F90E5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5A46D58-67C4-AC89-2F6C-C220D37368C0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FBD26B-2DE4-6095-10B0-314110686C8C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7AFA094-A21B-3065-AD66-0D9010E8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611E2E67-A754-6EB1-C025-304B481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48DC-F7ED-4428-85F4-2C78C4B0CFB7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6CEA98B-6D5E-F366-3474-4B1085CBD705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収録の流れ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1D81F-DD80-576B-A711-66608C166238}"/>
              </a:ext>
            </a:extLst>
          </p:cNvPr>
          <p:cNvSpPr txBox="1"/>
          <p:nvPr/>
        </p:nvSpPr>
        <p:spPr>
          <a:xfrm>
            <a:off x="889000" y="1270000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地点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あたり6つの手順。この骨格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は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全210回で共通。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B0AA2F36-DB14-FA93-7D3C-7428DAE5F9E3}"/>
              </a:ext>
            </a:extLst>
          </p:cNvPr>
          <p:cNvSpPr txBox="1"/>
          <p:nvPr/>
        </p:nvSpPr>
        <p:spPr>
          <a:xfrm>
            <a:off x="10414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7E6F98"/>
                </a:solidFill>
                <a:latin typeface="Meiryo"/>
                <a:ea typeface="メイリオ"/>
              </a:rPr>
              <a:t>① </a:t>
            </a:r>
            <a:r>
              <a:rPr b="1" dirty="0" err="1">
                <a:solidFill>
                  <a:srgbClr val="7E6F98"/>
                </a:solidFill>
                <a:latin typeface="Meiryo"/>
                <a:ea typeface="メイリオ"/>
              </a:rPr>
              <a:t>前日</a:t>
            </a:r>
            <a:endParaRPr b="1" dirty="0">
              <a:solidFill>
                <a:srgbClr val="7E6F98"/>
              </a:solidFill>
              <a:latin typeface="Meiryo"/>
              <a:ea typeface="メイリオ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E8385C2-0799-C2E3-629A-5601138CF19E}"/>
              </a:ext>
            </a:extLst>
          </p:cNvPr>
          <p:cNvSpPr txBox="1"/>
          <p:nvPr/>
        </p:nvSpPr>
        <p:spPr>
          <a:xfrm>
            <a:off x="10414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15分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FEA810DE-591B-2CEC-5E34-AD7C98FFA681}"/>
              </a:ext>
            </a:extLst>
          </p:cNvPr>
          <p:cNvSpPr txBox="1"/>
          <p:nvPr/>
        </p:nvSpPr>
        <p:spPr>
          <a:xfrm>
            <a:off x="10414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設定を家で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全部固定する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353A2269-033A-CD89-3AFE-AA3809AD2D65}"/>
              </a:ext>
            </a:extLst>
          </p:cNvPr>
          <p:cNvSpPr txBox="1"/>
          <p:nvPr/>
        </p:nvSpPr>
        <p:spPr>
          <a:xfrm>
            <a:off x="24991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B5DCB747-A62A-8AD7-ECAD-2A970929CB40}"/>
              </a:ext>
            </a:extLst>
          </p:cNvPr>
          <p:cNvSpPr txBox="1"/>
          <p:nvPr/>
        </p:nvSpPr>
        <p:spPr>
          <a:xfrm>
            <a:off x="27686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7E6F98"/>
                </a:solidFill>
                <a:latin typeface="Meiryo"/>
                <a:ea typeface="メイリオ"/>
              </a:rPr>
              <a:t>② 到着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4282D225-592A-2F3F-184B-7980470B3926}"/>
              </a:ext>
            </a:extLst>
          </p:cNvPr>
          <p:cNvSpPr txBox="1"/>
          <p:nvPr/>
        </p:nvSpPr>
        <p:spPr>
          <a:xfrm>
            <a:off x="27686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378ACB2-6395-9375-67A0-52CCE46986AE}"/>
              </a:ext>
            </a:extLst>
          </p:cNvPr>
          <p:cNvSpPr txBox="1"/>
          <p:nvPr/>
        </p:nvSpPr>
        <p:spPr>
          <a:xfrm>
            <a:off x="2768600" y="2387600"/>
            <a:ext cx="1320800" cy="25186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定位置に立つ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1075A882-2F20-BA3E-ABF5-328C52E74CB8}"/>
              </a:ext>
            </a:extLst>
          </p:cNvPr>
          <p:cNvSpPr txBox="1"/>
          <p:nvPr/>
        </p:nvSpPr>
        <p:spPr>
          <a:xfrm>
            <a:off x="42263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B7D8F057-247F-4CD2-FB8E-B22837FD83E6}"/>
              </a:ext>
            </a:extLst>
          </p:cNvPr>
          <p:cNvSpPr txBox="1"/>
          <p:nvPr/>
        </p:nvSpPr>
        <p:spPr>
          <a:xfrm>
            <a:off x="44958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E0A526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E0A526"/>
                </a:solidFill>
                <a:latin typeface="Meiryo"/>
                <a:ea typeface="メイリオ"/>
              </a:rPr>
              <a:t>儀式</a:t>
            </a:r>
            <a:endParaRPr b="1" dirty="0">
              <a:solidFill>
                <a:srgbClr val="E0A526"/>
              </a:solidFill>
              <a:latin typeface="Meiryo"/>
              <a:ea typeface="メイリオ"/>
            </a:endParaRPr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C0323F44-DE27-C0FB-8DD1-13C3AA76FD0A}"/>
              </a:ext>
            </a:extLst>
          </p:cNvPr>
          <p:cNvSpPr txBox="1"/>
          <p:nvPr/>
        </p:nvSpPr>
        <p:spPr>
          <a:xfrm>
            <a:off x="44958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90秒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386832C-AA11-AFB7-8683-AC95796A635B}"/>
              </a:ext>
            </a:extLst>
          </p:cNvPr>
          <p:cNvSpPr txBox="1"/>
          <p:nvPr/>
        </p:nvSpPr>
        <p:spPr>
          <a:xfrm>
            <a:off x="44958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手拍子・騒音計・ベル4方位</a:t>
            </a: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6F817B14-B3F5-4609-E868-3BFFEBE75FEB}"/>
              </a:ext>
            </a:extLst>
          </p:cNvPr>
          <p:cNvSpPr txBox="1"/>
          <p:nvPr/>
        </p:nvSpPr>
        <p:spPr>
          <a:xfrm>
            <a:off x="59535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469F6E32-24B4-FDB6-8FAE-8F24BC823D5F}"/>
              </a:ext>
            </a:extLst>
          </p:cNvPr>
          <p:cNvSpPr txBox="1"/>
          <p:nvPr/>
        </p:nvSpPr>
        <p:spPr>
          <a:xfrm>
            <a:off x="62230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  <a:latin typeface="Meiryo"/>
                <a:ea typeface="メイリオ"/>
              </a:rPr>
              <a:t>④ 本番</a:t>
            </a:r>
          </a:p>
        </p:txBody>
      </p:sp>
      <p:sp>
        <p:nvSpPr>
          <p:cNvPr id="62" name="TextBox 32">
            <a:extLst>
              <a:ext uri="{FF2B5EF4-FFF2-40B4-BE49-F238E27FC236}">
                <a16:creationId xmlns:a16="http://schemas.microsoft.com/office/drawing/2014/main" id="{6C864EB8-2659-AC35-8779-976BD0C9DA6C}"/>
              </a:ext>
            </a:extLst>
          </p:cNvPr>
          <p:cNvSpPr txBox="1"/>
          <p:nvPr/>
        </p:nvSpPr>
        <p:spPr>
          <a:xfrm>
            <a:off x="62230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20〜30秒</a:t>
            </a:r>
            <a:r>
              <a:rPr lang="en-US" sz="1200" b="0" dirty="0">
                <a:solidFill>
                  <a:srgbClr val="8A8F9A"/>
                </a:solidFill>
                <a:latin typeface="Meiryo"/>
                <a:ea typeface="メイリオ"/>
              </a:rPr>
              <a:t> </a:t>
            </a:r>
            <a:r>
              <a:rPr lang="en-US" altLang="ja-JP" sz="1200" b="0" dirty="0">
                <a:solidFill>
                  <a:srgbClr val="8A8F9A"/>
                </a:solidFill>
                <a:latin typeface="Meiryo"/>
                <a:ea typeface="メイリオ"/>
              </a:rPr>
              <a:t>× n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9AEB603F-AA7F-327C-DAB8-7D82AE094224}"/>
              </a:ext>
            </a:extLst>
          </p:cNvPr>
          <p:cNvSpPr txBox="1"/>
          <p:nvPr/>
        </p:nvSpPr>
        <p:spPr>
          <a:xfrm>
            <a:off x="62230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無言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1通過＝1テイク</a:t>
            </a:r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C058BEEE-BF3C-CC38-0C6D-8959D43395B8}"/>
              </a:ext>
            </a:extLst>
          </p:cNvPr>
          <p:cNvSpPr txBox="1"/>
          <p:nvPr/>
        </p:nvSpPr>
        <p:spPr>
          <a:xfrm>
            <a:off x="76807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72" name="TextBox 37">
            <a:extLst>
              <a:ext uri="{FF2B5EF4-FFF2-40B4-BE49-F238E27FC236}">
                <a16:creationId xmlns:a16="http://schemas.microsoft.com/office/drawing/2014/main" id="{CCC8FB24-B5D9-1957-06BE-3547174B02F4}"/>
              </a:ext>
            </a:extLst>
          </p:cNvPr>
          <p:cNvSpPr txBox="1"/>
          <p:nvPr/>
        </p:nvSpPr>
        <p:spPr>
          <a:xfrm>
            <a:off x="79502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E0A526"/>
                </a:solidFill>
                <a:latin typeface="Meiryo"/>
                <a:ea typeface="メイリオ"/>
              </a:rPr>
              <a:t>⑤ 直後</a:t>
            </a:r>
          </a:p>
        </p:txBody>
      </p:sp>
      <p:sp>
        <p:nvSpPr>
          <p:cNvPr id="74" name="TextBox 38">
            <a:extLst>
              <a:ext uri="{FF2B5EF4-FFF2-40B4-BE49-F238E27FC236}">
                <a16:creationId xmlns:a16="http://schemas.microsoft.com/office/drawing/2014/main" id="{52D03E57-FC9B-C4AA-AA15-D9A0D15FEF67}"/>
              </a:ext>
            </a:extLst>
          </p:cNvPr>
          <p:cNvSpPr txBox="1"/>
          <p:nvPr/>
        </p:nvSpPr>
        <p:spPr>
          <a:xfrm>
            <a:off x="79502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0E16B9B8-D778-DF49-39F8-87113DFFA33C}"/>
              </a:ext>
            </a:extLst>
          </p:cNvPr>
          <p:cNvSpPr txBox="1"/>
          <p:nvPr/>
        </p:nvSpPr>
        <p:spPr>
          <a:xfrm>
            <a:off x="79502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5秒数えてから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声で記録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78" name="TextBox 40">
            <a:extLst>
              <a:ext uri="{FF2B5EF4-FFF2-40B4-BE49-F238E27FC236}">
                <a16:creationId xmlns:a16="http://schemas.microsoft.com/office/drawing/2014/main" id="{90B575F0-C347-6132-121E-C01D610B7A5A}"/>
              </a:ext>
            </a:extLst>
          </p:cNvPr>
          <p:cNvSpPr txBox="1"/>
          <p:nvPr/>
        </p:nvSpPr>
        <p:spPr>
          <a:xfrm>
            <a:off x="94079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84" name="TextBox 43">
            <a:extLst>
              <a:ext uri="{FF2B5EF4-FFF2-40B4-BE49-F238E27FC236}">
                <a16:creationId xmlns:a16="http://schemas.microsoft.com/office/drawing/2014/main" id="{09BEFFE0-4801-308B-9001-760A2C383816}"/>
              </a:ext>
            </a:extLst>
          </p:cNvPr>
          <p:cNvSpPr txBox="1"/>
          <p:nvPr/>
        </p:nvSpPr>
        <p:spPr>
          <a:xfrm>
            <a:off x="96774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2E7D5B"/>
                </a:solidFill>
                <a:latin typeface="Meiryo"/>
                <a:ea typeface="メイリオ"/>
              </a:rPr>
              <a:t>⑥ 確認</a:t>
            </a:r>
          </a:p>
        </p:txBody>
      </p:sp>
      <p:sp>
        <p:nvSpPr>
          <p:cNvPr id="86" name="TextBox 44">
            <a:extLst>
              <a:ext uri="{FF2B5EF4-FFF2-40B4-BE49-F238E27FC236}">
                <a16:creationId xmlns:a16="http://schemas.microsoft.com/office/drawing/2014/main" id="{DA39E0F0-7304-9D34-A197-6A3B8F27854B}"/>
              </a:ext>
            </a:extLst>
          </p:cNvPr>
          <p:cNvSpPr txBox="1"/>
          <p:nvPr/>
        </p:nvSpPr>
        <p:spPr>
          <a:xfrm>
            <a:off x="96774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88" name="TextBox 45">
            <a:extLst>
              <a:ext uri="{FF2B5EF4-FFF2-40B4-BE49-F238E27FC236}">
                <a16:creationId xmlns:a16="http://schemas.microsoft.com/office/drawing/2014/main" id="{AC694EF9-7D11-D8F5-7AFD-0A56E27A5680}"/>
              </a:ext>
            </a:extLst>
          </p:cNvPr>
          <p:cNvSpPr txBox="1"/>
          <p:nvPr/>
        </p:nvSpPr>
        <p:spPr>
          <a:xfrm>
            <a:off x="96774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その場で再生して品質確認</a:t>
            </a:r>
          </a:p>
        </p:txBody>
      </p:sp>
      <p:sp>
        <p:nvSpPr>
          <p:cNvPr id="94" name="TextBox 48">
            <a:extLst>
              <a:ext uri="{FF2B5EF4-FFF2-40B4-BE49-F238E27FC236}">
                <a16:creationId xmlns:a16="http://schemas.microsoft.com/office/drawing/2014/main" id="{AF77137C-0B24-2B14-3F17-F3A7A64FCEDE}"/>
              </a:ext>
            </a:extLst>
          </p:cNvPr>
          <p:cNvSpPr txBox="1"/>
          <p:nvPr/>
        </p:nvSpPr>
        <p:spPr>
          <a:xfrm>
            <a:off x="1079564" y="3689057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儀式の中身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6" name="Oval 49">
            <a:extLst>
              <a:ext uri="{FF2B5EF4-FFF2-40B4-BE49-F238E27FC236}">
                <a16:creationId xmlns:a16="http://schemas.microsoft.com/office/drawing/2014/main" id="{1F06897A-30A6-A69B-E886-2695705549BF}"/>
              </a:ext>
            </a:extLst>
          </p:cNvPr>
          <p:cNvSpPr/>
          <p:nvPr/>
        </p:nvSpPr>
        <p:spPr>
          <a:xfrm>
            <a:off x="1104964" y="4094352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98" name="TextBox 50">
            <a:extLst>
              <a:ext uri="{FF2B5EF4-FFF2-40B4-BE49-F238E27FC236}">
                <a16:creationId xmlns:a16="http://schemas.microsoft.com/office/drawing/2014/main" id="{3317CC0A-BE52-3256-59B0-60BEA029F2CD}"/>
              </a:ext>
            </a:extLst>
          </p:cNvPr>
          <p:cNvSpPr txBox="1"/>
          <p:nvPr/>
        </p:nvSpPr>
        <p:spPr>
          <a:xfrm>
            <a:off x="1409764" y="3999891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手拍子を1回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録音と動画の時刻を合わせる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00" name="Oval 51">
            <a:extLst>
              <a:ext uri="{FF2B5EF4-FFF2-40B4-BE49-F238E27FC236}">
                <a16:creationId xmlns:a16="http://schemas.microsoft.com/office/drawing/2014/main" id="{058522A4-8F79-7C72-6DC3-768171FE393E}"/>
              </a:ext>
            </a:extLst>
          </p:cNvPr>
          <p:cNvSpPr/>
          <p:nvPr/>
        </p:nvSpPr>
        <p:spPr>
          <a:xfrm>
            <a:off x="1104964" y="4623332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102" name="TextBox 52">
            <a:extLst>
              <a:ext uri="{FF2B5EF4-FFF2-40B4-BE49-F238E27FC236}">
                <a16:creationId xmlns:a16="http://schemas.microsoft.com/office/drawing/2014/main" id="{80D32F9A-6305-9F98-6A9D-446C5A2AD659}"/>
              </a:ext>
            </a:extLst>
          </p:cNvPr>
          <p:cNvSpPr txBox="1"/>
          <p:nvPr/>
        </p:nvSpPr>
        <p:spPr>
          <a:xfrm>
            <a:off x="1409764" y="4518420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騒音計と並べて無言で60秒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何デシベルだったかの基準を取る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04" name="Oval 53">
            <a:extLst>
              <a:ext uri="{FF2B5EF4-FFF2-40B4-BE49-F238E27FC236}">
                <a16:creationId xmlns:a16="http://schemas.microsoft.com/office/drawing/2014/main" id="{0B57BDA5-5757-42E5-70F7-A91C92DC4968}"/>
              </a:ext>
            </a:extLst>
          </p:cNvPr>
          <p:cNvSpPr/>
          <p:nvPr/>
        </p:nvSpPr>
        <p:spPr>
          <a:xfrm>
            <a:off x="1104964" y="5142373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106" name="TextBox 54">
            <a:extLst>
              <a:ext uri="{FF2B5EF4-FFF2-40B4-BE49-F238E27FC236}">
                <a16:creationId xmlns:a16="http://schemas.microsoft.com/office/drawing/2014/main" id="{8405C874-26D6-049F-511C-B5F46065B29B}"/>
              </a:ext>
            </a:extLst>
          </p:cNvPr>
          <p:cNvSpPr txBox="1"/>
          <p:nvPr/>
        </p:nvSpPr>
        <p:spPr>
          <a:xfrm>
            <a:off x="1409764" y="5037461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ベルを前後左右から1打ずつ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マイクの正面と体の正面のズレを測る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2" name="TextBox 57">
            <a:extLst>
              <a:ext uri="{FF2B5EF4-FFF2-40B4-BE49-F238E27FC236}">
                <a16:creationId xmlns:a16="http://schemas.microsoft.com/office/drawing/2014/main" id="{C1FE9787-8EB2-EC2C-EF6B-FE31725E7152}"/>
              </a:ext>
            </a:extLst>
          </p:cNvPr>
          <p:cNvSpPr txBox="1"/>
          <p:nvPr/>
        </p:nvSpPr>
        <p:spPr>
          <a:xfrm>
            <a:off x="6261164" y="3694577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帰宅後、その日のうちに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6" name="TextBox 59">
            <a:extLst>
              <a:ext uri="{FF2B5EF4-FFF2-40B4-BE49-F238E27FC236}">
                <a16:creationId xmlns:a16="http://schemas.microsoft.com/office/drawing/2014/main" id="{5125846E-F0CA-FD4D-1B59-10670494F295}"/>
              </a:ext>
            </a:extLst>
          </p:cNvPr>
          <p:cNvSpPr txBox="1"/>
          <p:nvPr/>
        </p:nvSpPr>
        <p:spPr>
          <a:xfrm>
            <a:off x="6261164" y="4120097"/>
            <a:ext cx="4800600" cy="119519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録音を学習データと同じ形式に変換する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ja-JP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件ずつの</a:t>
            </a:r>
            <a:r>
              <a:rPr lang="en-US" altLang="ja-JP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10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秒クリップに切り出す</a:t>
            </a:r>
            <a:endParaRPr lang="en-US" altLang="ja-JP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紙の記録を表に打ち込む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検査スクリプトで形式ミスを機械的に見つける</a:t>
            </a:r>
          </a:p>
        </p:txBody>
      </p:sp>
      <p:sp>
        <p:nvSpPr>
          <p:cNvPr id="39" name="Rounded Rectangle 97">
            <a:extLst>
              <a:ext uri="{FF2B5EF4-FFF2-40B4-BE49-F238E27FC236}">
                <a16:creationId xmlns:a16="http://schemas.microsoft.com/office/drawing/2014/main" id="{9E005D3C-925E-0290-2F91-5F6E97217776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67DF633B-E304-1989-7DD2-BC5A7D6B3A34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8" name="Rounded Rectangle 95">
            <a:extLst>
              <a:ext uri="{FF2B5EF4-FFF2-40B4-BE49-F238E27FC236}">
                <a16:creationId xmlns:a16="http://schemas.microsoft.com/office/drawing/2014/main" id="{9BF9604D-98D3-CEC3-E8C7-3A3663CA0A47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BE824B94-C91C-9E19-155E-5D2404052331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632B84D8-2792-2026-A83B-663FAF45561A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1" name="Rounded Rectangle 92">
            <a:extLst>
              <a:ext uri="{FF2B5EF4-FFF2-40B4-BE49-F238E27FC236}">
                <a16:creationId xmlns:a16="http://schemas.microsoft.com/office/drawing/2014/main" id="{91B95993-EAEB-9B05-4323-FD0028D3339A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5" name="Rectangle 41">
            <a:extLst>
              <a:ext uri="{FF2B5EF4-FFF2-40B4-BE49-F238E27FC236}">
                <a16:creationId xmlns:a16="http://schemas.microsoft.com/office/drawing/2014/main" id="{7EDB2109-5158-005B-B69B-5FC858552806}"/>
              </a:ext>
            </a:extLst>
          </p:cNvPr>
          <p:cNvSpPr/>
          <p:nvPr/>
        </p:nvSpPr>
        <p:spPr>
          <a:xfrm>
            <a:off x="6070600" y="3098800"/>
            <a:ext cx="1625600" cy="2794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2">
            <a:extLst>
              <a:ext uri="{FF2B5EF4-FFF2-40B4-BE49-F238E27FC236}">
                <a16:creationId xmlns:a16="http://schemas.microsoft.com/office/drawing/2014/main" id="{F13A9B86-CA21-995A-6F6F-8328BB9B1AD1}"/>
              </a:ext>
            </a:extLst>
          </p:cNvPr>
          <p:cNvSpPr txBox="1"/>
          <p:nvPr/>
        </p:nvSpPr>
        <p:spPr>
          <a:xfrm>
            <a:off x="6070600" y="3149600"/>
            <a:ext cx="1625600" cy="1949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 dirty="0">
                <a:solidFill>
                  <a:srgbClr val="7E6F98"/>
                </a:solidFill>
                <a:latin typeface="Meiryo"/>
                <a:ea typeface="メイリオ"/>
              </a:rPr>
              <a:t>↻ </a:t>
            </a:r>
            <a:r>
              <a:rPr sz="1100" b="1" dirty="0" err="1">
                <a:solidFill>
                  <a:srgbClr val="7E6F98"/>
                </a:solidFill>
                <a:latin typeface="Meiryo"/>
                <a:ea typeface="メイリオ"/>
              </a:rPr>
              <a:t>通るたびに繰り返す</a:t>
            </a:r>
            <a:endParaRPr sz="1100" b="1" dirty="0">
              <a:solidFill>
                <a:srgbClr val="7E6F98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収 録 の 流 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95400"/>
            <a:ext cx="10414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222838"/>
                </a:solidFill>
                <a:latin typeface="Meiryo"/>
                <a:ea typeface="メイリオ"/>
              </a:rPr>
              <a:t>1地点あたり6つの手順。</a:t>
            </a:r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④だけをテイクごとに繰り返す。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854200"/>
            <a:ext cx="10414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7000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前日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15分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設定を家で全部固定する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666" y="1955800"/>
            <a:ext cx="10160" cy="11684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7066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2666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到着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7066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7066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定位置に立つ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0333" y="1955800"/>
            <a:ext cx="10160" cy="11684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2733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8333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儀式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733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90秒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2733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手拍子・騒音計・ベル4方位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1955800"/>
            <a:ext cx="10160" cy="11684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8400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0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本番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20〜30秒 ×n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0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無言。1通過＝1テイク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1666" y="1955800"/>
            <a:ext cx="10160" cy="11684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4066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666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直後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4066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4066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5秒数えてから声で記録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67333" y="1955800"/>
            <a:ext cx="10160" cy="11684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9733" y="2006600"/>
            <a:ext cx="381000" cy="330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7E6F98"/>
                </a:solidFill>
                <a:latin typeface="Meiryo"/>
                <a:ea typeface="メイリオ"/>
              </a:rPr>
              <a:t>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5333" y="2070100"/>
            <a:ext cx="1075266" cy="279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確認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9733" y="2413000"/>
            <a:ext cx="1430866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9733" y="2667000"/>
            <a:ext cx="1430866" cy="508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その場で再生して品質確認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000" y="31750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8400" y="3225800"/>
            <a:ext cx="2429933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7E6F98"/>
                </a:solidFill>
                <a:latin typeface="Meiryo"/>
                <a:ea typeface="メイリオ"/>
              </a:rPr>
              <a:t>↻ 車が通るたびに④を繰り返す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9000" y="38100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0" y="3987800"/>
            <a:ext cx="10160" cy="16256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000" y="3987800"/>
            <a:ext cx="4826000" cy="304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③ 儀式の中身</a:t>
            </a:r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　セッション冒頭に1回・90秒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000" y="4419600"/>
            <a:ext cx="254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8400" y="4419600"/>
            <a:ext cx="4318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手拍子を1回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400" y="4660900"/>
            <a:ext cx="43180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録音と動画の時刻を合わせる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000" y="4953000"/>
            <a:ext cx="254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8400" y="4953000"/>
            <a:ext cx="4318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騒音計と並べて無言で60秒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8400" y="5194300"/>
            <a:ext cx="43180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何デシベルだったかの基準を取る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" y="5486400"/>
            <a:ext cx="254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8400" y="5486400"/>
            <a:ext cx="4318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ベルを前後左右から1打ずつ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8400" y="5727700"/>
            <a:ext cx="43180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マイクの正面と体の正面のズレを測る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0" y="3987800"/>
            <a:ext cx="4826000" cy="304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帰宅後、その日のうちに</a:t>
            </a:r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　半日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77000" y="4521200"/>
            <a:ext cx="63500" cy="635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4800" y="4445000"/>
            <a:ext cx="46482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録音を学習データと同じ形式に変換する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77000" y="4851400"/>
            <a:ext cx="63500" cy="635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54800" y="4775200"/>
            <a:ext cx="46482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1件ずつの10秒クリップに切り出す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77000" y="5181600"/>
            <a:ext cx="63500" cy="635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4800" y="5105400"/>
            <a:ext cx="46482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紙の記録を表に打ち込む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77000" y="5511800"/>
            <a:ext cx="63500" cy="635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54800" y="5435600"/>
            <a:ext cx="46482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検査スクリプトで形式ミスを機械的に見つける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