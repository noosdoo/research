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54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85800" y="1219200"/>
            <a:ext cx="10820400" cy="0"/>
          </a:xfrm>
          <a:prstGeom prst="line">
            <a:avLst/>
          </a:prstGeom>
          <a:ln w="1905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85800" y="508000"/>
            <a:ext cx="109220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600" b="1">
                <a:solidFill>
                  <a:srgbClr val="16233A"/>
                </a:solidFill>
                <a:latin typeface="游ゴシック"/>
                <a:ea typeface="游ゴシック"/>
              </a:rPr>
              <a:t>検 証 ― 通 知 は 「 間 に 合 う 」 よ う に な っ た 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6350000" cy="254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1">
                <a:solidFill>
                  <a:srgbClr val="3A4658"/>
                </a:solidFill>
                <a:latin typeface="游ゴシック"/>
                <a:ea typeface="游ゴシック"/>
              </a:rPr>
              <a:t>車が一番近づく瞬間までに、どれだけ余裕があるか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160000" y="1803400"/>
            <a:ext cx="0" cy="2667000"/>
          </a:xfrm>
          <a:prstGeom prst="line">
            <a:avLst/>
          </a:prstGeom>
          <a:ln w="1524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398000" y="1498600"/>
            <a:ext cx="1524000" cy="254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16233A"/>
                </a:solidFill>
                <a:latin typeface="游ゴシック"/>
                <a:ea typeface="游ゴシック"/>
              </a:rPr>
              <a:t>車が一番近づく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75000" y="2362200"/>
            <a:ext cx="6985000" cy="0"/>
          </a:xfrm>
          <a:prstGeom prst="line">
            <a:avLst/>
          </a:prstGeom>
          <a:ln w="38100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89000" y="2222500"/>
            <a:ext cx="2159000" cy="254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C4432B"/>
                </a:solidFill>
                <a:latin typeface="游ゴシック"/>
                <a:ea typeface="游ゴシック"/>
              </a:rPr>
              <a:t>前のやり方</a:t>
            </a:r>
          </a:p>
        </p:txBody>
      </p:sp>
      <p:sp>
        <p:nvSpPr>
          <p:cNvPr id="9" name="Oval 8"/>
          <p:cNvSpPr/>
          <p:nvPr/>
        </p:nvSpPr>
        <p:spPr>
          <a:xfrm>
            <a:off x="10020300" y="2222500"/>
            <a:ext cx="279400" cy="279400"/>
          </a:xfrm>
          <a:prstGeom prst="ellipse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14300" rIns="152400" bIns="114300" rtlCol="0" anchor="t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12000" y="1930400"/>
            <a:ext cx="2667000" cy="254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300" b="1">
                <a:solidFill>
                  <a:srgbClr val="C4432B"/>
                </a:solidFill>
                <a:latin typeface="游ゴシック"/>
                <a:ea typeface="游ゴシック"/>
              </a:rPr>
              <a:t>鳴る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9000" y="2565400"/>
            <a:ext cx="3810000" cy="254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C4432B"/>
                </a:solidFill>
                <a:latin typeface="游ゴシック"/>
                <a:ea typeface="游ゴシック"/>
              </a:rPr>
              <a:t>鳴った瞬間が、もう一番近い瞬間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75000" y="3810000"/>
            <a:ext cx="6985000" cy="0"/>
          </a:xfrm>
          <a:prstGeom prst="line">
            <a:avLst/>
          </a:prstGeom>
          <a:ln w="38100">
            <a:solidFill>
              <a:srgbClr val="2F7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9000" y="3670300"/>
            <a:ext cx="2159000" cy="254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2F7D6D"/>
                </a:solidFill>
                <a:latin typeface="游ゴシック"/>
                <a:ea typeface="游ゴシック"/>
              </a:rPr>
              <a:t>新しいやり方</a:t>
            </a:r>
          </a:p>
        </p:txBody>
      </p:sp>
      <p:sp>
        <p:nvSpPr>
          <p:cNvPr id="14" name="Oval 13"/>
          <p:cNvSpPr/>
          <p:nvPr/>
        </p:nvSpPr>
        <p:spPr>
          <a:xfrm>
            <a:off x="7226300" y="3670300"/>
            <a:ext cx="279400" cy="279400"/>
          </a:xfrm>
          <a:prstGeom prst="ellipse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14300" rIns="152400" bIns="114300" rtlCol="0" anchor="t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9000" y="3378200"/>
            <a:ext cx="2540000" cy="254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300" b="1">
                <a:solidFill>
                  <a:srgbClr val="2F7D6D"/>
                </a:solidFill>
                <a:latin typeface="游ゴシック"/>
                <a:ea typeface="游ゴシック"/>
              </a:rPr>
              <a:t>鳴る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6000" y="3987800"/>
            <a:ext cx="2794000" cy="279400"/>
          </a:xfrm>
          <a:prstGeom prst="rect">
            <a:avLst/>
          </a:prstGeom>
          <a:solidFill>
            <a:srgbClr val="F3F3EF"/>
          </a:solidFill>
          <a:ln w="1270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14300" rIns="152400" bIns="114300" rtlCol="0" anchor="t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66000" y="4025900"/>
            <a:ext cx="2794000" cy="254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50" b="1">
                <a:solidFill>
                  <a:srgbClr val="2F7D6D"/>
                </a:solidFill>
                <a:latin typeface="游ゴシック"/>
                <a:ea typeface="游ゴシック"/>
              </a:rPr>
              <a:t>0.8秒の余裕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724400"/>
            <a:ext cx="6604000" cy="965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14300" rIns="152400" bIns="1143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游ゴシック"/>
                <a:ea typeface="游ゴシック"/>
              </a:rPr>
              <a:t>1.5m以内まで近づく危険な車に、警告が届いた割合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2200" b="1">
                <a:solidFill>
                  <a:srgbClr val="66707F"/>
                </a:solidFill>
                <a:latin typeface="游ゴシック"/>
                <a:ea typeface="游ゴシック"/>
              </a:rPr>
              <a:t>69.9 %</a:t>
            </a:r>
            <a:r>
              <a:rPr sz="1600" b="0">
                <a:solidFill>
                  <a:srgbClr val="3A4658"/>
                </a:solidFill>
                <a:latin typeface="游ゴシック"/>
                <a:ea typeface="游ゴシック"/>
              </a:rPr>
              <a:t>　→　</a:t>
            </a:r>
            <a:r>
              <a:rPr sz="2600" b="1">
                <a:solidFill>
                  <a:srgbClr val="2F7D6D"/>
                </a:solidFill>
                <a:latin typeface="游ゴシック"/>
                <a:ea typeface="游ゴシック"/>
              </a:rPr>
              <a:t>85.0 %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69200" y="4724400"/>
            <a:ext cx="3937000" cy="965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14300" rIns="152400" bIns="1143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C4432B"/>
                </a:solidFill>
                <a:latin typeface="游ゴシック"/>
                <a:ea typeface="游ゴシック"/>
              </a:rPr>
              <a:t>代わりに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3A4658"/>
                </a:solidFill>
                <a:latin typeface="游ゴシック"/>
                <a:ea typeface="游ゴシック"/>
              </a:rPr>
              <a:t>安全な車にも鳴りやすくなる（鳴らさずに済んだ割合 90.4→85.2%）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943600"/>
            <a:ext cx="10922000" cy="254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游ゴシック"/>
                <a:ea typeface="游ゴシック"/>
              </a:rPr>
              <a:t>確定評価セット（学習にも検証にも使っていない1,800クリップ）で、危険な車508台を同じ採点方法で比較。判定の規則だけを差し替えた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273800"/>
            <a:ext cx="10922000" cy="254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1">
                <a:solidFill>
                  <a:srgbClr val="16233A"/>
                </a:solidFill>
                <a:latin typeface="游ゴシック"/>
                <a:ea typeface="游ゴシック"/>
              </a:rPr>
              <a:t>「3秒前に検知できても使えない」というご指摘に対する答え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67</Words>
  <Application>Microsoft Office PowerPoint</Application>
  <PresentationFormat>ワイド画面</PresentationFormat>
  <Paragraphs>15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鋭 松本</cp:lastModifiedBy>
  <cp:revision>1</cp:revision>
  <dcterms:created xsi:type="dcterms:W3CDTF">2013-01-27T09:14:16Z</dcterms:created>
  <dcterms:modified xsi:type="dcterms:W3CDTF">2026-08-20T11:00:04Z</dcterms:modified>
  <cp:category/>
</cp:coreProperties>
</file>